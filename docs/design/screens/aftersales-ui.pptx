
<file path=[Content_Types].xml><?xml version="1.0" encoding="utf-8"?>
<Types xmlns="http://schemas.openxmlformats.org/package/2006/content-types">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theme" Target="theme/theme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8940" cy="457200"/>
          </a:xfrm>
          <a:prstGeom prst="rect">
            <a:avLst/>
          </a:prstGeom>
        </p:spPr>
        <p:txBody>
          <a:bodyPr/>
          <a:lstStyle/>
          <a:p/>
        </p:txBody>
      </p:sp>
      <p:sp>
        <p:nvSpPr>
          <p:cNvPr id="3" name="Date Placeholder 2"/>
          <p:cNvSpPr>
            <a:spLocks noGrp="1"/>
          </p:cNvSpPr>
          <p:nvPr>
            <p:ph type="dt" sz="quarter" idx="1"/>
          </p:nvPr>
        </p:nvSpPr>
        <p:spPr>
          <a:xfrm>
            <a:off x="3909060" y="0"/>
            <a:ext cx="2948940" cy="457200"/>
          </a:xfrm>
          <a:prstGeom prst="rect">
            <a:avLst/>
          </a:prstGeom>
        </p:spPr>
        <p:txBody>
          <a:bodyPr/>
          <a:lstStyle/>
          <a:p/>
        </p:txBody>
      </p:sp>
      <p:sp>
        <p:nvSpPr>
          <p:cNvPr id="4" name="Slide Image Placeholder 3"/>
          <p:cNvSpPr>
            <a:spLocks noGrp="1"/>
          </p:cNvSpPr>
          <p:nvPr>
            <p:ph type="sldImg" idx="2"/>
          </p:nvPr>
        </p:nvSpPr>
        <p:spPr>
          <a:xfrm>
            <a:off x="857250" y="1143000"/>
            <a:ext cx="5143500" cy="3429000"/>
          </a:xfrm>
          <a:prstGeom prst="rect">
            <a:avLst/>
          </a:prstGeom>
          <a:noFill/>
          <a:ln w="12700">
            <a:solidFill>
              <a:srgbClr val="000000"/>
            </a:solidFill>
          </a:ln>
        </p:spPr>
      </p:sp>
      <p:sp>
        <p:nvSpPr>
          <p:cNvPr id="5" name="Notes Placeholder 4"/>
          <p:cNvSpPr>
            <a:spLocks noGrp="1"/>
          </p:cNvSpPr>
          <p:nvPr>
            <p:ph type="body" sz="quarter" idx="3"/>
          </p:nvPr>
        </p:nvSpPr>
        <p:spPr>
          <a:xfrm>
            <a:off x="685800" y="4846320"/>
            <a:ext cx="5486400" cy="3291840"/>
          </a:xfrm>
          <a:prstGeom prst="rect">
            <a:avLst/>
          </a:prstGeom>
        </p:spPr>
        <p:txBody>
          <a:bodyPr/>
          <a:lstStyle/>
          <a:p>
            <a:r>
              <a:rPr/>
              <a:t>Click to edit Master text styles</a:t>
            </a:r>
          </a:p>
        </p:txBody>
      </p:sp>
      <p:sp>
        <p:nvSpPr>
          <p:cNvPr id="6" name="Footer Placeholder 5"/>
          <p:cNvSpPr>
            <a:spLocks noGrp="1"/>
          </p:cNvSpPr>
          <p:nvPr>
            <p:ph type="ftr" sz="quarter" idx="4"/>
          </p:nvPr>
        </p:nvSpPr>
        <p:spPr>
          <a:xfrm>
            <a:off x="0" y="8686800"/>
            <a:ext cx="2948940" cy="457200"/>
          </a:xfrm>
          <a:prstGeom prst="rect">
            <a:avLst/>
          </a:prstGeom>
        </p:spPr>
        <p:txBody>
          <a:bodyPr/>
          <a:lstStyle/>
          <a:p/>
        </p:txBody>
      </p:sp>
      <p:sp>
        <p:nvSpPr>
          <p:cNvPr id="7" name="Slide Number Placeholder 6"/>
          <p:cNvSpPr>
            <a:spLocks noGrp="1"/>
          </p:cNvSpPr>
          <p:nvPr>
            <p:ph type="sldNum" sz="quarter" idx="5"/>
          </p:nvPr>
        </p:nvSpPr>
        <p:spPr>
          <a:xfrm>
            <a:off x="3909060" y="8686800"/>
            <a:ext cx="2948940" cy="4572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a:defRPr sz="1200">
        <a:solidFill>
          <a:schemeClr val="tx1"/>
        </a:solidFill>
        <a:latin typeface="+mn-lt"/>
      </a:defRPr>
    </a:lvl1pPr>
    <a:lvl2pPr marL="457200" algn="l">
      <a:defRPr sz="1200">
        <a:solidFill>
          <a:schemeClr val="tx1"/>
        </a:solidFill>
        <a:latin typeface="+mn-lt"/>
      </a:defRPr>
    </a:lvl2pPr>
    <a:lvl3pPr marL="914400" algn="l">
      <a:defRPr sz="1200">
        <a:solidFill>
          <a:schemeClr val="tx1"/>
        </a:solidFill>
        <a:latin typeface="+mn-lt"/>
      </a:defRPr>
    </a:lvl3pPr>
    <a:lvl4pPr marL="1371600" algn="l">
      <a:defRPr sz="1200">
        <a:solidFill>
          <a:schemeClr val="tx1"/>
        </a:solidFill>
        <a:latin typeface="+mn-lt"/>
      </a:defRPr>
    </a:lvl4pPr>
    <a:lvl5pPr marL="1828800" algn="l">
      <a:defRPr sz="1200">
        <a:solidFill>
          <a:schemeClr val="tx1"/>
        </a:solidFill>
        <a:latin typeface="+mn-lt"/>
      </a:defRPr>
    </a:lvl5pPr>
    <a:lvl6pPr marL="2286000" algn="l">
      <a:defRPr sz="1200">
        <a:solidFill>
          <a:schemeClr val="tx1"/>
        </a:solidFill>
        <a:latin typeface="+mn-lt"/>
      </a:defRPr>
    </a:lvl6pPr>
    <a:lvl7pPr marL="2743200" algn="l">
      <a:defRPr sz="1200">
        <a:solidFill>
          <a:schemeClr val="tx1"/>
        </a:solidFill>
        <a:latin typeface="+mn-lt"/>
      </a:defRPr>
    </a:lvl7pPr>
    <a:lvl8pPr marL="3200400" algn="l">
      <a:defRPr sz="1200">
        <a:solidFill>
          <a:schemeClr val="tx1"/>
        </a:solidFill>
        <a:latin typeface="+mn-lt"/>
      </a:defRPr>
    </a:lvl8pPr>
    <a:lvl9pPr marL="3657600" algn="l">
      <a:defRPr sz="1200">
        <a:solidFill>
          <a:schemeClr val="tx1"/>
        </a:solidFill>
        <a:latin typeface="+mn-lt"/>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promise of the deck: one visual language across every surface. The skin is the landing page — PP Editorial New display, Telegraf UI, white paper, jet ink — and the structure is the dashboard reference: left rail, thin top bar, bento cards, big roomy numerals. Every screen slide is a build sheet with a route and markers.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Six colours, two faces, three radii. The landing page's own TTFs are loaded into the deck so the specimen is the real font, not a stand-in. Teal is a marking colour: it appears on live state, on the confidence meter and on selection — never as a background wash behind body copy.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One component panel per primitive so the React tree is obvious: Button, Badge, Meter, Field, TicketRow, Chart. Badge variants come straight from the PRD's ticket states; the meter turns crimson the moment a value could auto-send under the confidence floor.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map is the deck's divider: four routes, eighteen screens. It also indexes the deck so a developer can jump to the screen they are building and see which panel it belongs to.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landing page is the source of the language, so it leads the screens: identical serif, identical black pill, and the hero video container the PRD asks for. Everything below inherits this page's restraint.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Auth keeps the landing page's restraint: one black pill, one teal action, two fields. The redirect contract from the PRD is printed next to the form so the frontend and backend cannot disagree about where sign-in ends.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Onboarding is the first product screen, so it must not look like a different product: the same serif for the question, the same 12pt card, the same black continue pill. The tone chips exist because they change the generated answer, and the preview proves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is where hallucination is prevented on the human side: the owner can see the sections and their word counts before anything compiles. The price rows and the FAQ pair are the exact strings the retriever quotes in the answer.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This screen is the product's safety case made visible. A judge can see the floor, the urgency trigger and the armed rules on one panel, and the 49 card demonstrates rule R2 before they ever ask a question.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last onboarding step hands the owner to the queue. Every channel card states what it really is: draft-only Instagram is amber, not green. The compile card is the only place the flow ends, and it shows what will be indexed.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queue is the screen the judge sees most, so it carries the reference dashboard's structure: a bento KPI strip, a dense list with one repeating row, and a right column of small multiples. Confidence is the only number that changes colour.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drawer answers the question a judge asks next: why did the machine decide that? Rules R1 to R6 are listed with their verdicts, the confidence and urgency meters are adjacent, and the cited chunks sit under the composer they justify.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modal exists for the judge, so it shows the whole contract in one card: the exact request, the six-field verdict, and the cited chunks. The queue behind it is drawn without contrast — a scrim in spirit, honest about the format's limits.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Voice is the demo moment. The screen has to prove two things at once: that the call is live (stepper, transcript) and that it is grounded in the right tenant (pin, business, chunk count). Same layout at 9:16 collapses to one column with the pin on top.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brain panel is where the abstraction becomes inspectable: six chunks with ids, word counts and retrieval scores, plus the weekly rollup. The chunk ids here are the same ids the ticket drawer cites.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Channels is the honesty screen. Every card shows what the adapter really supports, the idempotency test is visible rather than described, and the event log is the same TicketEvent table the trace panel reads.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state sheet is the coding reference that saves a review round: every async surface has four states drawn, and the failure state is labelled with rule R7 rather than a generic error. Layout rules are given per width so the breakpoints are decided here, not in the editor.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a:t>The closing slide is the implementation order, not a thank-you. It maps each step to the component and the route it serves, so the two developers can work in parallel after step two without touching each other's files.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17600"/>
            <a:ext cx="9144000" cy="2387600"/>
          </a:xfrm>
          <a:prstGeom prst="rect">
            <a:avLst/>
          </a:prstGeom>
        </p:spPr>
        <p:txBody>
          <a:bodyPr anchor="b">
            <a:normAutofit fontScale="100000"/>
          </a:bodyPr>
          <a:lstStyle>
            <a:lvl1pPr algn="ctr">
              <a:defRPr sz="6000"/>
            </a:lvl1pPr>
          </a:lstStyle>
          <a:p/>
        </p:txBody>
      </p:sp>
      <p:sp>
        <p:nvSpPr>
          <p:cNvPr id="8" name="Subtitle 2"/>
          <p:cNvSpPr>
            <a:spLocks noGrp="1"/>
          </p:cNvSpPr>
          <p:nvPr>
            <p:ph type="subTitle" idx="1"/>
          </p:nvPr>
        </p:nvSpPr>
        <p:spPr>
          <a:xfrm>
            <a:off x="1524000" y="3606800"/>
            <a:ext cx="9144000" cy="1651000"/>
          </a:xfrm>
          <a:prstGeom prst="rect">
            <a:avLst/>
          </a:prstGeom>
        </p:spPr>
        <p:txBody>
          <a:bodyPr anchor="t">
            <a:normAutofit fontScale="100000"/>
          </a:bodyPr>
          <a:lstStyle>
            <a:lvl1pPr marL="0" indent="0" algn="ctr">
              <a:buNone/>
              <a:defRPr sz="2400"/>
            </a:lvl1pPr>
          </a:lstStyle>
          <a:p/>
        </p:txBody>
      </p:sp>
      <p:sp>
        <p:nvSpPr>
          <p:cNvPr id="9"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0"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1"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DC6D5D-A00E-4AA9-84F2-364CBECE0EEA}" type="slidenum">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3"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14" name="Content Placeholder 2"/>
          <p:cNvSpPr>
            <a:spLocks noGrp="1"/>
          </p:cNvSpPr>
          <p:nvPr>
            <p:ph idx="1"/>
          </p:nvPr>
        </p:nvSpPr>
        <p:spPr>
          <a:xfrm>
            <a:off x="762000" y="1828800"/>
            <a:ext cx="10668000" cy="4356100"/>
          </a:xfrm>
          <a:prstGeom prst="rect">
            <a:avLst/>
          </a:prstGeom>
        </p:spPr>
        <p:txBody>
          <a:bodyPr anchor="t">
            <a:normAutofit fontScale="100000"/>
          </a:bodyPr>
          <a:lstStyle/>
          <a:p/>
        </p:txBody>
      </p:sp>
      <p:sp>
        <p:nvSpPr>
          <p:cNvPr id="15"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16"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17"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EDCD0F9E-EF7E-4C26-8662-25A73F2263DD}" type="slidenum">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9" name="Title 1"/>
          <p:cNvSpPr>
            <a:spLocks noGrp="1"/>
          </p:cNvSpPr>
          <p:nvPr>
            <p:ph type="title"/>
          </p:nvPr>
        </p:nvSpPr>
        <p:spPr>
          <a:xfrm>
            <a:off x="825500" y="1714500"/>
            <a:ext cx="10541000" cy="2857500"/>
          </a:xfrm>
          <a:prstGeom prst="rect">
            <a:avLst/>
          </a:prstGeom>
        </p:spPr>
        <p:txBody>
          <a:bodyPr anchor="b"/>
          <a:lstStyle>
            <a:lvl1pPr>
              <a:defRPr sz="6000"/>
            </a:lvl1pPr>
          </a:lstStyle>
          <a:p/>
        </p:txBody>
      </p:sp>
      <p:sp>
        <p:nvSpPr>
          <p:cNvPr id="20" name="Text Placeholder 2"/>
          <p:cNvSpPr>
            <a:spLocks noGrp="1"/>
          </p:cNvSpPr>
          <p:nvPr>
            <p:ph type="body" idx="1"/>
          </p:nvPr>
        </p:nvSpPr>
        <p:spPr>
          <a:xfrm>
            <a:off x="825500" y="4597400"/>
            <a:ext cx="10541000" cy="1498600"/>
          </a:xfrm>
          <a:prstGeom prst="rect">
            <a:avLst/>
          </a:prstGeom>
        </p:spPr>
        <p:txBody>
          <a:bodyPr anchor="t">
            <a:normAutofit fontScale="100000"/>
          </a:bodyPr>
          <a:lstStyle>
            <a:lvl1pPr marL="0" indent="0">
              <a:buNone/>
              <a:defRPr sz="2400">
                <a:solidFill>
                  <a:schemeClr val="tx1">
                    <a:tint val="82000"/>
                  </a:schemeClr>
                </a:solidFill>
              </a:defRPr>
            </a:lvl1pPr>
          </a:lstStyle>
          <a:p/>
        </p:txBody>
      </p:sp>
      <p:sp>
        <p:nvSpPr>
          <p:cNvPr id="21"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2"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23"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7C18080-B33E-4073-8615-72D8F5AE8F78}" type="slidenum">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5"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26" name="Content Placeholder 2"/>
          <p:cNvSpPr>
            <a:spLocks noGrp="1"/>
          </p:cNvSpPr>
          <p:nvPr>
            <p:ph idx="1"/>
          </p:nvPr>
        </p:nvSpPr>
        <p:spPr>
          <a:xfrm>
            <a:off x="762000" y="1828800"/>
            <a:ext cx="5232400" cy="4356100"/>
          </a:xfrm>
          <a:prstGeom prst="rect">
            <a:avLst/>
          </a:prstGeom>
        </p:spPr>
        <p:txBody>
          <a:bodyPr anchor="t">
            <a:normAutofit fontScale="100000"/>
          </a:bodyPr>
          <a:lstStyle/>
          <a:p/>
        </p:txBody>
      </p:sp>
      <p:sp>
        <p:nvSpPr>
          <p:cNvPr id="27" name="Content Placeholder 3"/>
          <p:cNvSpPr>
            <a:spLocks noGrp="1"/>
          </p:cNvSpPr>
          <p:nvPr>
            <p:ph idx="2"/>
          </p:nvPr>
        </p:nvSpPr>
        <p:spPr>
          <a:xfrm>
            <a:off x="6197600" y="1828800"/>
            <a:ext cx="5232400" cy="4356100"/>
          </a:xfrm>
          <a:prstGeom prst="rect">
            <a:avLst/>
          </a:prstGeom>
        </p:spPr>
        <p:txBody>
          <a:bodyPr anchor="t">
            <a:normAutofit fontScale="100000"/>
          </a:bodyPr>
          <a:lstStyle/>
          <a:p/>
        </p:txBody>
      </p:sp>
      <p:sp>
        <p:nvSpPr>
          <p:cNvPr id="28"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29"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0"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85CB9569-04AF-4288-8880-64CE52ABE7A3}" type="slidenum">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2"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33" name="Text Placeholder 2"/>
          <p:cNvSpPr>
            <a:spLocks noGrp="1"/>
          </p:cNvSpPr>
          <p:nvPr>
            <p:ph type="body" idx="1"/>
          </p:nvPr>
        </p:nvSpPr>
        <p:spPr>
          <a:xfrm>
            <a:off x="762000" y="1689100"/>
            <a:ext cx="5232400" cy="787400"/>
          </a:xfrm>
          <a:prstGeom prst="rect">
            <a:avLst/>
          </a:prstGeom>
        </p:spPr>
        <p:txBody>
          <a:bodyPr anchor="b"/>
          <a:lstStyle>
            <a:lvl1pPr marL="0" indent="0">
              <a:buNone/>
              <a:defRPr sz="2400" b="1"/>
            </a:lvl1pPr>
          </a:lstStyle>
          <a:p/>
        </p:txBody>
      </p:sp>
      <p:sp>
        <p:nvSpPr>
          <p:cNvPr id="34" name="Content Placeholder 3"/>
          <p:cNvSpPr>
            <a:spLocks noGrp="1"/>
          </p:cNvSpPr>
          <p:nvPr>
            <p:ph idx="2"/>
          </p:nvPr>
        </p:nvSpPr>
        <p:spPr>
          <a:xfrm>
            <a:off x="762000" y="2514600"/>
            <a:ext cx="5232400" cy="3670300"/>
          </a:xfrm>
          <a:prstGeom prst="rect">
            <a:avLst/>
          </a:prstGeom>
        </p:spPr>
        <p:txBody>
          <a:bodyPr anchor="t">
            <a:normAutofit fontScale="100000"/>
          </a:bodyPr>
          <a:lstStyle/>
          <a:p/>
        </p:txBody>
      </p:sp>
      <p:sp>
        <p:nvSpPr>
          <p:cNvPr id="35" name="Text Placeholder 4"/>
          <p:cNvSpPr>
            <a:spLocks noGrp="1"/>
          </p:cNvSpPr>
          <p:nvPr>
            <p:ph type="body" idx="3"/>
          </p:nvPr>
        </p:nvSpPr>
        <p:spPr>
          <a:xfrm>
            <a:off x="6197600" y="1689100"/>
            <a:ext cx="5232400" cy="787400"/>
          </a:xfrm>
          <a:prstGeom prst="rect">
            <a:avLst/>
          </a:prstGeom>
        </p:spPr>
        <p:txBody>
          <a:bodyPr anchor="b"/>
          <a:lstStyle>
            <a:lvl1pPr marL="0" indent="0">
              <a:buNone/>
              <a:defRPr sz="2400" b="1"/>
            </a:lvl1pPr>
          </a:lstStyle>
          <a:p/>
        </p:txBody>
      </p:sp>
      <p:sp>
        <p:nvSpPr>
          <p:cNvPr id="36" name="Content Placeholder 5"/>
          <p:cNvSpPr>
            <a:spLocks noGrp="1"/>
          </p:cNvSpPr>
          <p:nvPr>
            <p:ph idx="4"/>
          </p:nvPr>
        </p:nvSpPr>
        <p:spPr>
          <a:xfrm>
            <a:off x="6197600" y="2514600"/>
            <a:ext cx="5232400" cy="3670300"/>
          </a:xfrm>
          <a:prstGeom prst="rect">
            <a:avLst/>
          </a:prstGeom>
        </p:spPr>
        <p:txBody>
          <a:bodyPr anchor="t">
            <a:normAutofit fontScale="100000"/>
          </a:bodyPr>
          <a:lstStyle/>
          <a:p/>
        </p:txBody>
      </p:sp>
      <p:sp>
        <p:nvSpPr>
          <p:cNvPr id="37"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38"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39"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BF533E07-937E-4FED-8300-891295843456}" type="slidenum">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1"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4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A28B55B-FA15-48BA-860D-0231187503D9}" type="slidenum">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4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4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00E0EBC0-ADA9-4FA7-889C-9287646BC794}" type="slidenum">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0"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1" name="Content Placeholder 2"/>
          <p:cNvSpPr>
            <a:spLocks noGrp="1"/>
          </p:cNvSpPr>
          <p:nvPr>
            <p:ph idx="1"/>
          </p:nvPr>
        </p:nvSpPr>
        <p:spPr>
          <a:xfrm>
            <a:off x="5232400" y="990600"/>
            <a:ext cx="6197600" cy="4876800"/>
          </a:xfrm>
          <a:prstGeom prst="rect">
            <a:avLst/>
          </a:prstGeom>
        </p:spPr>
        <p:txBody>
          <a:bodyPr anchor="t">
            <a:normAutofit fontScale="100000"/>
          </a:bodyPr>
          <a:lstStyle/>
          <a:p/>
        </p:txBody>
      </p:sp>
      <p:sp>
        <p:nvSpPr>
          <p:cNvPr id="52"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53"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4"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55"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7DA25AB8-FB3A-479C-8780-0B7E5F586C0F}" type="slidenum">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7" name="Title 1"/>
          <p:cNvSpPr>
            <a:spLocks noGrp="1"/>
          </p:cNvSpPr>
          <p:nvPr>
            <p:ph type="title"/>
          </p:nvPr>
        </p:nvSpPr>
        <p:spPr>
          <a:xfrm>
            <a:off x="762000" y="457200"/>
            <a:ext cx="4089400" cy="1600200"/>
          </a:xfrm>
          <a:prstGeom prst="rect">
            <a:avLst/>
          </a:prstGeom>
        </p:spPr>
        <p:txBody>
          <a:bodyPr anchor="b"/>
          <a:lstStyle>
            <a:lvl1pPr>
              <a:defRPr sz="3200"/>
            </a:lvl1pPr>
          </a:lstStyle>
          <a:p/>
        </p:txBody>
      </p:sp>
      <p:sp>
        <p:nvSpPr>
          <p:cNvPr id="58" name="Picture Placeholder 2"/>
          <p:cNvSpPr>
            <a:spLocks noGrp="1"/>
          </p:cNvSpPr>
          <p:nvPr>
            <p:ph type="pic" idx="1"/>
          </p:nvPr>
        </p:nvSpPr>
        <p:spPr>
          <a:xfrm>
            <a:off x="5232400" y="990600"/>
            <a:ext cx="6197600" cy="4876800"/>
          </a:xfrm>
          <a:prstGeom prst="rect">
            <a:avLst/>
          </a:prstGeom>
        </p:spPr>
        <p:txBody>
          <a:bodyPr/>
          <a:lstStyle/>
          <a:p/>
        </p:txBody>
      </p:sp>
      <p:sp>
        <p:nvSpPr>
          <p:cNvPr id="59" name="Text Placeholder 3"/>
          <p:cNvSpPr>
            <a:spLocks noGrp="1"/>
          </p:cNvSpPr>
          <p:nvPr>
            <p:ph type="body" idx="2"/>
          </p:nvPr>
        </p:nvSpPr>
        <p:spPr>
          <a:xfrm>
            <a:off x="762000" y="2057400"/>
            <a:ext cx="4089400" cy="3810000"/>
          </a:xfrm>
          <a:prstGeom prst="rect">
            <a:avLst/>
          </a:prstGeom>
        </p:spPr>
        <p:txBody>
          <a:bodyPr anchor="t">
            <a:normAutofit fontScale="100000"/>
          </a:bodyPr>
          <a:lstStyle>
            <a:lvl1pPr marL="0" indent="0">
              <a:buNone/>
              <a:defRPr sz="1600"/>
            </a:lvl1pPr>
          </a:lstStyle>
          <a:p/>
        </p:txBody>
      </p:sp>
      <p:sp>
        <p:nvSpPr>
          <p:cNvPr id="60"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1"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2"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5AEFC29A-6C4F-4141-86E3-1A3E2D58E3A2}" type="slidenum">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64" name="Title 1"/>
          <p:cNvSpPr>
            <a:spLocks noGrp="1"/>
          </p:cNvSpPr>
          <p:nvPr>
            <p:ph type="title"/>
          </p:nvPr>
        </p:nvSpPr>
        <p:spPr>
          <a:xfrm>
            <a:off x="762000" y="368300"/>
            <a:ext cx="10668000" cy="1320800"/>
          </a:xfrm>
          <a:prstGeom prst="rect">
            <a:avLst/>
          </a:prstGeom>
        </p:spPr>
        <p:txBody>
          <a:bodyPr anchor="ctr">
            <a:normAutofit fontScale="100000"/>
          </a:bodyPr>
          <a:lstStyle/>
          <a:p/>
        </p:txBody>
      </p:sp>
      <p:sp>
        <p:nvSpPr>
          <p:cNvPr id="65" name="Vertical Text Placeholder 2"/>
          <p:cNvSpPr>
            <a:spLocks noGrp="1"/>
          </p:cNvSpPr>
          <p:nvPr>
            <p:ph type="body" orient="vert" idx="1"/>
          </p:nvPr>
        </p:nvSpPr>
        <p:spPr>
          <a:xfrm>
            <a:off x="762000" y="1828800"/>
            <a:ext cx="10668000" cy="4356100"/>
          </a:xfrm>
          <a:prstGeom prst="rect">
            <a:avLst/>
          </a:prstGeom>
        </p:spPr>
        <p:txBody>
          <a:bodyPr vert="eaVert" anchor="t">
            <a:normAutofit fontScale="100000"/>
          </a:bodyPr>
          <a:lstStyle/>
          <a:p/>
        </p:txBody>
      </p:sp>
      <p:sp>
        <p:nvSpPr>
          <p:cNvPr id="66"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67"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8"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DE19C649-D3E0-46CB-87C1-67136E4226A6}" type="slidenum">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0" name="Vertical Title 1"/>
          <p:cNvSpPr>
            <a:spLocks noGrp="1"/>
          </p:cNvSpPr>
          <p:nvPr>
            <p:ph type="title" orient="vert"/>
          </p:nvPr>
        </p:nvSpPr>
        <p:spPr>
          <a:xfrm>
            <a:off x="8724900" y="368300"/>
            <a:ext cx="2705100" cy="5816600"/>
          </a:xfrm>
          <a:prstGeom prst="rect">
            <a:avLst/>
          </a:prstGeom>
        </p:spPr>
        <p:txBody>
          <a:bodyPr vert="eaVert"/>
          <a:lstStyle/>
          <a:p/>
        </p:txBody>
      </p:sp>
      <p:sp>
        <p:nvSpPr>
          <p:cNvPr id="71" name="Vertical Text Placeholder 2"/>
          <p:cNvSpPr>
            <a:spLocks noGrp="1"/>
          </p:cNvSpPr>
          <p:nvPr>
            <p:ph type="body" orient="vert" idx="1"/>
          </p:nvPr>
        </p:nvSpPr>
        <p:spPr>
          <a:xfrm>
            <a:off x="762000" y="368300"/>
            <a:ext cx="7772400" cy="5816600"/>
          </a:xfrm>
          <a:prstGeom prst="rect">
            <a:avLst/>
          </a:prstGeom>
        </p:spPr>
        <p:txBody>
          <a:bodyPr vert="eaVert" anchor="t">
            <a:normAutofit fontScale="100000"/>
          </a:bodyPr>
          <a:lstStyle/>
          <a:p/>
        </p:txBody>
      </p:sp>
      <p:sp>
        <p:nvSpPr>
          <p:cNvPr id="72"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73"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74"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20EBE78A-EB3E-401E-81B5-D7F53201DAF3}" type="slidenum">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ckCraf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368300"/>
            <a:ext cx="10668000" cy="1320800"/>
          </a:xfrm>
          <a:prstGeom prst="rect">
            <a:avLst/>
          </a:prstGeom>
        </p:spPr>
        <p:txBody>
          <a:bodyPr anchor="ctr">
            <a:normAutofit fontScale="100000"/>
          </a:bodyPr>
          <a:lstStyle/>
          <a:p>
            <a:r>
              <a:rPr/>
              <a:t>Click to edit Master title style</a:t>
            </a:r>
          </a:p>
        </p:txBody>
      </p:sp>
      <p:sp>
        <p:nvSpPr>
          <p:cNvPr id="3" name="Text Placeholder 2"/>
          <p:cNvSpPr>
            <a:spLocks noGrp="1"/>
          </p:cNvSpPr>
          <p:nvPr>
            <p:ph type="body" idx="1"/>
          </p:nvPr>
        </p:nvSpPr>
        <p:spPr>
          <a:xfrm>
            <a:off x="762000" y="1828800"/>
            <a:ext cx="10668000" cy="4356100"/>
          </a:xfrm>
          <a:prstGeom prst="rect">
            <a:avLst/>
          </a:prstGeom>
        </p:spPr>
        <p:txBody>
          <a:bodyPr anchor="t">
            <a:normAutofit fontScale="100000"/>
          </a:bodyPr>
          <a:lstStyle/>
          <a:p>
            <a:r>
              <a:rPr/>
              <a:t>Click to edit Master text styles</a:t>
            </a:r>
          </a:p>
        </p:txBody>
      </p:sp>
      <p:sp>
        <p:nvSpPr>
          <p:cNvPr id="4" name="Date Placeholder"/>
          <p:cNvSpPr>
            <a:spLocks noGrp="1"/>
          </p:cNvSpPr>
          <p:nvPr>
            <p:ph type="dt" idx="10"/>
          </p:nvPr>
        </p:nvSpPr>
        <p:spPr>
          <a:xfrm>
            <a:off x="762000" y="6350000"/>
            <a:ext cx="2743200" cy="355600"/>
          </a:xfrm>
          <a:prstGeom prst="rect">
            <a:avLst/>
          </a:prstGeom>
        </p:spPr>
        <p:txBody>
          <a:bodyPr anchor="ctr"/>
          <a:lstStyle>
            <a:lvl1pPr algn="l">
              <a:defRPr sz="1200">
                <a:solidFill>
                  <a:schemeClr val="tx1">
                    <a:tint val="75000"/>
                  </a:schemeClr>
                </a:solidFill>
              </a:defRPr>
            </a:lvl1pPr>
          </a:lstStyle>
          <a:p/>
        </p:txBody>
      </p:sp>
      <p:sp>
        <p:nvSpPr>
          <p:cNvPr id="5" name="Footer Placeholder"/>
          <p:cNvSpPr>
            <a:spLocks noGrp="1"/>
          </p:cNvSpPr>
          <p:nvPr>
            <p:ph type="ftr" idx="11"/>
          </p:nvPr>
        </p:nvSpPr>
        <p:spPr>
          <a:xfrm>
            <a:off x="4038600" y="6350000"/>
            <a:ext cx="4114800" cy="355600"/>
          </a:xfrm>
          <a:prstGeom prst="rect">
            <a:avLst/>
          </a:prstGeom>
        </p:spPr>
        <p:txBody>
          <a:bodyPr anchor="ctr"/>
          <a:lstStyle>
            <a:lvl1pPr algn="ctr">
              <a:defRPr sz="1200">
                <a:solidFill>
                  <a:schemeClr val="tx1">
                    <a:tint val="75000"/>
                  </a:schemeClr>
                </a:solidFill>
              </a:defRPr>
            </a:lvl1pPr>
          </a:lstStyle>
          <a:p/>
        </p:txBody>
      </p:sp>
      <p:sp>
        <p:nvSpPr>
          <p:cNvPr id="6" name="Slide Number Placeholder"/>
          <p:cNvSpPr>
            <a:spLocks noGrp="1"/>
          </p:cNvSpPr>
          <p:nvPr>
            <p:ph type="sldNum" idx="12"/>
          </p:nvPr>
        </p:nvSpPr>
        <p:spPr>
          <a:xfrm>
            <a:off x="8686800" y="6350000"/>
            <a:ext cx="2743200" cy="355600"/>
          </a:xfrm>
          <a:prstGeom prst="rect">
            <a:avLst/>
          </a:prstGeom>
        </p:spPr>
        <p:txBody>
          <a:bodyPr anchor="ctr"/>
          <a:lstStyle>
            <a:lvl1pPr algn="r">
              <a:defRPr sz="1200">
                <a:solidFill>
                  <a:schemeClr val="tx1">
                    <a:tint val="75000"/>
                  </a:schemeClr>
                </a:solidFill>
              </a:defRPr>
            </a:lvl1pPr>
          </a:lstStyle>
          <a:p>
            <a:fld id="{473D6AB1-0FDA-49F1-8390-8828CE9E6676}" type="slidenum">
              <a:rPr/>
              <a:t>‹#›</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a:lnSpc>
          <a:spcPct val="90000"/>
        </a:lnSpc>
        <a:spcBef>
          <a:spcPts val="0"/>
        </a:spcBef>
        <a:buNone/>
        <a:defRPr sz="4400" kern="1200">
          <a:solidFill>
            <a:schemeClr val="tx1"/>
          </a:solidFill>
          <a:latin typeface="+mj-lt"/>
        </a:defRPr>
      </a:lvl1pPr>
    </p:titleStyle>
    <p:bodyStyle>
      <a:lvl1pPr marL="228600" indent="-228600" algn="l">
        <a:lnSpc>
          <a:spcPct val="90000"/>
        </a:lnSpc>
        <a:spcBef>
          <a:spcPts val="1000"/>
        </a:spcBef>
        <a:buFont typeface="Arial"/>
        <a:buChar char="•"/>
        <a:defRPr sz="2800" kern="1200">
          <a:solidFill>
            <a:schemeClr val="tx1"/>
          </a:solidFill>
          <a:latin typeface="+mn-lt"/>
        </a:defRPr>
      </a:lvl1pPr>
      <a:lvl2pPr marL="685800" indent="-228600" algn="l">
        <a:lnSpc>
          <a:spcPct val="90000"/>
        </a:lnSpc>
        <a:spcBef>
          <a:spcPts val="500"/>
        </a:spcBef>
        <a:buFont typeface="Arial"/>
        <a:buChar char="•"/>
        <a:defRPr sz="2400" kern="1200">
          <a:solidFill>
            <a:schemeClr val="tx1"/>
          </a:solidFill>
          <a:latin typeface="+mn-lt"/>
        </a:defRPr>
      </a:lvl2pPr>
      <a:lvl3pPr marL="1143000" indent="-228600" algn="l">
        <a:lnSpc>
          <a:spcPct val="90000"/>
        </a:lnSpc>
        <a:spcBef>
          <a:spcPts val="500"/>
        </a:spcBef>
        <a:buFont typeface="Arial"/>
        <a:buChar char="•"/>
        <a:defRPr sz="2000" kern="1200">
          <a:solidFill>
            <a:schemeClr val="tx1"/>
          </a:solidFill>
          <a:latin typeface="+mn-lt"/>
        </a:defRPr>
      </a:lvl3pPr>
      <a:lvl4pPr marL="1600200" indent="-228600" algn="l">
        <a:lnSpc>
          <a:spcPct val="90000"/>
        </a:lnSpc>
        <a:spcBef>
          <a:spcPts val="500"/>
        </a:spcBef>
        <a:buFont typeface="Arial"/>
        <a:buChar char="•"/>
        <a:defRPr sz="1800" kern="1200">
          <a:solidFill>
            <a:schemeClr val="tx1"/>
          </a:solidFill>
          <a:latin typeface="+mn-lt"/>
        </a:defRPr>
      </a:lvl4pPr>
      <a:lvl5pPr marL="2057400" indent="-228600" algn="l">
        <a:lnSpc>
          <a:spcPct val="90000"/>
        </a:lnSpc>
        <a:spcBef>
          <a:spcPts val="500"/>
        </a:spcBef>
        <a:buFont typeface="Arial"/>
        <a:buChar char="•"/>
        <a:defRPr sz="1800" kern="1200">
          <a:solidFill>
            <a:schemeClr val="tx1"/>
          </a:solidFill>
          <a:latin typeface="+mn-lt"/>
        </a:defRPr>
      </a:lvl5pPr>
      <a:lvl6pPr marL="2514600" indent="-228600" algn="l">
        <a:lnSpc>
          <a:spcPct val="90000"/>
        </a:lnSpc>
        <a:spcBef>
          <a:spcPts val="500"/>
        </a:spcBef>
        <a:buFont typeface="Arial"/>
        <a:buChar char="•"/>
        <a:defRPr sz="1800" kern="1200">
          <a:solidFill>
            <a:schemeClr val="tx1"/>
          </a:solidFill>
          <a:latin typeface="+mn-lt"/>
        </a:defRPr>
      </a:lvl6pPr>
      <a:lvl7pPr marL="2971800" indent="-228600" algn="l">
        <a:lnSpc>
          <a:spcPct val="90000"/>
        </a:lnSpc>
        <a:spcBef>
          <a:spcPts val="500"/>
        </a:spcBef>
        <a:buFont typeface="Arial"/>
        <a:buChar char="•"/>
        <a:defRPr sz="1800" kern="1200">
          <a:solidFill>
            <a:schemeClr val="tx1"/>
          </a:solidFill>
          <a:latin typeface="+mn-lt"/>
        </a:defRPr>
      </a:lvl7pPr>
      <a:lvl8pPr marL="3429000" indent="-228600" algn="l">
        <a:lnSpc>
          <a:spcPct val="90000"/>
        </a:lnSpc>
        <a:spcBef>
          <a:spcPts val="500"/>
        </a:spcBef>
        <a:buFont typeface="Arial"/>
        <a:buChar char="•"/>
        <a:defRPr sz="1800" kern="1200">
          <a:solidFill>
            <a:schemeClr val="tx1"/>
          </a:solidFill>
          <a:latin typeface="+mn-lt"/>
        </a:defRPr>
      </a:lvl8pPr>
      <a:lvl9pPr marL="3886200" indent="-228600" algn="l">
        <a:lnSpc>
          <a:spcPct val="90000"/>
        </a:lnSpc>
        <a:spcBef>
          <a:spcPts val="500"/>
        </a:spcBef>
        <a:buFont typeface="Arial"/>
        <a:buChar char="•"/>
        <a:defRPr sz="1800" kern="1200">
          <a:solidFill>
            <a:schemeClr val="tx1"/>
          </a:solidFill>
          <a:latin typeface="+mn-lt"/>
        </a:defRPr>
      </a:lvl9pPr>
    </p:bodyStyle>
    <p:otherStyle>
      <a:lvl1pPr marL="0" algn="l">
        <a:defRPr sz="1800" kern="1200">
          <a:solidFill>
            <a:schemeClr val="tx1"/>
          </a:solidFill>
          <a:latin typeface="+mn-lt"/>
        </a:defRPr>
      </a:lvl1pPr>
      <a:lvl2pPr marL="457200" algn="l">
        <a:defRPr sz="1800" kern="1200">
          <a:solidFill>
            <a:schemeClr val="tx1"/>
          </a:solidFill>
          <a:latin typeface="+mn-lt"/>
        </a:defRPr>
      </a:lvl2pPr>
      <a:lvl3pPr marL="914400" algn="l">
        <a:defRPr sz="1800" kern="1200">
          <a:solidFill>
            <a:schemeClr val="tx1"/>
          </a:solidFill>
          <a:latin typeface="+mn-lt"/>
        </a:defRPr>
      </a:lvl3pPr>
      <a:lvl4pPr marL="1371600" algn="l">
        <a:defRPr sz="1800" kern="1200">
          <a:solidFill>
            <a:schemeClr val="tx1"/>
          </a:solidFill>
          <a:latin typeface="+mn-lt"/>
        </a:defRPr>
      </a:lvl4pPr>
      <a:lvl5pPr marL="1828800" algn="l">
        <a:defRPr sz="1800" kern="1200">
          <a:solidFill>
            <a:schemeClr val="tx1"/>
          </a:solidFill>
          <a:latin typeface="+mn-lt"/>
        </a:defRPr>
      </a:lvl5pPr>
      <a:lvl6pPr marL="2286000" algn="l">
        <a:defRPr sz="1800" kern="1200">
          <a:solidFill>
            <a:schemeClr val="tx1"/>
          </a:solidFill>
          <a:latin typeface="+mn-lt"/>
        </a:defRPr>
      </a:lvl6pPr>
      <a:lvl7pPr marL="2743200" algn="l">
        <a:defRPr sz="1800" kern="1200">
          <a:solidFill>
            <a:schemeClr val="tx1"/>
          </a:solidFill>
          <a:latin typeface="+mn-lt"/>
        </a:defRPr>
      </a:lvl7pPr>
      <a:lvl8pPr marL="3200400" algn="l">
        <a:defRPr sz="1800" kern="1200">
          <a:solidFill>
            <a:schemeClr val="tx1"/>
          </a:solidFill>
          <a:latin typeface="+mn-lt"/>
        </a:defRPr>
      </a:lvl8pPr>
      <a:lvl9pPr marL="3657600" algn="l">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8" name="Oval 1"/>
          <p:cNvSpPr/>
          <p:nvPr/>
        </p:nvSpPr>
        <p:spPr>
          <a:xfrm>
            <a:off x="10033000" y="-1905000"/>
            <a:ext cx="8382000" cy="83820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9" name="Oval 2"/>
          <p:cNvSpPr/>
          <p:nvPr/>
        </p:nvSpPr>
        <p:spPr>
          <a:xfrm>
            <a:off x="10591800" y="-177800"/>
            <a:ext cx="6350000" cy="635000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0" name="Freeform 260"/>
          <p:cNvSpPr/>
          <p:nvPr/>
        </p:nvSpPr>
        <p:spPr>
          <a:xfrm>
            <a:off x="10293350" y="-223266"/>
            <a:ext cx="2186559" cy="6440932"/>
          </a:xfrm>
          <a:custGeom>
            <a:avLst/>
            <a:gdLst/>
            <a:ahLst/>
            <a:cxnLst/>
            <a:rect l="l" t="t" r="r" b="b"/>
            <a:pathLst>
              <a:path w="33948" h="100000">
                <a:moveTo>
                  <a:pt x="33727" y="100000"/>
                </a:moveTo>
                <a:lnTo>
                  <a:pt x="31625" y="99101"/>
                </a:lnTo>
                <a:lnTo>
                  <a:pt x="29565" y="98111"/>
                </a:lnTo>
                <a:lnTo>
                  <a:pt x="27548" y="97034"/>
                </a:lnTo>
                <a:lnTo>
                  <a:pt x="25580" y="95875"/>
                </a:lnTo>
                <a:lnTo>
                  <a:pt x="23661" y="94633"/>
                </a:lnTo>
                <a:lnTo>
                  <a:pt x="21796" y="93310"/>
                </a:lnTo>
                <a:lnTo>
                  <a:pt x="19990" y="91910"/>
                </a:lnTo>
                <a:lnTo>
                  <a:pt x="18245" y="90435"/>
                </a:lnTo>
                <a:lnTo>
                  <a:pt x="16563" y="88885"/>
                </a:lnTo>
                <a:lnTo>
                  <a:pt x="14950" y="87268"/>
                </a:lnTo>
                <a:lnTo>
                  <a:pt x="13404" y="85582"/>
                </a:lnTo>
                <a:lnTo>
                  <a:pt x="11933" y="83834"/>
                </a:lnTo>
                <a:lnTo>
                  <a:pt x="10537" y="82023"/>
                </a:lnTo>
                <a:lnTo>
                  <a:pt x="9220" y="80156"/>
                </a:lnTo>
                <a:lnTo>
                  <a:pt x="7982" y="78234"/>
                </a:lnTo>
                <a:lnTo>
                  <a:pt x="6826" y="76262"/>
                </a:lnTo>
                <a:lnTo>
                  <a:pt x="5756" y="74243"/>
                </a:lnTo>
                <a:lnTo>
                  <a:pt x="4772" y="72180"/>
                </a:lnTo>
                <a:lnTo>
                  <a:pt x="3876" y="70077"/>
                </a:lnTo>
                <a:lnTo>
                  <a:pt x="3070" y="67937"/>
                </a:lnTo>
                <a:lnTo>
                  <a:pt x="2356" y="65766"/>
                </a:lnTo>
                <a:lnTo>
                  <a:pt x="1735" y="63568"/>
                </a:lnTo>
                <a:lnTo>
                  <a:pt x="1207" y="61344"/>
                </a:lnTo>
                <a:lnTo>
                  <a:pt x="773" y="59100"/>
                </a:lnTo>
                <a:lnTo>
                  <a:pt x="436" y="56838"/>
                </a:lnTo>
                <a:lnTo>
                  <a:pt x="193" y="54567"/>
                </a:lnTo>
                <a:lnTo>
                  <a:pt x="49" y="52285"/>
                </a:lnTo>
                <a:lnTo>
                  <a:pt x="0" y="50000"/>
                </a:lnTo>
                <a:lnTo>
                  <a:pt x="49" y="47715"/>
                </a:lnTo>
                <a:lnTo>
                  <a:pt x="193" y="45433"/>
                </a:lnTo>
                <a:lnTo>
                  <a:pt x="436" y="43162"/>
                </a:lnTo>
                <a:lnTo>
                  <a:pt x="773" y="40900"/>
                </a:lnTo>
                <a:lnTo>
                  <a:pt x="1207" y="38656"/>
                </a:lnTo>
                <a:lnTo>
                  <a:pt x="1735" y="36432"/>
                </a:lnTo>
                <a:lnTo>
                  <a:pt x="2356" y="34234"/>
                </a:lnTo>
                <a:lnTo>
                  <a:pt x="3070" y="32063"/>
                </a:lnTo>
                <a:lnTo>
                  <a:pt x="3876" y="29923"/>
                </a:lnTo>
                <a:lnTo>
                  <a:pt x="4772" y="27820"/>
                </a:lnTo>
                <a:lnTo>
                  <a:pt x="5756" y="25757"/>
                </a:lnTo>
                <a:lnTo>
                  <a:pt x="6826" y="23738"/>
                </a:lnTo>
                <a:lnTo>
                  <a:pt x="7982" y="21766"/>
                </a:lnTo>
                <a:lnTo>
                  <a:pt x="9220" y="19844"/>
                </a:lnTo>
                <a:lnTo>
                  <a:pt x="10537" y="17977"/>
                </a:lnTo>
                <a:lnTo>
                  <a:pt x="11933" y="16166"/>
                </a:lnTo>
                <a:lnTo>
                  <a:pt x="13404" y="14418"/>
                </a:lnTo>
                <a:lnTo>
                  <a:pt x="14950" y="12732"/>
                </a:lnTo>
                <a:lnTo>
                  <a:pt x="16563" y="11115"/>
                </a:lnTo>
                <a:lnTo>
                  <a:pt x="18245" y="9565"/>
                </a:lnTo>
                <a:lnTo>
                  <a:pt x="19990" y="8090"/>
                </a:lnTo>
                <a:lnTo>
                  <a:pt x="21796" y="6690"/>
                </a:lnTo>
                <a:lnTo>
                  <a:pt x="23661" y="5367"/>
                </a:lnTo>
                <a:lnTo>
                  <a:pt x="25580" y="4125"/>
                </a:lnTo>
                <a:lnTo>
                  <a:pt x="27548" y="2966"/>
                </a:lnTo>
                <a:lnTo>
                  <a:pt x="29565" y="1889"/>
                </a:lnTo>
                <a:lnTo>
                  <a:pt x="31625" y="899"/>
                </a:lnTo>
                <a:lnTo>
                  <a:pt x="33727" y="0"/>
                </a:lnTo>
                <a:lnTo>
                  <a:pt x="33948" y="548"/>
                </a:lnTo>
                <a:lnTo>
                  <a:pt x="31870" y="1439"/>
                </a:lnTo>
                <a:lnTo>
                  <a:pt x="29833" y="2417"/>
                </a:lnTo>
                <a:lnTo>
                  <a:pt x="27837" y="3480"/>
                </a:lnTo>
                <a:lnTo>
                  <a:pt x="25889" y="4628"/>
                </a:lnTo>
                <a:lnTo>
                  <a:pt x="23992" y="5856"/>
                </a:lnTo>
                <a:lnTo>
                  <a:pt x="22149" y="7165"/>
                </a:lnTo>
                <a:lnTo>
                  <a:pt x="20362" y="8550"/>
                </a:lnTo>
                <a:lnTo>
                  <a:pt x="18635" y="10009"/>
                </a:lnTo>
                <a:lnTo>
                  <a:pt x="16973" y="11541"/>
                </a:lnTo>
                <a:lnTo>
                  <a:pt x="15376" y="13142"/>
                </a:lnTo>
                <a:lnTo>
                  <a:pt x="13850" y="14808"/>
                </a:lnTo>
                <a:lnTo>
                  <a:pt x="12395" y="16537"/>
                </a:lnTo>
                <a:lnTo>
                  <a:pt x="11014" y="18328"/>
                </a:lnTo>
                <a:lnTo>
                  <a:pt x="9711" y="20175"/>
                </a:lnTo>
                <a:lnTo>
                  <a:pt x="8486" y="22076"/>
                </a:lnTo>
                <a:lnTo>
                  <a:pt x="7343" y="24026"/>
                </a:lnTo>
                <a:lnTo>
                  <a:pt x="6284" y="26023"/>
                </a:lnTo>
                <a:lnTo>
                  <a:pt x="5312" y="28064"/>
                </a:lnTo>
                <a:lnTo>
                  <a:pt x="4425" y="30142"/>
                </a:lnTo>
                <a:lnTo>
                  <a:pt x="3628" y="32258"/>
                </a:lnTo>
                <a:lnTo>
                  <a:pt x="2922" y="34405"/>
                </a:lnTo>
                <a:lnTo>
                  <a:pt x="2307" y="36582"/>
                </a:lnTo>
                <a:lnTo>
                  <a:pt x="1784" y="38781"/>
                </a:lnTo>
                <a:lnTo>
                  <a:pt x="1357" y="41001"/>
                </a:lnTo>
                <a:lnTo>
                  <a:pt x="1021" y="43237"/>
                </a:lnTo>
                <a:lnTo>
                  <a:pt x="783" y="45485"/>
                </a:lnTo>
                <a:lnTo>
                  <a:pt x="639" y="47740"/>
                </a:lnTo>
                <a:lnTo>
                  <a:pt x="592" y="50000"/>
                </a:lnTo>
                <a:lnTo>
                  <a:pt x="639" y="52260"/>
                </a:lnTo>
                <a:lnTo>
                  <a:pt x="783" y="54515"/>
                </a:lnTo>
                <a:lnTo>
                  <a:pt x="1021" y="56763"/>
                </a:lnTo>
                <a:lnTo>
                  <a:pt x="1357" y="58999"/>
                </a:lnTo>
                <a:lnTo>
                  <a:pt x="1784" y="61219"/>
                </a:lnTo>
                <a:lnTo>
                  <a:pt x="2307" y="63418"/>
                </a:lnTo>
                <a:lnTo>
                  <a:pt x="2922" y="65595"/>
                </a:lnTo>
                <a:lnTo>
                  <a:pt x="3628" y="67742"/>
                </a:lnTo>
                <a:lnTo>
                  <a:pt x="4425" y="69858"/>
                </a:lnTo>
                <a:lnTo>
                  <a:pt x="5312" y="71936"/>
                </a:lnTo>
                <a:lnTo>
                  <a:pt x="6284" y="73977"/>
                </a:lnTo>
                <a:lnTo>
                  <a:pt x="7343" y="75974"/>
                </a:lnTo>
                <a:lnTo>
                  <a:pt x="8486" y="77924"/>
                </a:lnTo>
                <a:lnTo>
                  <a:pt x="9711" y="79825"/>
                </a:lnTo>
                <a:lnTo>
                  <a:pt x="11014" y="81672"/>
                </a:lnTo>
                <a:lnTo>
                  <a:pt x="12395" y="83463"/>
                </a:lnTo>
                <a:lnTo>
                  <a:pt x="13850" y="85192"/>
                </a:lnTo>
                <a:lnTo>
                  <a:pt x="15376" y="86858"/>
                </a:lnTo>
                <a:lnTo>
                  <a:pt x="16973" y="88459"/>
                </a:lnTo>
                <a:lnTo>
                  <a:pt x="18635" y="89991"/>
                </a:lnTo>
                <a:lnTo>
                  <a:pt x="20362" y="91450"/>
                </a:lnTo>
                <a:lnTo>
                  <a:pt x="22149" y="92835"/>
                </a:lnTo>
                <a:lnTo>
                  <a:pt x="23992" y="94144"/>
                </a:lnTo>
                <a:lnTo>
                  <a:pt x="25889" y="95372"/>
                </a:lnTo>
                <a:lnTo>
                  <a:pt x="27837" y="96520"/>
                </a:lnTo>
                <a:lnTo>
                  <a:pt x="29833" y="97583"/>
                </a:lnTo>
                <a:lnTo>
                  <a:pt x="31870" y="98561"/>
                </a:lnTo>
                <a:lnTo>
                  <a:pt x="33948" y="99452"/>
                </a:lnTo>
                <a:close/>
              </a:path>
            </a:pathLst>
          </a:cu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1" name="Oval 4"/>
          <p:cNvSpPr/>
          <p:nvPr/>
        </p:nvSpPr>
        <p:spPr>
          <a:xfrm>
            <a:off x="10350500" y="3771900"/>
            <a:ext cx="76200" cy="7620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2" name="TextBox 5"/>
          <p:cNvSpPr txBox="1"/>
          <p:nvPr/>
        </p:nvSpPr>
        <p:spPr>
          <a:xfrm>
            <a:off x="711200" y="406400"/>
            <a:ext cx="3302000" cy="304800"/>
          </a:xfrm>
          <a:prstGeom prst="rect">
            <a:avLst/>
          </a:prstGeom>
        </p:spPr>
        <p:txBody>
          <a:bodyPr wrap="square" lIns="0" tIns="0" rIns="0" bIns="0">
            <a:noAutofit/>
          </a:bodyPr>
          <a:lstStyle/>
          <a:p>
            <a:pPr>
              <a:lnSpc>
                <a:spcPct val="102000"/>
              </a:lnSpc>
            </a:pPr>
            <a:r>
              <a:rPr sz="1500" spc="-40">
                <a:solidFill>
                  <a:srgbClr val="0A0A0A"/>
                </a:solidFill>
                <a:latin typeface="PP Editorial New Ultralight"/>
              </a:rPr>
              <a:t>AfterSales.</a:t>
            </a:r>
            <a:endParaRPr sz="1500" spc="-40">
              <a:solidFill>
                <a:srgbClr val="0A0A0A"/>
              </a:solidFill>
              <a:latin typeface="PP Editorial New Ultralight"/>
            </a:endParaRPr>
          </a:p>
        </p:txBody>
      </p:sp>
      <p:sp>
        <p:nvSpPr>
          <p:cNvPr id="263" name="TextBox 6"/>
          <p:cNvSpPr txBox="1"/>
          <p:nvPr/>
        </p:nvSpPr>
        <p:spPr>
          <a:xfrm>
            <a:off x="711200" y="736600"/>
            <a:ext cx="4064000" cy="127000"/>
          </a:xfrm>
          <a:prstGeom prst="rect">
            <a:avLst/>
          </a:prstGeom>
        </p:spPr>
        <p:txBody>
          <a:bodyPr wrap="square" lIns="0" tIns="0" rIns="0" bIns="0">
            <a:noAutofit/>
          </a:bodyPr>
          <a:lstStyle/>
          <a:p>
            <a:r>
              <a:rPr sz="520" b="1" spc="130">
                <a:solidFill>
                  <a:srgbClr val="A2A2A8"/>
                </a:solidFill>
                <a:latin typeface="Telegraf"/>
              </a:rPr>
              <a:t>DESIGN REFERENCE  ·  V1  ·  TEAM 41</a:t>
            </a:r>
            <a:endParaRPr sz="520" b="1" spc="130">
              <a:solidFill>
                <a:srgbClr val="A2A2A8"/>
              </a:solidFill>
              <a:latin typeface="Telegraf"/>
            </a:endParaRPr>
          </a:p>
        </p:txBody>
      </p:sp>
      <p:sp>
        <p:nvSpPr>
          <p:cNvPr id="264" name="TextBox 7"/>
          <p:cNvSpPr txBox="1"/>
          <p:nvPr/>
        </p:nvSpPr>
        <p:spPr>
          <a:xfrm>
            <a:off x="660400" y="1778000"/>
            <a:ext cx="7112000" cy="2032000"/>
          </a:xfrm>
          <a:prstGeom prst="rect">
            <a:avLst/>
          </a:prstGeom>
        </p:spPr>
        <p:txBody>
          <a:bodyPr wrap="square" lIns="0" tIns="0" rIns="0" bIns="0">
            <a:noAutofit/>
          </a:bodyPr>
          <a:lstStyle/>
          <a:p>
            <a:pPr>
              <a:lnSpc>
                <a:spcPct val="98000"/>
              </a:lnSpc>
            </a:pPr>
            <a:r>
              <a:rPr sz="6400" spc="-260">
                <a:solidFill>
                  <a:srgbClr val="0A0A0A"/>
                </a:solidFill>
                <a:latin typeface="PP Editorial New Ultralight"/>
              </a:rPr>
              <a:t>Every screen,</a:t>
            </a:r>
            <a:endParaRPr sz="6400" spc="-260">
              <a:solidFill>
                <a:srgbClr val="0A0A0A"/>
              </a:solidFill>
              <a:latin typeface="PP Editorial New Ultralight"/>
            </a:endParaRPr>
          </a:p>
          <a:p>
            <a:pPr>
              <a:lnSpc>
                <a:spcPct val="98000"/>
              </a:lnSpc>
            </a:pPr>
            <a:r>
              <a:rPr sz="6400" spc="-260">
                <a:solidFill>
                  <a:srgbClr val="0A0A0A"/>
                </a:solidFill>
                <a:latin typeface="PP Editorial New Ultralight"/>
              </a:rPr>
              <a:t>one language.</a:t>
            </a:r>
            <a:endParaRPr sz="6400" spc="-260">
              <a:solidFill>
                <a:srgbClr val="0A0A0A"/>
              </a:solidFill>
              <a:latin typeface="PP Editorial New Ultralight"/>
            </a:endParaRPr>
          </a:p>
        </p:txBody>
      </p:sp>
      <p:sp>
        <p:nvSpPr>
          <p:cNvPr id="265" name="TextBox 8"/>
          <p:cNvSpPr txBox="1"/>
          <p:nvPr/>
        </p:nvSpPr>
        <p:spPr>
          <a:xfrm>
            <a:off x="711200" y="4089400"/>
            <a:ext cx="4394200" cy="685800"/>
          </a:xfrm>
          <a:prstGeom prst="rect">
            <a:avLst/>
          </a:prstGeom>
        </p:spPr>
        <p:txBody>
          <a:bodyPr wrap="square" lIns="0" tIns="0" rIns="0" bIns="0">
            <a:noAutofit/>
          </a:bodyPr>
          <a:lstStyle/>
          <a:p>
            <a:pPr>
              <a:lnSpc>
                <a:spcPct val="166000"/>
              </a:lnSpc>
            </a:pPr>
            <a:r>
              <a:rPr sz="820" spc="0">
                <a:solidFill>
                  <a:srgbClr val="67676E"/>
                </a:solidFill>
                <a:latin typeface="Telegraf"/>
              </a:rPr>
              <a:t>Onboarding, the live queue, voice and the business brain — drawn in the landing page’s own serif, its paper white, and the petrol teal inside its hero flower.</a:t>
            </a:r>
            <a:endParaRPr sz="820" spc="0">
              <a:solidFill>
                <a:srgbClr val="67676E"/>
              </a:solidFill>
              <a:latin typeface="Telegraf"/>
            </a:endParaRPr>
          </a:p>
        </p:txBody>
      </p:sp>
      <p:sp>
        <p:nvSpPr>
          <p:cNvPr id="266" name="TextBox 9"/>
          <p:cNvSpPr txBox="1"/>
          <p:nvPr/>
        </p:nvSpPr>
        <p:spPr>
          <a:xfrm>
            <a:off x="711200" y="4953000"/>
            <a:ext cx="4191000" cy="381000"/>
          </a:xfrm>
          <a:prstGeom prst="rect">
            <a:avLst/>
          </a:prstGeom>
        </p:spPr>
        <p:txBody>
          <a:bodyPr wrap="square" lIns="0" tIns="0" rIns="0" bIns="0">
            <a:noAutofit/>
          </a:bodyPr>
          <a:lstStyle/>
          <a:p>
            <a:pPr>
              <a:lnSpc>
                <a:spcPct val="160000"/>
              </a:lnSpc>
            </a:pPr>
            <a:r>
              <a:rPr sz="700" spc="0">
                <a:solidFill>
                  <a:srgbClr val="A2A2A8"/>
                </a:solidFill>
                <a:latin typeface="Telegraf"/>
              </a:rPr>
              <a:t>A build sheet, not a mood board: every screen carries its route, its components and its states.</a:t>
            </a:r>
            <a:endParaRPr sz="700" spc="0">
              <a:solidFill>
                <a:srgbClr val="A2A2A8"/>
              </a:solidFill>
              <a:latin typeface="Telegraf"/>
            </a:endParaRPr>
          </a:p>
        </p:txBody>
      </p:sp>
      <p:sp>
        <p:nvSpPr>
          <p:cNvPr id="267" name="Rectangle 10"/>
          <p:cNvSpPr/>
          <p:nvPr/>
        </p:nvSpPr>
        <p:spPr>
          <a:xfrm>
            <a:off x="711200" y="5867400"/>
            <a:ext cx="10769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8" name="TextBox 11"/>
          <p:cNvSpPr txBox="1"/>
          <p:nvPr/>
        </p:nvSpPr>
        <p:spPr>
          <a:xfrm>
            <a:off x="711200" y="6019800"/>
            <a:ext cx="3810000" cy="127000"/>
          </a:xfrm>
          <a:prstGeom prst="rect">
            <a:avLst/>
          </a:prstGeom>
        </p:spPr>
        <p:txBody>
          <a:bodyPr wrap="square" lIns="0" tIns="0" rIns="0" bIns="0">
            <a:noAutofit/>
          </a:bodyPr>
          <a:lstStyle/>
          <a:p>
            <a:r>
              <a:rPr sz="540" b="1" spc="120">
                <a:solidFill>
                  <a:srgbClr val="67676E"/>
                </a:solidFill>
                <a:latin typeface="Telegraf"/>
              </a:rPr>
              <a:t>SPHINX ’26  ·  PS 2.5  ·  OMNICHANNEL TRIAGE</a:t>
            </a:r>
            <a:endParaRPr sz="540" b="1" spc="120">
              <a:solidFill>
                <a:srgbClr val="67676E"/>
              </a:solidFill>
              <a:latin typeface="Telegraf"/>
            </a:endParaRPr>
          </a:p>
        </p:txBody>
      </p:sp>
      <p:sp>
        <p:nvSpPr>
          <p:cNvPr id="269" name="TextBox 12"/>
          <p:cNvSpPr txBox="1"/>
          <p:nvPr/>
        </p:nvSpPr>
        <p:spPr>
          <a:xfrm>
            <a:off x="6604000" y="6019800"/>
            <a:ext cx="4876800" cy="127000"/>
          </a:xfrm>
          <a:prstGeom prst="rect">
            <a:avLst/>
          </a:prstGeom>
        </p:spPr>
        <p:txBody>
          <a:bodyPr wrap="square" lIns="0" tIns="0" rIns="0" bIns="0">
            <a:noAutofit/>
          </a:bodyPr>
          <a:lstStyle/>
          <a:p>
            <a:pPr algn="r"/>
            <a:r>
              <a:rPr sz="540" b="1" spc="120">
                <a:solidFill>
                  <a:srgbClr val="0E6B5F"/>
                </a:solidFill>
                <a:latin typeface="Telegraf"/>
              </a:rPr>
              <a:t>18 SCREENS  ·  4 PANELS  ·  7 ROUTING RULES</a:t>
            </a:r>
            <a:endParaRPr sz="540" b="1" spc="120">
              <a:solidFill>
                <a:srgbClr val="0E6B5F"/>
              </a:solidFill>
              <a:latin typeface="Telegraf"/>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1" name="TextBox 1"/>
          <p:cNvSpPr txBox="1"/>
          <p:nvPr/>
        </p:nvSpPr>
        <p:spPr>
          <a:xfrm>
            <a:off x="711200" y="685800"/>
            <a:ext cx="3810000" cy="127000"/>
          </a:xfrm>
          <a:prstGeom prst="rect">
            <a:avLst/>
          </a:prstGeom>
        </p:spPr>
        <p:txBody>
          <a:bodyPr wrap="square" lIns="0" tIns="0" rIns="0" bIns="0">
            <a:noAutofit/>
          </a:bodyPr>
          <a:lstStyle/>
          <a:p>
            <a:r>
              <a:rPr sz="540" b="1" spc="140">
                <a:solidFill>
                  <a:srgbClr val="A2A2A8"/>
                </a:solidFill>
                <a:latin typeface="Telegraf"/>
              </a:rPr>
              <a:t>01  —  MATERIAL</a:t>
            </a:r>
            <a:endParaRPr sz="540" b="1" spc="140">
              <a:solidFill>
                <a:srgbClr val="A2A2A8"/>
              </a:solidFill>
              <a:latin typeface="Telegraf"/>
            </a:endParaRPr>
          </a:p>
        </p:txBody>
      </p:sp>
      <p:sp>
        <p:nvSpPr>
          <p:cNvPr id="272" name="TextBox 2"/>
          <p:cNvSpPr txBox="1"/>
          <p:nvPr/>
        </p:nvSpPr>
        <p:spPr>
          <a:xfrm>
            <a:off x="660400" y="889000"/>
            <a:ext cx="4572000" cy="1905000"/>
          </a:xfrm>
          <a:prstGeom prst="rect">
            <a:avLst/>
          </a:prstGeom>
        </p:spPr>
        <p:txBody>
          <a:bodyPr wrap="square" lIns="0" tIns="0" rIns="0" bIns="0">
            <a:noAutofit/>
          </a:bodyPr>
          <a:lstStyle/>
          <a:p>
            <a:pPr>
              <a:lnSpc>
                <a:spcPct val="102000"/>
              </a:lnSpc>
            </a:pPr>
            <a:r>
              <a:rPr sz="4000" spc="-170">
                <a:solidFill>
                  <a:srgbClr val="0A0A0A"/>
                </a:solidFill>
                <a:latin typeface="PP Editorial New Ultralight"/>
              </a:rPr>
              <a:t>White paper,</a:t>
            </a:r>
            <a:endParaRPr sz="4000" spc="-170">
              <a:solidFill>
                <a:srgbClr val="0A0A0A"/>
              </a:solidFill>
              <a:latin typeface="PP Editorial New Ultralight"/>
            </a:endParaRPr>
          </a:p>
          <a:p>
            <a:pPr>
              <a:lnSpc>
                <a:spcPct val="102000"/>
              </a:lnSpc>
            </a:pPr>
            <a:r>
              <a:rPr sz="4000" spc="-170">
                <a:solidFill>
                  <a:srgbClr val="0A0A0A"/>
                </a:solidFill>
                <a:latin typeface="PP Editorial New Ultralight"/>
              </a:rPr>
              <a:t>black ink,</a:t>
            </a:r>
            <a:endParaRPr sz="4000" spc="-170">
              <a:solidFill>
                <a:srgbClr val="0A0A0A"/>
              </a:solidFill>
              <a:latin typeface="PP Editorial New Ultralight"/>
            </a:endParaRPr>
          </a:p>
          <a:p>
            <a:pPr>
              <a:lnSpc>
                <a:spcPct val="102000"/>
              </a:lnSpc>
            </a:pPr>
            <a:r>
              <a:rPr sz="4000" spc="-170">
                <a:solidFill>
                  <a:srgbClr val="0A0A0A"/>
                </a:solidFill>
                <a:latin typeface="PP Editorial New Ultralight"/>
              </a:rPr>
              <a:t>one teal.</a:t>
            </a:r>
            <a:endParaRPr sz="4000" spc="-170">
              <a:solidFill>
                <a:srgbClr val="0A0A0A"/>
              </a:solidFill>
              <a:latin typeface="PP Editorial New Ultralight"/>
            </a:endParaRPr>
          </a:p>
        </p:txBody>
      </p:sp>
      <p:sp>
        <p:nvSpPr>
          <p:cNvPr id="273" name="TextBox 3"/>
          <p:cNvSpPr txBox="1"/>
          <p:nvPr/>
        </p:nvSpPr>
        <p:spPr>
          <a:xfrm>
            <a:off x="711200" y="2870200"/>
            <a:ext cx="4064000" cy="787400"/>
          </a:xfrm>
          <a:prstGeom prst="rect">
            <a:avLst/>
          </a:prstGeom>
        </p:spPr>
        <p:txBody>
          <a:bodyPr wrap="square" lIns="0" tIns="0" rIns="0" bIns="0">
            <a:noAutofit/>
          </a:bodyPr>
          <a:lstStyle/>
          <a:p>
            <a:pPr>
              <a:lnSpc>
                <a:spcPct val="162000"/>
              </a:lnSpc>
            </a:pPr>
            <a:r>
              <a:rPr sz="760" spc="0">
                <a:solidFill>
                  <a:srgbClr val="67676E"/>
                </a:solidFill>
                <a:latin typeface="Telegraf"/>
              </a:rPr>
              <a:t>The landing page is mostly empty page. Type carries it; a single petrol teal does the marking. Nothing else — no gradients, no glass, no shadow above 8%.</a:t>
            </a:r>
            <a:endParaRPr sz="760" spc="0">
              <a:solidFill>
                <a:srgbClr val="67676E"/>
              </a:solidFill>
              <a:latin typeface="Telegraf"/>
            </a:endParaRPr>
          </a:p>
        </p:txBody>
      </p:sp>
      <p:sp>
        <p:nvSpPr>
          <p:cNvPr id="274" name="TextBox 4"/>
          <p:cNvSpPr txBox="1"/>
          <p:nvPr/>
        </p:nvSpPr>
        <p:spPr>
          <a:xfrm>
            <a:off x="711200" y="3810000"/>
            <a:ext cx="736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Ground</a:t>
            </a:r>
            <a:endParaRPr sz="600" b="1" spc="0">
              <a:solidFill>
                <a:srgbClr val="0A0A0A"/>
              </a:solidFill>
              <a:latin typeface="Telegraf"/>
            </a:endParaRPr>
          </a:p>
        </p:txBody>
      </p:sp>
      <p:sp>
        <p:nvSpPr>
          <p:cNvPr id="275" name="TextBox 5"/>
          <p:cNvSpPr txBox="1"/>
          <p:nvPr/>
        </p:nvSpPr>
        <p:spPr>
          <a:xfrm>
            <a:off x="1498600" y="3810000"/>
            <a:ext cx="3124200" cy="127000"/>
          </a:xfrm>
          <a:prstGeom prst="rect">
            <a:avLst/>
          </a:prstGeom>
        </p:spPr>
        <p:txBody>
          <a:bodyPr wrap="square" lIns="0" tIns="0" rIns="0" bIns="0">
            <a:noAutofit/>
          </a:bodyPr>
          <a:lstStyle/>
          <a:p>
            <a:pPr>
              <a:lnSpc>
                <a:spcPct val="135000"/>
              </a:lnSpc>
            </a:pPr>
            <a:r>
              <a:rPr sz="580" spc="0">
                <a:solidFill>
                  <a:srgbClr val="67676E"/>
                </a:solidFill>
                <a:latin typeface="Telegraf"/>
              </a:rPr>
              <a:t>Paper #FFFFFF, wash #F4F4F1</a:t>
            </a:r>
            <a:endParaRPr sz="580" spc="0">
              <a:solidFill>
                <a:srgbClr val="67676E"/>
              </a:solidFill>
              <a:latin typeface="Telegraf"/>
            </a:endParaRPr>
          </a:p>
        </p:txBody>
      </p:sp>
      <p:sp>
        <p:nvSpPr>
          <p:cNvPr id="276" name="Rectangle 6"/>
          <p:cNvSpPr/>
          <p:nvPr/>
        </p:nvSpPr>
        <p:spPr>
          <a:xfrm>
            <a:off x="711200" y="4000500"/>
            <a:ext cx="3911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77" name="TextBox 7"/>
          <p:cNvSpPr txBox="1"/>
          <p:nvPr/>
        </p:nvSpPr>
        <p:spPr>
          <a:xfrm>
            <a:off x="711200" y="4191000"/>
            <a:ext cx="736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Ink</a:t>
            </a:r>
            <a:endParaRPr sz="600" b="1" spc="0">
              <a:solidFill>
                <a:srgbClr val="0A0A0A"/>
              </a:solidFill>
              <a:latin typeface="Telegraf"/>
            </a:endParaRPr>
          </a:p>
        </p:txBody>
      </p:sp>
      <p:sp>
        <p:nvSpPr>
          <p:cNvPr id="278" name="TextBox 8"/>
          <p:cNvSpPr txBox="1"/>
          <p:nvPr/>
        </p:nvSpPr>
        <p:spPr>
          <a:xfrm>
            <a:off x="1498600" y="4191000"/>
            <a:ext cx="3124200" cy="127000"/>
          </a:xfrm>
          <a:prstGeom prst="rect">
            <a:avLst/>
          </a:prstGeom>
        </p:spPr>
        <p:txBody>
          <a:bodyPr wrap="square" lIns="0" tIns="0" rIns="0" bIns="0">
            <a:noAutofit/>
          </a:bodyPr>
          <a:lstStyle/>
          <a:p>
            <a:pPr>
              <a:lnSpc>
                <a:spcPct val="135000"/>
              </a:lnSpc>
            </a:pPr>
            <a:r>
              <a:rPr sz="580" spc="0">
                <a:solidFill>
                  <a:srgbClr val="67676E"/>
                </a:solidFill>
                <a:latin typeface="Telegraf"/>
              </a:rPr>
              <a:t>Jet #0A0A0A · muted #67676E · faint #A2A2A8</a:t>
            </a:r>
            <a:endParaRPr sz="580" spc="0">
              <a:solidFill>
                <a:srgbClr val="67676E"/>
              </a:solidFill>
              <a:latin typeface="Telegraf"/>
            </a:endParaRPr>
          </a:p>
        </p:txBody>
      </p:sp>
      <p:sp>
        <p:nvSpPr>
          <p:cNvPr id="279" name="Rectangle 9"/>
          <p:cNvSpPr/>
          <p:nvPr/>
        </p:nvSpPr>
        <p:spPr>
          <a:xfrm>
            <a:off x="711200" y="4381500"/>
            <a:ext cx="3911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0" name="TextBox 10"/>
          <p:cNvSpPr txBox="1"/>
          <p:nvPr/>
        </p:nvSpPr>
        <p:spPr>
          <a:xfrm>
            <a:off x="711200" y="4572000"/>
            <a:ext cx="736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Accent</a:t>
            </a:r>
            <a:endParaRPr sz="600" b="1" spc="0">
              <a:solidFill>
                <a:srgbClr val="0A0A0A"/>
              </a:solidFill>
              <a:latin typeface="Telegraf"/>
            </a:endParaRPr>
          </a:p>
        </p:txBody>
      </p:sp>
      <p:sp>
        <p:nvSpPr>
          <p:cNvPr id="281" name="TextBox 11"/>
          <p:cNvSpPr txBox="1"/>
          <p:nvPr/>
        </p:nvSpPr>
        <p:spPr>
          <a:xfrm>
            <a:off x="1498600" y="4572000"/>
            <a:ext cx="3124200" cy="127000"/>
          </a:xfrm>
          <a:prstGeom prst="rect">
            <a:avLst/>
          </a:prstGeom>
        </p:spPr>
        <p:txBody>
          <a:bodyPr wrap="square" lIns="0" tIns="0" rIns="0" bIns="0">
            <a:noAutofit/>
          </a:bodyPr>
          <a:lstStyle/>
          <a:p>
            <a:pPr>
              <a:lnSpc>
                <a:spcPct val="135000"/>
              </a:lnSpc>
            </a:pPr>
            <a:r>
              <a:rPr sz="580" spc="0">
                <a:solidFill>
                  <a:srgbClr val="67676E"/>
                </a:solidFill>
                <a:latin typeface="Telegraf"/>
              </a:rPr>
              <a:t>Petrol #0E6B5F, signal #12A594, mint #8FE0CE</a:t>
            </a:r>
            <a:endParaRPr sz="580" spc="0">
              <a:solidFill>
                <a:srgbClr val="67676E"/>
              </a:solidFill>
              <a:latin typeface="Telegraf"/>
            </a:endParaRPr>
          </a:p>
        </p:txBody>
      </p:sp>
      <p:sp>
        <p:nvSpPr>
          <p:cNvPr id="282" name="Rectangle 12"/>
          <p:cNvSpPr/>
          <p:nvPr/>
        </p:nvSpPr>
        <p:spPr>
          <a:xfrm>
            <a:off x="711200" y="4762500"/>
            <a:ext cx="3911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3" name="TextBox 13"/>
          <p:cNvSpPr txBox="1"/>
          <p:nvPr/>
        </p:nvSpPr>
        <p:spPr>
          <a:xfrm>
            <a:off x="711200" y="4953000"/>
            <a:ext cx="736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Hairlines</a:t>
            </a:r>
            <a:endParaRPr sz="600" b="1" spc="0">
              <a:solidFill>
                <a:srgbClr val="0A0A0A"/>
              </a:solidFill>
              <a:latin typeface="Telegraf"/>
            </a:endParaRPr>
          </a:p>
        </p:txBody>
      </p:sp>
      <p:sp>
        <p:nvSpPr>
          <p:cNvPr id="284" name="TextBox 14"/>
          <p:cNvSpPr txBox="1"/>
          <p:nvPr/>
        </p:nvSpPr>
        <p:spPr>
          <a:xfrm>
            <a:off x="1498600" y="4953000"/>
            <a:ext cx="3124200" cy="127000"/>
          </a:xfrm>
          <a:prstGeom prst="rect">
            <a:avLst/>
          </a:prstGeom>
        </p:spPr>
        <p:txBody>
          <a:bodyPr wrap="square" lIns="0" tIns="0" rIns="0" bIns="0">
            <a:noAutofit/>
          </a:bodyPr>
          <a:lstStyle/>
          <a:p>
            <a:pPr>
              <a:lnSpc>
                <a:spcPct val="135000"/>
              </a:lnSpc>
            </a:pPr>
            <a:r>
              <a:rPr sz="580" spc="0">
                <a:solidFill>
                  <a:srgbClr val="67676E"/>
                </a:solidFill>
                <a:latin typeface="Telegraf"/>
              </a:rPr>
              <a:t>0.8pt #E4E4DD · inside cards #EFEFE9</a:t>
            </a:r>
            <a:endParaRPr sz="580" spc="0">
              <a:solidFill>
                <a:srgbClr val="67676E"/>
              </a:solidFill>
              <a:latin typeface="Telegraf"/>
            </a:endParaRPr>
          </a:p>
        </p:txBody>
      </p:sp>
      <p:sp>
        <p:nvSpPr>
          <p:cNvPr id="285" name="Rectangle 15"/>
          <p:cNvSpPr/>
          <p:nvPr/>
        </p:nvSpPr>
        <p:spPr>
          <a:xfrm>
            <a:off x="711200" y="5143500"/>
            <a:ext cx="3911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6" name="TextBox 16"/>
          <p:cNvSpPr txBox="1"/>
          <p:nvPr/>
        </p:nvSpPr>
        <p:spPr>
          <a:xfrm>
            <a:off x="711200" y="5334000"/>
            <a:ext cx="736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Radius</a:t>
            </a:r>
            <a:endParaRPr sz="600" b="1" spc="0">
              <a:solidFill>
                <a:srgbClr val="0A0A0A"/>
              </a:solidFill>
              <a:latin typeface="Telegraf"/>
            </a:endParaRPr>
          </a:p>
        </p:txBody>
      </p:sp>
      <p:sp>
        <p:nvSpPr>
          <p:cNvPr id="287" name="TextBox 17"/>
          <p:cNvSpPr txBox="1"/>
          <p:nvPr/>
        </p:nvSpPr>
        <p:spPr>
          <a:xfrm>
            <a:off x="1498600" y="5334000"/>
            <a:ext cx="3124200" cy="127000"/>
          </a:xfrm>
          <a:prstGeom prst="rect">
            <a:avLst/>
          </a:prstGeom>
        </p:spPr>
        <p:txBody>
          <a:bodyPr wrap="square" lIns="0" tIns="0" rIns="0" bIns="0">
            <a:noAutofit/>
          </a:bodyPr>
          <a:lstStyle/>
          <a:p>
            <a:pPr>
              <a:lnSpc>
                <a:spcPct val="135000"/>
              </a:lnSpc>
            </a:pPr>
            <a:r>
              <a:rPr sz="580" spc="0">
                <a:solidFill>
                  <a:srgbClr val="67676E"/>
                </a:solidFill>
                <a:latin typeface="Telegraf"/>
              </a:rPr>
              <a:t>Cards 12 · fields 7 · controls 999</a:t>
            </a:r>
            <a:endParaRPr sz="580" spc="0">
              <a:solidFill>
                <a:srgbClr val="67676E"/>
              </a:solidFill>
              <a:latin typeface="Telegraf"/>
            </a:endParaRPr>
          </a:p>
        </p:txBody>
      </p:sp>
      <p:sp>
        <p:nvSpPr>
          <p:cNvPr id="288" name="Rectangle 18"/>
          <p:cNvSpPr/>
          <p:nvPr/>
        </p:nvSpPr>
        <p:spPr>
          <a:xfrm>
            <a:off x="711200" y="5524500"/>
            <a:ext cx="3911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89" name="TextBox 19"/>
          <p:cNvSpPr txBox="1"/>
          <p:nvPr/>
        </p:nvSpPr>
        <p:spPr>
          <a:xfrm>
            <a:off x="711200" y="5715000"/>
            <a:ext cx="736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Motion</a:t>
            </a:r>
            <a:endParaRPr sz="600" b="1" spc="0">
              <a:solidFill>
                <a:srgbClr val="0A0A0A"/>
              </a:solidFill>
              <a:latin typeface="Telegraf"/>
            </a:endParaRPr>
          </a:p>
        </p:txBody>
      </p:sp>
      <p:sp>
        <p:nvSpPr>
          <p:cNvPr id="290" name="TextBox 20"/>
          <p:cNvSpPr txBox="1"/>
          <p:nvPr/>
        </p:nvSpPr>
        <p:spPr>
          <a:xfrm>
            <a:off x="1498600" y="5715000"/>
            <a:ext cx="3124200" cy="127000"/>
          </a:xfrm>
          <a:prstGeom prst="rect">
            <a:avLst/>
          </a:prstGeom>
        </p:spPr>
        <p:txBody>
          <a:bodyPr wrap="square" lIns="0" tIns="0" rIns="0" bIns="0">
            <a:noAutofit/>
          </a:bodyPr>
          <a:lstStyle/>
          <a:p>
            <a:pPr>
              <a:lnSpc>
                <a:spcPct val="135000"/>
              </a:lnSpc>
            </a:pPr>
            <a:r>
              <a:rPr sz="580" spc="0">
                <a:solidFill>
                  <a:srgbClr val="67676E"/>
                </a:solidFill>
                <a:latin typeface="Telegraf"/>
              </a:rPr>
              <a:t>160ms in, 220ms out · one property at a time</a:t>
            </a:r>
            <a:endParaRPr sz="580" spc="0">
              <a:solidFill>
                <a:srgbClr val="67676E"/>
              </a:solidFill>
              <a:latin typeface="Telegraf"/>
            </a:endParaRPr>
          </a:p>
        </p:txBody>
      </p:sp>
      <p:sp>
        <p:nvSpPr>
          <p:cNvPr id="291" name="Rectangle 21"/>
          <p:cNvSpPr/>
          <p:nvPr/>
        </p:nvSpPr>
        <p:spPr>
          <a:xfrm>
            <a:off x="711200" y="5905500"/>
            <a:ext cx="3911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92" name="TextBox 22"/>
          <p:cNvSpPr txBox="1"/>
          <p:nvPr/>
        </p:nvSpPr>
        <p:spPr>
          <a:xfrm>
            <a:off x="5740400" y="685800"/>
            <a:ext cx="2540000" cy="127000"/>
          </a:xfrm>
          <a:prstGeom prst="rect">
            <a:avLst/>
          </a:prstGeom>
        </p:spPr>
        <p:txBody>
          <a:bodyPr wrap="square" lIns="0" tIns="0" rIns="0" bIns="0">
            <a:noAutofit/>
          </a:bodyPr>
          <a:lstStyle/>
          <a:p>
            <a:r>
              <a:rPr sz="500" b="1" spc="120">
                <a:solidFill>
                  <a:srgbClr val="A2A2A8"/>
                </a:solidFill>
                <a:latin typeface="Telegraf"/>
              </a:rPr>
              <a:t>COLOUR  ·  SIX VALUES, NOTHING ELSE</a:t>
            </a:r>
            <a:endParaRPr sz="500" b="1" spc="120">
              <a:solidFill>
                <a:srgbClr val="A2A2A8"/>
              </a:solidFill>
              <a:latin typeface="Telegraf"/>
            </a:endParaRPr>
          </a:p>
        </p:txBody>
      </p:sp>
      <p:sp>
        <p:nvSpPr>
          <p:cNvPr id="293" name="Rectangle 23"/>
          <p:cNvSpPr/>
          <p:nvPr/>
        </p:nvSpPr>
        <p:spPr>
          <a:xfrm>
            <a:off x="5740400" y="889000"/>
            <a:ext cx="863600" cy="736600"/>
          </a:xfrm>
          <a:custGeom>
            <a:avLst/>
            <a:gdLst/>
            <a:ahLst/>
            <a:cxnLst/>
            <a:rect l="l" t="t" r="r" b="b"/>
            <a:pathLst>
              <a:path w="100000" h="85294">
                <a:moveTo>
                  <a:pt x="76471" y="0"/>
                </a:moveTo>
                <a:cubicBezTo>
                  <a:pt x="87562" y="0"/>
                  <a:pt x="93109" y="0"/>
                  <a:pt x="96554" y="3446"/>
                </a:cubicBezTo>
                <a:cubicBezTo>
                  <a:pt x="96554" y="3446"/>
                  <a:pt x="96554" y="3446"/>
                  <a:pt x="96554" y="3446"/>
                </a:cubicBezTo>
                <a:cubicBezTo>
                  <a:pt x="100000" y="6891"/>
                  <a:pt x="100000" y="12438"/>
                  <a:pt x="100000" y="23529"/>
                </a:cubicBezTo>
                <a:lnTo>
                  <a:pt x="100000" y="61765"/>
                </a:lnTo>
                <a:cubicBezTo>
                  <a:pt x="100000" y="72856"/>
                  <a:pt x="100000" y="78403"/>
                  <a:pt x="96554" y="81849"/>
                </a:cubicBezTo>
                <a:cubicBezTo>
                  <a:pt x="96554" y="81849"/>
                  <a:pt x="96554" y="81849"/>
                  <a:pt x="96554" y="81849"/>
                </a:cubicBezTo>
                <a:cubicBezTo>
                  <a:pt x="93109" y="85294"/>
                  <a:pt x="87562" y="85294"/>
                  <a:pt x="76471" y="85294"/>
                </a:cubicBezTo>
                <a:lnTo>
                  <a:pt x="23529" y="85294"/>
                </a:lnTo>
                <a:cubicBezTo>
                  <a:pt x="12438" y="85294"/>
                  <a:pt x="6891" y="85294"/>
                  <a:pt x="3446" y="81849"/>
                </a:cubicBezTo>
                <a:cubicBezTo>
                  <a:pt x="3446" y="81849"/>
                  <a:pt x="3446" y="81849"/>
                  <a:pt x="3446" y="81849"/>
                </a:cubicBezTo>
                <a:cubicBezTo>
                  <a:pt x="0" y="78403"/>
                  <a:pt x="0" y="72856"/>
                  <a:pt x="0" y="61765"/>
                </a:cubicBezTo>
                <a:lnTo>
                  <a:pt x="0" y="23529"/>
                </a:lnTo>
                <a:cubicBezTo>
                  <a:pt x="0" y="12438"/>
                  <a:pt x="0" y="6891"/>
                  <a:pt x="3446" y="3446"/>
                </a:cubicBezTo>
                <a:cubicBezTo>
                  <a:pt x="3446" y="3446"/>
                  <a:pt x="3446" y="3446"/>
                  <a:pt x="3446" y="3446"/>
                </a:cubicBezTo>
                <a:cubicBezTo>
                  <a:pt x="6891" y="0"/>
                  <a:pt x="12438" y="0"/>
                  <a:pt x="2352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94" name="TextBox 24"/>
          <p:cNvSpPr txBox="1"/>
          <p:nvPr/>
        </p:nvSpPr>
        <p:spPr>
          <a:xfrm>
            <a:off x="5740400" y="1689100"/>
            <a:ext cx="863600" cy="101600"/>
          </a:xfrm>
          <a:prstGeom prst="rect">
            <a:avLst/>
          </a:prstGeom>
        </p:spPr>
        <p:txBody>
          <a:bodyPr wrap="square" lIns="0" tIns="0" rIns="0" bIns="0">
            <a:noAutofit/>
          </a:bodyPr>
          <a:lstStyle/>
          <a:p>
            <a:pPr>
              <a:lnSpc>
                <a:spcPct val="135000"/>
              </a:lnSpc>
            </a:pPr>
            <a:r>
              <a:rPr sz="540" b="1" spc="0">
                <a:solidFill>
                  <a:srgbClr val="0A0A0A"/>
                </a:solidFill>
                <a:latin typeface="Telegraf"/>
              </a:rPr>
              <a:t>Paper</a:t>
            </a:r>
            <a:endParaRPr sz="540" b="1" spc="0">
              <a:solidFill>
                <a:srgbClr val="0A0A0A"/>
              </a:solidFill>
              <a:latin typeface="Telegraf"/>
            </a:endParaRPr>
          </a:p>
        </p:txBody>
      </p:sp>
      <p:sp>
        <p:nvSpPr>
          <p:cNvPr id="295" name="TextBox 25"/>
          <p:cNvSpPr txBox="1"/>
          <p:nvPr/>
        </p:nvSpPr>
        <p:spPr>
          <a:xfrm>
            <a:off x="5740400" y="1803400"/>
            <a:ext cx="863600" cy="101600"/>
          </a:xfrm>
          <a:prstGeom prst="rect">
            <a:avLst/>
          </a:prstGeom>
        </p:spPr>
        <p:txBody>
          <a:bodyPr wrap="square" lIns="0" tIns="0" rIns="0" bIns="0">
            <a:noAutofit/>
          </a:bodyPr>
          <a:lstStyle/>
          <a:p>
            <a:pPr>
              <a:lnSpc>
                <a:spcPct val="135000"/>
              </a:lnSpc>
            </a:pPr>
            <a:r>
              <a:rPr sz="480" spc="30">
                <a:solidFill>
                  <a:srgbClr val="A2A2A8"/>
                </a:solidFill>
                <a:latin typeface="Telegraf"/>
              </a:rPr>
              <a:t>#FFFFFF</a:t>
            </a:r>
            <a:endParaRPr sz="480" spc="30">
              <a:solidFill>
                <a:srgbClr val="A2A2A8"/>
              </a:solidFill>
              <a:latin typeface="Telegraf"/>
            </a:endParaRPr>
          </a:p>
        </p:txBody>
      </p:sp>
      <p:sp>
        <p:nvSpPr>
          <p:cNvPr id="296" name="Rectangle 26"/>
          <p:cNvSpPr/>
          <p:nvPr/>
        </p:nvSpPr>
        <p:spPr>
          <a:xfrm>
            <a:off x="6705600" y="889000"/>
            <a:ext cx="863600" cy="736600"/>
          </a:xfrm>
          <a:custGeom>
            <a:avLst/>
            <a:gdLst/>
            <a:ahLst/>
            <a:cxnLst/>
            <a:rect l="l" t="t" r="r" b="b"/>
            <a:pathLst>
              <a:path w="100000" h="85294">
                <a:moveTo>
                  <a:pt x="76471" y="0"/>
                </a:moveTo>
                <a:cubicBezTo>
                  <a:pt x="87562" y="0"/>
                  <a:pt x="93109" y="0"/>
                  <a:pt x="96554" y="3446"/>
                </a:cubicBezTo>
                <a:cubicBezTo>
                  <a:pt x="96554" y="3446"/>
                  <a:pt x="96554" y="3446"/>
                  <a:pt x="96554" y="3446"/>
                </a:cubicBezTo>
                <a:cubicBezTo>
                  <a:pt x="100000" y="6891"/>
                  <a:pt x="100000" y="12438"/>
                  <a:pt x="100000" y="23529"/>
                </a:cubicBezTo>
                <a:lnTo>
                  <a:pt x="100000" y="61765"/>
                </a:lnTo>
                <a:cubicBezTo>
                  <a:pt x="100000" y="72856"/>
                  <a:pt x="100000" y="78403"/>
                  <a:pt x="96554" y="81849"/>
                </a:cubicBezTo>
                <a:cubicBezTo>
                  <a:pt x="96554" y="81849"/>
                  <a:pt x="96554" y="81849"/>
                  <a:pt x="96554" y="81849"/>
                </a:cubicBezTo>
                <a:cubicBezTo>
                  <a:pt x="93109" y="85294"/>
                  <a:pt x="87562" y="85294"/>
                  <a:pt x="76471" y="85294"/>
                </a:cubicBezTo>
                <a:lnTo>
                  <a:pt x="23529" y="85294"/>
                </a:lnTo>
                <a:cubicBezTo>
                  <a:pt x="12438" y="85294"/>
                  <a:pt x="6891" y="85294"/>
                  <a:pt x="3446" y="81849"/>
                </a:cubicBezTo>
                <a:cubicBezTo>
                  <a:pt x="3446" y="81849"/>
                  <a:pt x="3446" y="81849"/>
                  <a:pt x="3446" y="81849"/>
                </a:cubicBezTo>
                <a:cubicBezTo>
                  <a:pt x="0" y="78403"/>
                  <a:pt x="0" y="72856"/>
                  <a:pt x="0" y="61765"/>
                </a:cubicBezTo>
                <a:lnTo>
                  <a:pt x="0" y="23529"/>
                </a:lnTo>
                <a:cubicBezTo>
                  <a:pt x="0" y="12438"/>
                  <a:pt x="0" y="6891"/>
                  <a:pt x="3446" y="3446"/>
                </a:cubicBezTo>
                <a:cubicBezTo>
                  <a:pt x="3446" y="3446"/>
                  <a:pt x="3446" y="3446"/>
                  <a:pt x="3446" y="3446"/>
                </a:cubicBezTo>
                <a:cubicBezTo>
                  <a:pt x="6891" y="0"/>
                  <a:pt x="12438" y="0"/>
                  <a:pt x="23529"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97" name="TextBox 27"/>
          <p:cNvSpPr txBox="1"/>
          <p:nvPr/>
        </p:nvSpPr>
        <p:spPr>
          <a:xfrm>
            <a:off x="6705600" y="1689100"/>
            <a:ext cx="863600" cy="101600"/>
          </a:xfrm>
          <a:prstGeom prst="rect">
            <a:avLst/>
          </a:prstGeom>
        </p:spPr>
        <p:txBody>
          <a:bodyPr wrap="square" lIns="0" tIns="0" rIns="0" bIns="0">
            <a:noAutofit/>
          </a:bodyPr>
          <a:lstStyle/>
          <a:p>
            <a:pPr>
              <a:lnSpc>
                <a:spcPct val="135000"/>
              </a:lnSpc>
            </a:pPr>
            <a:r>
              <a:rPr sz="540" b="1" spc="0">
                <a:solidFill>
                  <a:srgbClr val="0A0A0A"/>
                </a:solidFill>
                <a:latin typeface="Telegraf"/>
              </a:rPr>
              <a:t>Wash</a:t>
            </a:r>
            <a:endParaRPr sz="540" b="1" spc="0">
              <a:solidFill>
                <a:srgbClr val="0A0A0A"/>
              </a:solidFill>
              <a:latin typeface="Telegraf"/>
            </a:endParaRPr>
          </a:p>
        </p:txBody>
      </p:sp>
      <p:sp>
        <p:nvSpPr>
          <p:cNvPr id="298" name="TextBox 28"/>
          <p:cNvSpPr txBox="1"/>
          <p:nvPr/>
        </p:nvSpPr>
        <p:spPr>
          <a:xfrm>
            <a:off x="6705600" y="1803400"/>
            <a:ext cx="863600" cy="101600"/>
          </a:xfrm>
          <a:prstGeom prst="rect">
            <a:avLst/>
          </a:prstGeom>
        </p:spPr>
        <p:txBody>
          <a:bodyPr wrap="square" lIns="0" tIns="0" rIns="0" bIns="0">
            <a:noAutofit/>
          </a:bodyPr>
          <a:lstStyle/>
          <a:p>
            <a:pPr>
              <a:lnSpc>
                <a:spcPct val="135000"/>
              </a:lnSpc>
            </a:pPr>
            <a:r>
              <a:rPr sz="480" spc="30">
                <a:solidFill>
                  <a:srgbClr val="A2A2A8"/>
                </a:solidFill>
                <a:latin typeface="Telegraf"/>
              </a:rPr>
              <a:t>#F4F4F1</a:t>
            </a:r>
            <a:endParaRPr sz="480" spc="30">
              <a:solidFill>
                <a:srgbClr val="A2A2A8"/>
              </a:solidFill>
              <a:latin typeface="Telegraf"/>
            </a:endParaRPr>
          </a:p>
        </p:txBody>
      </p:sp>
      <p:sp>
        <p:nvSpPr>
          <p:cNvPr id="299" name="Rectangle 29"/>
          <p:cNvSpPr/>
          <p:nvPr/>
        </p:nvSpPr>
        <p:spPr>
          <a:xfrm>
            <a:off x="7670800" y="889000"/>
            <a:ext cx="863600" cy="736600"/>
          </a:xfrm>
          <a:custGeom>
            <a:avLst/>
            <a:gdLst/>
            <a:ahLst/>
            <a:cxnLst/>
            <a:rect l="l" t="t" r="r" b="b"/>
            <a:pathLst>
              <a:path w="100000" h="85294">
                <a:moveTo>
                  <a:pt x="76471" y="0"/>
                </a:moveTo>
                <a:cubicBezTo>
                  <a:pt x="87562" y="0"/>
                  <a:pt x="93109" y="0"/>
                  <a:pt x="96554" y="3446"/>
                </a:cubicBezTo>
                <a:cubicBezTo>
                  <a:pt x="96554" y="3446"/>
                  <a:pt x="96554" y="3446"/>
                  <a:pt x="96554" y="3446"/>
                </a:cubicBezTo>
                <a:cubicBezTo>
                  <a:pt x="100000" y="6891"/>
                  <a:pt x="100000" y="12438"/>
                  <a:pt x="100000" y="23529"/>
                </a:cubicBezTo>
                <a:lnTo>
                  <a:pt x="100000" y="61765"/>
                </a:lnTo>
                <a:cubicBezTo>
                  <a:pt x="100000" y="72856"/>
                  <a:pt x="100000" y="78403"/>
                  <a:pt x="96554" y="81849"/>
                </a:cubicBezTo>
                <a:cubicBezTo>
                  <a:pt x="96554" y="81849"/>
                  <a:pt x="96554" y="81849"/>
                  <a:pt x="96554" y="81849"/>
                </a:cubicBezTo>
                <a:cubicBezTo>
                  <a:pt x="93109" y="85294"/>
                  <a:pt x="87562" y="85294"/>
                  <a:pt x="76471" y="85294"/>
                </a:cubicBezTo>
                <a:lnTo>
                  <a:pt x="23529" y="85294"/>
                </a:lnTo>
                <a:cubicBezTo>
                  <a:pt x="12438" y="85294"/>
                  <a:pt x="6891" y="85294"/>
                  <a:pt x="3446" y="81849"/>
                </a:cubicBezTo>
                <a:cubicBezTo>
                  <a:pt x="3446" y="81849"/>
                  <a:pt x="3446" y="81849"/>
                  <a:pt x="3446" y="81849"/>
                </a:cubicBezTo>
                <a:cubicBezTo>
                  <a:pt x="0" y="78403"/>
                  <a:pt x="0" y="72856"/>
                  <a:pt x="0" y="61765"/>
                </a:cubicBezTo>
                <a:lnTo>
                  <a:pt x="0" y="23529"/>
                </a:lnTo>
                <a:cubicBezTo>
                  <a:pt x="0" y="12438"/>
                  <a:pt x="0" y="6891"/>
                  <a:pt x="3446" y="3446"/>
                </a:cubicBezTo>
                <a:cubicBezTo>
                  <a:pt x="3446" y="3446"/>
                  <a:pt x="3446" y="3446"/>
                  <a:pt x="3446" y="3446"/>
                </a:cubicBezTo>
                <a:cubicBezTo>
                  <a:pt x="6891" y="0"/>
                  <a:pt x="12438" y="0"/>
                  <a:pt x="23529" y="0"/>
                </a:cubicBezTo>
                <a:close/>
              </a:path>
            </a:pathLst>
          </a:cu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0" name="TextBox 30"/>
          <p:cNvSpPr txBox="1"/>
          <p:nvPr/>
        </p:nvSpPr>
        <p:spPr>
          <a:xfrm>
            <a:off x="7670800" y="1689100"/>
            <a:ext cx="863600" cy="101600"/>
          </a:xfrm>
          <a:prstGeom prst="rect">
            <a:avLst/>
          </a:prstGeom>
        </p:spPr>
        <p:txBody>
          <a:bodyPr wrap="square" lIns="0" tIns="0" rIns="0" bIns="0">
            <a:noAutofit/>
          </a:bodyPr>
          <a:lstStyle/>
          <a:p>
            <a:pPr>
              <a:lnSpc>
                <a:spcPct val="135000"/>
              </a:lnSpc>
            </a:pPr>
            <a:r>
              <a:rPr sz="540" b="1" spc="0">
                <a:solidFill>
                  <a:srgbClr val="0A0A0A"/>
                </a:solidFill>
                <a:latin typeface="Telegraf"/>
              </a:rPr>
              <a:t>Line</a:t>
            </a:r>
            <a:endParaRPr sz="540" b="1" spc="0">
              <a:solidFill>
                <a:srgbClr val="0A0A0A"/>
              </a:solidFill>
              <a:latin typeface="Telegraf"/>
            </a:endParaRPr>
          </a:p>
        </p:txBody>
      </p:sp>
      <p:sp>
        <p:nvSpPr>
          <p:cNvPr id="301" name="TextBox 31"/>
          <p:cNvSpPr txBox="1"/>
          <p:nvPr/>
        </p:nvSpPr>
        <p:spPr>
          <a:xfrm>
            <a:off x="7670800" y="1803400"/>
            <a:ext cx="863600" cy="101600"/>
          </a:xfrm>
          <a:prstGeom prst="rect">
            <a:avLst/>
          </a:prstGeom>
        </p:spPr>
        <p:txBody>
          <a:bodyPr wrap="square" lIns="0" tIns="0" rIns="0" bIns="0">
            <a:noAutofit/>
          </a:bodyPr>
          <a:lstStyle/>
          <a:p>
            <a:pPr>
              <a:lnSpc>
                <a:spcPct val="135000"/>
              </a:lnSpc>
            </a:pPr>
            <a:r>
              <a:rPr sz="480" spc="30">
                <a:solidFill>
                  <a:srgbClr val="A2A2A8"/>
                </a:solidFill>
                <a:latin typeface="Telegraf"/>
              </a:rPr>
              <a:t>#E4E4DD</a:t>
            </a:r>
            <a:endParaRPr sz="480" spc="30">
              <a:solidFill>
                <a:srgbClr val="A2A2A8"/>
              </a:solidFill>
              <a:latin typeface="Telegraf"/>
            </a:endParaRPr>
          </a:p>
        </p:txBody>
      </p:sp>
      <p:sp>
        <p:nvSpPr>
          <p:cNvPr id="302" name="Rectangle 32"/>
          <p:cNvSpPr/>
          <p:nvPr/>
        </p:nvSpPr>
        <p:spPr>
          <a:xfrm>
            <a:off x="8636000" y="889000"/>
            <a:ext cx="863600" cy="736600"/>
          </a:xfrm>
          <a:custGeom>
            <a:avLst/>
            <a:gdLst/>
            <a:ahLst/>
            <a:cxnLst/>
            <a:rect l="l" t="t" r="r" b="b"/>
            <a:pathLst>
              <a:path w="100000" h="85294">
                <a:moveTo>
                  <a:pt x="76471" y="0"/>
                </a:moveTo>
                <a:cubicBezTo>
                  <a:pt x="87562" y="0"/>
                  <a:pt x="93109" y="0"/>
                  <a:pt x="96554" y="3446"/>
                </a:cubicBezTo>
                <a:cubicBezTo>
                  <a:pt x="96554" y="3446"/>
                  <a:pt x="96554" y="3446"/>
                  <a:pt x="96554" y="3446"/>
                </a:cubicBezTo>
                <a:cubicBezTo>
                  <a:pt x="100000" y="6891"/>
                  <a:pt x="100000" y="12438"/>
                  <a:pt x="100000" y="23529"/>
                </a:cubicBezTo>
                <a:lnTo>
                  <a:pt x="100000" y="61765"/>
                </a:lnTo>
                <a:cubicBezTo>
                  <a:pt x="100000" y="72856"/>
                  <a:pt x="100000" y="78403"/>
                  <a:pt x="96554" y="81849"/>
                </a:cubicBezTo>
                <a:cubicBezTo>
                  <a:pt x="96554" y="81849"/>
                  <a:pt x="96554" y="81849"/>
                  <a:pt x="96554" y="81849"/>
                </a:cubicBezTo>
                <a:cubicBezTo>
                  <a:pt x="93109" y="85294"/>
                  <a:pt x="87562" y="85294"/>
                  <a:pt x="76471" y="85294"/>
                </a:cubicBezTo>
                <a:lnTo>
                  <a:pt x="23529" y="85294"/>
                </a:lnTo>
                <a:cubicBezTo>
                  <a:pt x="12438" y="85294"/>
                  <a:pt x="6891" y="85294"/>
                  <a:pt x="3446" y="81849"/>
                </a:cubicBezTo>
                <a:cubicBezTo>
                  <a:pt x="3446" y="81849"/>
                  <a:pt x="3446" y="81849"/>
                  <a:pt x="3446" y="81849"/>
                </a:cubicBezTo>
                <a:cubicBezTo>
                  <a:pt x="0" y="78403"/>
                  <a:pt x="0" y="72856"/>
                  <a:pt x="0" y="61765"/>
                </a:cubicBezTo>
                <a:lnTo>
                  <a:pt x="0" y="23529"/>
                </a:lnTo>
                <a:cubicBezTo>
                  <a:pt x="0" y="12438"/>
                  <a:pt x="0" y="6891"/>
                  <a:pt x="3446" y="3446"/>
                </a:cubicBezTo>
                <a:cubicBezTo>
                  <a:pt x="3446" y="3446"/>
                  <a:pt x="3446" y="3446"/>
                  <a:pt x="3446" y="3446"/>
                </a:cubicBezTo>
                <a:cubicBezTo>
                  <a:pt x="6891" y="0"/>
                  <a:pt x="12438" y="0"/>
                  <a:pt x="23529"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3" name="TextBox 33"/>
          <p:cNvSpPr txBox="1"/>
          <p:nvPr/>
        </p:nvSpPr>
        <p:spPr>
          <a:xfrm>
            <a:off x="8636000" y="1689100"/>
            <a:ext cx="863600" cy="101600"/>
          </a:xfrm>
          <a:prstGeom prst="rect">
            <a:avLst/>
          </a:prstGeom>
        </p:spPr>
        <p:txBody>
          <a:bodyPr wrap="square" lIns="0" tIns="0" rIns="0" bIns="0">
            <a:noAutofit/>
          </a:bodyPr>
          <a:lstStyle/>
          <a:p>
            <a:pPr>
              <a:lnSpc>
                <a:spcPct val="135000"/>
              </a:lnSpc>
            </a:pPr>
            <a:r>
              <a:rPr sz="540" b="1" spc="0">
                <a:solidFill>
                  <a:srgbClr val="0A0A0A"/>
                </a:solidFill>
                <a:latin typeface="Telegraf"/>
              </a:rPr>
              <a:t>Ink</a:t>
            </a:r>
            <a:endParaRPr sz="540" b="1" spc="0">
              <a:solidFill>
                <a:srgbClr val="0A0A0A"/>
              </a:solidFill>
              <a:latin typeface="Telegraf"/>
            </a:endParaRPr>
          </a:p>
        </p:txBody>
      </p:sp>
      <p:sp>
        <p:nvSpPr>
          <p:cNvPr id="304" name="TextBox 34"/>
          <p:cNvSpPr txBox="1"/>
          <p:nvPr/>
        </p:nvSpPr>
        <p:spPr>
          <a:xfrm>
            <a:off x="8636000" y="1803400"/>
            <a:ext cx="863600" cy="101600"/>
          </a:xfrm>
          <a:prstGeom prst="rect">
            <a:avLst/>
          </a:prstGeom>
        </p:spPr>
        <p:txBody>
          <a:bodyPr wrap="square" lIns="0" tIns="0" rIns="0" bIns="0">
            <a:noAutofit/>
          </a:bodyPr>
          <a:lstStyle/>
          <a:p>
            <a:pPr>
              <a:lnSpc>
                <a:spcPct val="135000"/>
              </a:lnSpc>
            </a:pPr>
            <a:r>
              <a:rPr sz="480" spc="30">
                <a:solidFill>
                  <a:srgbClr val="A2A2A8"/>
                </a:solidFill>
                <a:latin typeface="Telegraf"/>
              </a:rPr>
              <a:t>#0A0A0A</a:t>
            </a:r>
            <a:endParaRPr sz="480" spc="30">
              <a:solidFill>
                <a:srgbClr val="A2A2A8"/>
              </a:solidFill>
              <a:latin typeface="Telegraf"/>
            </a:endParaRPr>
          </a:p>
        </p:txBody>
      </p:sp>
      <p:sp>
        <p:nvSpPr>
          <p:cNvPr id="305" name="Rectangle 35"/>
          <p:cNvSpPr/>
          <p:nvPr/>
        </p:nvSpPr>
        <p:spPr>
          <a:xfrm>
            <a:off x="9601200" y="889000"/>
            <a:ext cx="863600" cy="736600"/>
          </a:xfrm>
          <a:custGeom>
            <a:avLst/>
            <a:gdLst/>
            <a:ahLst/>
            <a:cxnLst/>
            <a:rect l="l" t="t" r="r" b="b"/>
            <a:pathLst>
              <a:path w="100000" h="85294">
                <a:moveTo>
                  <a:pt x="76471" y="0"/>
                </a:moveTo>
                <a:cubicBezTo>
                  <a:pt x="87562" y="0"/>
                  <a:pt x="93109" y="0"/>
                  <a:pt x="96554" y="3446"/>
                </a:cubicBezTo>
                <a:cubicBezTo>
                  <a:pt x="96554" y="3446"/>
                  <a:pt x="96554" y="3446"/>
                  <a:pt x="96554" y="3446"/>
                </a:cubicBezTo>
                <a:cubicBezTo>
                  <a:pt x="100000" y="6891"/>
                  <a:pt x="100000" y="12438"/>
                  <a:pt x="100000" y="23529"/>
                </a:cubicBezTo>
                <a:lnTo>
                  <a:pt x="100000" y="61765"/>
                </a:lnTo>
                <a:cubicBezTo>
                  <a:pt x="100000" y="72856"/>
                  <a:pt x="100000" y="78403"/>
                  <a:pt x="96554" y="81849"/>
                </a:cubicBezTo>
                <a:cubicBezTo>
                  <a:pt x="96554" y="81849"/>
                  <a:pt x="96554" y="81849"/>
                  <a:pt x="96554" y="81849"/>
                </a:cubicBezTo>
                <a:cubicBezTo>
                  <a:pt x="93109" y="85294"/>
                  <a:pt x="87562" y="85294"/>
                  <a:pt x="76471" y="85294"/>
                </a:cubicBezTo>
                <a:lnTo>
                  <a:pt x="23529" y="85294"/>
                </a:lnTo>
                <a:cubicBezTo>
                  <a:pt x="12438" y="85294"/>
                  <a:pt x="6891" y="85294"/>
                  <a:pt x="3446" y="81849"/>
                </a:cubicBezTo>
                <a:cubicBezTo>
                  <a:pt x="3446" y="81849"/>
                  <a:pt x="3446" y="81849"/>
                  <a:pt x="3446" y="81849"/>
                </a:cubicBezTo>
                <a:cubicBezTo>
                  <a:pt x="0" y="78403"/>
                  <a:pt x="0" y="72856"/>
                  <a:pt x="0" y="61765"/>
                </a:cubicBezTo>
                <a:lnTo>
                  <a:pt x="0" y="23529"/>
                </a:lnTo>
                <a:cubicBezTo>
                  <a:pt x="0" y="12438"/>
                  <a:pt x="0" y="6891"/>
                  <a:pt x="3446" y="3446"/>
                </a:cubicBezTo>
                <a:cubicBezTo>
                  <a:pt x="3446" y="3446"/>
                  <a:pt x="3446" y="3446"/>
                  <a:pt x="3446" y="3446"/>
                </a:cubicBezTo>
                <a:cubicBezTo>
                  <a:pt x="6891" y="0"/>
                  <a:pt x="12438" y="0"/>
                  <a:pt x="23529"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6" name="TextBox 36"/>
          <p:cNvSpPr txBox="1"/>
          <p:nvPr/>
        </p:nvSpPr>
        <p:spPr>
          <a:xfrm>
            <a:off x="9601200" y="1689100"/>
            <a:ext cx="863600" cy="101600"/>
          </a:xfrm>
          <a:prstGeom prst="rect">
            <a:avLst/>
          </a:prstGeom>
        </p:spPr>
        <p:txBody>
          <a:bodyPr wrap="square" lIns="0" tIns="0" rIns="0" bIns="0">
            <a:noAutofit/>
          </a:bodyPr>
          <a:lstStyle/>
          <a:p>
            <a:pPr>
              <a:lnSpc>
                <a:spcPct val="135000"/>
              </a:lnSpc>
            </a:pPr>
            <a:r>
              <a:rPr sz="540" b="1" spc="0">
                <a:solidFill>
                  <a:srgbClr val="0A0A0A"/>
                </a:solidFill>
                <a:latin typeface="Telegraf"/>
              </a:rPr>
              <a:t>Petrol</a:t>
            </a:r>
            <a:endParaRPr sz="540" b="1" spc="0">
              <a:solidFill>
                <a:srgbClr val="0A0A0A"/>
              </a:solidFill>
              <a:latin typeface="Telegraf"/>
            </a:endParaRPr>
          </a:p>
        </p:txBody>
      </p:sp>
      <p:sp>
        <p:nvSpPr>
          <p:cNvPr id="307" name="TextBox 37"/>
          <p:cNvSpPr txBox="1"/>
          <p:nvPr/>
        </p:nvSpPr>
        <p:spPr>
          <a:xfrm>
            <a:off x="9601200" y="1803400"/>
            <a:ext cx="863600" cy="101600"/>
          </a:xfrm>
          <a:prstGeom prst="rect">
            <a:avLst/>
          </a:prstGeom>
        </p:spPr>
        <p:txBody>
          <a:bodyPr wrap="square" lIns="0" tIns="0" rIns="0" bIns="0">
            <a:noAutofit/>
          </a:bodyPr>
          <a:lstStyle/>
          <a:p>
            <a:pPr>
              <a:lnSpc>
                <a:spcPct val="135000"/>
              </a:lnSpc>
            </a:pPr>
            <a:r>
              <a:rPr sz="480" spc="30">
                <a:solidFill>
                  <a:srgbClr val="A2A2A8"/>
                </a:solidFill>
                <a:latin typeface="Telegraf"/>
              </a:rPr>
              <a:t>#0E6B5F</a:t>
            </a:r>
            <a:endParaRPr sz="480" spc="30">
              <a:solidFill>
                <a:srgbClr val="A2A2A8"/>
              </a:solidFill>
              <a:latin typeface="Telegraf"/>
            </a:endParaRPr>
          </a:p>
        </p:txBody>
      </p:sp>
      <p:sp>
        <p:nvSpPr>
          <p:cNvPr id="308" name="Rectangle 38"/>
          <p:cNvSpPr/>
          <p:nvPr/>
        </p:nvSpPr>
        <p:spPr>
          <a:xfrm>
            <a:off x="10566400" y="889000"/>
            <a:ext cx="863600" cy="736600"/>
          </a:xfrm>
          <a:custGeom>
            <a:avLst/>
            <a:gdLst/>
            <a:ahLst/>
            <a:cxnLst/>
            <a:rect l="l" t="t" r="r" b="b"/>
            <a:pathLst>
              <a:path w="100000" h="85294">
                <a:moveTo>
                  <a:pt x="76471" y="0"/>
                </a:moveTo>
                <a:cubicBezTo>
                  <a:pt x="87562" y="0"/>
                  <a:pt x="93109" y="0"/>
                  <a:pt x="96554" y="3446"/>
                </a:cubicBezTo>
                <a:cubicBezTo>
                  <a:pt x="96554" y="3446"/>
                  <a:pt x="96554" y="3446"/>
                  <a:pt x="96554" y="3446"/>
                </a:cubicBezTo>
                <a:cubicBezTo>
                  <a:pt x="100000" y="6891"/>
                  <a:pt x="100000" y="12438"/>
                  <a:pt x="100000" y="23529"/>
                </a:cubicBezTo>
                <a:lnTo>
                  <a:pt x="100000" y="61765"/>
                </a:lnTo>
                <a:cubicBezTo>
                  <a:pt x="100000" y="72856"/>
                  <a:pt x="100000" y="78403"/>
                  <a:pt x="96554" y="81849"/>
                </a:cubicBezTo>
                <a:cubicBezTo>
                  <a:pt x="96554" y="81849"/>
                  <a:pt x="96554" y="81849"/>
                  <a:pt x="96554" y="81849"/>
                </a:cubicBezTo>
                <a:cubicBezTo>
                  <a:pt x="93109" y="85294"/>
                  <a:pt x="87562" y="85294"/>
                  <a:pt x="76471" y="85294"/>
                </a:cubicBezTo>
                <a:lnTo>
                  <a:pt x="23529" y="85294"/>
                </a:lnTo>
                <a:cubicBezTo>
                  <a:pt x="12438" y="85294"/>
                  <a:pt x="6891" y="85294"/>
                  <a:pt x="3446" y="81849"/>
                </a:cubicBezTo>
                <a:cubicBezTo>
                  <a:pt x="3446" y="81849"/>
                  <a:pt x="3446" y="81849"/>
                  <a:pt x="3446" y="81849"/>
                </a:cubicBezTo>
                <a:cubicBezTo>
                  <a:pt x="0" y="78403"/>
                  <a:pt x="0" y="72856"/>
                  <a:pt x="0" y="61765"/>
                </a:cubicBezTo>
                <a:lnTo>
                  <a:pt x="0" y="23529"/>
                </a:lnTo>
                <a:cubicBezTo>
                  <a:pt x="0" y="12438"/>
                  <a:pt x="0" y="6891"/>
                  <a:pt x="3446" y="3446"/>
                </a:cubicBezTo>
                <a:cubicBezTo>
                  <a:pt x="3446" y="3446"/>
                  <a:pt x="3446" y="3446"/>
                  <a:pt x="3446" y="3446"/>
                </a:cubicBezTo>
                <a:cubicBezTo>
                  <a:pt x="6891" y="0"/>
                  <a:pt x="12438" y="0"/>
                  <a:pt x="23529"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09" name="TextBox 39"/>
          <p:cNvSpPr txBox="1"/>
          <p:nvPr/>
        </p:nvSpPr>
        <p:spPr>
          <a:xfrm>
            <a:off x="10566400" y="1689100"/>
            <a:ext cx="863600" cy="101600"/>
          </a:xfrm>
          <a:prstGeom prst="rect">
            <a:avLst/>
          </a:prstGeom>
        </p:spPr>
        <p:txBody>
          <a:bodyPr wrap="square" lIns="0" tIns="0" rIns="0" bIns="0">
            <a:noAutofit/>
          </a:bodyPr>
          <a:lstStyle/>
          <a:p>
            <a:pPr>
              <a:lnSpc>
                <a:spcPct val="135000"/>
              </a:lnSpc>
            </a:pPr>
            <a:r>
              <a:rPr sz="540" b="1" spc="0">
                <a:solidFill>
                  <a:srgbClr val="0A0A0A"/>
                </a:solidFill>
                <a:latin typeface="Telegraf"/>
              </a:rPr>
              <a:t>Signal</a:t>
            </a:r>
            <a:endParaRPr sz="540" b="1" spc="0">
              <a:solidFill>
                <a:srgbClr val="0A0A0A"/>
              </a:solidFill>
              <a:latin typeface="Telegraf"/>
            </a:endParaRPr>
          </a:p>
        </p:txBody>
      </p:sp>
      <p:sp>
        <p:nvSpPr>
          <p:cNvPr id="310" name="TextBox 40"/>
          <p:cNvSpPr txBox="1"/>
          <p:nvPr/>
        </p:nvSpPr>
        <p:spPr>
          <a:xfrm>
            <a:off x="10566400" y="1803400"/>
            <a:ext cx="863600" cy="101600"/>
          </a:xfrm>
          <a:prstGeom prst="rect">
            <a:avLst/>
          </a:prstGeom>
        </p:spPr>
        <p:txBody>
          <a:bodyPr wrap="square" lIns="0" tIns="0" rIns="0" bIns="0">
            <a:noAutofit/>
          </a:bodyPr>
          <a:lstStyle/>
          <a:p>
            <a:pPr>
              <a:lnSpc>
                <a:spcPct val="135000"/>
              </a:lnSpc>
            </a:pPr>
            <a:r>
              <a:rPr sz="480" spc="30">
                <a:solidFill>
                  <a:srgbClr val="A2A2A8"/>
                </a:solidFill>
                <a:latin typeface="Telegraf"/>
              </a:rPr>
              <a:t>#12A594</a:t>
            </a:r>
            <a:endParaRPr sz="480" spc="30">
              <a:solidFill>
                <a:srgbClr val="A2A2A8"/>
              </a:solidFill>
              <a:latin typeface="Telegraf"/>
            </a:endParaRPr>
          </a:p>
        </p:txBody>
      </p:sp>
      <p:sp>
        <p:nvSpPr>
          <p:cNvPr id="311" name="TextBox 41"/>
          <p:cNvSpPr txBox="1"/>
          <p:nvPr/>
        </p:nvSpPr>
        <p:spPr>
          <a:xfrm>
            <a:off x="5740400" y="2260600"/>
            <a:ext cx="3302000" cy="127000"/>
          </a:xfrm>
          <a:prstGeom prst="rect">
            <a:avLst/>
          </a:prstGeom>
        </p:spPr>
        <p:txBody>
          <a:bodyPr wrap="square" lIns="0" tIns="0" rIns="0" bIns="0">
            <a:noAutofit/>
          </a:bodyPr>
          <a:lstStyle/>
          <a:p>
            <a:r>
              <a:rPr sz="500" b="1" spc="120">
                <a:solidFill>
                  <a:srgbClr val="A2A2A8"/>
                </a:solidFill>
                <a:latin typeface="Telegraf"/>
              </a:rPr>
              <a:t>TYPE  ·  PP EDITORIAL NEW + TELEGRAF</a:t>
            </a:r>
            <a:endParaRPr sz="500" b="1" spc="120">
              <a:solidFill>
                <a:srgbClr val="A2A2A8"/>
              </a:solidFill>
              <a:latin typeface="Telegraf"/>
            </a:endParaRPr>
          </a:p>
        </p:txBody>
      </p:sp>
      <p:sp>
        <p:nvSpPr>
          <p:cNvPr id="312" name="TextBox 42"/>
          <p:cNvSpPr txBox="1"/>
          <p:nvPr/>
        </p:nvSpPr>
        <p:spPr>
          <a:xfrm>
            <a:off x="5715000" y="2463800"/>
            <a:ext cx="5715000" cy="558800"/>
          </a:xfrm>
          <a:prstGeom prst="rect">
            <a:avLst/>
          </a:prstGeom>
        </p:spPr>
        <p:txBody>
          <a:bodyPr wrap="square" lIns="0" tIns="0" rIns="0" bIns="0">
            <a:noAutofit/>
          </a:bodyPr>
          <a:lstStyle/>
          <a:p>
            <a:pPr>
              <a:lnSpc>
                <a:spcPct val="102000"/>
              </a:lnSpc>
            </a:pPr>
            <a:r>
              <a:rPr sz="3800" spc="-150">
                <a:solidFill>
                  <a:srgbClr val="0A0A0A"/>
                </a:solidFill>
                <a:latin typeface="PP Editorial New Ultralight"/>
              </a:rPr>
              <a:t>The unsure ones.</a:t>
            </a:r>
            <a:endParaRPr sz="3800" spc="-150">
              <a:solidFill>
                <a:srgbClr val="0A0A0A"/>
              </a:solidFill>
              <a:latin typeface="PP Editorial New Ultralight"/>
            </a:endParaRPr>
          </a:p>
        </p:txBody>
      </p:sp>
      <p:sp>
        <p:nvSpPr>
          <p:cNvPr id="313" name="TextBox 43"/>
          <p:cNvSpPr txBox="1"/>
          <p:nvPr/>
        </p:nvSpPr>
        <p:spPr>
          <a:xfrm>
            <a:off x="5740400" y="3048000"/>
            <a:ext cx="3810000" cy="152400"/>
          </a:xfrm>
          <a:prstGeom prst="rect">
            <a:avLst/>
          </a:prstGeom>
        </p:spPr>
        <p:txBody>
          <a:bodyPr wrap="square" lIns="0" tIns="0" rIns="0" bIns="0">
            <a:noAutofit/>
          </a:bodyPr>
          <a:lstStyle/>
          <a:p>
            <a:pPr>
              <a:lnSpc>
                <a:spcPct val="135000"/>
              </a:lnSpc>
            </a:pPr>
            <a:r>
              <a:rPr sz="560" spc="0">
                <a:solidFill>
                  <a:srgbClr val="67676E"/>
                </a:solidFill>
                <a:latin typeface="Telegraf"/>
              </a:rPr>
              <a:t>Display · PP Editorial New Ultralight · −1.6 tracking</a:t>
            </a:r>
            <a:endParaRPr sz="560" spc="0">
              <a:solidFill>
                <a:srgbClr val="67676E"/>
              </a:solidFill>
              <a:latin typeface="Telegraf"/>
            </a:endParaRPr>
          </a:p>
        </p:txBody>
      </p:sp>
      <p:sp>
        <p:nvSpPr>
          <p:cNvPr id="314" name="TextBox 44"/>
          <p:cNvSpPr txBox="1"/>
          <p:nvPr/>
        </p:nvSpPr>
        <p:spPr>
          <a:xfrm>
            <a:off x="5740400" y="3251200"/>
            <a:ext cx="2794000" cy="127000"/>
          </a:xfrm>
          <a:prstGeom prst="rect">
            <a:avLst/>
          </a:prstGeom>
        </p:spPr>
        <p:txBody>
          <a:bodyPr wrap="square" lIns="0" tIns="0" rIns="0" bIns="0">
            <a:noAutofit/>
          </a:bodyPr>
          <a:lstStyle/>
          <a:p>
            <a:pPr>
              <a:lnSpc>
                <a:spcPct val="135000"/>
              </a:lnSpc>
            </a:pPr>
            <a:r>
              <a:rPr sz="860" spc="0">
                <a:solidFill>
                  <a:srgbClr val="0A0A0A"/>
                </a:solidFill>
                <a:latin typeface="Telegraf"/>
              </a:rPr>
              <a:t>Live queue  ·  42 open  ·  94%</a:t>
            </a:r>
            <a:endParaRPr sz="860" spc="0">
              <a:solidFill>
                <a:srgbClr val="0A0A0A"/>
              </a:solidFill>
              <a:latin typeface="Telegraf"/>
            </a:endParaRPr>
          </a:p>
        </p:txBody>
      </p:sp>
      <p:sp>
        <p:nvSpPr>
          <p:cNvPr id="315" name="TextBox 45"/>
          <p:cNvSpPr txBox="1"/>
          <p:nvPr/>
        </p:nvSpPr>
        <p:spPr>
          <a:xfrm>
            <a:off x="5740400" y="3454400"/>
            <a:ext cx="3810000" cy="127000"/>
          </a:xfrm>
          <a:prstGeom prst="rect">
            <a:avLst/>
          </a:prstGeom>
        </p:spPr>
        <p:txBody>
          <a:bodyPr wrap="square" lIns="0" tIns="0" rIns="0" bIns="0">
            <a:noAutofit/>
          </a:bodyPr>
          <a:lstStyle/>
          <a:p>
            <a:pPr>
              <a:lnSpc>
                <a:spcPct val="135000"/>
              </a:lnSpc>
            </a:pPr>
            <a:r>
              <a:rPr sz="560" spc="0">
                <a:solidFill>
                  <a:srgbClr val="67676E"/>
                </a:solidFill>
                <a:latin typeface="Telegraf"/>
              </a:rPr>
              <a:t>UI · Telegraf Regular · 7.0 / 1.55 body</a:t>
            </a:r>
            <a:endParaRPr sz="560" spc="0">
              <a:solidFill>
                <a:srgbClr val="67676E"/>
              </a:solidFill>
              <a:latin typeface="Telegraf"/>
            </a:endParaRPr>
          </a:p>
        </p:txBody>
      </p:sp>
      <p:sp>
        <p:nvSpPr>
          <p:cNvPr id="316" name="TextBox 46"/>
          <p:cNvSpPr txBox="1"/>
          <p:nvPr/>
        </p:nvSpPr>
        <p:spPr>
          <a:xfrm>
            <a:off x="5740400" y="3683000"/>
            <a:ext cx="3810000" cy="127000"/>
          </a:xfrm>
          <a:prstGeom prst="rect">
            <a:avLst/>
          </a:prstGeom>
        </p:spPr>
        <p:txBody>
          <a:bodyPr wrap="square" lIns="0" tIns="0" rIns="0" bIns="0">
            <a:noAutofit/>
          </a:bodyPr>
          <a:lstStyle/>
          <a:p>
            <a:r>
              <a:rPr sz="500" b="1" spc="120">
                <a:solidFill>
                  <a:srgbClr val="0A0A0A"/>
                </a:solidFill>
                <a:latin typeface="Telegraf"/>
              </a:rPr>
              <a:t>MICRO CAPS · 5.0 · 1.2 TRACKING · UPPERCASE</a:t>
            </a:r>
            <a:endParaRPr sz="500" b="1" spc="120">
              <a:solidFill>
                <a:srgbClr val="0A0A0A"/>
              </a:solidFill>
              <a:latin typeface="Telegraf"/>
            </a:endParaRPr>
          </a:p>
        </p:txBody>
      </p:sp>
      <p:sp>
        <p:nvSpPr>
          <p:cNvPr id="317" name="TextBox 47"/>
          <p:cNvSpPr txBox="1"/>
          <p:nvPr/>
        </p:nvSpPr>
        <p:spPr>
          <a:xfrm>
            <a:off x="8890000" y="2489200"/>
            <a:ext cx="2413000" cy="127000"/>
          </a:xfrm>
          <a:prstGeom prst="rect">
            <a:avLst/>
          </a:prstGeom>
        </p:spPr>
        <p:txBody>
          <a:bodyPr wrap="square" lIns="0" tIns="0" rIns="0" bIns="0">
            <a:noAutofit/>
          </a:bodyPr>
          <a:lstStyle/>
          <a:p>
            <a:pPr algn="r"/>
            <a:r>
              <a:rPr sz="430" b="1" spc="100">
                <a:solidFill>
                  <a:srgbClr val="A2A2A8"/>
                </a:solidFill>
                <a:latin typeface="Telegraf"/>
              </a:rPr>
              <a:t>SIZE LADDER 38 → 5</a:t>
            </a:r>
            <a:endParaRPr sz="430" b="1" spc="100">
              <a:solidFill>
                <a:srgbClr val="A2A2A8"/>
              </a:solidFill>
              <a:latin typeface="Telegraf"/>
            </a:endParaRPr>
          </a:p>
        </p:txBody>
      </p:sp>
      <p:sp>
        <p:nvSpPr>
          <p:cNvPr id="318" name="Rectangle 48"/>
          <p:cNvSpPr/>
          <p:nvPr/>
        </p:nvSpPr>
        <p:spPr>
          <a:xfrm>
            <a:off x="8890000" y="2692400"/>
            <a:ext cx="3048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19" name="TextBox 49"/>
          <p:cNvSpPr txBox="1"/>
          <p:nvPr/>
        </p:nvSpPr>
        <p:spPr>
          <a:xfrm>
            <a:off x="8890000" y="2743200"/>
            <a:ext cx="330200" cy="114300"/>
          </a:xfrm>
          <a:prstGeom prst="rect">
            <a:avLst/>
          </a:prstGeom>
        </p:spPr>
        <p:txBody>
          <a:bodyPr wrap="square" lIns="0" tIns="0" rIns="0" bIns="0">
            <a:noAutofit/>
          </a:bodyPr>
          <a:lstStyle/>
          <a:p>
            <a:pPr>
              <a:lnSpc>
                <a:spcPct val="135000"/>
              </a:lnSpc>
            </a:pPr>
            <a:r>
              <a:rPr sz="420" spc="0">
                <a:solidFill>
                  <a:srgbClr val="A2A2A8"/>
                </a:solidFill>
                <a:latin typeface="Telegraf"/>
              </a:rPr>
              <a:t>38</a:t>
            </a:r>
            <a:endParaRPr sz="420" spc="0">
              <a:solidFill>
                <a:srgbClr val="A2A2A8"/>
              </a:solidFill>
              <a:latin typeface="Telegraf"/>
            </a:endParaRPr>
          </a:p>
        </p:txBody>
      </p:sp>
      <p:sp>
        <p:nvSpPr>
          <p:cNvPr id="320" name="Rectangle 50"/>
          <p:cNvSpPr/>
          <p:nvPr/>
        </p:nvSpPr>
        <p:spPr>
          <a:xfrm>
            <a:off x="9283700" y="2692400"/>
            <a:ext cx="3048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1" name="TextBox 51"/>
          <p:cNvSpPr txBox="1"/>
          <p:nvPr/>
        </p:nvSpPr>
        <p:spPr>
          <a:xfrm>
            <a:off x="9283700" y="2743200"/>
            <a:ext cx="330200" cy="114300"/>
          </a:xfrm>
          <a:prstGeom prst="rect">
            <a:avLst/>
          </a:prstGeom>
        </p:spPr>
        <p:txBody>
          <a:bodyPr wrap="square" lIns="0" tIns="0" rIns="0" bIns="0">
            <a:noAutofit/>
          </a:bodyPr>
          <a:lstStyle/>
          <a:p>
            <a:pPr>
              <a:lnSpc>
                <a:spcPct val="135000"/>
              </a:lnSpc>
            </a:pPr>
            <a:r>
              <a:rPr sz="420" spc="0">
                <a:solidFill>
                  <a:srgbClr val="A2A2A8"/>
                </a:solidFill>
                <a:latin typeface="Telegraf"/>
              </a:rPr>
              <a:t>22</a:t>
            </a:r>
            <a:endParaRPr sz="420" spc="0">
              <a:solidFill>
                <a:srgbClr val="A2A2A8"/>
              </a:solidFill>
              <a:latin typeface="Telegraf"/>
            </a:endParaRPr>
          </a:p>
        </p:txBody>
      </p:sp>
      <p:sp>
        <p:nvSpPr>
          <p:cNvPr id="322" name="Rectangle 52"/>
          <p:cNvSpPr/>
          <p:nvPr/>
        </p:nvSpPr>
        <p:spPr>
          <a:xfrm>
            <a:off x="9677400" y="2692400"/>
            <a:ext cx="3048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3" name="TextBox 53"/>
          <p:cNvSpPr txBox="1"/>
          <p:nvPr/>
        </p:nvSpPr>
        <p:spPr>
          <a:xfrm>
            <a:off x="9677400" y="2743200"/>
            <a:ext cx="330200" cy="114300"/>
          </a:xfrm>
          <a:prstGeom prst="rect">
            <a:avLst/>
          </a:prstGeom>
        </p:spPr>
        <p:txBody>
          <a:bodyPr wrap="square" lIns="0" tIns="0" rIns="0" bIns="0">
            <a:noAutofit/>
          </a:bodyPr>
          <a:lstStyle/>
          <a:p>
            <a:pPr>
              <a:lnSpc>
                <a:spcPct val="135000"/>
              </a:lnSpc>
            </a:pPr>
            <a:r>
              <a:rPr sz="420" spc="0">
                <a:solidFill>
                  <a:srgbClr val="A2A2A8"/>
                </a:solidFill>
                <a:latin typeface="Telegraf"/>
              </a:rPr>
              <a:t>14</a:t>
            </a:r>
            <a:endParaRPr sz="420" spc="0">
              <a:solidFill>
                <a:srgbClr val="A2A2A8"/>
              </a:solidFill>
              <a:latin typeface="Telegraf"/>
            </a:endParaRPr>
          </a:p>
        </p:txBody>
      </p:sp>
      <p:sp>
        <p:nvSpPr>
          <p:cNvPr id="324" name="Rectangle 54"/>
          <p:cNvSpPr/>
          <p:nvPr/>
        </p:nvSpPr>
        <p:spPr>
          <a:xfrm>
            <a:off x="10071100" y="2692400"/>
            <a:ext cx="3048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5" name="TextBox 55"/>
          <p:cNvSpPr txBox="1"/>
          <p:nvPr/>
        </p:nvSpPr>
        <p:spPr>
          <a:xfrm>
            <a:off x="10071100" y="2743200"/>
            <a:ext cx="330200" cy="114300"/>
          </a:xfrm>
          <a:prstGeom prst="rect">
            <a:avLst/>
          </a:prstGeom>
        </p:spPr>
        <p:txBody>
          <a:bodyPr wrap="square" lIns="0" tIns="0" rIns="0" bIns="0">
            <a:noAutofit/>
          </a:bodyPr>
          <a:lstStyle/>
          <a:p>
            <a:pPr>
              <a:lnSpc>
                <a:spcPct val="135000"/>
              </a:lnSpc>
            </a:pPr>
            <a:r>
              <a:rPr sz="420" spc="0">
                <a:solidFill>
                  <a:srgbClr val="A2A2A8"/>
                </a:solidFill>
                <a:latin typeface="Telegraf"/>
              </a:rPr>
              <a:t>9</a:t>
            </a:r>
            <a:endParaRPr sz="420" spc="0">
              <a:solidFill>
                <a:srgbClr val="A2A2A8"/>
              </a:solidFill>
              <a:latin typeface="Telegraf"/>
            </a:endParaRPr>
          </a:p>
        </p:txBody>
      </p:sp>
      <p:sp>
        <p:nvSpPr>
          <p:cNvPr id="326" name="Rectangle 56"/>
          <p:cNvSpPr/>
          <p:nvPr/>
        </p:nvSpPr>
        <p:spPr>
          <a:xfrm>
            <a:off x="10464800" y="2692400"/>
            <a:ext cx="3048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7" name="TextBox 57"/>
          <p:cNvSpPr txBox="1"/>
          <p:nvPr/>
        </p:nvSpPr>
        <p:spPr>
          <a:xfrm>
            <a:off x="10464800" y="2743200"/>
            <a:ext cx="330200" cy="114300"/>
          </a:xfrm>
          <a:prstGeom prst="rect">
            <a:avLst/>
          </a:prstGeom>
        </p:spPr>
        <p:txBody>
          <a:bodyPr wrap="square" lIns="0" tIns="0" rIns="0" bIns="0">
            <a:noAutofit/>
          </a:bodyPr>
          <a:lstStyle/>
          <a:p>
            <a:pPr>
              <a:lnSpc>
                <a:spcPct val="135000"/>
              </a:lnSpc>
            </a:pPr>
            <a:r>
              <a:rPr sz="420" spc="0">
                <a:solidFill>
                  <a:srgbClr val="A2A2A8"/>
                </a:solidFill>
                <a:latin typeface="Telegraf"/>
              </a:rPr>
              <a:t>7</a:t>
            </a:r>
            <a:endParaRPr sz="420" spc="0">
              <a:solidFill>
                <a:srgbClr val="A2A2A8"/>
              </a:solidFill>
              <a:latin typeface="Telegraf"/>
            </a:endParaRPr>
          </a:p>
        </p:txBody>
      </p:sp>
      <p:sp>
        <p:nvSpPr>
          <p:cNvPr id="328" name="Rectangle 58"/>
          <p:cNvSpPr/>
          <p:nvPr/>
        </p:nvSpPr>
        <p:spPr>
          <a:xfrm>
            <a:off x="10858500" y="2692400"/>
            <a:ext cx="3048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29" name="TextBox 59"/>
          <p:cNvSpPr txBox="1"/>
          <p:nvPr/>
        </p:nvSpPr>
        <p:spPr>
          <a:xfrm>
            <a:off x="10858500" y="2743200"/>
            <a:ext cx="330200" cy="114300"/>
          </a:xfrm>
          <a:prstGeom prst="rect">
            <a:avLst/>
          </a:prstGeom>
        </p:spPr>
        <p:txBody>
          <a:bodyPr wrap="square" lIns="0" tIns="0" rIns="0" bIns="0">
            <a:noAutofit/>
          </a:bodyPr>
          <a:lstStyle/>
          <a:p>
            <a:pPr>
              <a:lnSpc>
                <a:spcPct val="135000"/>
              </a:lnSpc>
            </a:pPr>
            <a:r>
              <a:rPr sz="420" spc="0">
                <a:solidFill>
                  <a:srgbClr val="A2A2A8"/>
                </a:solidFill>
                <a:latin typeface="Telegraf"/>
              </a:rPr>
              <a:t>5</a:t>
            </a:r>
            <a:endParaRPr sz="420" spc="0">
              <a:solidFill>
                <a:srgbClr val="A2A2A8"/>
              </a:solidFill>
              <a:latin typeface="Telegraf"/>
            </a:endParaRPr>
          </a:p>
        </p:txBody>
      </p:sp>
      <p:sp>
        <p:nvSpPr>
          <p:cNvPr id="330" name="TextBox 60"/>
          <p:cNvSpPr txBox="1"/>
          <p:nvPr/>
        </p:nvSpPr>
        <p:spPr>
          <a:xfrm>
            <a:off x="5740400" y="4368800"/>
            <a:ext cx="3810000" cy="127000"/>
          </a:xfrm>
          <a:prstGeom prst="rect">
            <a:avLst/>
          </a:prstGeom>
        </p:spPr>
        <p:txBody>
          <a:bodyPr wrap="square" lIns="0" tIns="0" rIns="0" bIns="0">
            <a:noAutofit/>
          </a:bodyPr>
          <a:lstStyle/>
          <a:p>
            <a:r>
              <a:rPr sz="500" b="1" spc="120">
                <a:solidFill>
                  <a:srgbClr val="A2A2A8"/>
                </a:solidFill>
                <a:latin typeface="Telegraf"/>
              </a:rPr>
              <a:t>FORM  ·  CARD, PILL, FIELD, MARKER</a:t>
            </a:r>
            <a:endParaRPr sz="500" b="1" spc="120">
              <a:solidFill>
                <a:srgbClr val="A2A2A8"/>
              </a:solidFill>
              <a:latin typeface="Telegraf"/>
            </a:endParaRPr>
          </a:p>
        </p:txBody>
      </p:sp>
      <p:sp>
        <p:nvSpPr>
          <p:cNvPr id="331" name="Rectangle 61"/>
          <p:cNvSpPr/>
          <p:nvPr/>
        </p:nvSpPr>
        <p:spPr>
          <a:xfrm>
            <a:off x="5740400" y="4597400"/>
            <a:ext cx="2133600" cy="1168400"/>
          </a:xfrm>
          <a:custGeom>
            <a:avLst/>
            <a:gdLst/>
            <a:ahLst/>
            <a:cxnLst/>
            <a:rect l="l" t="t" r="r" b="b"/>
            <a:pathLst>
              <a:path w="100000" h="54762">
                <a:moveTo>
                  <a:pt x="85714" y="0"/>
                </a:moveTo>
                <a:cubicBezTo>
                  <a:pt x="92449" y="0"/>
                  <a:pt x="95816" y="0"/>
                  <a:pt x="97908" y="2092"/>
                </a:cubicBezTo>
                <a:cubicBezTo>
                  <a:pt x="97908" y="2092"/>
                  <a:pt x="97908" y="2092"/>
                  <a:pt x="97908" y="2092"/>
                </a:cubicBezTo>
                <a:cubicBezTo>
                  <a:pt x="100000" y="4184"/>
                  <a:pt x="100000" y="7551"/>
                  <a:pt x="100000" y="14286"/>
                </a:cubicBezTo>
                <a:lnTo>
                  <a:pt x="100000" y="40476"/>
                </a:lnTo>
                <a:cubicBezTo>
                  <a:pt x="100000" y="47211"/>
                  <a:pt x="100000" y="50578"/>
                  <a:pt x="97908" y="52670"/>
                </a:cubicBezTo>
                <a:cubicBezTo>
                  <a:pt x="97908" y="52670"/>
                  <a:pt x="97908" y="52670"/>
                  <a:pt x="97908" y="52670"/>
                </a:cubicBezTo>
                <a:cubicBezTo>
                  <a:pt x="95816" y="54762"/>
                  <a:pt x="92449" y="54762"/>
                  <a:pt x="85714" y="54762"/>
                </a:cubicBezTo>
                <a:lnTo>
                  <a:pt x="14286" y="54762"/>
                </a:lnTo>
                <a:cubicBezTo>
                  <a:pt x="7551" y="54762"/>
                  <a:pt x="4184" y="54762"/>
                  <a:pt x="2092" y="52670"/>
                </a:cubicBezTo>
                <a:cubicBezTo>
                  <a:pt x="2092" y="52670"/>
                  <a:pt x="2092" y="52670"/>
                  <a:pt x="2092" y="52670"/>
                </a:cubicBezTo>
                <a:cubicBezTo>
                  <a:pt x="0" y="50578"/>
                  <a:pt x="0" y="47211"/>
                  <a:pt x="0" y="40476"/>
                </a:cubicBezTo>
                <a:lnTo>
                  <a:pt x="0" y="14286"/>
                </a:lnTo>
                <a:cubicBezTo>
                  <a:pt x="0" y="7551"/>
                  <a:pt x="0" y="4184"/>
                  <a:pt x="2092" y="2092"/>
                </a:cubicBezTo>
                <a:cubicBezTo>
                  <a:pt x="2092" y="2092"/>
                  <a:pt x="2092" y="2092"/>
                  <a:pt x="2092" y="2092"/>
                </a:cubicBezTo>
                <a:cubicBezTo>
                  <a:pt x="4184" y="0"/>
                  <a:pt x="7551" y="0"/>
                  <a:pt x="1428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2" name="TextBox 62"/>
          <p:cNvSpPr txBox="1"/>
          <p:nvPr/>
        </p:nvSpPr>
        <p:spPr>
          <a:xfrm>
            <a:off x="5918200" y="4749800"/>
            <a:ext cx="1524000" cy="101600"/>
          </a:xfrm>
          <a:prstGeom prst="rect">
            <a:avLst/>
          </a:prstGeom>
        </p:spPr>
        <p:txBody>
          <a:bodyPr wrap="square" lIns="0" tIns="0" rIns="0" bIns="0">
            <a:noAutofit/>
          </a:bodyPr>
          <a:lstStyle/>
          <a:p>
            <a:r>
              <a:rPr sz="460" b="1" spc="110">
                <a:solidFill>
                  <a:srgbClr val="A2A2A8"/>
                </a:solidFill>
                <a:latin typeface="Telegraf"/>
              </a:rPr>
              <a:t>CARD</a:t>
            </a:r>
            <a:endParaRPr sz="460" b="1" spc="110">
              <a:solidFill>
                <a:srgbClr val="A2A2A8"/>
              </a:solidFill>
              <a:latin typeface="Telegraf"/>
            </a:endParaRPr>
          </a:p>
        </p:txBody>
      </p:sp>
      <p:sp>
        <p:nvSpPr>
          <p:cNvPr id="333" name="TextBox 63"/>
          <p:cNvSpPr txBox="1"/>
          <p:nvPr/>
        </p:nvSpPr>
        <p:spPr>
          <a:xfrm>
            <a:off x="5918200" y="4902200"/>
            <a:ext cx="1778000" cy="127000"/>
          </a:xfrm>
          <a:prstGeom prst="rect">
            <a:avLst/>
          </a:prstGeom>
        </p:spPr>
        <p:txBody>
          <a:bodyPr wrap="square" lIns="0" tIns="0" rIns="0" bIns="0">
            <a:noAutofit/>
          </a:bodyPr>
          <a:lstStyle/>
          <a:p>
            <a:pPr>
              <a:lnSpc>
                <a:spcPct val="135000"/>
              </a:lnSpc>
            </a:pPr>
            <a:r>
              <a:rPr sz="560" spc="0">
                <a:solidFill>
                  <a:srgbClr val="0A0A0A"/>
                </a:solidFill>
                <a:latin typeface="Telegraf"/>
              </a:rPr>
              <a:t>12 radius · 0.8 hairline</a:t>
            </a:r>
            <a:endParaRPr sz="560" spc="0">
              <a:solidFill>
                <a:srgbClr val="0A0A0A"/>
              </a:solidFill>
              <a:latin typeface="Telegraf"/>
            </a:endParaRPr>
          </a:p>
        </p:txBody>
      </p:sp>
      <p:sp>
        <p:nvSpPr>
          <p:cNvPr id="334" name="Rectangle 64"/>
          <p:cNvSpPr/>
          <p:nvPr/>
        </p:nvSpPr>
        <p:spPr>
          <a:xfrm>
            <a:off x="5918200" y="5156200"/>
            <a:ext cx="1778000" cy="50800"/>
          </a:xfrm>
          <a:custGeom>
            <a:avLst/>
            <a:gdLst/>
            <a:ahLst/>
            <a:cxnLst/>
            <a:rect l="l" t="t" r="r" b="b"/>
            <a:pathLst>
              <a:path w="100000" h="2857">
                <a:moveTo>
                  <a:pt x="98571" y="0"/>
                </a:moveTo>
                <a:cubicBezTo>
                  <a:pt x="98571" y="0"/>
                  <a:pt x="98571" y="0"/>
                  <a:pt x="98571" y="0"/>
                </a:cubicBezTo>
                <a:cubicBezTo>
                  <a:pt x="99361" y="0"/>
                  <a:pt x="100000" y="639"/>
                  <a:pt x="100000" y="1429"/>
                </a:cubicBezTo>
                <a:cubicBezTo>
                  <a:pt x="100000" y="1429"/>
                  <a:pt x="100000" y="1429"/>
                  <a:pt x="100000" y="1429"/>
                </a:cubicBezTo>
                <a:lnTo>
                  <a:pt x="100000" y="1429"/>
                </a:lnTo>
                <a:cubicBezTo>
                  <a:pt x="100000" y="1429"/>
                  <a:pt x="100000" y="1429"/>
                  <a:pt x="100000" y="1429"/>
                </a:cubicBezTo>
                <a:cubicBezTo>
                  <a:pt x="100000" y="2218"/>
                  <a:pt x="99361" y="2857"/>
                  <a:pt x="98571" y="2857"/>
                </a:cubicBezTo>
                <a:cubicBezTo>
                  <a:pt x="98571" y="2857"/>
                  <a:pt x="98571" y="2857"/>
                  <a:pt x="98571" y="2857"/>
                </a:cubicBezTo>
                <a:lnTo>
                  <a:pt x="1429" y="2857"/>
                </a:lnTo>
                <a:cubicBezTo>
                  <a:pt x="1429" y="2857"/>
                  <a:pt x="1429" y="2857"/>
                  <a:pt x="1429" y="2857"/>
                </a:cubicBezTo>
                <a:cubicBezTo>
                  <a:pt x="639" y="2857"/>
                  <a:pt x="0" y="2218"/>
                  <a:pt x="0" y="1429"/>
                </a:cubicBezTo>
                <a:cubicBezTo>
                  <a:pt x="0" y="1429"/>
                  <a:pt x="0" y="1429"/>
                  <a:pt x="0" y="1429"/>
                </a:cubicBezTo>
                <a:lnTo>
                  <a:pt x="0" y="1429"/>
                </a:lnTo>
                <a:cubicBezTo>
                  <a:pt x="0" y="1429"/>
                  <a:pt x="0" y="1429"/>
                  <a:pt x="0" y="1429"/>
                </a:cubicBezTo>
                <a:cubicBezTo>
                  <a:pt x="0" y="639"/>
                  <a:pt x="639" y="0"/>
                  <a:pt x="1429" y="0"/>
                </a:cubicBezTo>
                <a:cubicBezTo>
                  <a:pt x="1429" y="0"/>
                  <a:pt x="1429" y="0"/>
                  <a:pt x="1429"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5" name="Rectangle 65"/>
          <p:cNvSpPr/>
          <p:nvPr/>
        </p:nvSpPr>
        <p:spPr>
          <a:xfrm>
            <a:off x="5918200" y="5156200"/>
            <a:ext cx="1209040" cy="50800"/>
          </a:xfrm>
          <a:custGeom>
            <a:avLst/>
            <a:gdLst/>
            <a:ahLst/>
            <a:cxnLst/>
            <a:rect l="l" t="t" r="r" b="b"/>
            <a:pathLst>
              <a:path w="100000" h="4202">
                <a:moveTo>
                  <a:pt x="97899" y="0"/>
                </a:moveTo>
                <a:cubicBezTo>
                  <a:pt x="97899" y="0"/>
                  <a:pt x="97899" y="0"/>
                  <a:pt x="97899" y="0"/>
                </a:cubicBezTo>
                <a:cubicBezTo>
                  <a:pt x="99060" y="0"/>
                  <a:pt x="100000" y="940"/>
                  <a:pt x="100000" y="2101"/>
                </a:cubicBezTo>
                <a:cubicBezTo>
                  <a:pt x="100000" y="2101"/>
                  <a:pt x="100000" y="2101"/>
                  <a:pt x="100000" y="2101"/>
                </a:cubicBezTo>
                <a:lnTo>
                  <a:pt x="100000" y="2101"/>
                </a:lnTo>
                <a:cubicBezTo>
                  <a:pt x="100000" y="2101"/>
                  <a:pt x="100000" y="2101"/>
                  <a:pt x="100000" y="2101"/>
                </a:cubicBezTo>
                <a:cubicBezTo>
                  <a:pt x="100000" y="3262"/>
                  <a:pt x="99060" y="4202"/>
                  <a:pt x="97899" y="4202"/>
                </a:cubicBezTo>
                <a:cubicBezTo>
                  <a:pt x="97899" y="4202"/>
                  <a:pt x="97899" y="4202"/>
                  <a:pt x="97899" y="4202"/>
                </a:cubicBezTo>
                <a:lnTo>
                  <a:pt x="2101" y="4202"/>
                </a:lnTo>
                <a:cubicBezTo>
                  <a:pt x="2101" y="4202"/>
                  <a:pt x="2101" y="4202"/>
                  <a:pt x="2101" y="4202"/>
                </a:cubicBezTo>
                <a:cubicBezTo>
                  <a:pt x="940" y="4202"/>
                  <a:pt x="0" y="3262"/>
                  <a:pt x="0" y="2101"/>
                </a:cubicBezTo>
                <a:cubicBezTo>
                  <a:pt x="0" y="2101"/>
                  <a:pt x="0" y="2101"/>
                  <a:pt x="0" y="2101"/>
                </a:cubicBezTo>
                <a:lnTo>
                  <a:pt x="0" y="2101"/>
                </a:lnTo>
                <a:cubicBezTo>
                  <a:pt x="0" y="2101"/>
                  <a:pt x="0" y="2101"/>
                  <a:pt x="0" y="2101"/>
                </a:cubicBezTo>
                <a:cubicBezTo>
                  <a:pt x="0" y="940"/>
                  <a:pt x="940" y="0"/>
                  <a:pt x="2101" y="0"/>
                </a:cubicBezTo>
                <a:cubicBezTo>
                  <a:pt x="2101" y="0"/>
                  <a:pt x="2101" y="0"/>
                  <a:pt x="2101"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6" name="TextBox 66"/>
          <p:cNvSpPr txBox="1"/>
          <p:nvPr/>
        </p:nvSpPr>
        <p:spPr>
          <a:xfrm>
            <a:off x="5918200" y="5308600"/>
            <a:ext cx="1778000" cy="304800"/>
          </a:xfrm>
          <a:prstGeom prst="rect">
            <a:avLst/>
          </a:prstGeom>
        </p:spPr>
        <p:txBody>
          <a:bodyPr wrap="square" lIns="0" tIns="0" rIns="0" bIns="0">
            <a:noAutofit/>
          </a:bodyPr>
          <a:lstStyle/>
          <a:p>
            <a:pPr>
              <a:lnSpc>
                <a:spcPct val="140000"/>
              </a:lnSpc>
            </a:pPr>
            <a:r>
              <a:rPr sz="520" spc="0">
                <a:solidFill>
                  <a:srgbClr val="67676E"/>
                </a:solidFill>
                <a:latin typeface="Telegraf"/>
              </a:rPr>
              <a:t>One hairline, one tint, one meter. No stacked borders.</a:t>
            </a:r>
            <a:endParaRPr sz="520" spc="0">
              <a:solidFill>
                <a:srgbClr val="67676E"/>
              </a:solidFill>
              <a:latin typeface="Telegraf"/>
            </a:endParaRPr>
          </a:p>
        </p:txBody>
      </p:sp>
      <p:sp>
        <p:nvSpPr>
          <p:cNvPr id="337" name="Rectangle 67"/>
          <p:cNvSpPr/>
          <p:nvPr/>
        </p:nvSpPr>
        <p:spPr>
          <a:xfrm>
            <a:off x="8102600" y="4597400"/>
            <a:ext cx="1219200" cy="3048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38" name="TextBox 68"/>
          <p:cNvSpPr txBox="1"/>
          <p:nvPr/>
        </p:nvSpPr>
        <p:spPr>
          <a:xfrm>
            <a:off x="8178800" y="4597400"/>
            <a:ext cx="1092200" cy="304800"/>
          </a:xfrm>
          <a:prstGeom prst="rect">
            <a:avLst/>
          </a:prstGeom>
        </p:spPr>
        <p:txBody>
          <a:bodyPr wrap="square" lIns="0" tIns="0" rIns="0" bIns="0" anchor="ctr">
            <a:noAutofit/>
          </a:bodyPr>
          <a:lstStyle/>
          <a:p>
            <a:pPr>
              <a:lnSpc>
                <a:spcPct val="135000"/>
              </a:lnSpc>
            </a:pPr>
            <a:r>
              <a:rPr sz="600" b="1" spc="10">
                <a:solidFill>
                  <a:srgbClr val="FFFFFF"/>
                </a:solidFill>
                <a:latin typeface="Telegraf"/>
              </a:rPr>
              <a:t>Primary</a:t>
            </a:r>
            <a:endParaRPr sz="600" b="1" spc="10">
              <a:solidFill>
                <a:srgbClr val="FFFFFF"/>
              </a:solidFill>
              <a:latin typeface="Telegraf"/>
            </a:endParaRPr>
          </a:p>
        </p:txBody>
      </p:sp>
      <p:sp>
        <p:nvSpPr>
          <p:cNvPr id="339" name="Rectangle 69"/>
          <p:cNvSpPr/>
          <p:nvPr/>
        </p:nvSpPr>
        <p:spPr>
          <a:xfrm>
            <a:off x="9423400" y="4597400"/>
            <a:ext cx="1117600" cy="304800"/>
          </a:xfrm>
          <a:custGeom>
            <a:avLst/>
            <a:gdLst/>
            <a:ahLst/>
            <a:cxnLst/>
            <a:rect l="l" t="t" r="r" b="b"/>
            <a:pathLst>
              <a:path w="100000" h="27273">
                <a:moveTo>
                  <a:pt x="86364" y="0"/>
                </a:moveTo>
                <a:cubicBezTo>
                  <a:pt x="86364" y="0"/>
                  <a:pt x="86364" y="0"/>
                  <a:pt x="86364" y="0"/>
                </a:cubicBezTo>
                <a:cubicBezTo>
                  <a:pt x="93894" y="0"/>
                  <a:pt x="100000" y="6106"/>
                  <a:pt x="100000" y="13636"/>
                </a:cubicBezTo>
                <a:cubicBezTo>
                  <a:pt x="100000" y="13636"/>
                  <a:pt x="100000" y="13636"/>
                  <a:pt x="100000" y="13636"/>
                </a:cubicBezTo>
                <a:lnTo>
                  <a:pt x="100000" y="13636"/>
                </a:lnTo>
                <a:cubicBezTo>
                  <a:pt x="100000" y="13636"/>
                  <a:pt x="100000" y="13636"/>
                  <a:pt x="100000" y="13636"/>
                </a:cubicBezTo>
                <a:cubicBezTo>
                  <a:pt x="100000" y="21167"/>
                  <a:pt x="93894" y="27273"/>
                  <a:pt x="86364" y="27273"/>
                </a:cubicBezTo>
                <a:cubicBezTo>
                  <a:pt x="86364" y="27273"/>
                  <a:pt x="86364" y="27273"/>
                  <a:pt x="86364" y="27273"/>
                </a:cubicBezTo>
                <a:lnTo>
                  <a:pt x="13636" y="27273"/>
                </a:lnTo>
                <a:cubicBezTo>
                  <a:pt x="13636" y="27273"/>
                  <a:pt x="13636" y="27273"/>
                  <a:pt x="13636" y="27273"/>
                </a:cubicBezTo>
                <a:cubicBezTo>
                  <a:pt x="6106" y="27273"/>
                  <a:pt x="0" y="21167"/>
                  <a:pt x="0" y="13636"/>
                </a:cubicBezTo>
                <a:cubicBezTo>
                  <a:pt x="0" y="13636"/>
                  <a:pt x="0" y="13636"/>
                  <a:pt x="0" y="13636"/>
                </a:cubicBezTo>
                <a:lnTo>
                  <a:pt x="0" y="13636"/>
                </a:lnTo>
                <a:cubicBezTo>
                  <a:pt x="0" y="13636"/>
                  <a:pt x="0" y="13636"/>
                  <a:pt x="0" y="13636"/>
                </a:cubicBezTo>
                <a:cubicBezTo>
                  <a:pt x="0" y="6106"/>
                  <a:pt x="6106" y="0"/>
                  <a:pt x="13636" y="0"/>
                </a:cubicBezTo>
                <a:cubicBezTo>
                  <a:pt x="13636" y="0"/>
                  <a:pt x="13636" y="0"/>
                  <a:pt x="136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0" name="TextBox 70"/>
          <p:cNvSpPr txBox="1"/>
          <p:nvPr/>
        </p:nvSpPr>
        <p:spPr>
          <a:xfrm>
            <a:off x="9499600" y="4597400"/>
            <a:ext cx="990600" cy="304800"/>
          </a:xfrm>
          <a:prstGeom prst="rect">
            <a:avLst/>
          </a:prstGeom>
        </p:spPr>
        <p:txBody>
          <a:bodyPr wrap="square" lIns="0" tIns="0" rIns="0" bIns="0" anchor="ctr">
            <a:noAutofit/>
          </a:bodyPr>
          <a:lstStyle/>
          <a:p>
            <a:pPr>
              <a:lnSpc>
                <a:spcPct val="135000"/>
              </a:lnSpc>
            </a:pPr>
            <a:r>
              <a:rPr sz="600" b="1" spc="10">
                <a:solidFill>
                  <a:srgbClr val="0A0A0A"/>
                </a:solidFill>
                <a:latin typeface="Telegraf"/>
              </a:rPr>
              <a:t>Ghost</a:t>
            </a:r>
            <a:endParaRPr sz="600" b="1" spc="10">
              <a:solidFill>
                <a:srgbClr val="0A0A0A"/>
              </a:solidFill>
              <a:latin typeface="Telegraf"/>
            </a:endParaRPr>
          </a:p>
        </p:txBody>
      </p:sp>
      <p:sp>
        <p:nvSpPr>
          <p:cNvPr id="341" name="Rectangle 71"/>
          <p:cNvSpPr/>
          <p:nvPr/>
        </p:nvSpPr>
        <p:spPr>
          <a:xfrm>
            <a:off x="8102600" y="5003800"/>
            <a:ext cx="1422400" cy="304800"/>
          </a:xfrm>
          <a:custGeom>
            <a:avLst/>
            <a:gdLst/>
            <a:ahLst/>
            <a:cxnLst/>
            <a:rect l="l" t="t" r="r" b="b"/>
            <a:pathLst>
              <a:path w="100000" h="21429">
                <a:moveTo>
                  <a:pt x="89286" y="0"/>
                </a:moveTo>
                <a:cubicBezTo>
                  <a:pt x="89286" y="0"/>
                  <a:pt x="89286" y="0"/>
                  <a:pt x="89286" y="0"/>
                </a:cubicBezTo>
                <a:cubicBezTo>
                  <a:pt x="95203" y="0"/>
                  <a:pt x="100000" y="4797"/>
                  <a:pt x="100000" y="10714"/>
                </a:cubicBezTo>
                <a:cubicBezTo>
                  <a:pt x="100000" y="10714"/>
                  <a:pt x="100000" y="10714"/>
                  <a:pt x="100000" y="10714"/>
                </a:cubicBezTo>
                <a:lnTo>
                  <a:pt x="100000" y="10714"/>
                </a:lnTo>
                <a:cubicBezTo>
                  <a:pt x="100000" y="10714"/>
                  <a:pt x="100000" y="10714"/>
                  <a:pt x="100000" y="10714"/>
                </a:cubicBezTo>
                <a:cubicBezTo>
                  <a:pt x="100000" y="16631"/>
                  <a:pt x="95203" y="21429"/>
                  <a:pt x="89286" y="21429"/>
                </a:cubicBezTo>
                <a:cubicBezTo>
                  <a:pt x="89286" y="21429"/>
                  <a:pt x="89286" y="21429"/>
                  <a:pt x="89286" y="21429"/>
                </a:cubicBezTo>
                <a:lnTo>
                  <a:pt x="10714" y="21429"/>
                </a:lnTo>
                <a:cubicBezTo>
                  <a:pt x="10714" y="21429"/>
                  <a:pt x="10714" y="21429"/>
                  <a:pt x="10714" y="21429"/>
                </a:cubicBezTo>
                <a:cubicBezTo>
                  <a:pt x="4797" y="21429"/>
                  <a:pt x="0" y="16631"/>
                  <a:pt x="0" y="10714"/>
                </a:cubicBezTo>
                <a:cubicBezTo>
                  <a:pt x="0" y="10714"/>
                  <a:pt x="0" y="10714"/>
                  <a:pt x="0" y="10714"/>
                </a:cubicBezTo>
                <a:lnTo>
                  <a:pt x="0" y="10714"/>
                </a:lnTo>
                <a:cubicBezTo>
                  <a:pt x="0" y="10714"/>
                  <a:pt x="0" y="10714"/>
                  <a:pt x="0" y="10714"/>
                </a:cubicBezTo>
                <a:cubicBezTo>
                  <a:pt x="0" y="4797"/>
                  <a:pt x="4797" y="0"/>
                  <a:pt x="10714" y="0"/>
                </a:cubicBezTo>
                <a:cubicBezTo>
                  <a:pt x="10714" y="0"/>
                  <a:pt x="10714" y="0"/>
                  <a:pt x="1071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2" name="TextBox 72"/>
          <p:cNvSpPr txBox="1"/>
          <p:nvPr/>
        </p:nvSpPr>
        <p:spPr>
          <a:xfrm>
            <a:off x="8178800" y="5003800"/>
            <a:ext cx="1295400" cy="304800"/>
          </a:xfrm>
          <a:prstGeom prst="rect">
            <a:avLst/>
          </a:prstGeom>
        </p:spPr>
        <p:txBody>
          <a:bodyPr wrap="square" lIns="0" tIns="0" rIns="0" bIns="0" anchor="ctr">
            <a:noAutofit/>
          </a:bodyPr>
          <a:lstStyle/>
          <a:p>
            <a:pPr>
              <a:lnSpc>
                <a:spcPct val="135000"/>
              </a:lnSpc>
            </a:pPr>
            <a:r>
              <a:rPr sz="600" b="1" spc="10">
                <a:solidFill>
                  <a:srgbClr val="A2A2A8"/>
                </a:solidFill>
                <a:latin typeface="Telegraf"/>
              </a:rPr>
              <a:t>Disabled</a:t>
            </a:r>
            <a:endParaRPr sz="600" b="1" spc="10">
              <a:solidFill>
                <a:srgbClr val="A2A2A8"/>
              </a:solidFill>
              <a:latin typeface="Telegraf"/>
            </a:endParaRPr>
          </a:p>
        </p:txBody>
      </p:sp>
      <p:sp>
        <p:nvSpPr>
          <p:cNvPr id="343" name="Oval 73"/>
          <p:cNvSpPr/>
          <p:nvPr/>
        </p:nvSpPr>
        <p:spPr>
          <a:xfrm>
            <a:off x="5552440" y="4180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4" name="Oval 74"/>
          <p:cNvSpPr/>
          <p:nvPr/>
        </p:nvSpPr>
        <p:spPr>
          <a:xfrm>
            <a:off x="5576570" y="4204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5" name="TextBox 75"/>
          <p:cNvSpPr txBox="1"/>
          <p:nvPr/>
        </p:nvSpPr>
        <p:spPr>
          <a:xfrm>
            <a:off x="5576570" y="4204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346" name="TextBox 76"/>
          <p:cNvSpPr txBox="1"/>
          <p:nvPr/>
        </p:nvSpPr>
        <p:spPr>
          <a:xfrm>
            <a:off x="8102600" y="5435600"/>
            <a:ext cx="2540000" cy="304800"/>
          </a:xfrm>
          <a:prstGeom prst="rect">
            <a:avLst/>
          </a:prstGeom>
        </p:spPr>
        <p:txBody>
          <a:bodyPr wrap="square" lIns="0" tIns="0" rIns="0" bIns="0">
            <a:noAutofit/>
          </a:bodyPr>
          <a:lstStyle/>
          <a:p>
            <a:pPr>
              <a:lnSpc>
                <a:spcPct val="140000"/>
              </a:lnSpc>
            </a:pPr>
            <a:r>
              <a:rPr sz="520" spc="0">
                <a:solidFill>
                  <a:srgbClr val="67676E"/>
                </a:solidFill>
                <a:latin typeface="Telegraf"/>
              </a:rPr>
              <a:t>Marker 1 ties a pixel to the spec strip on the right.</a:t>
            </a:r>
            <a:endParaRPr sz="520" spc="0">
              <a:solidFill>
                <a:srgbClr val="67676E"/>
              </a:solidFill>
              <a:latin typeface="Telegraf"/>
            </a:endParaRPr>
          </a:p>
        </p:txBody>
      </p:sp>
      <p:sp>
        <p:nvSpPr>
          <p:cNvPr id="347" name="Rectangle 77"/>
          <p:cNvSpPr/>
          <p:nvPr/>
        </p:nvSpPr>
        <p:spPr>
          <a:xfrm>
            <a:off x="711200" y="6375400"/>
            <a:ext cx="10769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48" name="TextBox 78"/>
          <p:cNvSpPr txBox="1"/>
          <p:nvPr/>
        </p:nvSpPr>
        <p:spPr>
          <a:xfrm>
            <a:off x="711200" y="6502400"/>
            <a:ext cx="4572000" cy="127000"/>
          </a:xfrm>
          <a:prstGeom prst="rect">
            <a:avLst/>
          </a:prstGeom>
        </p:spPr>
        <p:txBody>
          <a:bodyPr wrap="square" lIns="0" tIns="0" rIns="0" bIns="0">
            <a:noAutofit/>
          </a:bodyPr>
          <a:lstStyle/>
          <a:p>
            <a:r>
              <a:rPr sz="520" b="1" spc="110">
                <a:solidFill>
                  <a:srgbClr val="A2A2A8"/>
                </a:solidFill>
                <a:latin typeface="Telegraf"/>
              </a:rPr>
              <a:t>EVERYTHING ON THE FOLLOWING SCREENS IS DRAWN FROM THESE SIX VALUES</a:t>
            </a:r>
            <a:endParaRPr sz="520" b="1" spc="110">
              <a:solidFill>
                <a:srgbClr val="A2A2A8"/>
              </a:solidFill>
              <a:latin typeface="Telegraf"/>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1"/>
        </a:solidFill>
        <a:effectLst/>
      </p:bgPr>
    </p:bg>
    <p:spTree>
      <p:nvGrpSpPr>
        <p:cNvPr id="1" name=""/>
        <p:cNvGrpSpPr/>
        <p:nvPr/>
      </p:nvGrpSpPr>
      <p:grpSpPr>
        <a:xfrm>
          <a:off x="0" y="0"/>
          <a:ext cx="0" cy="0"/>
          <a:chOff x="0" y="0"/>
          <a:chExt cx="0" cy="0"/>
        </a:xfrm>
      </p:grpSpPr>
      <p:sp>
        <p:nvSpPr>
          <p:cNvPr id="350" name="TextBox 1"/>
          <p:cNvSpPr txBox="1"/>
          <p:nvPr/>
        </p:nvSpPr>
        <p:spPr>
          <a:xfrm>
            <a:off x="711200" y="558800"/>
            <a:ext cx="3810000" cy="127000"/>
          </a:xfrm>
          <a:prstGeom prst="rect">
            <a:avLst/>
          </a:prstGeom>
        </p:spPr>
        <p:txBody>
          <a:bodyPr wrap="square" lIns="0" tIns="0" rIns="0" bIns="0">
            <a:noAutofit/>
          </a:bodyPr>
          <a:lstStyle/>
          <a:p>
            <a:r>
              <a:rPr sz="520" b="1" spc="140">
                <a:solidFill>
                  <a:srgbClr val="A2A2A8"/>
                </a:solidFill>
                <a:latin typeface="Telegraf"/>
              </a:rPr>
              <a:t>02  —  COMPONENTS</a:t>
            </a:r>
            <a:endParaRPr sz="520" b="1" spc="140">
              <a:solidFill>
                <a:srgbClr val="A2A2A8"/>
              </a:solidFill>
              <a:latin typeface="Telegraf"/>
            </a:endParaRPr>
          </a:p>
        </p:txBody>
      </p:sp>
      <p:sp>
        <p:nvSpPr>
          <p:cNvPr id="351" name="TextBox 2"/>
          <p:cNvSpPr txBox="1"/>
          <p:nvPr/>
        </p:nvSpPr>
        <p:spPr>
          <a:xfrm>
            <a:off x="660400" y="736600"/>
            <a:ext cx="5334000" cy="558800"/>
          </a:xfrm>
          <a:prstGeom prst="rect">
            <a:avLst/>
          </a:prstGeom>
        </p:spPr>
        <p:txBody>
          <a:bodyPr wrap="square" lIns="0" tIns="0" rIns="0" bIns="0">
            <a:noAutofit/>
          </a:bodyPr>
          <a:lstStyle/>
          <a:p>
            <a:pPr>
              <a:lnSpc>
                <a:spcPct val="102000"/>
              </a:lnSpc>
            </a:pPr>
            <a:r>
              <a:rPr sz="3400" spc="-140">
                <a:solidFill>
                  <a:srgbClr val="0A0A0A"/>
                </a:solidFill>
                <a:latin typeface="PP Editorial New Ultralight"/>
              </a:rPr>
              <a:t>The kit.</a:t>
            </a:r>
            <a:endParaRPr sz="3400" spc="-140">
              <a:solidFill>
                <a:srgbClr val="0A0A0A"/>
              </a:solidFill>
              <a:latin typeface="PP Editorial New Ultralight"/>
            </a:endParaRPr>
          </a:p>
        </p:txBody>
      </p:sp>
      <p:sp>
        <p:nvSpPr>
          <p:cNvPr id="352" name="TextBox 3"/>
          <p:cNvSpPr txBox="1"/>
          <p:nvPr/>
        </p:nvSpPr>
        <p:spPr>
          <a:xfrm>
            <a:off x="4521200" y="838200"/>
            <a:ext cx="5842000" cy="381000"/>
          </a:xfrm>
          <a:prstGeom prst="rect">
            <a:avLst/>
          </a:prstGeom>
        </p:spPr>
        <p:txBody>
          <a:bodyPr wrap="square" lIns="0" tIns="0" rIns="0" bIns="0">
            <a:noAutofit/>
          </a:bodyPr>
          <a:lstStyle/>
          <a:p>
            <a:pPr>
              <a:lnSpc>
                <a:spcPct val="150000"/>
              </a:lnSpc>
            </a:pPr>
            <a:r>
              <a:rPr sz="700" spc="0">
                <a:solidFill>
                  <a:srgbClr val="67676E"/>
                </a:solidFill>
                <a:latin typeface="Telegraf"/>
              </a:rPr>
              <a:t>Six primitives cover every screen. Build them once in components/ui, then compose.</a:t>
            </a:r>
            <a:endParaRPr sz="700" spc="0">
              <a:solidFill>
                <a:srgbClr val="67676E"/>
              </a:solidFill>
              <a:latin typeface="Telegraf"/>
            </a:endParaRPr>
          </a:p>
        </p:txBody>
      </p:sp>
      <p:sp>
        <p:nvSpPr>
          <p:cNvPr id="353" name="Rectangle 4"/>
          <p:cNvSpPr/>
          <p:nvPr/>
        </p:nvSpPr>
        <p:spPr>
          <a:xfrm>
            <a:off x="711200" y="1422400"/>
            <a:ext cx="3505200" cy="2540000"/>
          </a:xfrm>
          <a:custGeom>
            <a:avLst/>
            <a:gdLst/>
            <a:ahLst/>
            <a:cxnLst/>
            <a:rect l="l" t="t" r="r" b="b"/>
            <a:pathLst>
              <a:path w="100000" h="72464">
                <a:moveTo>
                  <a:pt x="91304" y="0"/>
                </a:moveTo>
                <a:cubicBezTo>
                  <a:pt x="95404" y="0"/>
                  <a:pt x="97453" y="0"/>
                  <a:pt x="98726" y="1274"/>
                </a:cubicBezTo>
                <a:cubicBezTo>
                  <a:pt x="98726" y="1274"/>
                  <a:pt x="98726" y="1274"/>
                  <a:pt x="98726" y="1274"/>
                </a:cubicBezTo>
                <a:cubicBezTo>
                  <a:pt x="100000" y="2547"/>
                  <a:pt x="100000" y="4596"/>
                  <a:pt x="100000" y="8696"/>
                </a:cubicBezTo>
                <a:lnTo>
                  <a:pt x="100000" y="63768"/>
                </a:lnTo>
                <a:cubicBezTo>
                  <a:pt x="100000" y="67867"/>
                  <a:pt x="100000" y="69917"/>
                  <a:pt x="98726" y="71190"/>
                </a:cubicBezTo>
                <a:cubicBezTo>
                  <a:pt x="98726" y="71190"/>
                  <a:pt x="98726" y="71190"/>
                  <a:pt x="98726" y="71190"/>
                </a:cubicBezTo>
                <a:cubicBezTo>
                  <a:pt x="97453" y="72464"/>
                  <a:pt x="95404" y="72464"/>
                  <a:pt x="91304" y="72464"/>
                </a:cubicBezTo>
                <a:lnTo>
                  <a:pt x="8696" y="72464"/>
                </a:lnTo>
                <a:cubicBezTo>
                  <a:pt x="4596" y="72464"/>
                  <a:pt x="2547" y="72464"/>
                  <a:pt x="1274" y="71190"/>
                </a:cubicBezTo>
                <a:cubicBezTo>
                  <a:pt x="1274" y="71190"/>
                  <a:pt x="1274" y="71190"/>
                  <a:pt x="1274" y="71190"/>
                </a:cubicBezTo>
                <a:cubicBezTo>
                  <a:pt x="0" y="69917"/>
                  <a:pt x="0" y="67867"/>
                  <a:pt x="0" y="63768"/>
                </a:cubicBezTo>
                <a:lnTo>
                  <a:pt x="0" y="8696"/>
                </a:lnTo>
                <a:cubicBezTo>
                  <a:pt x="0" y="4596"/>
                  <a:pt x="0" y="2547"/>
                  <a:pt x="1274" y="1274"/>
                </a:cubicBezTo>
                <a:cubicBezTo>
                  <a:pt x="1274" y="1274"/>
                  <a:pt x="1274" y="1274"/>
                  <a:pt x="1274" y="1274"/>
                </a:cubicBezTo>
                <a:cubicBezTo>
                  <a:pt x="2547" y="0"/>
                  <a:pt x="4596" y="0"/>
                  <a:pt x="869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4" name="TextBox 5"/>
          <p:cNvSpPr txBox="1"/>
          <p:nvPr/>
        </p:nvSpPr>
        <p:spPr>
          <a:xfrm>
            <a:off x="889000" y="1587500"/>
            <a:ext cx="2286000" cy="114300"/>
          </a:xfrm>
          <a:prstGeom prst="rect">
            <a:avLst/>
          </a:prstGeom>
        </p:spPr>
        <p:txBody>
          <a:bodyPr wrap="square" lIns="0" tIns="0" rIns="0" bIns="0">
            <a:noAutofit/>
          </a:bodyPr>
          <a:lstStyle/>
          <a:p>
            <a:r>
              <a:rPr sz="480" b="1" spc="120">
                <a:solidFill>
                  <a:srgbClr val="0E6B5F"/>
                </a:solidFill>
                <a:latin typeface="Telegraf"/>
              </a:rPr>
              <a:t>BUTTONS</a:t>
            </a:r>
            <a:endParaRPr sz="480" b="1" spc="120">
              <a:solidFill>
                <a:srgbClr val="0E6B5F"/>
              </a:solidFill>
              <a:latin typeface="Telegraf"/>
            </a:endParaRPr>
          </a:p>
        </p:txBody>
      </p:sp>
      <p:sp>
        <p:nvSpPr>
          <p:cNvPr id="355" name="TextBox 6"/>
          <p:cNvSpPr txBox="1"/>
          <p:nvPr/>
        </p:nvSpPr>
        <p:spPr>
          <a:xfrm>
            <a:off x="889000" y="1727200"/>
            <a:ext cx="2794000" cy="114300"/>
          </a:xfrm>
          <a:prstGeom prst="rect">
            <a:avLst/>
          </a:prstGeom>
        </p:spPr>
        <p:txBody>
          <a:bodyPr wrap="square" lIns="0" tIns="0" rIns="0" bIns="0">
            <a:noAutofit/>
          </a:bodyPr>
          <a:lstStyle/>
          <a:p>
            <a:pPr>
              <a:lnSpc>
                <a:spcPct val="135000"/>
              </a:lnSpc>
            </a:pPr>
            <a:r>
              <a:rPr sz="500" spc="0">
                <a:solidFill>
                  <a:srgbClr val="A2A2A8"/>
                </a:solidFill>
                <a:latin typeface="Telegraf"/>
              </a:rPr>
              <a:t>one black pill per screen</a:t>
            </a:r>
            <a:endParaRPr sz="500" spc="0">
              <a:solidFill>
                <a:srgbClr val="A2A2A8"/>
              </a:solidFill>
              <a:latin typeface="Telegraf"/>
            </a:endParaRPr>
          </a:p>
        </p:txBody>
      </p:sp>
      <p:sp>
        <p:nvSpPr>
          <p:cNvPr id="356" name="Rectangle 7"/>
          <p:cNvSpPr/>
          <p:nvPr/>
        </p:nvSpPr>
        <p:spPr>
          <a:xfrm>
            <a:off x="863600" y="3581400"/>
            <a:ext cx="3200400" cy="228600"/>
          </a:xfrm>
          <a:custGeom>
            <a:avLst/>
            <a:gdLst/>
            <a:ahLst/>
            <a:cxnLst/>
            <a:rect l="l" t="t" r="r" b="b"/>
            <a:pathLst>
              <a:path w="100000" h="7143">
                <a:moveTo>
                  <a:pt x="96429" y="0"/>
                </a:moveTo>
                <a:cubicBezTo>
                  <a:pt x="97538" y="0"/>
                  <a:pt x="98092" y="0"/>
                  <a:pt x="98530" y="181"/>
                </a:cubicBezTo>
                <a:cubicBezTo>
                  <a:pt x="99113" y="423"/>
                  <a:pt x="99577" y="887"/>
                  <a:pt x="99819" y="1470"/>
                </a:cubicBezTo>
                <a:cubicBezTo>
                  <a:pt x="100000" y="1908"/>
                  <a:pt x="100000" y="2462"/>
                  <a:pt x="100000" y="3571"/>
                </a:cubicBezTo>
                <a:lnTo>
                  <a:pt x="100000" y="3571"/>
                </a:lnTo>
                <a:cubicBezTo>
                  <a:pt x="100000" y="4681"/>
                  <a:pt x="100000" y="5235"/>
                  <a:pt x="99819" y="5673"/>
                </a:cubicBezTo>
                <a:cubicBezTo>
                  <a:pt x="99577" y="6256"/>
                  <a:pt x="99113" y="6720"/>
                  <a:pt x="98530" y="6962"/>
                </a:cubicBezTo>
                <a:cubicBezTo>
                  <a:pt x="98092" y="7143"/>
                  <a:pt x="97538" y="7143"/>
                  <a:pt x="96429" y="7143"/>
                </a:cubicBezTo>
                <a:lnTo>
                  <a:pt x="3571" y="7143"/>
                </a:lnTo>
                <a:cubicBezTo>
                  <a:pt x="2462" y="7143"/>
                  <a:pt x="1908" y="7143"/>
                  <a:pt x="1470" y="6962"/>
                </a:cubicBezTo>
                <a:cubicBezTo>
                  <a:pt x="887" y="6720"/>
                  <a:pt x="423" y="6256"/>
                  <a:pt x="181" y="5673"/>
                </a:cubicBezTo>
                <a:cubicBezTo>
                  <a:pt x="0" y="5235"/>
                  <a:pt x="0" y="4681"/>
                  <a:pt x="0" y="3571"/>
                </a:cubicBezTo>
                <a:lnTo>
                  <a:pt x="0" y="3571"/>
                </a:lnTo>
                <a:cubicBezTo>
                  <a:pt x="0" y="2462"/>
                  <a:pt x="0" y="1908"/>
                  <a:pt x="181" y="1470"/>
                </a:cubicBezTo>
                <a:cubicBezTo>
                  <a:pt x="423" y="887"/>
                  <a:pt x="887" y="423"/>
                  <a:pt x="1470" y="181"/>
                </a:cubicBezTo>
                <a:cubicBezTo>
                  <a:pt x="1908" y="0"/>
                  <a:pt x="2462" y="0"/>
                  <a:pt x="357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7" name="TextBox 8"/>
          <p:cNvSpPr txBox="1"/>
          <p:nvPr/>
        </p:nvSpPr>
        <p:spPr>
          <a:xfrm>
            <a:off x="965200" y="3581400"/>
            <a:ext cx="3073400" cy="228600"/>
          </a:xfrm>
          <a:prstGeom prst="rect">
            <a:avLst/>
          </a:prstGeom>
        </p:spPr>
        <p:txBody>
          <a:bodyPr wrap="square" lIns="0" tIns="0" rIns="0" bIns="0" anchor="ctr">
            <a:noAutofit/>
          </a:bodyPr>
          <a:lstStyle/>
          <a:p>
            <a:pPr>
              <a:lnSpc>
                <a:spcPct val="135000"/>
              </a:lnSpc>
            </a:pPr>
            <a:r>
              <a:rPr sz="490" spc="15">
                <a:solidFill>
                  <a:srgbClr val="67676E"/>
                </a:solidFill>
                <a:latin typeface="Telegraf"/>
              </a:rPr>
              <a:t>&lt;Button variant="primary" /&gt;</a:t>
            </a:r>
            <a:endParaRPr sz="490" spc="15">
              <a:solidFill>
                <a:srgbClr val="67676E"/>
              </a:solidFill>
              <a:latin typeface="Telegraf"/>
            </a:endParaRPr>
          </a:p>
        </p:txBody>
      </p:sp>
      <p:sp>
        <p:nvSpPr>
          <p:cNvPr id="358" name="Rectangle 9"/>
          <p:cNvSpPr/>
          <p:nvPr/>
        </p:nvSpPr>
        <p:spPr>
          <a:xfrm>
            <a:off x="889000" y="1981200"/>
            <a:ext cx="1066800" cy="304800"/>
          </a:xfrm>
          <a:custGeom>
            <a:avLst/>
            <a:gdLst/>
            <a:ahLst/>
            <a:cxnLst/>
            <a:rect l="l" t="t" r="r" b="b"/>
            <a:pathLst>
              <a:path w="100000" h="28571">
                <a:moveTo>
                  <a:pt x="85714" y="0"/>
                </a:moveTo>
                <a:cubicBezTo>
                  <a:pt x="85714" y="0"/>
                  <a:pt x="85714" y="0"/>
                  <a:pt x="85714" y="0"/>
                </a:cubicBezTo>
                <a:cubicBezTo>
                  <a:pt x="93604" y="0"/>
                  <a:pt x="100000" y="6396"/>
                  <a:pt x="100000" y="14286"/>
                </a:cubicBezTo>
                <a:cubicBezTo>
                  <a:pt x="100000" y="14286"/>
                  <a:pt x="100000" y="14286"/>
                  <a:pt x="100000" y="14286"/>
                </a:cubicBezTo>
                <a:lnTo>
                  <a:pt x="100000" y="14286"/>
                </a:lnTo>
                <a:cubicBezTo>
                  <a:pt x="100000" y="14286"/>
                  <a:pt x="100000" y="14286"/>
                  <a:pt x="100000" y="14286"/>
                </a:cubicBezTo>
                <a:cubicBezTo>
                  <a:pt x="100000" y="22175"/>
                  <a:pt x="93604" y="28571"/>
                  <a:pt x="85714" y="28571"/>
                </a:cubicBezTo>
                <a:cubicBezTo>
                  <a:pt x="85714" y="28571"/>
                  <a:pt x="85714" y="28571"/>
                  <a:pt x="85714" y="28571"/>
                </a:cubicBezTo>
                <a:lnTo>
                  <a:pt x="14286" y="28571"/>
                </a:lnTo>
                <a:cubicBezTo>
                  <a:pt x="14286" y="28571"/>
                  <a:pt x="14286" y="28571"/>
                  <a:pt x="14286" y="28571"/>
                </a:cubicBezTo>
                <a:cubicBezTo>
                  <a:pt x="6396" y="28571"/>
                  <a:pt x="0" y="22175"/>
                  <a:pt x="0" y="14286"/>
                </a:cubicBezTo>
                <a:cubicBezTo>
                  <a:pt x="0" y="14286"/>
                  <a:pt x="0" y="14286"/>
                  <a:pt x="0" y="14286"/>
                </a:cubicBezTo>
                <a:lnTo>
                  <a:pt x="0" y="14286"/>
                </a:lnTo>
                <a:cubicBezTo>
                  <a:pt x="0" y="14286"/>
                  <a:pt x="0" y="14286"/>
                  <a:pt x="0" y="14286"/>
                </a:cubicBezTo>
                <a:cubicBezTo>
                  <a:pt x="0" y="6396"/>
                  <a:pt x="6396" y="0"/>
                  <a:pt x="14286" y="0"/>
                </a:cubicBezTo>
                <a:cubicBezTo>
                  <a:pt x="14286" y="0"/>
                  <a:pt x="14286" y="0"/>
                  <a:pt x="14286"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59" name="TextBox 10"/>
          <p:cNvSpPr txBox="1"/>
          <p:nvPr/>
        </p:nvSpPr>
        <p:spPr>
          <a:xfrm>
            <a:off x="965200" y="1981200"/>
            <a:ext cx="939800" cy="3048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Primary</a:t>
            </a:r>
            <a:endParaRPr sz="580" b="1" spc="10">
              <a:solidFill>
                <a:srgbClr val="FFFFFF"/>
              </a:solidFill>
              <a:latin typeface="Telegraf"/>
            </a:endParaRPr>
          </a:p>
        </p:txBody>
      </p:sp>
      <p:sp>
        <p:nvSpPr>
          <p:cNvPr id="360" name="Rectangle 11"/>
          <p:cNvSpPr/>
          <p:nvPr/>
        </p:nvSpPr>
        <p:spPr>
          <a:xfrm>
            <a:off x="2057400" y="1981200"/>
            <a:ext cx="863600" cy="304800"/>
          </a:xfrm>
          <a:custGeom>
            <a:avLst/>
            <a:gdLst/>
            <a:ahLst/>
            <a:cxnLst/>
            <a:rect l="l" t="t" r="r" b="b"/>
            <a:pathLst>
              <a:path w="100000" h="35294">
                <a:moveTo>
                  <a:pt x="82353" y="0"/>
                </a:moveTo>
                <a:cubicBezTo>
                  <a:pt x="82353" y="0"/>
                  <a:pt x="82353" y="0"/>
                  <a:pt x="82353" y="0"/>
                </a:cubicBezTo>
                <a:cubicBezTo>
                  <a:pt x="92099" y="0"/>
                  <a:pt x="100000" y="7901"/>
                  <a:pt x="100000" y="17647"/>
                </a:cubicBezTo>
                <a:cubicBezTo>
                  <a:pt x="100000" y="17647"/>
                  <a:pt x="100000" y="17647"/>
                  <a:pt x="100000" y="17647"/>
                </a:cubicBezTo>
                <a:lnTo>
                  <a:pt x="100000" y="17647"/>
                </a:lnTo>
                <a:cubicBezTo>
                  <a:pt x="100000" y="17647"/>
                  <a:pt x="100000" y="17647"/>
                  <a:pt x="100000" y="17647"/>
                </a:cubicBezTo>
                <a:cubicBezTo>
                  <a:pt x="100000" y="27393"/>
                  <a:pt x="92099" y="35294"/>
                  <a:pt x="82353" y="35294"/>
                </a:cubicBezTo>
                <a:cubicBezTo>
                  <a:pt x="82353" y="35294"/>
                  <a:pt x="82353" y="35294"/>
                  <a:pt x="82353" y="35294"/>
                </a:cubicBezTo>
                <a:lnTo>
                  <a:pt x="17647" y="35294"/>
                </a:lnTo>
                <a:cubicBezTo>
                  <a:pt x="17647" y="35294"/>
                  <a:pt x="17647" y="35294"/>
                  <a:pt x="17647" y="35294"/>
                </a:cubicBezTo>
                <a:cubicBezTo>
                  <a:pt x="7901" y="35294"/>
                  <a:pt x="0" y="27393"/>
                  <a:pt x="0" y="17647"/>
                </a:cubicBezTo>
                <a:cubicBezTo>
                  <a:pt x="0" y="17647"/>
                  <a:pt x="0" y="17647"/>
                  <a:pt x="0" y="17647"/>
                </a:cubicBezTo>
                <a:lnTo>
                  <a:pt x="0" y="17647"/>
                </a:lnTo>
                <a:cubicBezTo>
                  <a:pt x="0" y="17647"/>
                  <a:pt x="0" y="17647"/>
                  <a:pt x="0" y="17647"/>
                </a:cubicBezTo>
                <a:cubicBezTo>
                  <a:pt x="0" y="7901"/>
                  <a:pt x="7901" y="0"/>
                  <a:pt x="17647" y="0"/>
                </a:cubicBezTo>
                <a:cubicBezTo>
                  <a:pt x="17647" y="0"/>
                  <a:pt x="17647" y="0"/>
                  <a:pt x="1764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1" name="TextBox 12"/>
          <p:cNvSpPr txBox="1"/>
          <p:nvPr/>
        </p:nvSpPr>
        <p:spPr>
          <a:xfrm>
            <a:off x="2133600" y="1981200"/>
            <a:ext cx="736600" cy="304800"/>
          </a:xfrm>
          <a:prstGeom prst="rect">
            <a:avLst/>
          </a:prstGeom>
        </p:spPr>
        <p:txBody>
          <a:bodyPr wrap="square" lIns="0" tIns="0" rIns="0" bIns="0" anchor="ctr">
            <a:noAutofit/>
          </a:bodyPr>
          <a:lstStyle/>
          <a:p>
            <a:pPr>
              <a:lnSpc>
                <a:spcPct val="135000"/>
              </a:lnSpc>
            </a:pPr>
            <a:r>
              <a:rPr sz="580" b="1" spc="10">
                <a:solidFill>
                  <a:srgbClr val="0A0A0A"/>
                </a:solidFill>
                <a:latin typeface="Telegraf"/>
              </a:rPr>
              <a:t>Ghost</a:t>
            </a:r>
            <a:endParaRPr sz="580" b="1" spc="10">
              <a:solidFill>
                <a:srgbClr val="0A0A0A"/>
              </a:solidFill>
              <a:latin typeface="Telegraf"/>
            </a:endParaRPr>
          </a:p>
        </p:txBody>
      </p:sp>
      <p:sp>
        <p:nvSpPr>
          <p:cNvPr id="362" name="Rectangle 13"/>
          <p:cNvSpPr/>
          <p:nvPr/>
        </p:nvSpPr>
        <p:spPr>
          <a:xfrm>
            <a:off x="3022600" y="1981200"/>
            <a:ext cx="990600" cy="304800"/>
          </a:xfrm>
          <a:custGeom>
            <a:avLst/>
            <a:gdLst/>
            <a:ahLst/>
            <a:cxnLst/>
            <a:rect l="l" t="t" r="r" b="b"/>
            <a:pathLst>
              <a:path w="100000" h="30769">
                <a:moveTo>
                  <a:pt x="84615" y="0"/>
                </a:moveTo>
                <a:cubicBezTo>
                  <a:pt x="84615" y="0"/>
                  <a:pt x="84615" y="0"/>
                  <a:pt x="84615" y="0"/>
                </a:cubicBezTo>
                <a:cubicBezTo>
                  <a:pt x="93112" y="0"/>
                  <a:pt x="100000" y="6888"/>
                  <a:pt x="100000" y="15385"/>
                </a:cubicBezTo>
                <a:cubicBezTo>
                  <a:pt x="100000" y="15385"/>
                  <a:pt x="100000" y="15385"/>
                  <a:pt x="100000" y="15385"/>
                </a:cubicBezTo>
                <a:lnTo>
                  <a:pt x="100000" y="15385"/>
                </a:lnTo>
                <a:cubicBezTo>
                  <a:pt x="100000" y="15385"/>
                  <a:pt x="100000" y="15385"/>
                  <a:pt x="100000" y="15385"/>
                </a:cubicBezTo>
                <a:cubicBezTo>
                  <a:pt x="100000" y="23881"/>
                  <a:pt x="93112" y="30769"/>
                  <a:pt x="84615" y="30769"/>
                </a:cubicBezTo>
                <a:cubicBezTo>
                  <a:pt x="84615" y="30769"/>
                  <a:pt x="84615" y="30769"/>
                  <a:pt x="84615" y="30769"/>
                </a:cubicBezTo>
                <a:lnTo>
                  <a:pt x="15385" y="30769"/>
                </a:lnTo>
                <a:cubicBezTo>
                  <a:pt x="15385" y="30769"/>
                  <a:pt x="15385" y="30769"/>
                  <a:pt x="15385" y="30769"/>
                </a:cubicBezTo>
                <a:cubicBezTo>
                  <a:pt x="6888" y="30769"/>
                  <a:pt x="0" y="23881"/>
                  <a:pt x="0" y="15385"/>
                </a:cubicBezTo>
                <a:cubicBezTo>
                  <a:pt x="0" y="15385"/>
                  <a:pt x="0" y="15385"/>
                  <a:pt x="0" y="15385"/>
                </a:cubicBezTo>
                <a:lnTo>
                  <a:pt x="0" y="15385"/>
                </a:lnTo>
                <a:cubicBezTo>
                  <a:pt x="0" y="15385"/>
                  <a:pt x="0" y="15385"/>
                  <a:pt x="0" y="15385"/>
                </a:cubicBezTo>
                <a:cubicBezTo>
                  <a:pt x="0" y="6888"/>
                  <a:pt x="6888" y="0"/>
                  <a:pt x="15385" y="0"/>
                </a:cubicBezTo>
                <a:cubicBezTo>
                  <a:pt x="15385" y="0"/>
                  <a:pt x="15385" y="0"/>
                  <a:pt x="15385"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3" name="TextBox 14"/>
          <p:cNvSpPr txBox="1"/>
          <p:nvPr/>
        </p:nvSpPr>
        <p:spPr>
          <a:xfrm>
            <a:off x="3098800" y="1981200"/>
            <a:ext cx="863600" cy="304800"/>
          </a:xfrm>
          <a:prstGeom prst="rect">
            <a:avLst/>
          </a:prstGeom>
        </p:spPr>
        <p:txBody>
          <a:bodyPr wrap="square" lIns="0" tIns="0" rIns="0" bIns="0" anchor="ctr">
            <a:noAutofit/>
          </a:bodyPr>
          <a:lstStyle/>
          <a:p>
            <a:pPr>
              <a:lnSpc>
                <a:spcPct val="135000"/>
              </a:lnSpc>
            </a:pPr>
            <a:r>
              <a:rPr sz="580" b="1" spc="10">
                <a:solidFill>
                  <a:srgbClr val="A2A2A8"/>
                </a:solidFill>
                <a:latin typeface="Telegraf"/>
              </a:rPr>
              <a:t>Disabled</a:t>
            </a:r>
            <a:endParaRPr sz="580" b="1" spc="10">
              <a:solidFill>
                <a:srgbClr val="A2A2A8"/>
              </a:solidFill>
              <a:latin typeface="Telegraf"/>
            </a:endParaRPr>
          </a:p>
        </p:txBody>
      </p:sp>
      <p:sp>
        <p:nvSpPr>
          <p:cNvPr id="364" name="Rectangle 15"/>
          <p:cNvSpPr/>
          <p:nvPr/>
        </p:nvSpPr>
        <p:spPr>
          <a:xfrm>
            <a:off x="889000" y="2387600"/>
            <a:ext cx="1371600" cy="279400"/>
          </a:xfrm>
          <a:custGeom>
            <a:avLst/>
            <a:gdLst/>
            <a:ahLst/>
            <a:cxnLst/>
            <a:rect l="l" t="t" r="r" b="b"/>
            <a:pathLst>
              <a:path w="100000" h="20370">
                <a:moveTo>
                  <a:pt x="89815" y="0"/>
                </a:moveTo>
                <a:cubicBezTo>
                  <a:pt x="89815" y="0"/>
                  <a:pt x="89815" y="0"/>
                  <a:pt x="89815" y="0"/>
                </a:cubicBezTo>
                <a:cubicBezTo>
                  <a:pt x="95440" y="0"/>
                  <a:pt x="100000" y="4560"/>
                  <a:pt x="100000" y="10185"/>
                </a:cubicBezTo>
                <a:cubicBezTo>
                  <a:pt x="100000" y="10185"/>
                  <a:pt x="100000" y="10185"/>
                  <a:pt x="100000" y="10185"/>
                </a:cubicBezTo>
                <a:lnTo>
                  <a:pt x="100000" y="10185"/>
                </a:lnTo>
                <a:cubicBezTo>
                  <a:pt x="100000" y="10185"/>
                  <a:pt x="100000" y="10185"/>
                  <a:pt x="100000" y="10185"/>
                </a:cubicBezTo>
                <a:cubicBezTo>
                  <a:pt x="100000" y="15810"/>
                  <a:pt x="95440" y="20370"/>
                  <a:pt x="89815" y="20370"/>
                </a:cubicBezTo>
                <a:cubicBezTo>
                  <a:pt x="89815" y="20370"/>
                  <a:pt x="89815" y="20370"/>
                  <a:pt x="89815" y="20370"/>
                </a:cubicBezTo>
                <a:lnTo>
                  <a:pt x="10185" y="20370"/>
                </a:lnTo>
                <a:cubicBezTo>
                  <a:pt x="10185" y="20370"/>
                  <a:pt x="10185" y="20370"/>
                  <a:pt x="10185" y="20370"/>
                </a:cubicBezTo>
                <a:cubicBezTo>
                  <a:pt x="4560" y="20370"/>
                  <a:pt x="0" y="15810"/>
                  <a:pt x="0" y="10185"/>
                </a:cubicBezTo>
                <a:cubicBezTo>
                  <a:pt x="0" y="10185"/>
                  <a:pt x="0" y="10185"/>
                  <a:pt x="0" y="10185"/>
                </a:cubicBezTo>
                <a:lnTo>
                  <a:pt x="0" y="10185"/>
                </a:lnTo>
                <a:cubicBezTo>
                  <a:pt x="0" y="10185"/>
                  <a:pt x="0" y="10185"/>
                  <a:pt x="0" y="10185"/>
                </a:cubicBezTo>
                <a:cubicBezTo>
                  <a:pt x="0" y="4560"/>
                  <a:pt x="4560" y="0"/>
                  <a:pt x="10185" y="0"/>
                </a:cubicBezTo>
                <a:cubicBezTo>
                  <a:pt x="10185" y="0"/>
                  <a:pt x="10185" y="0"/>
                  <a:pt x="10185"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5" name="Oval 16"/>
          <p:cNvSpPr/>
          <p:nvPr/>
        </p:nvSpPr>
        <p:spPr>
          <a:xfrm>
            <a:off x="951230" y="250825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6" name="TextBox 17"/>
          <p:cNvSpPr txBox="1"/>
          <p:nvPr/>
        </p:nvSpPr>
        <p:spPr>
          <a:xfrm>
            <a:off x="1054100" y="2387600"/>
            <a:ext cx="1155700" cy="279400"/>
          </a:xfrm>
          <a:prstGeom prst="rect">
            <a:avLst/>
          </a:prstGeom>
        </p:spPr>
        <p:txBody>
          <a:bodyPr wrap="square" lIns="0" tIns="0" rIns="0" bIns="0" anchor="ctr">
            <a:noAutofit/>
          </a:bodyPr>
          <a:lstStyle/>
          <a:p>
            <a:pPr>
              <a:lnSpc>
                <a:spcPct val="135000"/>
              </a:lnSpc>
            </a:pPr>
            <a:r>
              <a:rPr sz="540" b="1" spc="10">
                <a:solidFill>
                  <a:srgbClr val="FFFFFF"/>
                </a:solidFill>
                <a:latin typeface="Telegraf"/>
              </a:rPr>
              <a:t>Send</a:t>
            </a:r>
            <a:endParaRPr sz="540" b="1" spc="10">
              <a:solidFill>
                <a:srgbClr val="FFFFFF"/>
              </a:solidFill>
              <a:latin typeface="Telegraf"/>
            </a:endParaRPr>
          </a:p>
        </p:txBody>
      </p:sp>
      <p:sp>
        <p:nvSpPr>
          <p:cNvPr id="367" name="Rectangle 18"/>
          <p:cNvSpPr/>
          <p:nvPr/>
        </p:nvSpPr>
        <p:spPr>
          <a:xfrm>
            <a:off x="2362200" y="2387600"/>
            <a:ext cx="1270000" cy="279400"/>
          </a:xfrm>
          <a:custGeom>
            <a:avLst/>
            <a:gdLst/>
            <a:ahLst/>
            <a:cxnLst/>
            <a:rect l="l" t="t" r="r" b="b"/>
            <a:pathLst>
              <a:path w="100000" h="22000">
                <a:moveTo>
                  <a:pt x="89000" y="0"/>
                </a:moveTo>
                <a:cubicBezTo>
                  <a:pt x="89000" y="0"/>
                  <a:pt x="89000" y="0"/>
                  <a:pt x="89000" y="0"/>
                </a:cubicBezTo>
                <a:cubicBezTo>
                  <a:pt x="95075" y="0"/>
                  <a:pt x="100000" y="4925"/>
                  <a:pt x="100000" y="11000"/>
                </a:cubicBezTo>
                <a:cubicBezTo>
                  <a:pt x="100000" y="11000"/>
                  <a:pt x="100000" y="11000"/>
                  <a:pt x="100000" y="11000"/>
                </a:cubicBezTo>
                <a:lnTo>
                  <a:pt x="100000" y="11000"/>
                </a:lnTo>
                <a:cubicBezTo>
                  <a:pt x="100000" y="11000"/>
                  <a:pt x="100000" y="11000"/>
                  <a:pt x="100000" y="11000"/>
                </a:cubicBezTo>
                <a:cubicBezTo>
                  <a:pt x="100000" y="17075"/>
                  <a:pt x="95075" y="22000"/>
                  <a:pt x="89000" y="22000"/>
                </a:cubicBezTo>
                <a:cubicBezTo>
                  <a:pt x="89000" y="22000"/>
                  <a:pt x="89000" y="22000"/>
                  <a:pt x="89000" y="22000"/>
                </a:cubicBezTo>
                <a:lnTo>
                  <a:pt x="11000" y="22000"/>
                </a:lnTo>
                <a:cubicBezTo>
                  <a:pt x="11000" y="22000"/>
                  <a:pt x="11000" y="22000"/>
                  <a:pt x="11000" y="22000"/>
                </a:cubicBezTo>
                <a:cubicBezTo>
                  <a:pt x="4925" y="22000"/>
                  <a:pt x="0" y="17075"/>
                  <a:pt x="0" y="11000"/>
                </a:cubicBezTo>
                <a:cubicBezTo>
                  <a:pt x="0" y="11000"/>
                  <a:pt x="0" y="11000"/>
                  <a:pt x="0" y="11000"/>
                </a:cubicBezTo>
                <a:lnTo>
                  <a:pt x="0" y="11000"/>
                </a:lnTo>
                <a:cubicBezTo>
                  <a:pt x="0" y="11000"/>
                  <a:pt x="0" y="11000"/>
                  <a:pt x="0" y="11000"/>
                </a:cubicBezTo>
                <a:cubicBezTo>
                  <a:pt x="0" y="4925"/>
                  <a:pt x="4925" y="0"/>
                  <a:pt x="11000" y="0"/>
                </a:cubicBezTo>
                <a:cubicBezTo>
                  <a:pt x="11000" y="0"/>
                  <a:pt x="11000" y="0"/>
                  <a:pt x="11000"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68" name="TextBox 19"/>
          <p:cNvSpPr txBox="1"/>
          <p:nvPr/>
        </p:nvSpPr>
        <p:spPr>
          <a:xfrm>
            <a:off x="2438400" y="2387600"/>
            <a:ext cx="1143000" cy="279400"/>
          </a:xfrm>
          <a:prstGeom prst="rect">
            <a:avLst/>
          </a:prstGeom>
        </p:spPr>
        <p:txBody>
          <a:bodyPr wrap="square" lIns="0" tIns="0" rIns="0" bIns="0" anchor="ctr">
            <a:noAutofit/>
          </a:bodyPr>
          <a:lstStyle/>
          <a:p>
            <a:pPr>
              <a:lnSpc>
                <a:spcPct val="135000"/>
              </a:lnSpc>
            </a:pPr>
            <a:r>
              <a:rPr sz="540" b="1" spc="10">
                <a:solidFill>
                  <a:srgbClr val="0E6B5F"/>
                </a:solidFill>
                <a:latin typeface="Telegraf"/>
              </a:rPr>
              <a:t>Simulate</a:t>
            </a:r>
            <a:endParaRPr sz="540" b="1" spc="10">
              <a:solidFill>
                <a:srgbClr val="0E6B5F"/>
              </a:solidFill>
              <a:latin typeface="Telegraf"/>
            </a:endParaRPr>
          </a:p>
        </p:txBody>
      </p:sp>
      <p:sp>
        <p:nvSpPr>
          <p:cNvPr id="369" name="TextBox 20"/>
          <p:cNvSpPr txBox="1"/>
          <p:nvPr/>
        </p:nvSpPr>
        <p:spPr>
          <a:xfrm>
            <a:off x="889000" y="2768600"/>
            <a:ext cx="1778000" cy="101600"/>
          </a:xfrm>
          <a:prstGeom prst="rect">
            <a:avLst/>
          </a:prstGeom>
        </p:spPr>
        <p:txBody>
          <a:bodyPr wrap="square" lIns="0" tIns="0" rIns="0" bIns="0">
            <a:noAutofit/>
          </a:bodyPr>
          <a:lstStyle/>
          <a:p>
            <a:r>
              <a:rPr sz="440" b="1" spc="100">
                <a:solidFill>
                  <a:srgbClr val="A2A2A8"/>
                </a:solidFill>
                <a:latin typeface="Telegraf"/>
              </a:rPr>
              <a:t>ICON BUTTONS  ·  24</a:t>
            </a:r>
            <a:endParaRPr sz="440" b="1" spc="100">
              <a:solidFill>
                <a:srgbClr val="A2A2A8"/>
              </a:solidFill>
              <a:latin typeface="Telegraf"/>
            </a:endParaRPr>
          </a:p>
        </p:txBody>
      </p:sp>
      <p:sp>
        <p:nvSpPr>
          <p:cNvPr id="370" name="Rectangle 21"/>
          <p:cNvSpPr/>
          <p:nvPr/>
        </p:nvSpPr>
        <p:spPr>
          <a:xfrm>
            <a:off x="889000" y="2895600"/>
            <a:ext cx="304800" cy="304800"/>
          </a:xfrm>
          <a:custGeom>
            <a:avLst/>
            <a:gdLst/>
            <a:ahLst/>
            <a:cxnLst/>
            <a:rect l="l" t="t" r="r" b="b"/>
            <a:pathLst>
              <a:path w="100000" h="100000">
                <a:moveTo>
                  <a:pt x="50000" y="0"/>
                </a:moveTo>
                <a:cubicBezTo>
                  <a:pt x="50000" y="0"/>
                  <a:pt x="50000" y="0"/>
                  <a:pt x="50000" y="0"/>
                </a:cubicBezTo>
                <a:cubicBezTo>
                  <a:pt x="77613" y="0"/>
                  <a:pt x="100000" y="22388"/>
                  <a:pt x="100000" y="50000"/>
                </a:cubicBezTo>
                <a:cubicBezTo>
                  <a:pt x="100000" y="50000"/>
                  <a:pt x="100000" y="50000"/>
                  <a:pt x="100000" y="50000"/>
                </a:cubicBezTo>
                <a:lnTo>
                  <a:pt x="100000" y="50000"/>
                </a:lnTo>
                <a:cubicBezTo>
                  <a:pt x="100000" y="50000"/>
                  <a:pt x="100000" y="50000"/>
                  <a:pt x="100000" y="50000"/>
                </a:cubicBezTo>
                <a:cubicBezTo>
                  <a:pt x="100000" y="77613"/>
                  <a:pt x="77613" y="100000"/>
                  <a:pt x="50000" y="100000"/>
                </a:cubicBezTo>
                <a:cubicBezTo>
                  <a:pt x="50000" y="100000"/>
                  <a:pt x="50000" y="100000"/>
                  <a:pt x="50000" y="100000"/>
                </a:cubicBezTo>
                <a:lnTo>
                  <a:pt x="50000" y="100000"/>
                </a:lnTo>
                <a:cubicBezTo>
                  <a:pt x="50000" y="100000"/>
                  <a:pt x="50000" y="100000"/>
                  <a:pt x="50000" y="100000"/>
                </a:cubicBezTo>
                <a:cubicBezTo>
                  <a:pt x="22388" y="100000"/>
                  <a:pt x="0" y="77613"/>
                  <a:pt x="0" y="50000"/>
                </a:cubicBezTo>
                <a:cubicBezTo>
                  <a:pt x="0" y="50000"/>
                  <a:pt x="0" y="50000"/>
                  <a:pt x="0" y="50000"/>
                </a:cubicBezTo>
                <a:lnTo>
                  <a:pt x="0" y="50000"/>
                </a:lnTo>
                <a:cubicBezTo>
                  <a:pt x="0" y="50000"/>
                  <a:pt x="0" y="50000"/>
                  <a:pt x="0" y="50000"/>
                </a:cubicBezTo>
                <a:cubicBezTo>
                  <a:pt x="0" y="22388"/>
                  <a:pt x="22388" y="0"/>
                  <a:pt x="50000" y="0"/>
                </a:cubicBezTo>
                <a:cubicBezTo>
                  <a:pt x="50000" y="0"/>
                  <a:pt x="50000" y="0"/>
                  <a:pt x="50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1" name="Rectangle 22"/>
          <p:cNvSpPr/>
          <p:nvPr/>
        </p:nvSpPr>
        <p:spPr>
          <a:xfrm>
            <a:off x="1005840" y="3048000"/>
            <a:ext cx="71120" cy="1143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2" name="Rectangle 23"/>
          <p:cNvSpPr/>
          <p:nvPr/>
        </p:nvSpPr>
        <p:spPr>
          <a:xfrm>
            <a:off x="1041400" y="3012440"/>
            <a:ext cx="11430" cy="7112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3" name="Rectangle 24"/>
          <p:cNvSpPr/>
          <p:nvPr/>
        </p:nvSpPr>
        <p:spPr>
          <a:xfrm>
            <a:off x="1295400" y="2895600"/>
            <a:ext cx="304800" cy="304800"/>
          </a:xfrm>
          <a:custGeom>
            <a:avLst/>
            <a:gdLst/>
            <a:ahLst/>
            <a:cxnLst/>
            <a:rect l="l" t="t" r="r" b="b"/>
            <a:pathLst>
              <a:path w="100000" h="100000">
                <a:moveTo>
                  <a:pt x="50000" y="0"/>
                </a:moveTo>
                <a:cubicBezTo>
                  <a:pt x="50000" y="0"/>
                  <a:pt x="50000" y="0"/>
                  <a:pt x="50000" y="0"/>
                </a:cubicBezTo>
                <a:cubicBezTo>
                  <a:pt x="77613" y="0"/>
                  <a:pt x="100000" y="22388"/>
                  <a:pt x="100000" y="50000"/>
                </a:cubicBezTo>
                <a:cubicBezTo>
                  <a:pt x="100000" y="50000"/>
                  <a:pt x="100000" y="50000"/>
                  <a:pt x="100000" y="50000"/>
                </a:cubicBezTo>
                <a:lnTo>
                  <a:pt x="100000" y="50000"/>
                </a:lnTo>
                <a:cubicBezTo>
                  <a:pt x="100000" y="50000"/>
                  <a:pt x="100000" y="50000"/>
                  <a:pt x="100000" y="50000"/>
                </a:cubicBezTo>
                <a:cubicBezTo>
                  <a:pt x="100000" y="77613"/>
                  <a:pt x="77613" y="100000"/>
                  <a:pt x="50000" y="100000"/>
                </a:cubicBezTo>
                <a:cubicBezTo>
                  <a:pt x="50000" y="100000"/>
                  <a:pt x="50000" y="100000"/>
                  <a:pt x="50000" y="100000"/>
                </a:cubicBezTo>
                <a:lnTo>
                  <a:pt x="50000" y="100000"/>
                </a:lnTo>
                <a:cubicBezTo>
                  <a:pt x="50000" y="100000"/>
                  <a:pt x="50000" y="100000"/>
                  <a:pt x="50000" y="100000"/>
                </a:cubicBezTo>
                <a:cubicBezTo>
                  <a:pt x="22388" y="100000"/>
                  <a:pt x="0" y="77613"/>
                  <a:pt x="0" y="50000"/>
                </a:cubicBezTo>
                <a:cubicBezTo>
                  <a:pt x="0" y="50000"/>
                  <a:pt x="0" y="50000"/>
                  <a:pt x="0" y="50000"/>
                </a:cubicBezTo>
                <a:lnTo>
                  <a:pt x="0" y="50000"/>
                </a:lnTo>
                <a:cubicBezTo>
                  <a:pt x="0" y="50000"/>
                  <a:pt x="0" y="50000"/>
                  <a:pt x="0" y="50000"/>
                </a:cubicBezTo>
                <a:cubicBezTo>
                  <a:pt x="0" y="22388"/>
                  <a:pt x="22388" y="0"/>
                  <a:pt x="50000" y="0"/>
                </a:cubicBezTo>
                <a:cubicBezTo>
                  <a:pt x="50000" y="0"/>
                  <a:pt x="50000" y="0"/>
                  <a:pt x="50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4" name="Freeform 374"/>
          <p:cNvSpPr/>
          <p:nvPr/>
        </p:nvSpPr>
        <p:spPr>
          <a:xfrm>
            <a:off x="1409700" y="3028950"/>
            <a:ext cx="76200" cy="38100"/>
          </a:xfrm>
          <a:custGeom>
            <a:avLst/>
            <a:gdLst/>
            <a:ahLst/>
            <a:cxnLst/>
            <a:rect l="l" t="t" r="r" b="b"/>
            <a:pathLst>
              <a:path w="100000" h="50000" fill="none">
                <a:moveTo>
                  <a:pt x="0" y="0"/>
                </a:moveTo>
                <a:lnTo>
                  <a:pt x="50000" y="50000"/>
                </a:lnTo>
                <a:lnTo>
                  <a:pt x="100000" y="0"/>
                </a:lnTo>
              </a:path>
            </a:pathLst>
          </a:custGeom>
          <a:noFill/>
          <a:ln w="11430" cap="rnd">
            <a:solidFill>
              <a:srgbClr val="0A0A0A"/>
            </a:solidFill>
            <a:round/>
          </a:ln>
        </p:spPr>
        <p:style>
          <a:lnRef idx="1">
            <a:schemeClr val="accent1"/>
          </a:lnRef>
          <a:fillRef idx="0">
            <a:schemeClr val="accent1"/>
          </a:fillRef>
          <a:effectRef idx="0">
            <a:schemeClr val="accent1"/>
          </a:effectRef>
          <a:fontRef idx="minor">
            <a:schemeClr val="tx1"/>
          </a:fontRef>
        </p:style>
      </p:sp>
      <p:sp>
        <p:nvSpPr>
          <p:cNvPr id="375" name="TextBox 26"/>
          <p:cNvSpPr txBox="1"/>
          <p:nvPr/>
        </p:nvSpPr>
        <p:spPr>
          <a:xfrm>
            <a:off x="1727200" y="2895600"/>
            <a:ext cx="2032000" cy="304800"/>
          </a:xfrm>
          <a:prstGeom prst="rect">
            <a:avLst/>
          </a:prstGeom>
        </p:spPr>
        <p:txBody>
          <a:bodyPr wrap="square" lIns="0" tIns="0" rIns="0" bIns="0" anchor="ctr">
            <a:noAutofit/>
          </a:bodyPr>
          <a:lstStyle/>
          <a:p>
            <a:pPr>
              <a:lnSpc>
                <a:spcPct val="135000"/>
              </a:lnSpc>
            </a:pPr>
            <a:r>
              <a:rPr sz="470" spc="0">
                <a:solidFill>
                  <a:srgbClr val="67676E"/>
                </a:solidFill>
                <a:latin typeface="Telegraf"/>
              </a:rPr>
              <a:t>24pt, hairline, no fill until hover</a:t>
            </a:r>
            <a:endParaRPr sz="470" spc="0">
              <a:solidFill>
                <a:srgbClr val="67676E"/>
              </a:solidFill>
              <a:latin typeface="Telegraf"/>
            </a:endParaRPr>
          </a:p>
        </p:txBody>
      </p:sp>
      <p:sp>
        <p:nvSpPr>
          <p:cNvPr id="376" name="Rectangle 27"/>
          <p:cNvSpPr/>
          <p:nvPr/>
        </p:nvSpPr>
        <p:spPr>
          <a:xfrm>
            <a:off x="4495800" y="1422400"/>
            <a:ext cx="3505200" cy="2540000"/>
          </a:xfrm>
          <a:custGeom>
            <a:avLst/>
            <a:gdLst/>
            <a:ahLst/>
            <a:cxnLst/>
            <a:rect l="l" t="t" r="r" b="b"/>
            <a:pathLst>
              <a:path w="100000" h="72464">
                <a:moveTo>
                  <a:pt x="91304" y="0"/>
                </a:moveTo>
                <a:cubicBezTo>
                  <a:pt x="95404" y="0"/>
                  <a:pt x="97453" y="0"/>
                  <a:pt x="98726" y="1274"/>
                </a:cubicBezTo>
                <a:cubicBezTo>
                  <a:pt x="98726" y="1274"/>
                  <a:pt x="98726" y="1274"/>
                  <a:pt x="98726" y="1274"/>
                </a:cubicBezTo>
                <a:cubicBezTo>
                  <a:pt x="100000" y="2547"/>
                  <a:pt x="100000" y="4596"/>
                  <a:pt x="100000" y="8696"/>
                </a:cubicBezTo>
                <a:lnTo>
                  <a:pt x="100000" y="63768"/>
                </a:lnTo>
                <a:cubicBezTo>
                  <a:pt x="100000" y="67867"/>
                  <a:pt x="100000" y="69917"/>
                  <a:pt x="98726" y="71190"/>
                </a:cubicBezTo>
                <a:cubicBezTo>
                  <a:pt x="98726" y="71190"/>
                  <a:pt x="98726" y="71190"/>
                  <a:pt x="98726" y="71190"/>
                </a:cubicBezTo>
                <a:cubicBezTo>
                  <a:pt x="97453" y="72464"/>
                  <a:pt x="95404" y="72464"/>
                  <a:pt x="91304" y="72464"/>
                </a:cubicBezTo>
                <a:lnTo>
                  <a:pt x="8696" y="72464"/>
                </a:lnTo>
                <a:cubicBezTo>
                  <a:pt x="4596" y="72464"/>
                  <a:pt x="2547" y="72464"/>
                  <a:pt x="1274" y="71190"/>
                </a:cubicBezTo>
                <a:cubicBezTo>
                  <a:pt x="1274" y="71190"/>
                  <a:pt x="1274" y="71190"/>
                  <a:pt x="1274" y="71190"/>
                </a:cubicBezTo>
                <a:cubicBezTo>
                  <a:pt x="0" y="69917"/>
                  <a:pt x="0" y="67867"/>
                  <a:pt x="0" y="63768"/>
                </a:cubicBezTo>
                <a:lnTo>
                  <a:pt x="0" y="8696"/>
                </a:lnTo>
                <a:cubicBezTo>
                  <a:pt x="0" y="4596"/>
                  <a:pt x="0" y="2547"/>
                  <a:pt x="1274" y="1274"/>
                </a:cubicBezTo>
                <a:cubicBezTo>
                  <a:pt x="1274" y="1274"/>
                  <a:pt x="1274" y="1274"/>
                  <a:pt x="1274" y="1274"/>
                </a:cubicBezTo>
                <a:cubicBezTo>
                  <a:pt x="2547" y="0"/>
                  <a:pt x="4596" y="0"/>
                  <a:pt x="869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77" name="TextBox 28"/>
          <p:cNvSpPr txBox="1"/>
          <p:nvPr/>
        </p:nvSpPr>
        <p:spPr>
          <a:xfrm>
            <a:off x="4673600" y="1587500"/>
            <a:ext cx="2286000" cy="114300"/>
          </a:xfrm>
          <a:prstGeom prst="rect">
            <a:avLst/>
          </a:prstGeom>
        </p:spPr>
        <p:txBody>
          <a:bodyPr wrap="square" lIns="0" tIns="0" rIns="0" bIns="0">
            <a:noAutofit/>
          </a:bodyPr>
          <a:lstStyle/>
          <a:p>
            <a:r>
              <a:rPr sz="480" b="1" spc="120">
                <a:solidFill>
                  <a:srgbClr val="0E6B5F"/>
                </a:solidFill>
                <a:latin typeface="Telegraf"/>
              </a:rPr>
              <a:t>STATUS BADGES</a:t>
            </a:r>
            <a:endParaRPr sz="480" b="1" spc="120">
              <a:solidFill>
                <a:srgbClr val="0E6B5F"/>
              </a:solidFill>
              <a:latin typeface="Telegraf"/>
            </a:endParaRPr>
          </a:p>
        </p:txBody>
      </p:sp>
      <p:sp>
        <p:nvSpPr>
          <p:cNvPr id="378" name="TextBox 29"/>
          <p:cNvSpPr txBox="1"/>
          <p:nvPr/>
        </p:nvSpPr>
        <p:spPr>
          <a:xfrm>
            <a:off x="4673600" y="1727200"/>
            <a:ext cx="2794000" cy="114300"/>
          </a:xfrm>
          <a:prstGeom prst="rect">
            <a:avLst/>
          </a:prstGeom>
        </p:spPr>
        <p:txBody>
          <a:bodyPr wrap="square" lIns="0" tIns="0" rIns="0" bIns="0">
            <a:noAutofit/>
          </a:bodyPr>
          <a:lstStyle/>
          <a:p>
            <a:pPr>
              <a:lnSpc>
                <a:spcPct val="135000"/>
              </a:lnSpc>
            </a:pPr>
            <a:r>
              <a:rPr sz="500" spc="0">
                <a:solidFill>
                  <a:srgbClr val="A2A2A8"/>
                </a:solidFill>
                <a:latin typeface="Telegraf"/>
              </a:rPr>
              <a:t>the PRD's five ticket states</a:t>
            </a:r>
            <a:endParaRPr sz="500" spc="0">
              <a:solidFill>
                <a:srgbClr val="A2A2A8"/>
              </a:solidFill>
              <a:latin typeface="Telegraf"/>
            </a:endParaRPr>
          </a:p>
        </p:txBody>
      </p:sp>
      <p:sp>
        <p:nvSpPr>
          <p:cNvPr id="379" name="Rectangle 30"/>
          <p:cNvSpPr/>
          <p:nvPr/>
        </p:nvSpPr>
        <p:spPr>
          <a:xfrm>
            <a:off x="4648200" y="3581400"/>
            <a:ext cx="3200400" cy="228600"/>
          </a:xfrm>
          <a:custGeom>
            <a:avLst/>
            <a:gdLst/>
            <a:ahLst/>
            <a:cxnLst/>
            <a:rect l="l" t="t" r="r" b="b"/>
            <a:pathLst>
              <a:path w="100000" h="7143">
                <a:moveTo>
                  <a:pt x="96429" y="0"/>
                </a:moveTo>
                <a:cubicBezTo>
                  <a:pt x="97538" y="0"/>
                  <a:pt x="98092" y="0"/>
                  <a:pt x="98530" y="181"/>
                </a:cubicBezTo>
                <a:cubicBezTo>
                  <a:pt x="99113" y="423"/>
                  <a:pt x="99577" y="887"/>
                  <a:pt x="99819" y="1470"/>
                </a:cubicBezTo>
                <a:cubicBezTo>
                  <a:pt x="100000" y="1908"/>
                  <a:pt x="100000" y="2462"/>
                  <a:pt x="100000" y="3571"/>
                </a:cubicBezTo>
                <a:lnTo>
                  <a:pt x="100000" y="3571"/>
                </a:lnTo>
                <a:cubicBezTo>
                  <a:pt x="100000" y="4681"/>
                  <a:pt x="100000" y="5235"/>
                  <a:pt x="99819" y="5673"/>
                </a:cubicBezTo>
                <a:cubicBezTo>
                  <a:pt x="99577" y="6256"/>
                  <a:pt x="99113" y="6720"/>
                  <a:pt x="98530" y="6962"/>
                </a:cubicBezTo>
                <a:cubicBezTo>
                  <a:pt x="98092" y="7143"/>
                  <a:pt x="97538" y="7143"/>
                  <a:pt x="96429" y="7143"/>
                </a:cubicBezTo>
                <a:lnTo>
                  <a:pt x="3571" y="7143"/>
                </a:lnTo>
                <a:cubicBezTo>
                  <a:pt x="2462" y="7143"/>
                  <a:pt x="1908" y="7143"/>
                  <a:pt x="1470" y="6962"/>
                </a:cubicBezTo>
                <a:cubicBezTo>
                  <a:pt x="887" y="6720"/>
                  <a:pt x="423" y="6256"/>
                  <a:pt x="181" y="5673"/>
                </a:cubicBezTo>
                <a:cubicBezTo>
                  <a:pt x="0" y="5235"/>
                  <a:pt x="0" y="4681"/>
                  <a:pt x="0" y="3571"/>
                </a:cubicBezTo>
                <a:lnTo>
                  <a:pt x="0" y="3571"/>
                </a:lnTo>
                <a:cubicBezTo>
                  <a:pt x="0" y="2462"/>
                  <a:pt x="0" y="1908"/>
                  <a:pt x="181" y="1470"/>
                </a:cubicBezTo>
                <a:cubicBezTo>
                  <a:pt x="423" y="887"/>
                  <a:pt x="887" y="423"/>
                  <a:pt x="1470" y="181"/>
                </a:cubicBezTo>
                <a:cubicBezTo>
                  <a:pt x="1908" y="0"/>
                  <a:pt x="2462" y="0"/>
                  <a:pt x="357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0" name="TextBox 31"/>
          <p:cNvSpPr txBox="1"/>
          <p:nvPr/>
        </p:nvSpPr>
        <p:spPr>
          <a:xfrm>
            <a:off x="4749800" y="3581400"/>
            <a:ext cx="3073400" cy="228600"/>
          </a:xfrm>
          <a:prstGeom prst="rect">
            <a:avLst/>
          </a:prstGeom>
        </p:spPr>
        <p:txBody>
          <a:bodyPr wrap="square" lIns="0" tIns="0" rIns="0" bIns="0" anchor="ctr">
            <a:noAutofit/>
          </a:bodyPr>
          <a:lstStyle/>
          <a:p>
            <a:pPr>
              <a:lnSpc>
                <a:spcPct val="135000"/>
              </a:lnSpc>
            </a:pPr>
            <a:r>
              <a:rPr sz="490" spc="15">
                <a:solidFill>
                  <a:srgbClr val="67676E"/>
                </a:solidFill>
                <a:latin typeface="Telegraf"/>
              </a:rPr>
              <a:t>&lt;Badge state={ticket.state} /&gt;</a:t>
            </a:r>
            <a:endParaRPr sz="490" spc="15">
              <a:solidFill>
                <a:srgbClr val="67676E"/>
              </a:solidFill>
              <a:latin typeface="Telegraf"/>
            </a:endParaRPr>
          </a:p>
        </p:txBody>
      </p:sp>
      <p:sp>
        <p:nvSpPr>
          <p:cNvPr id="381" name="Rectangle 32"/>
          <p:cNvSpPr/>
          <p:nvPr/>
        </p:nvSpPr>
        <p:spPr>
          <a:xfrm>
            <a:off x="4673600" y="1981200"/>
            <a:ext cx="509651" cy="158750"/>
          </a:xfrm>
          <a:custGeom>
            <a:avLst/>
            <a:gdLst/>
            <a:ahLst/>
            <a:cxnLst/>
            <a:rect l="l" t="t" r="r" b="b"/>
            <a:pathLst>
              <a:path w="100000" h="31149">
                <a:moveTo>
                  <a:pt x="84426" y="0"/>
                </a:moveTo>
                <a:cubicBezTo>
                  <a:pt x="84426" y="0"/>
                  <a:pt x="84426" y="0"/>
                  <a:pt x="84426" y="0"/>
                </a:cubicBezTo>
                <a:cubicBezTo>
                  <a:pt x="93028" y="0"/>
                  <a:pt x="100000" y="6972"/>
                  <a:pt x="100000" y="15574"/>
                </a:cubicBezTo>
                <a:cubicBezTo>
                  <a:pt x="100000" y="15574"/>
                  <a:pt x="100000" y="15574"/>
                  <a:pt x="100000" y="15574"/>
                </a:cubicBezTo>
                <a:lnTo>
                  <a:pt x="100000" y="15574"/>
                </a:lnTo>
                <a:cubicBezTo>
                  <a:pt x="100000" y="15574"/>
                  <a:pt x="100000" y="15574"/>
                  <a:pt x="100000" y="15574"/>
                </a:cubicBezTo>
                <a:cubicBezTo>
                  <a:pt x="100000" y="24176"/>
                  <a:pt x="93028" y="31149"/>
                  <a:pt x="84426" y="31149"/>
                </a:cubicBezTo>
                <a:cubicBezTo>
                  <a:pt x="84426" y="31149"/>
                  <a:pt x="84426" y="31149"/>
                  <a:pt x="84426" y="31149"/>
                </a:cubicBezTo>
                <a:lnTo>
                  <a:pt x="15574" y="31149"/>
                </a:lnTo>
                <a:cubicBezTo>
                  <a:pt x="15574" y="31149"/>
                  <a:pt x="15574" y="31149"/>
                  <a:pt x="15574" y="31149"/>
                </a:cubicBezTo>
                <a:cubicBezTo>
                  <a:pt x="6972" y="31149"/>
                  <a:pt x="0" y="24176"/>
                  <a:pt x="0" y="15574"/>
                </a:cubicBezTo>
                <a:cubicBezTo>
                  <a:pt x="0" y="15574"/>
                  <a:pt x="0" y="15574"/>
                  <a:pt x="0" y="15574"/>
                </a:cubicBezTo>
                <a:lnTo>
                  <a:pt x="0" y="15574"/>
                </a:lnTo>
                <a:cubicBezTo>
                  <a:pt x="0" y="15574"/>
                  <a:pt x="0" y="15574"/>
                  <a:pt x="0" y="15574"/>
                </a:cubicBezTo>
                <a:cubicBezTo>
                  <a:pt x="0" y="6972"/>
                  <a:pt x="6972" y="0"/>
                  <a:pt x="15574" y="0"/>
                </a:cubicBezTo>
                <a:cubicBezTo>
                  <a:pt x="15574" y="0"/>
                  <a:pt x="15574" y="0"/>
                  <a:pt x="15574"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2" name="Oval 33"/>
          <p:cNvSpPr/>
          <p:nvPr/>
        </p:nvSpPr>
        <p:spPr>
          <a:xfrm>
            <a:off x="4725670" y="203898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3" name="TextBox 34"/>
          <p:cNvSpPr txBox="1"/>
          <p:nvPr/>
        </p:nvSpPr>
        <p:spPr>
          <a:xfrm>
            <a:off x="4803140" y="1981200"/>
            <a:ext cx="357251" cy="158750"/>
          </a:xfrm>
          <a:prstGeom prst="rect">
            <a:avLst/>
          </a:prstGeom>
        </p:spPr>
        <p:txBody>
          <a:bodyPr wrap="square" lIns="0" tIns="0" rIns="0" bIns="0" anchor="ctr">
            <a:noAutofit/>
          </a:bodyPr>
          <a:lstStyle/>
          <a:p>
            <a:pPr>
              <a:lnSpc>
                <a:spcPct val="135000"/>
              </a:lnSpc>
            </a:pPr>
            <a:r>
              <a:rPr sz="520" b="1" spc="0">
                <a:solidFill>
                  <a:srgbClr val="0B5C44"/>
                </a:solidFill>
                <a:latin typeface="Telegraf"/>
              </a:rPr>
              <a:t>answered</a:t>
            </a:r>
            <a:endParaRPr sz="520" b="1" spc="0">
              <a:solidFill>
                <a:srgbClr val="0B5C44"/>
              </a:solidFill>
              <a:latin typeface="Telegraf"/>
            </a:endParaRPr>
          </a:p>
        </p:txBody>
      </p:sp>
      <p:sp>
        <p:nvSpPr>
          <p:cNvPr id="384" name="Rectangle 35"/>
          <p:cNvSpPr/>
          <p:nvPr/>
        </p:nvSpPr>
        <p:spPr>
          <a:xfrm>
            <a:off x="6096000" y="1981200"/>
            <a:ext cx="394716" cy="158750"/>
          </a:xfrm>
          <a:custGeom>
            <a:avLst/>
            <a:gdLst/>
            <a:ahLst/>
            <a:cxnLst/>
            <a:rect l="l" t="t" r="r" b="b"/>
            <a:pathLst>
              <a:path w="100000" h="40219">
                <a:moveTo>
                  <a:pt x="79891" y="0"/>
                </a:moveTo>
                <a:cubicBezTo>
                  <a:pt x="79891" y="0"/>
                  <a:pt x="79891" y="0"/>
                  <a:pt x="79891" y="0"/>
                </a:cubicBezTo>
                <a:cubicBezTo>
                  <a:pt x="90997" y="0"/>
                  <a:pt x="100000" y="9003"/>
                  <a:pt x="100000" y="20109"/>
                </a:cubicBezTo>
                <a:cubicBezTo>
                  <a:pt x="100000" y="20109"/>
                  <a:pt x="100000" y="20109"/>
                  <a:pt x="100000" y="20109"/>
                </a:cubicBezTo>
                <a:lnTo>
                  <a:pt x="100000" y="20109"/>
                </a:lnTo>
                <a:cubicBezTo>
                  <a:pt x="100000" y="20109"/>
                  <a:pt x="100000" y="20109"/>
                  <a:pt x="100000" y="20109"/>
                </a:cubicBezTo>
                <a:cubicBezTo>
                  <a:pt x="100000" y="31216"/>
                  <a:pt x="90997" y="40219"/>
                  <a:pt x="79891" y="40219"/>
                </a:cubicBezTo>
                <a:cubicBezTo>
                  <a:pt x="79891" y="40219"/>
                  <a:pt x="79891" y="40219"/>
                  <a:pt x="79891" y="40219"/>
                </a:cubicBezTo>
                <a:lnTo>
                  <a:pt x="20109" y="40219"/>
                </a:lnTo>
                <a:cubicBezTo>
                  <a:pt x="20109" y="40219"/>
                  <a:pt x="20109" y="40219"/>
                  <a:pt x="20109" y="40219"/>
                </a:cubicBezTo>
                <a:cubicBezTo>
                  <a:pt x="9003" y="40219"/>
                  <a:pt x="0" y="31216"/>
                  <a:pt x="0" y="20109"/>
                </a:cubicBezTo>
                <a:cubicBezTo>
                  <a:pt x="0" y="20109"/>
                  <a:pt x="0" y="20109"/>
                  <a:pt x="0" y="20109"/>
                </a:cubicBezTo>
                <a:lnTo>
                  <a:pt x="0" y="20109"/>
                </a:lnTo>
                <a:cubicBezTo>
                  <a:pt x="0" y="20109"/>
                  <a:pt x="0" y="20109"/>
                  <a:pt x="0" y="20109"/>
                </a:cubicBezTo>
                <a:cubicBezTo>
                  <a:pt x="0" y="9003"/>
                  <a:pt x="9003" y="0"/>
                  <a:pt x="20109" y="0"/>
                </a:cubicBezTo>
                <a:cubicBezTo>
                  <a:pt x="20109" y="0"/>
                  <a:pt x="20109" y="0"/>
                  <a:pt x="20109"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5" name="Oval 36"/>
          <p:cNvSpPr/>
          <p:nvPr/>
        </p:nvSpPr>
        <p:spPr>
          <a:xfrm>
            <a:off x="6148070" y="203898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6" name="TextBox 37"/>
          <p:cNvSpPr txBox="1"/>
          <p:nvPr/>
        </p:nvSpPr>
        <p:spPr>
          <a:xfrm>
            <a:off x="6225540" y="1981200"/>
            <a:ext cx="242316" cy="158750"/>
          </a:xfrm>
          <a:prstGeom prst="rect">
            <a:avLst/>
          </a:prstGeom>
        </p:spPr>
        <p:txBody>
          <a:bodyPr wrap="square" lIns="0" tIns="0" rIns="0" bIns="0" anchor="ctr">
            <a:noAutofit/>
          </a:bodyPr>
          <a:lstStyle/>
          <a:p>
            <a:pPr>
              <a:lnSpc>
                <a:spcPct val="135000"/>
              </a:lnSpc>
            </a:pPr>
            <a:r>
              <a:rPr sz="520" b="1" spc="0">
                <a:solidFill>
                  <a:srgbClr val="8A4B08"/>
                </a:solidFill>
                <a:latin typeface="Telegraf"/>
              </a:rPr>
              <a:t>draft</a:t>
            </a:r>
            <a:endParaRPr sz="520" b="1" spc="0">
              <a:solidFill>
                <a:srgbClr val="8A4B08"/>
              </a:solidFill>
              <a:latin typeface="Telegraf"/>
            </a:endParaRPr>
          </a:p>
        </p:txBody>
      </p:sp>
      <p:sp>
        <p:nvSpPr>
          <p:cNvPr id="387" name="Rectangle 38"/>
          <p:cNvSpPr/>
          <p:nvPr/>
        </p:nvSpPr>
        <p:spPr>
          <a:xfrm>
            <a:off x="4673600" y="2311400"/>
            <a:ext cx="547878" cy="158750"/>
          </a:xfrm>
          <a:custGeom>
            <a:avLst/>
            <a:gdLst/>
            <a:ahLst/>
            <a:cxnLst/>
            <a:rect l="l" t="t" r="r" b="b"/>
            <a:pathLst>
              <a:path w="100000" h="28975">
                <a:moveTo>
                  <a:pt x="85512" y="0"/>
                </a:moveTo>
                <a:cubicBezTo>
                  <a:pt x="85512" y="0"/>
                  <a:pt x="85512" y="0"/>
                  <a:pt x="85512" y="0"/>
                </a:cubicBezTo>
                <a:cubicBezTo>
                  <a:pt x="93514" y="0"/>
                  <a:pt x="100000" y="6486"/>
                  <a:pt x="100000" y="14488"/>
                </a:cubicBezTo>
                <a:cubicBezTo>
                  <a:pt x="100000" y="14488"/>
                  <a:pt x="100000" y="14488"/>
                  <a:pt x="100000" y="14488"/>
                </a:cubicBezTo>
                <a:lnTo>
                  <a:pt x="100000" y="14488"/>
                </a:lnTo>
                <a:cubicBezTo>
                  <a:pt x="100000" y="14488"/>
                  <a:pt x="100000" y="14488"/>
                  <a:pt x="100000" y="14488"/>
                </a:cubicBezTo>
                <a:cubicBezTo>
                  <a:pt x="100000" y="22490"/>
                  <a:pt x="93514" y="28975"/>
                  <a:pt x="85512" y="28975"/>
                </a:cubicBezTo>
                <a:cubicBezTo>
                  <a:pt x="85512" y="28975"/>
                  <a:pt x="85512" y="28975"/>
                  <a:pt x="85512" y="28975"/>
                </a:cubicBezTo>
                <a:lnTo>
                  <a:pt x="14488" y="28975"/>
                </a:lnTo>
                <a:cubicBezTo>
                  <a:pt x="14488" y="28975"/>
                  <a:pt x="14488" y="28975"/>
                  <a:pt x="14488" y="28975"/>
                </a:cubicBezTo>
                <a:cubicBezTo>
                  <a:pt x="6486" y="28975"/>
                  <a:pt x="0" y="22490"/>
                  <a:pt x="0" y="14488"/>
                </a:cubicBezTo>
                <a:cubicBezTo>
                  <a:pt x="0" y="14488"/>
                  <a:pt x="0" y="14488"/>
                  <a:pt x="0" y="14488"/>
                </a:cubicBezTo>
                <a:lnTo>
                  <a:pt x="0" y="14488"/>
                </a:lnTo>
                <a:cubicBezTo>
                  <a:pt x="0" y="14488"/>
                  <a:pt x="0" y="14488"/>
                  <a:pt x="0" y="14488"/>
                </a:cubicBezTo>
                <a:cubicBezTo>
                  <a:pt x="0" y="6486"/>
                  <a:pt x="6486" y="0"/>
                  <a:pt x="14488" y="0"/>
                </a:cubicBezTo>
                <a:cubicBezTo>
                  <a:pt x="14488" y="0"/>
                  <a:pt x="14488" y="0"/>
                  <a:pt x="14488"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8" name="Oval 39"/>
          <p:cNvSpPr/>
          <p:nvPr/>
        </p:nvSpPr>
        <p:spPr>
          <a:xfrm>
            <a:off x="4725670" y="236918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89" name="TextBox 40"/>
          <p:cNvSpPr txBox="1"/>
          <p:nvPr/>
        </p:nvSpPr>
        <p:spPr>
          <a:xfrm>
            <a:off x="4803140" y="2311400"/>
            <a:ext cx="395478" cy="158750"/>
          </a:xfrm>
          <a:prstGeom prst="rect">
            <a:avLst/>
          </a:prstGeom>
        </p:spPr>
        <p:txBody>
          <a:bodyPr wrap="square" lIns="0" tIns="0" rIns="0" bIns="0" anchor="ctr">
            <a:noAutofit/>
          </a:bodyPr>
          <a:lstStyle/>
          <a:p>
            <a:pPr>
              <a:lnSpc>
                <a:spcPct val="135000"/>
              </a:lnSpc>
            </a:pPr>
            <a:r>
              <a:rPr sz="520" b="1" spc="0">
                <a:solidFill>
                  <a:srgbClr val="99201C"/>
                </a:solidFill>
                <a:latin typeface="Telegraf"/>
              </a:rPr>
              <a:t>escalated</a:t>
            </a:r>
            <a:endParaRPr sz="520" b="1" spc="0">
              <a:solidFill>
                <a:srgbClr val="99201C"/>
              </a:solidFill>
              <a:latin typeface="Telegraf"/>
            </a:endParaRPr>
          </a:p>
        </p:txBody>
      </p:sp>
      <p:sp>
        <p:nvSpPr>
          <p:cNvPr id="390" name="Rectangle 41"/>
          <p:cNvSpPr/>
          <p:nvPr/>
        </p:nvSpPr>
        <p:spPr>
          <a:xfrm>
            <a:off x="6096000" y="2311400"/>
            <a:ext cx="433070" cy="158750"/>
          </a:xfrm>
          <a:custGeom>
            <a:avLst/>
            <a:gdLst/>
            <a:ahLst/>
            <a:cxnLst/>
            <a:rect l="l" t="t" r="r" b="b"/>
            <a:pathLst>
              <a:path w="100000" h="36657">
                <a:moveTo>
                  <a:pt x="81672" y="0"/>
                </a:moveTo>
                <a:cubicBezTo>
                  <a:pt x="81672" y="0"/>
                  <a:pt x="81672" y="0"/>
                  <a:pt x="81672" y="0"/>
                </a:cubicBezTo>
                <a:cubicBezTo>
                  <a:pt x="91795" y="0"/>
                  <a:pt x="100000" y="8205"/>
                  <a:pt x="100000" y="18328"/>
                </a:cubicBezTo>
                <a:cubicBezTo>
                  <a:pt x="100000" y="18328"/>
                  <a:pt x="100000" y="18328"/>
                  <a:pt x="100000" y="18328"/>
                </a:cubicBezTo>
                <a:lnTo>
                  <a:pt x="100000" y="18328"/>
                </a:lnTo>
                <a:cubicBezTo>
                  <a:pt x="100000" y="18328"/>
                  <a:pt x="100000" y="18328"/>
                  <a:pt x="100000" y="18328"/>
                </a:cubicBezTo>
                <a:cubicBezTo>
                  <a:pt x="100000" y="28452"/>
                  <a:pt x="91795" y="36657"/>
                  <a:pt x="81672" y="36657"/>
                </a:cubicBezTo>
                <a:cubicBezTo>
                  <a:pt x="81672" y="36657"/>
                  <a:pt x="81672" y="36657"/>
                  <a:pt x="81672" y="36657"/>
                </a:cubicBezTo>
                <a:lnTo>
                  <a:pt x="18328" y="36657"/>
                </a:lnTo>
                <a:cubicBezTo>
                  <a:pt x="18328" y="36657"/>
                  <a:pt x="18328" y="36657"/>
                  <a:pt x="18328" y="36657"/>
                </a:cubicBezTo>
                <a:cubicBezTo>
                  <a:pt x="8205" y="36657"/>
                  <a:pt x="0" y="28452"/>
                  <a:pt x="0" y="18328"/>
                </a:cubicBezTo>
                <a:cubicBezTo>
                  <a:pt x="0" y="18328"/>
                  <a:pt x="0" y="18328"/>
                  <a:pt x="0" y="18328"/>
                </a:cubicBezTo>
                <a:lnTo>
                  <a:pt x="0" y="18328"/>
                </a:lnTo>
                <a:cubicBezTo>
                  <a:pt x="0" y="18328"/>
                  <a:pt x="0" y="18328"/>
                  <a:pt x="0" y="18328"/>
                </a:cubicBezTo>
                <a:cubicBezTo>
                  <a:pt x="0" y="8205"/>
                  <a:pt x="8205" y="0"/>
                  <a:pt x="18328" y="0"/>
                </a:cubicBezTo>
                <a:cubicBezTo>
                  <a:pt x="18328" y="0"/>
                  <a:pt x="18328" y="0"/>
                  <a:pt x="18328"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1" name="Oval 42"/>
          <p:cNvSpPr/>
          <p:nvPr/>
        </p:nvSpPr>
        <p:spPr>
          <a:xfrm>
            <a:off x="6148070" y="236918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2" name="TextBox 43"/>
          <p:cNvSpPr txBox="1"/>
          <p:nvPr/>
        </p:nvSpPr>
        <p:spPr>
          <a:xfrm>
            <a:off x="6225540" y="2311400"/>
            <a:ext cx="280670" cy="158750"/>
          </a:xfrm>
          <a:prstGeom prst="rect">
            <a:avLst/>
          </a:prstGeom>
        </p:spPr>
        <p:txBody>
          <a:bodyPr wrap="square" lIns="0" tIns="0" rIns="0" bIns="0" anchor="ctr">
            <a:noAutofit/>
          </a:bodyPr>
          <a:lstStyle/>
          <a:p>
            <a:pPr>
              <a:lnSpc>
                <a:spcPct val="135000"/>
              </a:lnSpc>
            </a:pPr>
            <a:r>
              <a:rPr sz="520" b="1" spc="0">
                <a:solidFill>
                  <a:srgbClr val="99201C"/>
                </a:solidFill>
                <a:latin typeface="Telegraf"/>
              </a:rPr>
              <a:t>failed</a:t>
            </a:r>
            <a:endParaRPr sz="520" b="1" spc="0">
              <a:solidFill>
                <a:srgbClr val="99201C"/>
              </a:solidFill>
              <a:latin typeface="Telegraf"/>
            </a:endParaRPr>
          </a:p>
        </p:txBody>
      </p:sp>
      <p:sp>
        <p:nvSpPr>
          <p:cNvPr id="393" name="Rectangle 44"/>
          <p:cNvSpPr/>
          <p:nvPr/>
        </p:nvSpPr>
        <p:spPr>
          <a:xfrm>
            <a:off x="4673600" y="2641600"/>
            <a:ext cx="433070" cy="158750"/>
          </a:xfrm>
          <a:custGeom>
            <a:avLst/>
            <a:gdLst/>
            <a:ahLst/>
            <a:cxnLst/>
            <a:rect l="l" t="t" r="r" b="b"/>
            <a:pathLst>
              <a:path w="100000" h="36657">
                <a:moveTo>
                  <a:pt x="81672" y="0"/>
                </a:moveTo>
                <a:cubicBezTo>
                  <a:pt x="81672" y="0"/>
                  <a:pt x="81672" y="0"/>
                  <a:pt x="81672" y="0"/>
                </a:cubicBezTo>
                <a:cubicBezTo>
                  <a:pt x="91795" y="0"/>
                  <a:pt x="100000" y="8205"/>
                  <a:pt x="100000" y="18328"/>
                </a:cubicBezTo>
                <a:cubicBezTo>
                  <a:pt x="100000" y="18328"/>
                  <a:pt x="100000" y="18328"/>
                  <a:pt x="100000" y="18328"/>
                </a:cubicBezTo>
                <a:lnTo>
                  <a:pt x="100000" y="18328"/>
                </a:lnTo>
                <a:cubicBezTo>
                  <a:pt x="100000" y="18328"/>
                  <a:pt x="100000" y="18328"/>
                  <a:pt x="100000" y="18328"/>
                </a:cubicBezTo>
                <a:cubicBezTo>
                  <a:pt x="100000" y="28452"/>
                  <a:pt x="91795" y="36657"/>
                  <a:pt x="81672" y="36657"/>
                </a:cubicBezTo>
                <a:cubicBezTo>
                  <a:pt x="81672" y="36657"/>
                  <a:pt x="81672" y="36657"/>
                  <a:pt x="81672" y="36657"/>
                </a:cubicBezTo>
                <a:lnTo>
                  <a:pt x="18328" y="36657"/>
                </a:lnTo>
                <a:cubicBezTo>
                  <a:pt x="18328" y="36657"/>
                  <a:pt x="18328" y="36657"/>
                  <a:pt x="18328" y="36657"/>
                </a:cubicBezTo>
                <a:cubicBezTo>
                  <a:pt x="8205" y="36657"/>
                  <a:pt x="0" y="28452"/>
                  <a:pt x="0" y="18328"/>
                </a:cubicBezTo>
                <a:cubicBezTo>
                  <a:pt x="0" y="18328"/>
                  <a:pt x="0" y="18328"/>
                  <a:pt x="0" y="18328"/>
                </a:cubicBezTo>
                <a:lnTo>
                  <a:pt x="0" y="18328"/>
                </a:lnTo>
                <a:cubicBezTo>
                  <a:pt x="0" y="18328"/>
                  <a:pt x="0" y="18328"/>
                  <a:pt x="0" y="18328"/>
                </a:cubicBezTo>
                <a:cubicBezTo>
                  <a:pt x="0" y="8205"/>
                  <a:pt x="8205" y="0"/>
                  <a:pt x="18328" y="0"/>
                </a:cubicBezTo>
                <a:cubicBezTo>
                  <a:pt x="18328" y="0"/>
                  <a:pt x="18328" y="0"/>
                  <a:pt x="18328" y="0"/>
                </a:cubicBezTo>
                <a:close/>
              </a:path>
            </a:pathLst>
          </a:custGeom>
          <a:solidFill>
            <a:srgbClr val="F1F1E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4" name="Oval 45"/>
          <p:cNvSpPr/>
          <p:nvPr/>
        </p:nvSpPr>
        <p:spPr>
          <a:xfrm>
            <a:off x="4725670" y="2699385"/>
            <a:ext cx="43180" cy="43180"/>
          </a:xfrm>
          <a:prstGeom prst="ellipse">
            <a:avLst/>
          </a:prstGeom>
          <a:solidFill>
            <a:srgbClr val="8A8A9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5" name="TextBox 46"/>
          <p:cNvSpPr txBox="1"/>
          <p:nvPr/>
        </p:nvSpPr>
        <p:spPr>
          <a:xfrm>
            <a:off x="4803140" y="2641600"/>
            <a:ext cx="280670" cy="158750"/>
          </a:xfrm>
          <a:prstGeom prst="rect">
            <a:avLst/>
          </a:prstGeom>
        </p:spPr>
        <p:txBody>
          <a:bodyPr wrap="square" lIns="0" tIns="0" rIns="0" bIns="0" anchor="ctr">
            <a:noAutofit/>
          </a:bodyPr>
          <a:lstStyle/>
          <a:p>
            <a:pPr>
              <a:lnSpc>
                <a:spcPct val="135000"/>
              </a:lnSpc>
            </a:pPr>
            <a:r>
              <a:rPr sz="520" b="1" spc="0">
                <a:solidFill>
                  <a:srgbClr val="50505A"/>
                </a:solidFill>
                <a:latin typeface="Telegraf"/>
              </a:rPr>
              <a:t>closed</a:t>
            </a:r>
            <a:endParaRPr sz="520" b="1" spc="0">
              <a:solidFill>
                <a:srgbClr val="50505A"/>
              </a:solidFill>
              <a:latin typeface="Telegraf"/>
            </a:endParaRPr>
          </a:p>
        </p:txBody>
      </p:sp>
      <p:sp>
        <p:nvSpPr>
          <p:cNvPr id="396" name="Rectangle 47"/>
          <p:cNvSpPr/>
          <p:nvPr/>
        </p:nvSpPr>
        <p:spPr>
          <a:xfrm>
            <a:off x="6096000" y="2641600"/>
            <a:ext cx="318135" cy="158750"/>
          </a:xfrm>
          <a:custGeom>
            <a:avLst/>
            <a:gdLst/>
            <a:ahLst/>
            <a:cxnLst/>
            <a:rect l="l" t="t" r="r" b="b"/>
            <a:pathLst>
              <a:path w="100000" h="49900">
                <a:moveTo>
                  <a:pt x="75050" y="0"/>
                </a:moveTo>
                <a:cubicBezTo>
                  <a:pt x="75050" y="0"/>
                  <a:pt x="75050" y="0"/>
                  <a:pt x="75050" y="0"/>
                </a:cubicBezTo>
                <a:cubicBezTo>
                  <a:pt x="88830" y="0"/>
                  <a:pt x="100000" y="11170"/>
                  <a:pt x="100000" y="24950"/>
                </a:cubicBezTo>
                <a:cubicBezTo>
                  <a:pt x="100000" y="24950"/>
                  <a:pt x="100000" y="24950"/>
                  <a:pt x="100000" y="24950"/>
                </a:cubicBezTo>
                <a:lnTo>
                  <a:pt x="100000" y="24950"/>
                </a:lnTo>
                <a:cubicBezTo>
                  <a:pt x="100000" y="24950"/>
                  <a:pt x="100000" y="24950"/>
                  <a:pt x="100000" y="24950"/>
                </a:cubicBezTo>
                <a:cubicBezTo>
                  <a:pt x="100000" y="38731"/>
                  <a:pt x="88830" y="49900"/>
                  <a:pt x="75050" y="49900"/>
                </a:cubicBezTo>
                <a:cubicBezTo>
                  <a:pt x="75050" y="49900"/>
                  <a:pt x="75050" y="49900"/>
                  <a:pt x="75050" y="49900"/>
                </a:cubicBezTo>
                <a:lnTo>
                  <a:pt x="24950" y="49900"/>
                </a:lnTo>
                <a:cubicBezTo>
                  <a:pt x="24950" y="49900"/>
                  <a:pt x="24950" y="49900"/>
                  <a:pt x="24950" y="49900"/>
                </a:cubicBezTo>
                <a:cubicBezTo>
                  <a:pt x="11170" y="49900"/>
                  <a:pt x="0" y="38731"/>
                  <a:pt x="0" y="24950"/>
                </a:cubicBezTo>
                <a:cubicBezTo>
                  <a:pt x="0" y="24950"/>
                  <a:pt x="0" y="24950"/>
                  <a:pt x="0" y="24950"/>
                </a:cubicBezTo>
                <a:lnTo>
                  <a:pt x="0" y="24950"/>
                </a:lnTo>
                <a:cubicBezTo>
                  <a:pt x="0" y="24950"/>
                  <a:pt x="0" y="24950"/>
                  <a:pt x="0" y="24950"/>
                </a:cubicBezTo>
                <a:cubicBezTo>
                  <a:pt x="0" y="11170"/>
                  <a:pt x="11170" y="0"/>
                  <a:pt x="24950" y="0"/>
                </a:cubicBezTo>
                <a:cubicBezTo>
                  <a:pt x="24950" y="0"/>
                  <a:pt x="24950" y="0"/>
                  <a:pt x="24950" y="0"/>
                </a:cubicBezTo>
                <a:close/>
              </a:path>
            </a:pathLst>
          </a:custGeom>
          <a:solidFill>
            <a:srgbClr val="EAF0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7" name="Oval 48"/>
          <p:cNvSpPr/>
          <p:nvPr/>
        </p:nvSpPr>
        <p:spPr>
          <a:xfrm>
            <a:off x="6148070" y="2699385"/>
            <a:ext cx="43180" cy="43180"/>
          </a:xfrm>
          <a:prstGeom prst="ellipse">
            <a:avLst/>
          </a:prstGeom>
          <a:solidFill>
            <a:srgbClr val="1E63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398" name="TextBox 49"/>
          <p:cNvSpPr txBox="1"/>
          <p:nvPr/>
        </p:nvSpPr>
        <p:spPr>
          <a:xfrm>
            <a:off x="6225540" y="2641600"/>
            <a:ext cx="165735" cy="158750"/>
          </a:xfrm>
          <a:prstGeom prst="rect">
            <a:avLst/>
          </a:prstGeom>
        </p:spPr>
        <p:txBody>
          <a:bodyPr wrap="square" lIns="0" tIns="0" rIns="0" bIns="0" anchor="ctr">
            <a:noAutofit/>
          </a:bodyPr>
          <a:lstStyle/>
          <a:p>
            <a:pPr>
              <a:lnSpc>
                <a:spcPct val="135000"/>
              </a:lnSpc>
            </a:pPr>
            <a:r>
              <a:rPr sz="520" b="1" spc="0">
                <a:solidFill>
                  <a:srgbClr val="1B3F9E"/>
                </a:solidFill>
                <a:latin typeface="Telegraf"/>
              </a:rPr>
              <a:t>new</a:t>
            </a:r>
            <a:endParaRPr sz="520" b="1" spc="0">
              <a:solidFill>
                <a:srgbClr val="1B3F9E"/>
              </a:solidFill>
              <a:latin typeface="Telegraf"/>
            </a:endParaRPr>
          </a:p>
        </p:txBody>
      </p:sp>
      <p:sp>
        <p:nvSpPr>
          <p:cNvPr id="399" name="TextBox 50"/>
          <p:cNvSpPr txBox="1"/>
          <p:nvPr/>
        </p:nvSpPr>
        <p:spPr>
          <a:xfrm>
            <a:off x="4673600" y="3048000"/>
            <a:ext cx="2997200" cy="330200"/>
          </a:xfrm>
          <a:prstGeom prst="rect">
            <a:avLst/>
          </a:prstGeom>
        </p:spPr>
        <p:txBody>
          <a:bodyPr wrap="square" lIns="0" tIns="0" rIns="0" bIns="0">
            <a:noAutofit/>
          </a:bodyPr>
          <a:lstStyle/>
          <a:p>
            <a:pPr>
              <a:lnSpc>
                <a:spcPct val="145000"/>
              </a:lnSpc>
            </a:pPr>
            <a:r>
              <a:rPr sz="510" spc="0">
                <a:solidFill>
                  <a:srgbClr val="67676E"/>
                </a:solidFill>
                <a:latin typeface="Telegraf"/>
              </a:rPr>
              <a:t>Dot + tint + ink. The tint is 15% of the dot; the ink is its darkest readable pair.</a:t>
            </a:r>
            <a:endParaRPr sz="510" spc="0">
              <a:solidFill>
                <a:srgbClr val="67676E"/>
              </a:solidFill>
              <a:latin typeface="Telegraf"/>
            </a:endParaRPr>
          </a:p>
        </p:txBody>
      </p:sp>
      <p:sp>
        <p:nvSpPr>
          <p:cNvPr id="400" name="Rectangle 51"/>
          <p:cNvSpPr/>
          <p:nvPr/>
        </p:nvSpPr>
        <p:spPr>
          <a:xfrm>
            <a:off x="8280400" y="1422400"/>
            <a:ext cx="3505200" cy="2540000"/>
          </a:xfrm>
          <a:custGeom>
            <a:avLst/>
            <a:gdLst/>
            <a:ahLst/>
            <a:cxnLst/>
            <a:rect l="l" t="t" r="r" b="b"/>
            <a:pathLst>
              <a:path w="100000" h="72464">
                <a:moveTo>
                  <a:pt x="91304" y="0"/>
                </a:moveTo>
                <a:cubicBezTo>
                  <a:pt x="95404" y="0"/>
                  <a:pt x="97453" y="0"/>
                  <a:pt x="98726" y="1274"/>
                </a:cubicBezTo>
                <a:cubicBezTo>
                  <a:pt x="98726" y="1274"/>
                  <a:pt x="98726" y="1274"/>
                  <a:pt x="98726" y="1274"/>
                </a:cubicBezTo>
                <a:cubicBezTo>
                  <a:pt x="100000" y="2547"/>
                  <a:pt x="100000" y="4596"/>
                  <a:pt x="100000" y="8696"/>
                </a:cubicBezTo>
                <a:lnTo>
                  <a:pt x="100000" y="63768"/>
                </a:lnTo>
                <a:cubicBezTo>
                  <a:pt x="100000" y="67867"/>
                  <a:pt x="100000" y="69917"/>
                  <a:pt x="98726" y="71190"/>
                </a:cubicBezTo>
                <a:cubicBezTo>
                  <a:pt x="98726" y="71190"/>
                  <a:pt x="98726" y="71190"/>
                  <a:pt x="98726" y="71190"/>
                </a:cubicBezTo>
                <a:cubicBezTo>
                  <a:pt x="97453" y="72464"/>
                  <a:pt x="95404" y="72464"/>
                  <a:pt x="91304" y="72464"/>
                </a:cubicBezTo>
                <a:lnTo>
                  <a:pt x="8696" y="72464"/>
                </a:lnTo>
                <a:cubicBezTo>
                  <a:pt x="4596" y="72464"/>
                  <a:pt x="2547" y="72464"/>
                  <a:pt x="1274" y="71190"/>
                </a:cubicBezTo>
                <a:cubicBezTo>
                  <a:pt x="1274" y="71190"/>
                  <a:pt x="1274" y="71190"/>
                  <a:pt x="1274" y="71190"/>
                </a:cubicBezTo>
                <a:cubicBezTo>
                  <a:pt x="0" y="69917"/>
                  <a:pt x="0" y="67867"/>
                  <a:pt x="0" y="63768"/>
                </a:cubicBezTo>
                <a:lnTo>
                  <a:pt x="0" y="8696"/>
                </a:lnTo>
                <a:cubicBezTo>
                  <a:pt x="0" y="4596"/>
                  <a:pt x="0" y="2547"/>
                  <a:pt x="1274" y="1274"/>
                </a:cubicBezTo>
                <a:cubicBezTo>
                  <a:pt x="1274" y="1274"/>
                  <a:pt x="1274" y="1274"/>
                  <a:pt x="1274" y="1274"/>
                </a:cubicBezTo>
                <a:cubicBezTo>
                  <a:pt x="2547" y="0"/>
                  <a:pt x="4596" y="0"/>
                  <a:pt x="869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1" name="TextBox 52"/>
          <p:cNvSpPr txBox="1"/>
          <p:nvPr/>
        </p:nvSpPr>
        <p:spPr>
          <a:xfrm>
            <a:off x="8458200" y="1587500"/>
            <a:ext cx="2286000" cy="114300"/>
          </a:xfrm>
          <a:prstGeom prst="rect">
            <a:avLst/>
          </a:prstGeom>
        </p:spPr>
        <p:txBody>
          <a:bodyPr wrap="square" lIns="0" tIns="0" rIns="0" bIns="0">
            <a:noAutofit/>
          </a:bodyPr>
          <a:lstStyle/>
          <a:p>
            <a:r>
              <a:rPr sz="480" b="1" spc="120">
                <a:solidFill>
                  <a:srgbClr val="0E6B5F"/>
                </a:solidFill>
                <a:latin typeface="Telegraf"/>
              </a:rPr>
              <a:t>METERS &amp; RINGS</a:t>
            </a:r>
            <a:endParaRPr sz="480" b="1" spc="120">
              <a:solidFill>
                <a:srgbClr val="0E6B5F"/>
              </a:solidFill>
              <a:latin typeface="Telegraf"/>
            </a:endParaRPr>
          </a:p>
        </p:txBody>
      </p:sp>
      <p:sp>
        <p:nvSpPr>
          <p:cNvPr id="402" name="TextBox 53"/>
          <p:cNvSpPr txBox="1"/>
          <p:nvPr/>
        </p:nvSpPr>
        <p:spPr>
          <a:xfrm>
            <a:off x="8458200" y="1727200"/>
            <a:ext cx="2794000" cy="114300"/>
          </a:xfrm>
          <a:prstGeom prst="rect">
            <a:avLst/>
          </a:prstGeom>
        </p:spPr>
        <p:txBody>
          <a:bodyPr wrap="square" lIns="0" tIns="0" rIns="0" bIns="0">
            <a:noAutofit/>
          </a:bodyPr>
          <a:lstStyle/>
          <a:p>
            <a:pPr>
              <a:lnSpc>
                <a:spcPct val="135000"/>
              </a:lnSpc>
            </a:pPr>
            <a:r>
              <a:rPr sz="500" spc="0">
                <a:solidFill>
                  <a:srgbClr val="A2A2A8"/>
                </a:solidFill>
                <a:latin typeface="Telegraf"/>
              </a:rPr>
              <a:t>confidence, urgency, decisions</a:t>
            </a:r>
            <a:endParaRPr sz="500" spc="0">
              <a:solidFill>
                <a:srgbClr val="A2A2A8"/>
              </a:solidFill>
              <a:latin typeface="Telegraf"/>
            </a:endParaRPr>
          </a:p>
        </p:txBody>
      </p:sp>
      <p:sp>
        <p:nvSpPr>
          <p:cNvPr id="403" name="Rectangle 54"/>
          <p:cNvSpPr/>
          <p:nvPr/>
        </p:nvSpPr>
        <p:spPr>
          <a:xfrm>
            <a:off x="8432800" y="3581400"/>
            <a:ext cx="3200400" cy="228600"/>
          </a:xfrm>
          <a:custGeom>
            <a:avLst/>
            <a:gdLst/>
            <a:ahLst/>
            <a:cxnLst/>
            <a:rect l="l" t="t" r="r" b="b"/>
            <a:pathLst>
              <a:path w="100000" h="7143">
                <a:moveTo>
                  <a:pt x="96429" y="0"/>
                </a:moveTo>
                <a:cubicBezTo>
                  <a:pt x="97538" y="0"/>
                  <a:pt x="98092" y="0"/>
                  <a:pt x="98530" y="181"/>
                </a:cubicBezTo>
                <a:cubicBezTo>
                  <a:pt x="99113" y="423"/>
                  <a:pt x="99577" y="887"/>
                  <a:pt x="99819" y="1470"/>
                </a:cubicBezTo>
                <a:cubicBezTo>
                  <a:pt x="100000" y="1908"/>
                  <a:pt x="100000" y="2462"/>
                  <a:pt x="100000" y="3571"/>
                </a:cubicBezTo>
                <a:lnTo>
                  <a:pt x="100000" y="3571"/>
                </a:lnTo>
                <a:cubicBezTo>
                  <a:pt x="100000" y="4681"/>
                  <a:pt x="100000" y="5235"/>
                  <a:pt x="99819" y="5673"/>
                </a:cubicBezTo>
                <a:cubicBezTo>
                  <a:pt x="99577" y="6256"/>
                  <a:pt x="99113" y="6720"/>
                  <a:pt x="98530" y="6962"/>
                </a:cubicBezTo>
                <a:cubicBezTo>
                  <a:pt x="98092" y="7143"/>
                  <a:pt x="97538" y="7143"/>
                  <a:pt x="96429" y="7143"/>
                </a:cubicBezTo>
                <a:lnTo>
                  <a:pt x="3571" y="7143"/>
                </a:lnTo>
                <a:cubicBezTo>
                  <a:pt x="2462" y="7143"/>
                  <a:pt x="1908" y="7143"/>
                  <a:pt x="1470" y="6962"/>
                </a:cubicBezTo>
                <a:cubicBezTo>
                  <a:pt x="887" y="6720"/>
                  <a:pt x="423" y="6256"/>
                  <a:pt x="181" y="5673"/>
                </a:cubicBezTo>
                <a:cubicBezTo>
                  <a:pt x="0" y="5235"/>
                  <a:pt x="0" y="4681"/>
                  <a:pt x="0" y="3571"/>
                </a:cubicBezTo>
                <a:lnTo>
                  <a:pt x="0" y="3571"/>
                </a:lnTo>
                <a:cubicBezTo>
                  <a:pt x="0" y="2462"/>
                  <a:pt x="0" y="1908"/>
                  <a:pt x="181" y="1470"/>
                </a:cubicBezTo>
                <a:cubicBezTo>
                  <a:pt x="423" y="887"/>
                  <a:pt x="887" y="423"/>
                  <a:pt x="1470" y="181"/>
                </a:cubicBezTo>
                <a:cubicBezTo>
                  <a:pt x="1908" y="0"/>
                  <a:pt x="2462" y="0"/>
                  <a:pt x="357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4" name="TextBox 55"/>
          <p:cNvSpPr txBox="1"/>
          <p:nvPr/>
        </p:nvSpPr>
        <p:spPr>
          <a:xfrm>
            <a:off x="8534400" y="3581400"/>
            <a:ext cx="3073400" cy="228600"/>
          </a:xfrm>
          <a:prstGeom prst="rect">
            <a:avLst/>
          </a:prstGeom>
        </p:spPr>
        <p:txBody>
          <a:bodyPr wrap="square" lIns="0" tIns="0" rIns="0" bIns="0" anchor="ctr">
            <a:noAutofit/>
          </a:bodyPr>
          <a:lstStyle/>
          <a:p>
            <a:pPr>
              <a:lnSpc>
                <a:spcPct val="135000"/>
              </a:lnSpc>
            </a:pPr>
            <a:r>
              <a:rPr sz="490" spc="15">
                <a:solidFill>
                  <a:srgbClr val="67676E"/>
                </a:solidFill>
                <a:latin typeface="Telegraf"/>
              </a:rPr>
              <a:t>&lt;Meter value={conf} floor={50} /&gt;</a:t>
            </a:r>
            <a:endParaRPr sz="490" spc="15">
              <a:solidFill>
                <a:srgbClr val="67676E"/>
              </a:solidFill>
              <a:latin typeface="Telegraf"/>
            </a:endParaRPr>
          </a:p>
        </p:txBody>
      </p:sp>
      <p:sp>
        <p:nvSpPr>
          <p:cNvPr id="405" name="TextBox 56"/>
          <p:cNvSpPr txBox="1"/>
          <p:nvPr/>
        </p:nvSpPr>
        <p:spPr>
          <a:xfrm>
            <a:off x="8458200" y="1981200"/>
            <a:ext cx="762000" cy="101600"/>
          </a:xfrm>
          <a:prstGeom prst="rect">
            <a:avLst/>
          </a:prstGeom>
        </p:spPr>
        <p:txBody>
          <a:bodyPr wrap="square" lIns="0" tIns="0" rIns="0" bIns="0">
            <a:noAutofit/>
          </a:bodyPr>
          <a:lstStyle/>
          <a:p>
            <a:r>
              <a:rPr sz="460" b="1" spc="100">
                <a:solidFill>
                  <a:srgbClr val="A2A2A8"/>
                </a:solidFill>
                <a:latin typeface="Telegraf"/>
              </a:rPr>
              <a:t>CONFIDENCE</a:t>
            </a:r>
            <a:endParaRPr sz="460" b="1" spc="100">
              <a:solidFill>
                <a:srgbClr val="A2A2A8"/>
              </a:solidFill>
              <a:latin typeface="Telegraf"/>
            </a:endParaRPr>
          </a:p>
        </p:txBody>
      </p:sp>
      <p:sp>
        <p:nvSpPr>
          <p:cNvPr id="406" name="TextBox 57"/>
          <p:cNvSpPr txBox="1"/>
          <p:nvPr/>
        </p:nvSpPr>
        <p:spPr>
          <a:xfrm>
            <a:off x="10693400" y="1955800"/>
            <a:ext cx="508000" cy="127000"/>
          </a:xfrm>
          <a:prstGeom prst="rect">
            <a:avLst/>
          </a:prstGeom>
        </p:spPr>
        <p:txBody>
          <a:bodyPr wrap="square" lIns="0" tIns="0" rIns="0" bIns="0">
            <a:noAutofit/>
          </a:bodyPr>
          <a:lstStyle/>
          <a:p>
            <a:pPr algn="r">
              <a:lnSpc>
                <a:spcPct val="135000"/>
              </a:lnSpc>
            </a:pPr>
            <a:r>
              <a:rPr sz="620" b="1" spc="0">
                <a:solidFill>
                  <a:srgbClr val="0A0A0A"/>
                </a:solidFill>
                <a:latin typeface="Telegraf"/>
              </a:rPr>
              <a:t>94</a:t>
            </a:r>
            <a:endParaRPr sz="620" b="1" spc="0">
              <a:solidFill>
                <a:srgbClr val="0A0A0A"/>
              </a:solidFill>
              <a:latin typeface="Telegraf"/>
            </a:endParaRPr>
          </a:p>
        </p:txBody>
      </p:sp>
      <p:sp>
        <p:nvSpPr>
          <p:cNvPr id="407" name="Rectangle 58"/>
          <p:cNvSpPr/>
          <p:nvPr/>
        </p:nvSpPr>
        <p:spPr>
          <a:xfrm>
            <a:off x="8458200" y="2120900"/>
            <a:ext cx="2743200" cy="58420"/>
          </a:xfrm>
          <a:custGeom>
            <a:avLst/>
            <a:gdLst/>
            <a:ahLst/>
            <a:cxnLst/>
            <a:rect l="l" t="t" r="r" b="b"/>
            <a:pathLst>
              <a:path w="100000" h="2130">
                <a:moveTo>
                  <a:pt x="98935" y="0"/>
                </a:moveTo>
                <a:cubicBezTo>
                  <a:pt x="98935" y="0"/>
                  <a:pt x="98935" y="0"/>
                  <a:pt x="98935" y="0"/>
                </a:cubicBezTo>
                <a:cubicBezTo>
                  <a:pt x="99523" y="0"/>
                  <a:pt x="100000" y="477"/>
                  <a:pt x="100000" y="1065"/>
                </a:cubicBezTo>
                <a:cubicBezTo>
                  <a:pt x="100000" y="1065"/>
                  <a:pt x="100000" y="1065"/>
                  <a:pt x="100000" y="1065"/>
                </a:cubicBezTo>
                <a:lnTo>
                  <a:pt x="100000" y="1065"/>
                </a:lnTo>
                <a:cubicBezTo>
                  <a:pt x="100000" y="1065"/>
                  <a:pt x="100000" y="1065"/>
                  <a:pt x="100000" y="1065"/>
                </a:cubicBezTo>
                <a:cubicBezTo>
                  <a:pt x="100000" y="1653"/>
                  <a:pt x="99523" y="2130"/>
                  <a:pt x="98935" y="2130"/>
                </a:cubicBezTo>
                <a:cubicBezTo>
                  <a:pt x="98935" y="2130"/>
                  <a:pt x="98935" y="2130"/>
                  <a:pt x="98935" y="2130"/>
                </a:cubicBezTo>
                <a:lnTo>
                  <a:pt x="1065" y="2130"/>
                </a:lnTo>
                <a:cubicBezTo>
                  <a:pt x="1065" y="2130"/>
                  <a:pt x="1065" y="2130"/>
                  <a:pt x="1065" y="2130"/>
                </a:cubicBezTo>
                <a:cubicBezTo>
                  <a:pt x="477" y="2130"/>
                  <a:pt x="0" y="1653"/>
                  <a:pt x="0" y="1065"/>
                </a:cubicBezTo>
                <a:cubicBezTo>
                  <a:pt x="0" y="1065"/>
                  <a:pt x="0" y="1065"/>
                  <a:pt x="0" y="1065"/>
                </a:cubicBezTo>
                <a:lnTo>
                  <a:pt x="0" y="1065"/>
                </a:lnTo>
                <a:cubicBezTo>
                  <a:pt x="0" y="1065"/>
                  <a:pt x="0" y="1065"/>
                  <a:pt x="0" y="1065"/>
                </a:cubicBezTo>
                <a:cubicBezTo>
                  <a:pt x="0" y="477"/>
                  <a:pt x="477" y="0"/>
                  <a:pt x="1065" y="0"/>
                </a:cubicBezTo>
                <a:cubicBezTo>
                  <a:pt x="1065" y="0"/>
                  <a:pt x="1065" y="0"/>
                  <a:pt x="1065"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8" name="Rectangle 59"/>
          <p:cNvSpPr/>
          <p:nvPr/>
        </p:nvSpPr>
        <p:spPr>
          <a:xfrm>
            <a:off x="8458200" y="2120900"/>
            <a:ext cx="2578608" cy="58420"/>
          </a:xfrm>
          <a:custGeom>
            <a:avLst/>
            <a:gdLst/>
            <a:ahLst/>
            <a:cxnLst/>
            <a:rect l="l" t="t" r="r" b="b"/>
            <a:pathLst>
              <a:path w="100000" h="2266">
                <a:moveTo>
                  <a:pt x="98867" y="0"/>
                </a:moveTo>
                <a:cubicBezTo>
                  <a:pt x="98867" y="0"/>
                  <a:pt x="98867" y="0"/>
                  <a:pt x="98867" y="0"/>
                </a:cubicBezTo>
                <a:cubicBezTo>
                  <a:pt x="99493" y="0"/>
                  <a:pt x="100000" y="507"/>
                  <a:pt x="100000" y="1133"/>
                </a:cubicBezTo>
                <a:cubicBezTo>
                  <a:pt x="100000" y="1133"/>
                  <a:pt x="100000" y="1133"/>
                  <a:pt x="100000" y="1133"/>
                </a:cubicBezTo>
                <a:lnTo>
                  <a:pt x="100000" y="1133"/>
                </a:lnTo>
                <a:cubicBezTo>
                  <a:pt x="100000" y="1133"/>
                  <a:pt x="100000" y="1133"/>
                  <a:pt x="100000" y="1133"/>
                </a:cubicBezTo>
                <a:cubicBezTo>
                  <a:pt x="100000" y="1758"/>
                  <a:pt x="99493" y="2266"/>
                  <a:pt x="98867" y="2266"/>
                </a:cubicBezTo>
                <a:cubicBezTo>
                  <a:pt x="98867" y="2266"/>
                  <a:pt x="98867" y="2266"/>
                  <a:pt x="98867" y="2266"/>
                </a:cubicBezTo>
                <a:lnTo>
                  <a:pt x="1133" y="2266"/>
                </a:lnTo>
                <a:cubicBezTo>
                  <a:pt x="1133" y="2266"/>
                  <a:pt x="1133" y="2266"/>
                  <a:pt x="1133" y="2266"/>
                </a:cubicBezTo>
                <a:cubicBezTo>
                  <a:pt x="507" y="2266"/>
                  <a:pt x="0" y="1758"/>
                  <a:pt x="0" y="1133"/>
                </a:cubicBezTo>
                <a:cubicBezTo>
                  <a:pt x="0" y="1133"/>
                  <a:pt x="0" y="1133"/>
                  <a:pt x="0" y="1133"/>
                </a:cubicBezTo>
                <a:lnTo>
                  <a:pt x="0" y="1133"/>
                </a:lnTo>
                <a:cubicBezTo>
                  <a:pt x="0" y="1133"/>
                  <a:pt x="0" y="1133"/>
                  <a:pt x="0" y="1133"/>
                </a:cubicBezTo>
                <a:cubicBezTo>
                  <a:pt x="0" y="507"/>
                  <a:pt x="507" y="0"/>
                  <a:pt x="1133" y="0"/>
                </a:cubicBezTo>
                <a:cubicBezTo>
                  <a:pt x="1133" y="0"/>
                  <a:pt x="1133" y="0"/>
                  <a:pt x="1133"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09" name="TextBox 60"/>
          <p:cNvSpPr txBox="1"/>
          <p:nvPr/>
        </p:nvSpPr>
        <p:spPr>
          <a:xfrm>
            <a:off x="8458200" y="2362200"/>
            <a:ext cx="762000" cy="101600"/>
          </a:xfrm>
          <a:prstGeom prst="rect">
            <a:avLst/>
          </a:prstGeom>
        </p:spPr>
        <p:txBody>
          <a:bodyPr wrap="square" lIns="0" tIns="0" rIns="0" bIns="0">
            <a:noAutofit/>
          </a:bodyPr>
          <a:lstStyle/>
          <a:p>
            <a:r>
              <a:rPr sz="460" b="1" spc="100">
                <a:solidFill>
                  <a:srgbClr val="A2A2A8"/>
                </a:solidFill>
                <a:latin typeface="Telegraf"/>
              </a:rPr>
              <a:t>URGENCY</a:t>
            </a:r>
            <a:endParaRPr sz="460" b="1" spc="100">
              <a:solidFill>
                <a:srgbClr val="A2A2A8"/>
              </a:solidFill>
              <a:latin typeface="Telegraf"/>
            </a:endParaRPr>
          </a:p>
        </p:txBody>
      </p:sp>
      <p:sp>
        <p:nvSpPr>
          <p:cNvPr id="410" name="TextBox 61"/>
          <p:cNvSpPr txBox="1"/>
          <p:nvPr/>
        </p:nvSpPr>
        <p:spPr>
          <a:xfrm>
            <a:off x="10693400" y="2336800"/>
            <a:ext cx="508000" cy="127000"/>
          </a:xfrm>
          <a:prstGeom prst="rect">
            <a:avLst/>
          </a:prstGeom>
        </p:spPr>
        <p:txBody>
          <a:bodyPr wrap="square" lIns="0" tIns="0" rIns="0" bIns="0">
            <a:noAutofit/>
          </a:bodyPr>
          <a:lstStyle/>
          <a:p>
            <a:pPr algn="r">
              <a:lnSpc>
                <a:spcPct val="135000"/>
              </a:lnSpc>
            </a:pPr>
            <a:r>
              <a:rPr sz="620" b="1" spc="0">
                <a:solidFill>
                  <a:srgbClr val="0A0A0A"/>
                </a:solidFill>
                <a:latin typeface="Telegraf"/>
              </a:rPr>
              <a:t>20</a:t>
            </a:r>
            <a:endParaRPr sz="620" b="1" spc="0">
              <a:solidFill>
                <a:srgbClr val="0A0A0A"/>
              </a:solidFill>
              <a:latin typeface="Telegraf"/>
            </a:endParaRPr>
          </a:p>
        </p:txBody>
      </p:sp>
      <p:sp>
        <p:nvSpPr>
          <p:cNvPr id="411" name="Rectangle 62"/>
          <p:cNvSpPr/>
          <p:nvPr/>
        </p:nvSpPr>
        <p:spPr>
          <a:xfrm>
            <a:off x="8458200" y="2501900"/>
            <a:ext cx="2743200" cy="58420"/>
          </a:xfrm>
          <a:custGeom>
            <a:avLst/>
            <a:gdLst/>
            <a:ahLst/>
            <a:cxnLst/>
            <a:rect l="l" t="t" r="r" b="b"/>
            <a:pathLst>
              <a:path w="100000" h="2130">
                <a:moveTo>
                  <a:pt x="98935" y="0"/>
                </a:moveTo>
                <a:cubicBezTo>
                  <a:pt x="98935" y="0"/>
                  <a:pt x="98935" y="0"/>
                  <a:pt x="98935" y="0"/>
                </a:cubicBezTo>
                <a:cubicBezTo>
                  <a:pt x="99523" y="0"/>
                  <a:pt x="100000" y="477"/>
                  <a:pt x="100000" y="1065"/>
                </a:cubicBezTo>
                <a:cubicBezTo>
                  <a:pt x="100000" y="1065"/>
                  <a:pt x="100000" y="1065"/>
                  <a:pt x="100000" y="1065"/>
                </a:cubicBezTo>
                <a:lnTo>
                  <a:pt x="100000" y="1065"/>
                </a:lnTo>
                <a:cubicBezTo>
                  <a:pt x="100000" y="1065"/>
                  <a:pt x="100000" y="1065"/>
                  <a:pt x="100000" y="1065"/>
                </a:cubicBezTo>
                <a:cubicBezTo>
                  <a:pt x="100000" y="1653"/>
                  <a:pt x="99523" y="2130"/>
                  <a:pt x="98935" y="2130"/>
                </a:cubicBezTo>
                <a:cubicBezTo>
                  <a:pt x="98935" y="2130"/>
                  <a:pt x="98935" y="2130"/>
                  <a:pt x="98935" y="2130"/>
                </a:cubicBezTo>
                <a:lnTo>
                  <a:pt x="1065" y="2130"/>
                </a:lnTo>
                <a:cubicBezTo>
                  <a:pt x="1065" y="2130"/>
                  <a:pt x="1065" y="2130"/>
                  <a:pt x="1065" y="2130"/>
                </a:cubicBezTo>
                <a:cubicBezTo>
                  <a:pt x="477" y="2130"/>
                  <a:pt x="0" y="1653"/>
                  <a:pt x="0" y="1065"/>
                </a:cubicBezTo>
                <a:cubicBezTo>
                  <a:pt x="0" y="1065"/>
                  <a:pt x="0" y="1065"/>
                  <a:pt x="0" y="1065"/>
                </a:cubicBezTo>
                <a:lnTo>
                  <a:pt x="0" y="1065"/>
                </a:lnTo>
                <a:cubicBezTo>
                  <a:pt x="0" y="1065"/>
                  <a:pt x="0" y="1065"/>
                  <a:pt x="0" y="1065"/>
                </a:cubicBezTo>
                <a:cubicBezTo>
                  <a:pt x="0" y="477"/>
                  <a:pt x="477" y="0"/>
                  <a:pt x="1065" y="0"/>
                </a:cubicBezTo>
                <a:cubicBezTo>
                  <a:pt x="1065" y="0"/>
                  <a:pt x="1065" y="0"/>
                  <a:pt x="1065"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2" name="Rectangle 63"/>
          <p:cNvSpPr/>
          <p:nvPr/>
        </p:nvSpPr>
        <p:spPr>
          <a:xfrm>
            <a:off x="8458200" y="2501900"/>
            <a:ext cx="548640" cy="58420"/>
          </a:xfrm>
          <a:custGeom>
            <a:avLst/>
            <a:gdLst/>
            <a:ahLst/>
            <a:cxnLst/>
            <a:rect l="l" t="t" r="r" b="b"/>
            <a:pathLst>
              <a:path w="100000" h="10648">
                <a:moveTo>
                  <a:pt x="94676" y="0"/>
                </a:moveTo>
                <a:cubicBezTo>
                  <a:pt x="94676" y="0"/>
                  <a:pt x="94676" y="0"/>
                  <a:pt x="94676" y="0"/>
                </a:cubicBezTo>
                <a:cubicBezTo>
                  <a:pt x="97616" y="0"/>
                  <a:pt x="100000" y="2384"/>
                  <a:pt x="100000" y="5324"/>
                </a:cubicBezTo>
                <a:cubicBezTo>
                  <a:pt x="100000" y="5324"/>
                  <a:pt x="100000" y="5324"/>
                  <a:pt x="100000" y="5324"/>
                </a:cubicBezTo>
                <a:lnTo>
                  <a:pt x="100000" y="5324"/>
                </a:lnTo>
                <a:cubicBezTo>
                  <a:pt x="100000" y="5324"/>
                  <a:pt x="100000" y="5324"/>
                  <a:pt x="100000" y="5324"/>
                </a:cubicBezTo>
                <a:cubicBezTo>
                  <a:pt x="100000" y="8264"/>
                  <a:pt x="97616" y="10648"/>
                  <a:pt x="94676" y="10648"/>
                </a:cubicBezTo>
                <a:cubicBezTo>
                  <a:pt x="94676" y="10648"/>
                  <a:pt x="94676" y="10648"/>
                  <a:pt x="94676" y="10648"/>
                </a:cubicBezTo>
                <a:lnTo>
                  <a:pt x="5324" y="10648"/>
                </a:lnTo>
                <a:cubicBezTo>
                  <a:pt x="5324" y="10648"/>
                  <a:pt x="5324" y="10648"/>
                  <a:pt x="5324" y="10648"/>
                </a:cubicBezTo>
                <a:cubicBezTo>
                  <a:pt x="2384" y="10648"/>
                  <a:pt x="0" y="8264"/>
                  <a:pt x="0" y="5324"/>
                </a:cubicBezTo>
                <a:cubicBezTo>
                  <a:pt x="0" y="5324"/>
                  <a:pt x="0" y="5324"/>
                  <a:pt x="0" y="5324"/>
                </a:cubicBezTo>
                <a:lnTo>
                  <a:pt x="0" y="5324"/>
                </a:lnTo>
                <a:cubicBezTo>
                  <a:pt x="0" y="5324"/>
                  <a:pt x="0" y="5324"/>
                  <a:pt x="0" y="5324"/>
                </a:cubicBezTo>
                <a:cubicBezTo>
                  <a:pt x="0" y="2384"/>
                  <a:pt x="2384" y="0"/>
                  <a:pt x="5324" y="0"/>
                </a:cubicBezTo>
                <a:cubicBezTo>
                  <a:pt x="5324" y="0"/>
                  <a:pt x="5324" y="0"/>
                  <a:pt x="5324" y="0"/>
                </a:cubicBez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3" name="TextBox 64"/>
          <p:cNvSpPr txBox="1"/>
          <p:nvPr/>
        </p:nvSpPr>
        <p:spPr>
          <a:xfrm>
            <a:off x="8458200" y="2743200"/>
            <a:ext cx="1143000" cy="101600"/>
          </a:xfrm>
          <a:prstGeom prst="rect">
            <a:avLst/>
          </a:prstGeom>
        </p:spPr>
        <p:txBody>
          <a:bodyPr wrap="square" lIns="0" tIns="0" rIns="0" bIns="0">
            <a:noAutofit/>
          </a:bodyPr>
          <a:lstStyle/>
          <a:p>
            <a:r>
              <a:rPr sz="460" b="1" spc="100">
                <a:solidFill>
                  <a:srgbClr val="99201C"/>
                </a:solidFill>
                <a:latin typeface="Telegraf"/>
              </a:rPr>
              <a:t>BELOW THE FLOOR</a:t>
            </a:r>
            <a:endParaRPr sz="460" b="1" spc="100">
              <a:solidFill>
                <a:srgbClr val="99201C"/>
              </a:solidFill>
              <a:latin typeface="Telegraf"/>
            </a:endParaRPr>
          </a:p>
        </p:txBody>
      </p:sp>
      <p:sp>
        <p:nvSpPr>
          <p:cNvPr id="414" name="TextBox 65"/>
          <p:cNvSpPr txBox="1"/>
          <p:nvPr/>
        </p:nvSpPr>
        <p:spPr>
          <a:xfrm>
            <a:off x="10693400" y="2717800"/>
            <a:ext cx="508000" cy="127000"/>
          </a:xfrm>
          <a:prstGeom prst="rect">
            <a:avLst/>
          </a:prstGeom>
        </p:spPr>
        <p:txBody>
          <a:bodyPr wrap="square" lIns="0" tIns="0" rIns="0" bIns="0">
            <a:noAutofit/>
          </a:bodyPr>
          <a:lstStyle/>
          <a:p>
            <a:pPr algn="r">
              <a:lnSpc>
                <a:spcPct val="135000"/>
              </a:lnSpc>
            </a:pPr>
            <a:r>
              <a:rPr sz="620" b="1" spc="0">
                <a:solidFill>
                  <a:srgbClr val="99201C"/>
                </a:solidFill>
                <a:latin typeface="Telegraf"/>
              </a:rPr>
              <a:t>49</a:t>
            </a:r>
            <a:endParaRPr sz="620" b="1" spc="0">
              <a:solidFill>
                <a:srgbClr val="99201C"/>
              </a:solidFill>
              <a:latin typeface="Telegraf"/>
            </a:endParaRPr>
          </a:p>
        </p:txBody>
      </p:sp>
      <p:sp>
        <p:nvSpPr>
          <p:cNvPr id="415" name="Rectangle 66"/>
          <p:cNvSpPr/>
          <p:nvPr/>
        </p:nvSpPr>
        <p:spPr>
          <a:xfrm>
            <a:off x="8458200" y="2882900"/>
            <a:ext cx="2743200" cy="58420"/>
          </a:xfrm>
          <a:custGeom>
            <a:avLst/>
            <a:gdLst/>
            <a:ahLst/>
            <a:cxnLst/>
            <a:rect l="l" t="t" r="r" b="b"/>
            <a:pathLst>
              <a:path w="100000" h="2130">
                <a:moveTo>
                  <a:pt x="98935" y="0"/>
                </a:moveTo>
                <a:cubicBezTo>
                  <a:pt x="98935" y="0"/>
                  <a:pt x="98935" y="0"/>
                  <a:pt x="98935" y="0"/>
                </a:cubicBezTo>
                <a:cubicBezTo>
                  <a:pt x="99523" y="0"/>
                  <a:pt x="100000" y="477"/>
                  <a:pt x="100000" y="1065"/>
                </a:cubicBezTo>
                <a:cubicBezTo>
                  <a:pt x="100000" y="1065"/>
                  <a:pt x="100000" y="1065"/>
                  <a:pt x="100000" y="1065"/>
                </a:cubicBezTo>
                <a:lnTo>
                  <a:pt x="100000" y="1065"/>
                </a:lnTo>
                <a:cubicBezTo>
                  <a:pt x="100000" y="1065"/>
                  <a:pt x="100000" y="1065"/>
                  <a:pt x="100000" y="1065"/>
                </a:cubicBezTo>
                <a:cubicBezTo>
                  <a:pt x="100000" y="1653"/>
                  <a:pt x="99523" y="2130"/>
                  <a:pt x="98935" y="2130"/>
                </a:cubicBezTo>
                <a:cubicBezTo>
                  <a:pt x="98935" y="2130"/>
                  <a:pt x="98935" y="2130"/>
                  <a:pt x="98935" y="2130"/>
                </a:cubicBezTo>
                <a:lnTo>
                  <a:pt x="1065" y="2130"/>
                </a:lnTo>
                <a:cubicBezTo>
                  <a:pt x="1065" y="2130"/>
                  <a:pt x="1065" y="2130"/>
                  <a:pt x="1065" y="2130"/>
                </a:cubicBezTo>
                <a:cubicBezTo>
                  <a:pt x="477" y="2130"/>
                  <a:pt x="0" y="1653"/>
                  <a:pt x="0" y="1065"/>
                </a:cubicBezTo>
                <a:cubicBezTo>
                  <a:pt x="0" y="1065"/>
                  <a:pt x="0" y="1065"/>
                  <a:pt x="0" y="1065"/>
                </a:cubicBezTo>
                <a:lnTo>
                  <a:pt x="0" y="1065"/>
                </a:lnTo>
                <a:cubicBezTo>
                  <a:pt x="0" y="1065"/>
                  <a:pt x="0" y="1065"/>
                  <a:pt x="0" y="1065"/>
                </a:cubicBezTo>
                <a:cubicBezTo>
                  <a:pt x="0" y="477"/>
                  <a:pt x="477" y="0"/>
                  <a:pt x="1065" y="0"/>
                </a:cubicBezTo>
                <a:cubicBezTo>
                  <a:pt x="1065" y="0"/>
                  <a:pt x="1065" y="0"/>
                  <a:pt x="1065"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6" name="Rectangle 67"/>
          <p:cNvSpPr/>
          <p:nvPr/>
        </p:nvSpPr>
        <p:spPr>
          <a:xfrm>
            <a:off x="8458200" y="2882900"/>
            <a:ext cx="1344168" cy="58420"/>
          </a:xfrm>
          <a:custGeom>
            <a:avLst/>
            <a:gdLst/>
            <a:ahLst/>
            <a:cxnLst/>
            <a:rect l="l" t="t" r="r" b="b"/>
            <a:pathLst>
              <a:path w="100000" h="4346">
                <a:moveTo>
                  <a:pt x="97827" y="0"/>
                </a:moveTo>
                <a:cubicBezTo>
                  <a:pt x="97827" y="0"/>
                  <a:pt x="97827" y="0"/>
                  <a:pt x="97827" y="0"/>
                </a:cubicBezTo>
                <a:cubicBezTo>
                  <a:pt x="99027" y="0"/>
                  <a:pt x="100000" y="973"/>
                  <a:pt x="100000" y="2173"/>
                </a:cubicBezTo>
                <a:cubicBezTo>
                  <a:pt x="100000" y="2173"/>
                  <a:pt x="100000" y="2173"/>
                  <a:pt x="100000" y="2173"/>
                </a:cubicBezTo>
                <a:lnTo>
                  <a:pt x="100000" y="2173"/>
                </a:lnTo>
                <a:cubicBezTo>
                  <a:pt x="100000" y="2173"/>
                  <a:pt x="100000" y="2173"/>
                  <a:pt x="100000" y="2173"/>
                </a:cubicBezTo>
                <a:cubicBezTo>
                  <a:pt x="100000" y="3373"/>
                  <a:pt x="99027" y="4346"/>
                  <a:pt x="97827" y="4346"/>
                </a:cubicBezTo>
                <a:cubicBezTo>
                  <a:pt x="97827" y="4346"/>
                  <a:pt x="97827" y="4346"/>
                  <a:pt x="97827" y="4346"/>
                </a:cubicBezTo>
                <a:lnTo>
                  <a:pt x="2173" y="4346"/>
                </a:lnTo>
                <a:cubicBezTo>
                  <a:pt x="2173" y="4346"/>
                  <a:pt x="2173" y="4346"/>
                  <a:pt x="2173" y="4346"/>
                </a:cubicBezTo>
                <a:cubicBezTo>
                  <a:pt x="973" y="4346"/>
                  <a:pt x="0" y="3373"/>
                  <a:pt x="0" y="2173"/>
                </a:cubicBezTo>
                <a:cubicBezTo>
                  <a:pt x="0" y="2173"/>
                  <a:pt x="0" y="2173"/>
                  <a:pt x="0" y="2173"/>
                </a:cubicBezTo>
                <a:lnTo>
                  <a:pt x="0" y="2173"/>
                </a:lnTo>
                <a:cubicBezTo>
                  <a:pt x="0" y="2173"/>
                  <a:pt x="0" y="2173"/>
                  <a:pt x="0" y="2173"/>
                </a:cubicBezTo>
                <a:cubicBezTo>
                  <a:pt x="0" y="973"/>
                  <a:pt x="973" y="0"/>
                  <a:pt x="2173" y="0"/>
                </a:cubicBezTo>
                <a:cubicBezTo>
                  <a:pt x="2173" y="0"/>
                  <a:pt x="2173" y="0"/>
                  <a:pt x="2173" y="0"/>
                </a:cubicBez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7" name="TextBox 68"/>
          <p:cNvSpPr txBox="1"/>
          <p:nvPr/>
        </p:nvSpPr>
        <p:spPr>
          <a:xfrm>
            <a:off x="8458200" y="2984500"/>
            <a:ext cx="2743200" cy="114300"/>
          </a:xfrm>
          <a:prstGeom prst="rect">
            <a:avLst/>
          </a:prstGeom>
        </p:spPr>
        <p:txBody>
          <a:bodyPr wrap="square" lIns="0" tIns="0" rIns="0" bIns="0">
            <a:noAutofit/>
          </a:bodyPr>
          <a:lstStyle/>
          <a:p>
            <a:pPr>
              <a:lnSpc>
                <a:spcPct val="135000"/>
              </a:lnSpc>
            </a:pPr>
            <a:r>
              <a:rPr sz="460" spc="0">
                <a:solidFill>
                  <a:srgbClr val="99201C"/>
                </a:solidFill>
                <a:latin typeface="Telegraf"/>
              </a:rPr>
              <a:t>Nothing below 50 is ever sent, at any confidence</a:t>
            </a:r>
            <a:endParaRPr sz="460" spc="0">
              <a:solidFill>
                <a:srgbClr val="99201C"/>
              </a:solidFill>
              <a:latin typeface="Telegraf"/>
            </a:endParaRPr>
          </a:p>
        </p:txBody>
      </p:sp>
      <p:sp>
        <p:nvSpPr>
          <p:cNvPr id="418" name="Oval 69"/>
          <p:cNvSpPr/>
          <p:nvPr/>
        </p:nvSpPr>
        <p:spPr>
          <a:xfrm>
            <a:off x="85013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19" name="Oval 70"/>
          <p:cNvSpPr/>
          <p:nvPr/>
        </p:nvSpPr>
        <p:spPr>
          <a:xfrm>
            <a:off x="86410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0" name="Oval 71"/>
          <p:cNvSpPr/>
          <p:nvPr/>
        </p:nvSpPr>
        <p:spPr>
          <a:xfrm>
            <a:off x="87807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1" name="Oval 72"/>
          <p:cNvSpPr/>
          <p:nvPr/>
        </p:nvSpPr>
        <p:spPr>
          <a:xfrm>
            <a:off x="89204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2" name="Oval 73"/>
          <p:cNvSpPr/>
          <p:nvPr/>
        </p:nvSpPr>
        <p:spPr>
          <a:xfrm>
            <a:off x="90601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3" name="Oval 74"/>
          <p:cNvSpPr/>
          <p:nvPr/>
        </p:nvSpPr>
        <p:spPr>
          <a:xfrm>
            <a:off x="91998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4" name="Oval 75"/>
          <p:cNvSpPr/>
          <p:nvPr/>
        </p:nvSpPr>
        <p:spPr>
          <a:xfrm>
            <a:off x="93395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5" name="Oval 76"/>
          <p:cNvSpPr/>
          <p:nvPr/>
        </p:nvSpPr>
        <p:spPr>
          <a:xfrm>
            <a:off x="94792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6" name="Oval 77"/>
          <p:cNvSpPr/>
          <p:nvPr/>
        </p:nvSpPr>
        <p:spPr>
          <a:xfrm>
            <a:off x="96189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7" name="Oval 78"/>
          <p:cNvSpPr/>
          <p:nvPr/>
        </p:nvSpPr>
        <p:spPr>
          <a:xfrm>
            <a:off x="9758680" y="3218180"/>
            <a:ext cx="66040" cy="660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8" name="Oval 79"/>
          <p:cNvSpPr/>
          <p:nvPr/>
        </p:nvSpPr>
        <p:spPr>
          <a:xfrm>
            <a:off x="9898380" y="3218180"/>
            <a:ext cx="66040" cy="6604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29" name="Oval 80"/>
          <p:cNvSpPr/>
          <p:nvPr/>
        </p:nvSpPr>
        <p:spPr>
          <a:xfrm>
            <a:off x="100380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0" name="Oval 81"/>
          <p:cNvSpPr/>
          <p:nvPr/>
        </p:nvSpPr>
        <p:spPr>
          <a:xfrm>
            <a:off x="101777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1" name="Oval 82"/>
          <p:cNvSpPr/>
          <p:nvPr/>
        </p:nvSpPr>
        <p:spPr>
          <a:xfrm>
            <a:off x="103174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2" name="Oval 83"/>
          <p:cNvSpPr/>
          <p:nvPr/>
        </p:nvSpPr>
        <p:spPr>
          <a:xfrm>
            <a:off x="104571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3" name="Oval 84"/>
          <p:cNvSpPr/>
          <p:nvPr/>
        </p:nvSpPr>
        <p:spPr>
          <a:xfrm>
            <a:off x="105968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4" name="Oval 85"/>
          <p:cNvSpPr/>
          <p:nvPr/>
        </p:nvSpPr>
        <p:spPr>
          <a:xfrm>
            <a:off x="107365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5" name="Oval 86"/>
          <p:cNvSpPr/>
          <p:nvPr/>
        </p:nvSpPr>
        <p:spPr>
          <a:xfrm>
            <a:off x="108762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6" name="Oval 87"/>
          <p:cNvSpPr/>
          <p:nvPr/>
        </p:nvSpPr>
        <p:spPr>
          <a:xfrm>
            <a:off x="110159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7" name="Oval 88"/>
          <p:cNvSpPr/>
          <p:nvPr/>
        </p:nvSpPr>
        <p:spPr>
          <a:xfrm>
            <a:off x="11155680" y="3218180"/>
            <a:ext cx="66040" cy="660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38" name="TextBox 89"/>
          <p:cNvSpPr txBox="1"/>
          <p:nvPr/>
        </p:nvSpPr>
        <p:spPr>
          <a:xfrm>
            <a:off x="8534400" y="3327400"/>
            <a:ext cx="762000" cy="114300"/>
          </a:xfrm>
          <a:prstGeom prst="rect">
            <a:avLst/>
          </a:prstGeom>
        </p:spPr>
        <p:txBody>
          <a:bodyPr wrap="square" lIns="0" tIns="0" rIns="0" bIns="0">
            <a:noAutofit/>
          </a:bodyPr>
          <a:lstStyle/>
          <a:p>
            <a:pPr>
              <a:lnSpc>
                <a:spcPct val="135000"/>
              </a:lnSpc>
            </a:pPr>
            <a:r>
              <a:rPr sz="440" b="1" spc="0">
                <a:solidFill>
                  <a:srgbClr val="99201C"/>
                </a:solidFill>
                <a:latin typeface="Telegraf"/>
              </a:rPr>
              <a:t>49</a:t>
            </a:r>
            <a:endParaRPr sz="440" b="1" spc="0">
              <a:solidFill>
                <a:srgbClr val="99201C"/>
              </a:solidFill>
              <a:latin typeface="Telegraf"/>
            </a:endParaRPr>
          </a:p>
        </p:txBody>
      </p:sp>
      <p:sp>
        <p:nvSpPr>
          <p:cNvPr id="439" name="TextBox 90"/>
          <p:cNvSpPr txBox="1"/>
          <p:nvPr/>
        </p:nvSpPr>
        <p:spPr>
          <a:xfrm>
            <a:off x="9931400" y="3327400"/>
            <a:ext cx="1016000" cy="114300"/>
          </a:xfrm>
          <a:prstGeom prst="rect">
            <a:avLst/>
          </a:prstGeom>
        </p:spPr>
        <p:txBody>
          <a:bodyPr wrap="square" lIns="0" tIns="0" rIns="0" bIns="0">
            <a:noAutofit/>
          </a:bodyPr>
          <a:lstStyle/>
          <a:p>
            <a:pPr>
              <a:lnSpc>
                <a:spcPct val="135000"/>
              </a:lnSpc>
            </a:pPr>
            <a:r>
              <a:rPr sz="440" b="1" spc="0">
                <a:solidFill>
                  <a:srgbClr val="0E6B5F"/>
                </a:solidFill>
                <a:latin typeface="Telegraf"/>
              </a:rPr>
              <a:t>50  ·  the floor</a:t>
            </a:r>
            <a:endParaRPr sz="440" b="1" spc="0">
              <a:solidFill>
                <a:srgbClr val="0E6B5F"/>
              </a:solidFill>
              <a:latin typeface="Telegraf"/>
            </a:endParaRPr>
          </a:p>
        </p:txBody>
      </p:sp>
      <p:sp>
        <p:nvSpPr>
          <p:cNvPr id="440" name="TextBox 91"/>
          <p:cNvSpPr txBox="1"/>
          <p:nvPr/>
        </p:nvSpPr>
        <p:spPr>
          <a:xfrm>
            <a:off x="8458200" y="3479800"/>
            <a:ext cx="2743200" cy="114300"/>
          </a:xfrm>
          <a:prstGeom prst="rect">
            <a:avLst/>
          </a:prstGeom>
        </p:spPr>
        <p:txBody>
          <a:bodyPr wrap="square" lIns="0" tIns="0" rIns="0" bIns="0">
            <a:noAutofit/>
          </a:bodyPr>
          <a:lstStyle/>
          <a:p>
            <a:pPr>
              <a:lnSpc>
                <a:spcPct val="135000"/>
              </a:lnSpc>
            </a:pPr>
            <a:r>
              <a:rPr sz="430" spc="0">
                <a:solidFill>
                  <a:srgbClr val="A2A2A8"/>
                </a:solidFill>
                <a:latin typeface="Telegraf"/>
              </a:rPr>
              <a:t>The tape marks the boundary the router enforces; it is drawn here, not in the CSS.</a:t>
            </a:r>
            <a:endParaRPr sz="430" spc="0">
              <a:solidFill>
                <a:srgbClr val="A2A2A8"/>
              </a:solidFill>
              <a:latin typeface="Telegraf"/>
            </a:endParaRPr>
          </a:p>
        </p:txBody>
      </p:sp>
      <p:sp>
        <p:nvSpPr>
          <p:cNvPr id="441" name="Rectangle 92"/>
          <p:cNvSpPr/>
          <p:nvPr/>
        </p:nvSpPr>
        <p:spPr>
          <a:xfrm>
            <a:off x="711200" y="4089400"/>
            <a:ext cx="3505200" cy="2540000"/>
          </a:xfrm>
          <a:custGeom>
            <a:avLst/>
            <a:gdLst/>
            <a:ahLst/>
            <a:cxnLst/>
            <a:rect l="l" t="t" r="r" b="b"/>
            <a:pathLst>
              <a:path w="100000" h="72464">
                <a:moveTo>
                  <a:pt x="91304" y="0"/>
                </a:moveTo>
                <a:cubicBezTo>
                  <a:pt x="95404" y="0"/>
                  <a:pt x="97453" y="0"/>
                  <a:pt x="98726" y="1274"/>
                </a:cubicBezTo>
                <a:cubicBezTo>
                  <a:pt x="98726" y="1274"/>
                  <a:pt x="98726" y="1274"/>
                  <a:pt x="98726" y="1274"/>
                </a:cubicBezTo>
                <a:cubicBezTo>
                  <a:pt x="100000" y="2547"/>
                  <a:pt x="100000" y="4596"/>
                  <a:pt x="100000" y="8696"/>
                </a:cubicBezTo>
                <a:lnTo>
                  <a:pt x="100000" y="63768"/>
                </a:lnTo>
                <a:cubicBezTo>
                  <a:pt x="100000" y="67867"/>
                  <a:pt x="100000" y="69917"/>
                  <a:pt x="98726" y="71190"/>
                </a:cubicBezTo>
                <a:cubicBezTo>
                  <a:pt x="98726" y="71190"/>
                  <a:pt x="98726" y="71190"/>
                  <a:pt x="98726" y="71190"/>
                </a:cubicBezTo>
                <a:cubicBezTo>
                  <a:pt x="97453" y="72464"/>
                  <a:pt x="95404" y="72464"/>
                  <a:pt x="91304" y="72464"/>
                </a:cubicBezTo>
                <a:lnTo>
                  <a:pt x="8696" y="72464"/>
                </a:lnTo>
                <a:cubicBezTo>
                  <a:pt x="4596" y="72464"/>
                  <a:pt x="2547" y="72464"/>
                  <a:pt x="1274" y="71190"/>
                </a:cubicBezTo>
                <a:cubicBezTo>
                  <a:pt x="1274" y="71190"/>
                  <a:pt x="1274" y="71190"/>
                  <a:pt x="1274" y="71190"/>
                </a:cubicBezTo>
                <a:cubicBezTo>
                  <a:pt x="0" y="69917"/>
                  <a:pt x="0" y="67867"/>
                  <a:pt x="0" y="63768"/>
                </a:cubicBezTo>
                <a:lnTo>
                  <a:pt x="0" y="8696"/>
                </a:lnTo>
                <a:cubicBezTo>
                  <a:pt x="0" y="4596"/>
                  <a:pt x="0" y="2547"/>
                  <a:pt x="1274" y="1274"/>
                </a:cubicBezTo>
                <a:cubicBezTo>
                  <a:pt x="1274" y="1274"/>
                  <a:pt x="1274" y="1274"/>
                  <a:pt x="1274" y="1274"/>
                </a:cubicBezTo>
                <a:cubicBezTo>
                  <a:pt x="2547" y="0"/>
                  <a:pt x="4596" y="0"/>
                  <a:pt x="869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2" name="TextBox 93"/>
          <p:cNvSpPr txBox="1"/>
          <p:nvPr/>
        </p:nvSpPr>
        <p:spPr>
          <a:xfrm>
            <a:off x="889000" y="4254500"/>
            <a:ext cx="2286000" cy="114300"/>
          </a:xfrm>
          <a:prstGeom prst="rect">
            <a:avLst/>
          </a:prstGeom>
        </p:spPr>
        <p:txBody>
          <a:bodyPr wrap="square" lIns="0" tIns="0" rIns="0" bIns="0">
            <a:noAutofit/>
          </a:bodyPr>
          <a:lstStyle/>
          <a:p>
            <a:r>
              <a:rPr sz="480" b="1" spc="120">
                <a:solidFill>
                  <a:srgbClr val="0E6B5F"/>
                </a:solidFill>
                <a:latin typeface="Telegraf"/>
              </a:rPr>
              <a:t>FIELDS</a:t>
            </a:r>
            <a:endParaRPr sz="480" b="1" spc="120">
              <a:solidFill>
                <a:srgbClr val="0E6B5F"/>
              </a:solidFill>
              <a:latin typeface="Telegraf"/>
            </a:endParaRPr>
          </a:p>
        </p:txBody>
      </p:sp>
      <p:sp>
        <p:nvSpPr>
          <p:cNvPr id="443" name="TextBox 94"/>
          <p:cNvSpPr txBox="1"/>
          <p:nvPr/>
        </p:nvSpPr>
        <p:spPr>
          <a:xfrm>
            <a:off x="889000" y="4394200"/>
            <a:ext cx="2794000" cy="114300"/>
          </a:xfrm>
          <a:prstGeom prst="rect">
            <a:avLst/>
          </a:prstGeom>
        </p:spPr>
        <p:txBody>
          <a:bodyPr wrap="square" lIns="0" tIns="0" rIns="0" bIns="0">
            <a:noAutofit/>
          </a:bodyPr>
          <a:lstStyle/>
          <a:p>
            <a:pPr>
              <a:lnSpc>
                <a:spcPct val="135000"/>
              </a:lnSpc>
            </a:pPr>
            <a:r>
              <a:rPr sz="500" spc="0">
                <a:solidFill>
                  <a:srgbClr val="A2A2A8"/>
                </a:solidFill>
                <a:latin typeface="Telegraf"/>
              </a:rPr>
              <a:t>rest, focus, error, multiline</a:t>
            </a:r>
            <a:endParaRPr sz="500" spc="0">
              <a:solidFill>
                <a:srgbClr val="A2A2A8"/>
              </a:solidFill>
              <a:latin typeface="Telegraf"/>
            </a:endParaRPr>
          </a:p>
        </p:txBody>
      </p:sp>
      <p:sp>
        <p:nvSpPr>
          <p:cNvPr id="444" name="Rectangle 95"/>
          <p:cNvSpPr/>
          <p:nvPr/>
        </p:nvSpPr>
        <p:spPr>
          <a:xfrm>
            <a:off x="863600" y="6248400"/>
            <a:ext cx="3200400" cy="228600"/>
          </a:xfrm>
          <a:custGeom>
            <a:avLst/>
            <a:gdLst/>
            <a:ahLst/>
            <a:cxnLst/>
            <a:rect l="l" t="t" r="r" b="b"/>
            <a:pathLst>
              <a:path w="100000" h="7143">
                <a:moveTo>
                  <a:pt x="96429" y="0"/>
                </a:moveTo>
                <a:cubicBezTo>
                  <a:pt x="97538" y="0"/>
                  <a:pt x="98092" y="0"/>
                  <a:pt x="98530" y="181"/>
                </a:cubicBezTo>
                <a:cubicBezTo>
                  <a:pt x="99113" y="423"/>
                  <a:pt x="99577" y="887"/>
                  <a:pt x="99819" y="1470"/>
                </a:cubicBezTo>
                <a:cubicBezTo>
                  <a:pt x="100000" y="1908"/>
                  <a:pt x="100000" y="2462"/>
                  <a:pt x="100000" y="3571"/>
                </a:cubicBezTo>
                <a:lnTo>
                  <a:pt x="100000" y="3571"/>
                </a:lnTo>
                <a:cubicBezTo>
                  <a:pt x="100000" y="4681"/>
                  <a:pt x="100000" y="5235"/>
                  <a:pt x="99819" y="5673"/>
                </a:cubicBezTo>
                <a:cubicBezTo>
                  <a:pt x="99577" y="6256"/>
                  <a:pt x="99113" y="6720"/>
                  <a:pt x="98530" y="6962"/>
                </a:cubicBezTo>
                <a:cubicBezTo>
                  <a:pt x="98092" y="7143"/>
                  <a:pt x="97538" y="7143"/>
                  <a:pt x="96429" y="7143"/>
                </a:cubicBezTo>
                <a:lnTo>
                  <a:pt x="3571" y="7143"/>
                </a:lnTo>
                <a:cubicBezTo>
                  <a:pt x="2462" y="7143"/>
                  <a:pt x="1908" y="7143"/>
                  <a:pt x="1470" y="6962"/>
                </a:cubicBezTo>
                <a:cubicBezTo>
                  <a:pt x="887" y="6720"/>
                  <a:pt x="423" y="6256"/>
                  <a:pt x="181" y="5673"/>
                </a:cubicBezTo>
                <a:cubicBezTo>
                  <a:pt x="0" y="5235"/>
                  <a:pt x="0" y="4681"/>
                  <a:pt x="0" y="3571"/>
                </a:cubicBezTo>
                <a:lnTo>
                  <a:pt x="0" y="3571"/>
                </a:lnTo>
                <a:cubicBezTo>
                  <a:pt x="0" y="2462"/>
                  <a:pt x="0" y="1908"/>
                  <a:pt x="181" y="1470"/>
                </a:cubicBezTo>
                <a:cubicBezTo>
                  <a:pt x="423" y="887"/>
                  <a:pt x="887" y="423"/>
                  <a:pt x="1470" y="181"/>
                </a:cubicBezTo>
                <a:cubicBezTo>
                  <a:pt x="1908" y="0"/>
                  <a:pt x="2462" y="0"/>
                  <a:pt x="357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5" name="TextBox 96"/>
          <p:cNvSpPr txBox="1"/>
          <p:nvPr/>
        </p:nvSpPr>
        <p:spPr>
          <a:xfrm>
            <a:off x="965200" y="6248400"/>
            <a:ext cx="3073400" cy="228600"/>
          </a:xfrm>
          <a:prstGeom prst="rect">
            <a:avLst/>
          </a:prstGeom>
        </p:spPr>
        <p:txBody>
          <a:bodyPr wrap="square" lIns="0" tIns="0" rIns="0" bIns="0" anchor="ctr">
            <a:noAutofit/>
          </a:bodyPr>
          <a:lstStyle/>
          <a:p>
            <a:pPr>
              <a:lnSpc>
                <a:spcPct val="135000"/>
              </a:lnSpc>
            </a:pPr>
            <a:r>
              <a:rPr sz="490" spc="15">
                <a:solidFill>
                  <a:srgbClr val="67676E"/>
                </a:solidFill>
                <a:latin typeface="Telegraf"/>
              </a:rPr>
              <a:t>&lt;Field state="focus" /&gt;</a:t>
            </a:r>
            <a:endParaRPr sz="490" spc="15">
              <a:solidFill>
                <a:srgbClr val="67676E"/>
              </a:solidFill>
              <a:latin typeface="Telegraf"/>
            </a:endParaRPr>
          </a:p>
        </p:txBody>
      </p:sp>
      <p:sp>
        <p:nvSpPr>
          <p:cNvPr id="446" name="TextBox 97"/>
          <p:cNvSpPr txBox="1"/>
          <p:nvPr/>
        </p:nvSpPr>
        <p:spPr>
          <a:xfrm>
            <a:off x="889000" y="4622800"/>
            <a:ext cx="1371600" cy="101600"/>
          </a:xfrm>
          <a:prstGeom prst="rect">
            <a:avLst/>
          </a:prstGeom>
        </p:spPr>
        <p:txBody>
          <a:bodyPr wrap="square" lIns="0" tIns="0" rIns="0" bIns="0">
            <a:noAutofit/>
          </a:bodyPr>
          <a:lstStyle/>
          <a:p>
            <a:r>
              <a:rPr sz="490" b="1" spc="100">
                <a:solidFill>
                  <a:srgbClr val="A2A2A8"/>
                </a:solidFill>
                <a:latin typeface="Telegraf"/>
              </a:rPr>
              <a:t>REST</a:t>
            </a:r>
            <a:endParaRPr sz="490" b="1" spc="100">
              <a:solidFill>
                <a:srgbClr val="A2A2A8"/>
              </a:solidFill>
              <a:latin typeface="Telegraf"/>
            </a:endParaRPr>
          </a:p>
        </p:txBody>
      </p:sp>
      <p:sp>
        <p:nvSpPr>
          <p:cNvPr id="447" name="Rectangle 98"/>
          <p:cNvSpPr/>
          <p:nvPr/>
        </p:nvSpPr>
        <p:spPr>
          <a:xfrm>
            <a:off x="889000" y="4737100"/>
            <a:ext cx="1371600" cy="279400"/>
          </a:xfrm>
          <a:custGeom>
            <a:avLst/>
            <a:gdLst/>
            <a:ahLst/>
            <a:cxnLst/>
            <a:rect l="l" t="t" r="r" b="b"/>
            <a:pathLst>
              <a:path w="100000" h="20370">
                <a:moveTo>
                  <a:pt x="89815" y="0"/>
                </a:moveTo>
                <a:cubicBezTo>
                  <a:pt x="93270" y="0"/>
                  <a:pt x="94998" y="0"/>
                  <a:pt x="96331" y="642"/>
                </a:cubicBezTo>
                <a:cubicBezTo>
                  <a:pt x="97654" y="1279"/>
                  <a:pt x="98721" y="2346"/>
                  <a:pt x="99358" y="3669"/>
                </a:cubicBezTo>
                <a:cubicBezTo>
                  <a:pt x="100000" y="5002"/>
                  <a:pt x="100000" y="6730"/>
                  <a:pt x="100000" y="10185"/>
                </a:cubicBezTo>
                <a:lnTo>
                  <a:pt x="100000" y="10185"/>
                </a:lnTo>
                <a:cubicBezTo>
                  <a:pt x="100000" y="13641"/>
                  <a:pt x="100000" y="15369"/>
                  <a:pt x="99358" y="16701"/>
                </a:cubicBezTo>
                <a:cubicBezTo>
                  <a:pt x="98721" y="18024"/>
                  <a:pt x="97654" y="19092"/>
                  <a:pt x="96331" y="19729"/>
                </a:cubicBezTo>
                <a:cubicBezTo>
                  <a:pt x="94998" y="20370"/>
                  <a:pt x="93270" y="20370"/>
                  <a:pt x="89815" y="20370"/>
                </a:cubicBezTo>
                <a:lnTo>
                  <a:pt x="10185" y="20370"/>
                </a:lnTo>
                <a:cubicBezTo>
                  <a:pt x="6730" y="20370"/>
                  <a:pt x="5002" y="20370"/>
                  <a:pt x="3669" y="19729"/>
                </a:cubicBezTo>
                <a:cubicBezTo>
                  <a:pt x="2346" y="19092"/>
                  <a:pt x="1279" y="18024"/>
                  <a:pt x="642" y="16701"/>
                </a:cubicBezTo>
                <a:cubicBezTo>
                  <a:pt x="0" y="15369"/>
                  <a:pt x="0" y="13641"/>
                  <a:pt x="0" y="10185"/>
                </a:cubicBezTo>
                <a:lnTo>
                  <a:pt x="0" y="10185"/>
                </a:lnTo>
                <a:cubicBezTo>
                  <a:pt x="0" y="6730"/>
                  <a:pt x="0" y="5002"/>
                  <a:pt x="642" y="3669"/>
                </a:cubicBezTo>
                <a:cubicBezTo>
                  <a:pt x="1279" y="2346"/>
                  <a:pt x="2346" y="1279"/>
                  <a:pt x="3669" y="642"/>
                </a:cubicBezTo>
                <a:cubicBezTo>
                  <a:pt x="5002" y="0"/>
                  <a:pt x="6730" y="0"/>
                  <a:pt x="10185"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48" name="TextBox 99"/>
          <p:cNvSpPr txBox="1"/>
          <p:nvPr/>
        </p:nvSpPr>
        <p:spPr>
          <a:xfrm>
            <a:off x="990600" y="4737100"/>
            <a:ext cx="1193800" cy="279400"/>
          </a:xfrm>
          <a:prstGeom prst="rect">
            <a:avLst/>
          </a:prstGeom>
        </p:spPr>
        <p:txBody>
          <a:bodyPr wrap="square" lIns="0" tIns="0" rIns="0" bIns="0" anchor="ctr">
            <a:noAutofit/>
          </a:bodyPr>
          <a:lstStyle/>
          <a:p>
            <a:pPr>
              <a:lnSpc>
                <a:spcPct val="140000"/>
              </a:lnSpc>
            </a:pPr>
            <a:r>
              <a:rPr sz="560" spc="0">
                <a:solidFill>
                  <a:srgbClr val="0A0A0A"/>
                </a:solidFill>
                <a:latin typeface="Telegraf"/>
              </a:rPr>
              <a:t>CloudPulse CRM</a:t>
            </a:r>
            <a:endParaRPr sz="560" spc="0">
              <a:solidFill>
                <a:srgbClr val="0A0A0A"/>
              </a:solidFill>
              <a:latin typeface="Telegraf"/>
            </a:endParaRPr>
          </a:p>
        </p:txBody>
      </p:sp>
      <p:sp>
        <p:nvSpPr>
          <p:cNvPr id="449" name="TextBox 100"/>
          <p:cNvSpPr txBox="1"/>
          <p:nvPr/>
        </p:nvSpPr>
        <p:spPr>
          <a:xfrm>
            <a:off x="2413000" y="4622800"/>
            <a:ext cx="1371600" cy="101600"/>
          </a:xfrm>
          <a:prstGeom prst="rect">
            <a:avLst/>
          </a:prstGeom>
        </p:spPr>
        <p:txBody>
          <a:bodyPr wrap="square" lIns="0" tIns="0" rIns="0" bIns="0">
            <a:noAutofit/>
          </a:bodyPr>
          <a:lstStyle/>
          <a:p>
            <a:r>
              <a:rPr sz="490" b="1" spc="100">
                <a:solidFill>
                  <a:srgbClr val="A2A2A8"/>
                </a:solidFill>
                <a:latin typeface="Telegraf"/>
              </a:rPr>
              <a:t>FOCUS</a:t>
            </a:r>
            <a:endParaRPr sz="490" b="1" spc="100">
              <a:solidFill>
                <a:srgbClr val="A2A2A8"/>
              </a:solidFill>
              <a:latin typeface="Telegraf"/>
            </a:endParaRPr>
          </a:p>
        </p:txBody>
      </p:sp>
      <p:sp>
        <p:nvSpPr>
          <p:cNvPr id="450" name="Rectangle 101"/>
          <p:cNvSpPr/>
          <p:nvPr/>
        </p:nvSpPr>
        <p:spPr>
          <a:xfrm>
            <a:off x="2413000" y="4737100"/>
            <a:ext cx="1371600" cy="279400"/>
          </a:xfrm>
          <a:custGeom>
            <a:avLst/>
            <a:gdLst/>
            <a:ahLst/>
            <a:cxnLst/>
            <a:rect l="l" t="t" r="r" b="b"/>
            <a:pathLst>
              <a:path w="100000" h="20370">
                <a:moveTo>
                  <a:pt x="89815" y="0"/>
                </a:moveTo>
                <a:cubicBezTo>
                  <a:pt x="93270" y="0"/>
                  <a:pt x="94998" y="0"/>
                  <a:pt x="96331" y="642"/>
                </a:cubicBezTo>
                <a:cubicBezTo>
                  <a:pt x="97654" y="1279"/>
                  <a:pt x="98721" y="2346"/>
                  <a:pt x="99358" y="3669"/>
                </a:cubicBezTo>
                <a:cubicBezTo>
                  <a:pt x="100000" y="5002"/>
                  <a:pt x="100000" y="6730"/>
                  <a:pt x="100000" y="10185"/>
                </a:cubicBezTo>
                <a:lnTo>
                  <a:pt x="100000" y="10185"/>
                </a:lnTo>
                <a:cubicBezTo>
                  <a:pt x="100000" y="13641"/>
                  <a:pt x="100000" y="15369"/>
                  <a:pt x="99358" y="16701"/>
                </a:cubicBezTo>
                <a:cubicBezTo>
                  <a:pt x="98721" y="18024"/>
                  <a:pt x="97654" y="19092"/>
                  <a:pt x="96331" y="19729"/>
                </a:cubicBezTo>
                <a:cubicBezTo>
                  <a:pt x="94998" y="20370"/>
                  <a:pt x="93270" y="20370"/>
                  <a:pt x="89815" y="20370"/>
                </a:cubicBezTo>
                <a:lnTo>
                  <a:pt x="10185" y="20370"/>
                </a:lnTo>
                <a:cubicBezTo>
                  <a:pt x="6730" y="20370"/>
                  <a:pt x="5002" y="20370"/>
                  <a:pt x="3669" y="19729"/>
                </a:cubicBezTo>
                <a:cubicBezTo>
                  <a:pt x="2346" y="19092"/>
                  <a:pt x="1279" y="18024"/>
                  <a:pt x="642" y="16701"/>
                </a:cubicBezTo>
                <a:cubicBezTo>
                  <a:pt x="0" y="15369"/>
                  <a:pt x="0" y="13641"/>
                  <a:pt x="0" y="10185"/>
                </a:cubicBezTo>
                <a:lnTo>
                  <a:pt x="0" y="10185"/>
                </a:lnTo>
                <a:cubicBezTo>
                  <a:pt x="0" y="6730"/>
                  <a:pt x="0" y="5002"/>
                  <a:pt x="642" y="3669"/>
                </a:cubicBezTo>
                <a:cubicBezTo>
                  <a:pt x="1279" y="2346"/>
                  <a:pt x="2346" y="1279"/>
                  <a:pt x="3669" y="642"/>
                </a:cubicBezTo>
                <a:cubicBezTo>
                  <a:pt x="5002" y="0"/>
                  <a:pt x="6730" y="0"/>
                  <a:pt x="10185" y="0"/>
                </a:cubicBezTo>
                <a:close/>
              </a:path>
            </a:pathLst>
          </a:custGeom>
          <a:solidFill>
            <a:srgbClr val="FFFFFF"/>
          </a:solidFill>
          <a:ln w="1397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1" name="Rectangle 102"/>
          <p:cNvSpPr/>
          <p:nvPr/>
        </p:nvSpPr>
        <p:spPr>
          <a:xfrm>
            <a:off x="2413000" y="4737100"/>
            <a:ext cx="22860" cy="279400"/>
          </a:xfrm>
          <a:custGeom>
            <a:avLst/>
            <a:gdLst/>
            <a:ahLst/>
            <a:cxnLst/>
            <a:rect l="l" t="t" r="r" b="b"/>
            <a:pathLst>
              <a:path w="8182" h="100000">
                <a:moveTo>
                  <a:pt x="4091" y="0"/>
                </a:moveTo>
                <a:cubicBezTo>
                  <a:pt x="4091" y="0"/>
                  <a:pt x="4091" y="0"/>
                  <a:pt x="4091" y="0"/>
                </a:cubicBezTo>
                <a:cubicBezTo>
                  <a:pt x="6350" y="0"/>
                  <a:pt x="8182" y="1832"/>
                  <a:pt x="8182" y="4091"/>
                </a:cubicBezTo>
                <a:cubicBezTo>
                  <a:pt x="8182" y="4091"/>
                  <a:pt x="8182" y="4091"/>
                  <a:pt x="8182" y="4091"/>
                </a:cubicBezTo>
                <a:lnTo>
                  <a:pt x="8182" y="95909"/>
                </a:lnTo>
                <a:cubicBezTo>
                  <a:pt x="8182" y="95909"/>
                  <a:pt x="8182" y="95909"/>
                  <a:pt x="8182" y="95909"/>
                </a:cubicBezTo>
                <a:cubicBezTo>
                  <a:pt x="8182" y="98168"/>
                  <a:pt x="6350" y="100000"/>
                  <a:pt x="4091" y="100000"/>
                </a:cubicBezTo>
                <a:cubicBezTo>
                  <a:pt x="4091" y="100000"/>
                  <a:pt x="4091" y="100000"/>
                  <a:pt x="4091" y="100000"/>
                </a:cubicBezTo>
                <a:lnTo>
                  <a:pt x="4091" y="100000"/>
                </a:lnTo>
                <a:cubicBezTo>
                  <a:pt x="4091" y="100000"/>
                  <a:pt x="4091" y="100000"/>
                  <a:pt x="4091" y="100000"/>
                </a:cubicBezTo>
                <a:cubicBezTo>
                  <a:pt x="1832" y="100000"/>
                  <a:pt x="0" y="98168"/>
                  <a:pt x="0" y="95909"/>
                </a:cubicBezTo>
                <a:cubicBezTo>
                  <a:pt x="0" y="95909"/>
                  <a:pt x="0" y="95909"/>
                  <a:pt x="0" y="95909"/>
                </a:cubicBezTo>
                <a:lnTo>
                  <a:pt x="0" y="4091"/>
                </a:lnTo>
                <a:cubicBezTo>
                  <a:pt x="0" y="4091"/>
                  <a:pt x="0" y="4091"/>
                  <a:pt x="0" y="4091"/>
                </a:cubicBezTo>
                <a:cubicBezTo>
                  <a:pt x="0" y="1832"/>
                  <a:pt x="1832" y="0"/>
                  <a:pt x="4091" y="0"/>
                </a:cubicBezTo>
                <a:cubicBezTo>
                  <a:pt x="4091" y="0"/>
                  <a:pt x="4091" y="0"/>
                  <a:pt x="4091"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2" name="TextBox 103"/>
          <p:cNvSpPr txBox="1"/>
          <p:nvPr/>
        </p:nvSpPr>
        <p:spPr>
          <a:xfrm>
            <a:off x="2514600" y="4737100"/>
            <a:ext cx="1193800" cy="279400"/>
          </a:xfrm>
          <a:prstGeom prst="rect">
            <a:avLst/>
          </a:prstGeom>
        </p:spPr>
        <p:txBody>
          <a:bodyPr wrap="square" lIns="0" tIns="0" rIns="0" bIns="0" anchor="ctr">
            <a:noAutofit/>
          </a:bodyPr>
          <a:lstStyle/>
          <a:p>
            <a:pPr>
              <a:lnSpc>
                <a:spcPct val="140000"/>
              </a:lnSpc>
            </a:pPr>
            <a:r>
              <a:rPr sz="560" spc="0">
                <a:solidFill>
                  <a:srgbClr val="0A0A0A"/>
                </a:solidFill>
                <a:latin typeface="Telegraf"/>
              </a:rPr>
              <a:t>₹1,499 / mo</a:t>
            </a:r>
            <a:endParaRPr sz="560" spc="0">
              <a:solidFill>
                <a:srgbClr val="0A0A0A"/>
              </a:solidFill>
              <a:latin typeface="Telegraf"/>
            </a:endParaRPr>
          </a:p>
        </p:txBody>
      </p:sp>
      <p:sp>
        <p:nvSpPr>
          <p:cNvPr id="453" name="TextBox 104"/>
          <p:cNvSpPr txBox="1"/>
          <p:nvPr/>
        </p:nvSpPr>
        <p:spPr>
          <a:xfrm>
            <a:off x="889000" y="5092700"/>
            <a:ext cx="1371600" cy="101600"/>
          </a:xfrm>
          <a:prstGeom prst="rect">
            <a:avLst/>
          </a:prstGeom>
        </p:spPr>
        <p:txBody>
          <a:bodyPr wrap="square" lIns="0" tIns="0" rIns="0" bIns="0">
            <a:noAutofit/>
          </a:bodyPr>
          <a:lstStyle/>
          <a:p>
            <a:r>
              <a:rPr sz="490" b="1" spc="100">
                <a:solidFill>
                  <a:srgbClr val="A2A2A8"/>
                </a:solidFill>
                <a:latin typeface="Telegraf"/>
              </a:rPr>
              <a:t>ERROR</a:t>
            </a:r>
            <a:endParaRPr sz="490" b="1" spc="100">
              <a:solidFill>
                <a:srgbClr val="A2A2A8"/>
              </a:solidFill>
              <a:latin typeface="Telegraf"/>
            </a:endParaRPr>
          </a:p>
        </p:txBody>
      </p:sp>
      <p:sp>
        <p:nvSpPr>
          <p:cNvPr id="454" name="Rectangle 105"/>
          <p:cNvSpPr/>
          <p:nvPr/>
        </p:nvSpPr>
        <p:spPr>
          <a:xfrm>
            <a:off x="889000" y="5207000"/>
            <a:ext cx="1371600" cy="279400"/>
          </a:xfrm>
          <a:custGeom>
            <a:avLst/>
            <a:gdLst/>
            <a:ahLst/>
            <a:cxnLst/>
            <a:rect l="l" t="t" r="r" b="b"/>
            <a:pathLst>
              <a:path w="100000" h="20370">
                <a:moveTo>
                  <a:pt x="89815" y="0"/>
                </a:moveTo>
                <a:cubicBezTo>
                  <a:pt x="93270" y="0"/>
                  <a:pt x="94998" y="0"/>
                  <a:pt x="96331" y="642"/>
                </a:cubicBezTo>
                <a:cubicBezTo>
                  <a:pt x="97654" y="1279"/>
                  <a:pt x="98721" y="2346"/>
                  <a:pt x="99358" y="3669"/>
                </a:cubicBezTo>
                <a:cubicBezTo>
                  <a:pt x="100000" y="5002"/>
                  <a:pt x="100000" y="6730"/>
                  <a:pt x="100000" y="10185"/>
                </a:cubicBezTo>
                <a:lnTo>
                  <a:pt x="100000" y="10185"/>
                </a:lnTo>
                <a:cubicBezTo>
                  <a:pt x="100000" y="13641"/>
                  <a:pt x="100000" y="15369"/>
                  <a:pt x="99358" y="16701"/>
                </a:cubicBezTo>
                <a:cubicBezTo>
                  <a:pt x="98721" y="18024"/>
                  <a:pt x="97654" y="19092"/>
                  <a:pt x="96331" y="19729"/>
                </a:cubicBezTo>
                <a:cubicBezTo>
                  <a:pt x="94998" y="20370"/>
                  <a:pt x="93270" y="20370"/>
                  <a:pt x="89815" y="20370"/>
                </a:cubicBezTo>
                <a:lnTo>
                  <a:pt x="10185" y="20370"/>
                </a:lnTo>
                <a:cubicBezTo>
                  <a:pt x="6730" y="20370"/>
                  <a:pt x="5002" y="20370"/>
                  <a:pt x="3669" y="19729"/>
                </a:cubicBezTo>
                <a:cubicBezTo>
                  <a:pt x="2346" y="19092"/>
                  <a:pt x="1279" y="18024"/>
                  <a:pt x="642" y="16701"/>
                </a:cubicBezTo>
                <a:cubicBezTo>
                  <a:pt x="0" y="15369"/>
                  <a:pt x="0" y="13641"/>
                  <a:pt x="0" y="10185"/>
                </a:cubicBezTo>
                <a:lnTo>
                  <a:pt x="0" y="10185"/>
                </a:lnTo>
                <a:cubicBezTo>
                  <a:pt x="0" y="6730"/>
                  <a:pt x="0" y="5002"/>
                  <a:pt x="642" y="3669"/>
                </a:cubicBezTo>
                <a:cubicBezTo>
                  <a:pt x="1279" y="2346"/>
                  <a:pt x="2346" y="1279"/>
                  <a:pt x="3669" y="642"/>
                </a:cubicBezTo>
                <a:cubicBezTo>
                  <a:pt x="5002" y="0"/>
                  <a:pt x="6730" y="0"/>
                  <a:pt x="10185"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5" name="TextBox 106"/>
          <p:cNvSpPr txBox="1"/>
          <p:nvPr/>
        </p:nvSpPr>
        <p:spPr>
          <a:xfrm>
            <a:off x="990600" y="5207000"/>
            <a:ext cx="1193800" cy="279400"/>
          </a:xfrm>
          <a:prstGeom prst="rect">
            <a:avLst/>
          </a:prstGeom>
        </p:spPr>
        <p:txBody>
          <a:bodyPr wrap="square" lIns="0" tIns="0" rIns="0" bIns="0" anchor="ctr">
            <a:noAutofit/>
          </a:bodyPr>
          <a:lstStyle/>
          <a:p>
            <a:pPr>
              <a:lnSpc>
                <a:spcPct val="140000"/>
              </a:lnSpc>
            </a:pPr>
            <a:r>
              <a:rPr sz="560" spc="0">
                <a:solidFill>
                  <a:srgbClr val="0A0A0A"/>
                </a:solidFill>
                <a:latin typeface="Telegraf"/>
              </a:rPr>
              <a:t>not-an-email</a:t>
            </a:r>
            <a:endParaRPr sz="560" spc="0">
              <a:solidFill>
                <a:srgbClr val="0A0A0A"/>
              </a:solidFill>
              <a:latin typeface="Telegraf"/>
            </a:endParaRPr>
          </a:p>
        </p:txBody>
      </p:sp>
      <p:sp>
        <p:nvSpPr>
          <p:cNvPr id="456" name="Rectangle 107"/>
          <p:cNvSpPr/>
          <p:nvPr/>
        </p:nvSpPr>
        <p:spPr>
          <a:xfrm>
            <a:off x="889000" y="5207000"/>
            <a:ext cx="13970" cy="279400"/>
          </a:xfrm>
          <a:prstGeom prst="roundRect">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7" name="TextBox 108"/>
          <p:cNvSpPr txBox="1"/>
          <p:nvPr/>
        </p:nvSpPr>
        <p:spPr>
          <a:xfrm>
            <a:off x="2413000" y="5245100"/>
            <a:ext cx="1524000" cy="228600"/>
          </a:xfrm>
          <a:prstGeom prst="rect">
            <a:avLst/>
          </a:prstGeom>
        </p:spPr>
        <p:txBody>
          <a:bodyPr wrap="square" lIns="0" tIns="0" rIns="0" bIns="0">
            <a:noAutofit/>
          </a:bodyPr>
          <a:lstStyle/>
          <a:p>
            <a:pPr>
              <a:lnSpc>
                <a:spcPct val="135000"/>
              </a:lnSpc>
            </a:pPr>
            <a:r>
              <a:rPr sz="470" spc="0">
                <a:solidFill>
                  <a:srgbClr val="99201C"/>
                </a:solidFill>
                <a:latin typeface="Telegraf"/>
              </a:rPr>
              <a:t>Enter a valid email</a:t>
            </a:r>
            <a:endParaRPr sz="470" spc="0">
              <a:solidFill>
                <a:srgbClr val="99201C"/>
              </a:solidFill>
              <a:latin typeface="Telegraf"/>
            </a:endParaRPr>
          </a:p>
        </p:txBody>
      </p:sp>
      <p:sp>
        <p:nvSpPr>
          <p:cNvPr id="458" name="Rectangle 109"/>
          <p:cNvSpPr/>
          <p:nvPr/>
        </p:nvSpPr>
        <p:spPr>
          <a:xfrm>
            <a:off x="889000" y="5638800"/>
            <a:ext cx="2895600" cy="381000"/>
          </a:xfrm>
          <a:custGeom>
            <a:avLst/>
            <a:gdLst/>
            <a:ahLst/>
            <a:cxnLst/>
            <a:rect l="l" t="t" r="r" b="b"/>
            <a:pathLst>
              <a:path w="100000" h="13158">
                <a:moveTo>
                  <a:pt x="93860" y="0"/>
                </a:moveTo>
                <a:cubicBezTo>
                  <a:pt x="96754" y="0"/>
                  <a:pt x="98201" y="0"/>
                  <a:pt x="99101" y="899"/>
                </a:cubicBezTo>
                <a:cubicBezTo>
                  <a:pt x="99101" y="899"/>
                  <a:pt x="99101" y="899"/>
                  <a:pt x="99101" y="899"/>
                </a:cubicBezTo>
                <a:cubicBezTo>
                  <a:pt x="100000" y="1799"/>
                  <a:pt x="100000" y="3246"/>
                  <a:pt x="100000" y="6140"/>
                </a:cubicBezTo>
                <a:lnTo>
                  <a:pt x="100000" y="7018"/>
                </a:lnTo>
                <a:cubicBezTo>
                  <a:pt x="100000" y="9912"/>
                  <a:pt x="100000" y="11359"/>
                  <a:pt x="99101" y="12259"/>
                </a:cubicBezTo>
                <a:cubicBezTo>
                  <a:pt x="99101" y="12259"/>
                  <a:pt x="99101" y="12259"/>
                  <a:pt x="99101" y="12259"/>
                </a:cubicBezTo>
                <a:cubicBezTo>
                  <a:pt x="98201" y="13158"/>
                  <a:pt x="96754" y="13158"/>
                  <a:pt x="93860" y="13158"/>
                </a:cubicBezTo>
                <a:lnTo>
                  <a:pt x="6140" y="13158"/>
                </a:lnTo>
                <a:cubicBezTo>
                  <a:pt x="3246" y="13158"/>
                  <a:pt x="1799" y="13158"/>
                  <a:pt x="899" y="12259"/>
                </a:cubicBezTo>
                <a:cubicBezTo>
                  <a:pt x="899" y="12259"/>
                  <a:pt x="899" y="12259"/>
                  <a:pt x="899" y="12259"/>
                </a:cubicBezTo>
                <a:cubicBezTo>
                  <a:pt x="0" y="11359"/>
                  <a:pt x="0" y="9912"/>
                  <a:pt x="0" y="7018"/>
                </a:cubicBezTo>
                <a:lnTo>
                  <a:pt x="0" y="6140"/>
                </a:lnTo>
                <a:cubicBezTo>
                  <a:pt x="0" y="3246"/>
                  <a:pt x="0" y="1799"/>
                  <a:pt x="899" y="899"/>
                </a:cubicBezTo>
                <a:cubicBezTo>
                  <a:pt x="899" y="899"/>
                  <a:pt x="899" y="899"/>
                  <a:pt x="899" y="899"/>
                </a:cubicBezTo>
                <a:cubicBezTo>
                  <a:pt x="1799" y="0"/>
                  <a:pt x="3246" y="0"/>
                  <a:pt x="6140"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59" name="TextBox 110"/>
          <p:cNvSpPr txBox="1"/>
          <p:nvPr/>
        </p:nvSpPr>
        <p:spPr>
          <a:xfrm>
            <a:off x="990600" y="5702300"/>
            <a:ext cx="2692400" cy="279400"/>
          </a:xfrm>
          <a:prstGeom prst="rect">
            <a:avLst/>
          </a:prstGeom>
        </p:spPr>
        <p:txBody>
          <a:bodyPr wrap="square" lIns="0" tIns="0" rIns="0" bIns="0">
            <a:noAutofit/>
          </a:bodyPr>
          <a:lstStyle/>
          <a:p>
            <a:pPr>
              <a:lnSpc>
                <a:spcPct val="145000"/>
              </a:lnSpc>
            </a:pPr>
            <a:r>
              <a:rPr sz="530" spc="0">
                <a:solidFill>
                  <a:srgbClr val="0A0A0A"/>
                </a:solidFill>
                <a:latin typeface="Telegraf"/>
              </a:rPr>
              <a:t>Q: How do I export GSTR-1?</a:t>
            </a:r>
            <a:endParaRPr sz="530" spc="0">
              <a:solidFill>
                <a:srgbClr val="0A0A0A"/>
              </a:solidFill>
              <a:latin typeface="Telegraf"/>
            </a:endParaRPr>
          </a:p>
          <a:p>
            <a:pPr>
              <a:lnSpc>
                <a:spcPct val="145000"/>
              </a:lnSpc>
            </a:pPr>
            <a:r>
              <a:rPr sz="530" spc="0">
                <a:solidFill>
                  <a:srgbClr val="0A0A0A"/>
                </a:solidFill>
                <a:latin typeface="Telegraf"/>
              </a:rPr>
              <a:t>A: Reports › GST › Export JSON</a:t>
            </a:r>
            <a:endParaRPr sz="530" spc="0">
              <a:solidFill>
                <a:srgbClr val="0A0A0A"/>
              </a:solidFill>
              <a:latin typeface="Telegraf"/>
            </a:endParaRPr>
          </a:p>
        </p:txBody>
      </p:sp>
      <p:sp>
        <p:nvSpPr>
          <p:cNvPr id="460" name="TextBox 111"/>
          <p:cNvSpPr txBox="1"/>
          <p:nvPr/>
        </p:nvSpPr>
        <p:spPr>
          <a:xfrm>
            <a:off x="889000" y="6070600"/>
            <a:ext cx="2921000" cy="114300"/>
          </a:xfrm>
          <a:prstGeom prst="rect">
            <a:avLst/>
          </a:prstGeom>
        </p:spPr>
        <p:txBody>
          <a:bodyPr wrap="square" lIns="0" tIns="0" rIns="0" bIns="0">
            <a:noAutofit/>
          </a:bodyPr>
          <a:lstStyle/>
          <a:p>
            <a:pPr>
              <a:lnSpc>
                <a:spcPct val="135000"/>
              </a:lnSpc>
            </a:pPr>
            <a:r>
              <a:rPr sz="470" spc="0">
                <a:solidFill>
                  <a:srgbClr val="A2A2A8"/>
                </a:solidFill>
                <a:latin typeface="Telegraf"/>
              </a:rPr>
              <a:t>Label sits 9pt above; the box never grows on focus.</a:t>
            </a:r>
            <a:endParaRPr sz="470" spc="0">
              <a:solidFill>
                <a:srgbClr val="A2A2A8"/>
              </a:solidFill>
              <a:latin typeface="Telegraf"/>
            </a:endParaRPr>
          </a:p>
        </p:txBody>
      </p:sp>
      <p:sp>
        <p:nvSpPr>
          <p:cNvPr id="461" name="Rectangle 112"/>
          <p:cNvSpPr/>
          <p:nvPr/>
        </p:nvSpPr>
        <p:spPr>
          <a:xfrm>
            <a:off x="4495800" y="4089400"/>
            <a:ext cx="3505200" cy="2540000"/>
          </a:xfrm>
          <a:custGeom>
            <a:avLst/>
            <a:gdLst/>
            <a:ahLst/>
            <a:cxnLst/>
            <a:rect l="l" t="t" r="r" b="b"/>
            <a:pathLst>
              <a:path w="100000" h="72464">
                <a:moveTo>
                  <a:pt x="91304" y="0"/>
                </a:moveTo>
                <a:cubicBezTo>
                  <a:pt x="95404" y="0"/>
                  <a:pt x="97453" y="0"/>
                  <a:pt x="98726" y="1274"/>
                </a:cubicBezTo>
                <a:cubicBezTo>
                  <a:pt x="98726" y="1274"/>
                  <a:pt x="98726" y="1274"/>
                  <a:pt x="98726" y="1274"/>
                </a:cubicBezTo>
                <a:cubicBezTo>
                  <a:pt x="100000" y="2547"/>
                  <a:pt x="100000" y="4596"/>
                  <a:pt x="100000" y="8696"/>
                </a:cubicBezTo>
                <a:lnTo>
                  <a:pt x="100000" y="63768"/>
                </a:lnTo>
                <a:cubicBezTo>
                  <a:pt x="100000" y="67867"/>
                  <a:pt x="100000" y="69917"/>
                  <a:pt x="98726" y="71190"/>
                </a:cubicBezTo>
                <a:cubicBezTo>
                  <a:pt x="98726" y="71190"/>
                  <a:pt x="98726" y="71190"/>
                  <a:pt x="98726" y="71190"/>
                </a:cubicBezTo>
                <a:cubicBezTo>
                  <a:pt x="97453" y="72464"/>
                  <a:pt x="95404" y="72464"/>
                  <a:pt x="91304" y="72464"/>
                </a:cubicBezTo>
                <a:lnTo>
                  <a:pt x="8696" y="72464"/>
                </a:lnTo>
                <a:cubicBezTo>
                  <a:pt x="4596" y="72464"/>
                  <a:pt x="2547" y="72464"/>
                  <a:pt x="1274" y="71190"/>
                </a:cubicBezTo>
                <a:cubicBezTo>
                  <a:pt x="1274" y="71190"/>
                  <a:pt x="1274" y="71190"/>
                  <a:pt x="1274" y="71190"/>
                </a:cubicBezTo>
                <a:cubicBezTo>
                  <a:pt x="0" y="69917"/>
                  <a:pt x="0" y="67867"/>
                  <a:pt x="0" y="63768"/>
                </a:cubicBezTo>
                <a:lnTo>
                  <a:pt x="0" y="8696"/>
                </a:lnTo>
                <a:cubicBezTo>
                  <a:pt x="0" y="4596"/>
                  <a:pt x="0" y="2547"/>
                  <a:pt x="1274" y="1274"/>
                </a:cubicBezTo>
                <a:cubicBezTo>
                  <a:pt x="1274" y="1274"/>
                  <a:pt x="1274" y="1274"/>
                  <a:pt x="1274" y="1274"/>
                </a:cubicBezTo>
                <a:cubicBezTo>
                  <a:pt x="2547" y="0"/>
                  <a:pt x="4596" y="0"/>
                  <a:pt x="869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62" name="TextBox 113"/>
          <p:cNvSpPr txBox="1"/>
          <p:nvPr/>
        </p:nvSpPr>
        <p:spPr>
          <a:xfrm>
            <a:off x="4673600" y="4254500"/>
            <a:ext cx="2286000" cy="114300"/>
          </a:xfrm>
          <a:prstGeom prst="rect">
            <a:avLst/>
          </a:prstGeom>
        </p:spPr>
        <p:txBody>
          <a:bodyPr wrap="square" lIns="0" tIns="0" rIns="0" bIns="0">
            <a:noAutofit/>
          </a:bodyPr>
          <a:lstStyle/>
          <a:p>
            <a:r>
              <a:rPr sz="480" b="1" spc="120">
                <a:solidFill>
                  <a:srgbClr val="0E6B5F"/>
                </a:solidFill>
                <a:latin typeface="Telegraf"/>
              </a:rPr>
              <a:t>TICKET ROW</a:t>
            </a:r>
            <a:endParaRPr sz="480" b="1" spc="120">
              <a:solidFill>
                <a:srgbClr val="0E6B5F"/>
              </a:solidFill>
              <a:latin typeface="Telegraf"/>
            </a:endParaRPr>
          </a:p>
        </p:txBody>
      </p:sp>
      <p:sp>
        <p:nvSpPr>
          <p:cNvPr id="463" name="TextBox 114"/>
          <p:cNvSpPr txBox="1"/>
          <p:nvPr/>
        </p:nvSpPr>
        <p:spPr>
          <a:xfrm>
            <a:off x="4673600" y="4394200"/>
            <a:ext cx="2794000" cy="114300"/>
          </a:xfrm>
          <a:prstGeom prst="rect">
            <a:avLst/>
          </a:prstGeom>
        </p:spPr>
        <p:txBody>
          <a:bodyPr wrap="square" lIns="0" tIns="0" rIns="0" bIns="0">
            <a:noAutofit/>
          </a:bodyPr>
          <a:lstStyle/>
          <a:p>
            <a:pPr>
              <a:lnSpc>
                <a:spcPct val="135000"/>
              </a:lnSpc>
            </a:pPr>
            <a:r>
              <a:rPr sz="500" spc="0">
                <a:solidFill>
                  <a:srgbClr val="A2A2A8"/>
                </a:solidFill>
                <a:latin typeface="Telegraf"/>
              </a:rPr>
              <a:t>the queue's only repeating unit</a:t>
            </a:r>
            <a:endParaRPr sz="500" spc="0">
              <a:solidFill>
                <a:srgbClr val="A2A2A8"/>
              </a:solidFill>
              <a:latin typeface="Telegraf"/>
            </a:endParaRPr>
          </a:p>
        </p:txBody>
      </p:sp>
      <p:sp>
        <p:nvSpPr>
          <p:cNvPr id="464" name="Rectangle 115"/>
          <p:cNvSpPr/>
          <p:nvPr/>
        </p:nvSpPr>
        <p:spPr>
          <a:xfrm>
            <a:off x="4648200" y="6248400"/>
            <a:ext cx="3200400" cy="228600"/>
          </a:xfrm>
          <a:custGeom>
            <a:avLst/>
            <a:gdLst/>
            <a:ahLst/>
            <a:cxnLst/>
            <a:rect l="l" t="t" r="r" b="b"/>
            <a:pathLst>
              <a:path w="100000" h="7143">
                <a:moveTo>
                  <a:pt x="96429" y="0"/>
                </a:moveTo>
                <a:cubicBezTo>
                  <a:pt x="97538" y="0"/>
                  <a:pt x="98092" y="0"/>
                  <a:pt x="98530" y="181"/>
                </a:cubicBezTo>
                <a:cubicBezTo>
                  <a:pt x="99113" y="423"/>
                  <a:pt x="99577" y="887"/>
                  <a:pt x="99819" y="1470"/>
                </a:cubicBezTo>
                <a:cubicBezTo>
                  <a:pt x="100000" y="1908"/>
                  <a:pt x="100000" y="2462"/>
                  <a:pt x="100000" y="3571"/>
                </a:cubicBezTo>
                <a:lnTo>
                  <a:pt x="100000" y="3571"/>
                </a:lnTo>
                <a:cubicBezTo>
                  <a:pt x="100000" y="4681"/>
                  <a:pt x="100000" y="5235"/>
                  <a:pt x="99819" y="5673"/>
                </a:cubicBezTo>
                <a:cubicBezTo>
                  <a:pt x="99577" y="6256"/>
                  <a:pt x="99113" y="6720"/>
                  <a:pt x="98530" y="6962"/>
                </a:cubicBezTo>
                <a:cubicBezTo>
                  <a:pt x="98092" y="7143"/>
                  <a:pt x="97538" y="7143"/>
                  <a:pt x="96429" y="7143"/>
                </a:cubicBezTo>
                <a:lnTo>
                  <a:pt x="3571" y="7143"/>
                </a:lnTo>
                <a:cubicBezTo>
                  <a:pt x="2462" y="7143"/>
                  <a:pt x="1908" y="7143"/>
                  <a:pt x="1470" y="6962"/>
                </a:cubicBezTo>
                <a:cubicBezTo>
                  <a:pt x="887" y="6720"/>
                  <a:pt x="423" y="6256"/>
                  <a:pt x="181" y="5673"/>
                </a:cubicBezTo>
                <a:cubicBezTo>
                  <a:pt x="0" y="5235"/>
                  <a:pt x="0" y="4681"/>
                  <a:pt x="0" y="3571"/>
                </a:cubicBezTo>
                <a:lnTo>
                  <a:pt x="0" y="3571"/>
                </a:lnTo>
                <a:cubicBezTo>
                  <a:pt x="0" y="2462"/>
                  <a:pt x="0" y="1908"/>
                  <a:pt x="181" y="1470"/>
                </a:cubicBezTo>
                <a:cubicBezTo>
                  <a:pt x="423" y="887"/>
                  <a:pt x="887" y="423"/>
                  <a:pt x="1470" y="181"/>
                </a:cubicBezTo>
                <a:cubicBezTo>
                  <a:pt x="1908" y="0"/>
                  <a:pt x="2462" y="0"/>
                  <a:pt x="357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65" name="TextBox 116"/>
          <p:cNvSpPr txBox="1"/>
          <p:nvPr/>
        </p:nvSpPr>
        <p:spPr>
          <a:xfrm>
            <a:off x="4749800" y="6248400"/>
            <a:ext cx="3073400" cy="228600"/>
          </a:xfrm>
          <a:prstGeom prst="rect">
            <a:avLst/>
          </a:prstGeom>
        </p:spPr>
        <p:txBody>
          <a:bodyPr wrap="square" lIns="0" tIns="0" rIns="0" bIns="0" anchor="ctr">
            <a:noAutofit/>
          </a:bodyPr>
          <a:lstStyle/>
          <a:p>
            <a:pPr>
              <a:lnSpc>
                <a:spcPct val="135000"/>
              </a:lnSpc>
            </a:pPr>
            <a:r>
              <a:rPr sz="490" spc="15">
                <a:solidFill>
                  <a:srgbClr val="67676E"/>
                </a:solidFill>
                <a:latin typeface="Telegraf"/>
              </a:rPr>
              <a:t>&lt;TicketRow ticket={t} selected /&gt;</a:t>
            </a:r>
            <a:endParaRPr sz="490" spc="15">
              <a:solidFill>
                <a:srgbClr val="67676E"/>
              </a:solidFill>
              <a:latin typeface="Telegraf"/>
            </a:endParaRPr>
          </a:p>
        </p:txBody>
      </p:sp>
      <p:sp>
        <p:nvSpPr>
          <p:cNvPr id="466" name="Rectangle 117"/>
          <p:cNvSpPr/>
          <p:nvPr/>
        </p:nvSpPr>
        <p:spPr>
          <a:xfrm>
            <a:off x="4673600" y="4648200"/>
            <a:ext cx="3149600" cy="431800"/>
          </a:xfrm>
          <a:custGeom>
            <a:avLst/>
            <a:gdLst/>
            <a:ahLst/>
            <a:cxnLst/>
            <a:rect l="l" t="t" r="r" b="b"/>
            <a:pathLst>
              <a:path w="100000" h="13710">
                <a:moveTo>
                  <a:pt x="93548" y="0"/>
                </a:moveTo>
                <a:cubicBezTo>
                  <a:pt x="96590" y="0"/>
                  <a:pt x="98110" y="0"/>
                  <a:pt x="99055" y="945"/>
                </a:cubicBezTo>
                <a:cubicBezTo>
                  <a:pt x="99055" y="945"/>
                  <a:pt x="99055" y="945"/>
                  <a:pt x="99055" y="945"/>
                </a:cubicBezTo>
                <a:cubicBezTo>
                  <a:pt x="100000" y="1890"/>
                  <a:pt x="100000" y="3410"/>
                  <a:pt x="100000" y="6452"/>
                </a:cubicBezTo>
                <a:lnTo>
                  <a:pt x="100000" y="7258"/>
                </a:lnTo>
                <a:cubicBezTo>
                  <a:pt x="100000" y="10299"/>
                  <a:pt x="100000" y="11820"/>
                  <a:pt x="99055" y="12765"/>
                </a:cubicBezTo>
                <a:cubicBezTo>
                  <a:pt x="99055" y="12765"/>
                  <a:pt x="99055" y="12765"/>
                  <a:pt x="99055" y="12765"/>
                </a:cubicBezTo>
                <a:cubicBezTo>
                  <a:pt x="98110" y="13710"/>
                  <a:pt x="96590" y="13710"/>
                  <a:pt x="93548" y="13710"/>
                </a:cubicBezTo>
                <a:lnTo>
                  <a:pt x="6452" y="13710"/>
                </a:lnTo>
                <a:cubicBezTo>
                  <a:pt x="3410" y="13710"/>
                  <a:pt x="1890" y="13710"/>
                  <a:pt x="945" y="12765"/>
                </a:cubicBezTo>
                <a:cubicBezTo>
                  <a:pt x="945" y="12765"/>
                  <a:pt x="945" y="12765"/>
                  <a:pt x="945" y="12765"/>
                </a:cubicBezTo>
                <a:cubicBezTo>
                  <a:pt x="0" y="11820"/>
                  <a:pt x="0" y="10299"/>
                  <a:pt x="0" y="7258"/>
                </a:cubicBezTo>
                <a:lnTo>
                  <a:pt x="0" y="6452"/>
                </a:lnTo>
                <a:cubicBezTo>
                  <a:pt x="0" y="3410"/>
                  <a:pt x="0" y="1890"/>
                  <a:pt x="945" y="945"/>
                </a:cubicBezTo>
                <a:cubicBezTo>
                  <a:pt x="945" y="945"/>
                  <a:pt x="945" y="945"/>
                  <a:pt x="945" y="945"/>
                </a:cubicBezTo>
                <a:cubicBezTo>
                  <a:pt x="1890" y="0"/>
                  <a:pt x="3410" y="0"/>
                  <a:pt x="6452"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67" name="Rectangle 118"/>
          <p:cNvSpPr/>
          <p:nvPr/>
        </p:nvSpPr>
        <p:spPr>
          <a:xfrm>
            <a:off x="4673600" y="4648200"/>
            <a:ext cx="25400" cy="431800"/>
          </a:xfrm>
          <a:prstGeom prst="roundRect">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68" name="Oval 119"/>
          <p:cNvSpPr/>
          <p:nvPr/>
        </p:nvSpPr>
        <p:spPr>
          <a:xfrm>
            <a:off x="4848479" y="4805299"/>
            <a:ext cx="107442" cy="107442"/>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69" name="Freeform 469"/>
          <p:cNvSpPr/>
          <p:nvPr/>
        </p:nvSpPr>
        <p:spPr>
          <a:xfrm>
            <a:off x="4870069" y="4893818"/>
            <a:ext cx="49657" cy="51562"/>
          </a:xfrm>
          <a:custGeom>
            <a:avLst/>
            <a:gdLst/>
            <a:ahLst/>
            <a:cxnLst/>
            <a:rect l="l" t="t" r="r" b="b"/>
            <a:pathLst>
              <a:path w="96305" h="100000">
                <a:moveTo>
                  <a:pt x="0" y="50000"/>
                </a:moveTo>
                <a:lnTo>
                  <a:pt x="96305" y="0"/>
                </a:lnTo>
                <a:lnTo>
                  <a:pt x="96305" y="100000"/>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0" name="TextBox 121"/>
          <p:cNvSpPr txBox="1"/>
          <p:nvPr/>
        </p:nvSpPr>
        <p:spPr>
          <a:xfrm>
            <a:off x="5080000" y="4737100"/>
            <a:ext cx="1168400" cy="127000"/>
          </a:xfrm>
          <a:prstGeom prst="rect">
            <a:avLst/>
          </a:prstGeom>
        </p:spPr>
        <p:txBody>
          <a:bodyPr wrap="square" lIns="0" tIns="0" rIns="0" bIns="0">
            <a:noAutofit/>
          </a:bodyPr>
          <a:lstStyle/>
          <a:p>
            <a:pPr>
              <a:lnSpc>
                <a:spcPct val="135000"/>
              </a:lnSpc>
            </a:pPr>
            <a:r>
              <a:rPr sz="580" b="1" spc="0">
                <a:solidFill>
                  <a:srgbClr val="0A0A0A"/>
                </a:solidFill>
                <a:latin typeface="Telegraf"/>
              </a:rPr>
              <a:t>Aarav Mehta</a:t>
            </a:r>
            <a:endParaRPr sz="580" b="1" spc="0">
              <a:solidFill>
                <a:srgbClr val="0A0A0A"/>
              </a:solidFill>
              <a:latin typeface="Telegraf"/>
            </a:endParaRPr>
          </a:p>
        </p:txBody>
      </p:sp>
      <p:sp>
        <p:nvSpPr>
          <p:cNvPr id="471" name="TextBox 122"/>
          <p:cNvSpPr txBox="1"/>
          <p:nvPr/>
        </p:nvSpPr>
        <p:spPr>
          <a:xfrm>
            <a:off x="5080000" y="4876800"/>
            <a:ext cx="1524000" cy="127000"/>
          </a:xfrm>
          <a:prstGeom prst="rect">
            <a:avLst/>
          </a:prstGeom>
        </p:spPr>
        <p:txBody>
          <a:bodyPr wrap="square" lIns="0" tIns="0" rIns="0" bIns="0">
            <a:noAutofit/>
          </a:bodyPr>
          <a:lstStyle/>
          <a:p>
            <a:pPr>
              <a:lnSpc>
                <a:spcPct val="135000"/>
              </a:lnSpc>
            </a:pPr>
            <a:r>
              <a:rPr sz="490" spc="0">
                <a:solidFill>
                  <a:srgbClr val="67676E"/>
                </a:solidFill>
                <a:latin typeface="Telegraf"/>
              </a:rPr>
              <a:t>Where is my crown order?</a:t>
            </a:r>
            <a:endParaRPr sz="490" spc="0">
              <a:solidFill>
                <a:srgbClr val="67676E"/>
              </a:solidFill>
              <a:latin typeface="Telegraf"/>
            </a:endParaRPr>
          </a:p>
        </p:txBody>
      </p:sp>
      <p:sp>
        <p:nvSpPr>
          <p:cNvPr id="472" name="TextBox 123"/>
          <p:cNvSpPr txBox="1"/>
          <p:nvPr/>
        </p:nvSpPr>
        <p:spPr>
          <a:xfrm>
            <a:off x="6680200" y="4737100"/>
            <a:ext cx="431800" cy="101600"/>
          </a:xfrm>
          <a:prstGeom prst="rect">
            <a:avLst/>
          </a:prstGeom>
        </p:spPr>
        <p:txBody>
          <a:bodyPr wrap="square" lIns="0" tIns="0" rIns="0" bIns="0">
            <a:noAutofit/>
          </a:bodyPr>
          <a:lstStyle/>
          <a:p>
            <a:pPr>
              <a:lnSpc>
                <a:spcPct val="135000"/>
              </a:lnSpc>
            </a:pPr>
            <a:r>
              <a:rPr sz="600" b="1" spc="0">
                <a:solidFill>
                  <a:srgbClr val="0A0A0A"/>
                </a:solidFill>
                <a:latin typeface="Telegraf"/>
              </a:rPr>
              <a:t>71</a:t>
            </a:r>
            <a:endParaRPr sz="600" b="1" spc="0">
              <a:solidFill>
                <a:srgbClr val="0A0A0A"/>
              </a:solidFill>
              <a:latin typeface="Telegraf"/>
            </a:endParaRPr>
          </a:p>
        </p:txBody>
      </p:sp>
      <p:sp>
        <p:nvSpPr>
          <p:cNvPr id="473" name="Rectangle 124"/>
          <p:cNvSpPr/>
          <p:nvPr/>
        </p:nvSpPr>
        <p:spPr>
          <a:xfrm>
            <a:off x="6680200" y="48768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4" name="Rectangle 125"/>
          <p:cNvSpPr/>
          <p:nvPr/>
        </p:nvSpPr>
        <p:spPr>
          <a:xfrm>
            <a:off x="6680200" y="4876800"/>
            <a:ext cx="306578" cy="38100"/>
          </a:xfrm>
          <a:custGeom>
            <a:avLst/>
            <a:gdLst/>
            <a:ahLst/>
            <a:cxnLst/>
            <a:rect l="l" t="t" r="r" b="b"/>
            <a:pathLst>
              <a:path w="100000" h="12428">
                <a:moveTo>
                  <a:pt x="93786" y="0"/>
                </a:moveTo>
                <a:cubicBezTo>
                  <a:pt x="93786" y="0"/>
                  <a:pt x="93786" y="0"/>
                  <a:pt x="93786" y="0"/>
                </a:cubicBezTo>
                <a:cubicBezTo>
                  <a:pt x="97216" y="0"/>
                  <a:pt x="100000" y="2784"/>
                  <a:pt x="100000" y="6214"/>
                </a:cubicBezTo>
                <a:cubicBezTo>
                  <a:pt x="100000" y="6214"/>
                  <a:pt x="100000" y="6214"/>
                  <a:pt x="100000" y="6214"/>
                </a:cubicBezTo>
                <a:lnTo>
                  <a:pt x="100000" y="6214"/>
                </a:lnTo>
                <a:cubicBezTo>
                  <a:pt x="100000" y="6214"/>
                  <a:pt x="100000" y="6214"/>
                  <a:pt x="100000" y="6214"/>
                </a:cubicBezTo>
                <a:cubicBezTo>
                  <a:pt x="100000" y="9644"/>
                  <a:pt x="97216" y="12428"/>
                  <a:pt x="93786" y="12428"/>
                </a:cubicBezTo>
                <a:cubicBezTo>
                  <a:pt x="93786" y="12428"/>
                  <a:pt x="93786" y="12428"/>
                  <a:pt x="93786" y="12428"/>
                </a:cubicBezTo>
                <a:lnTo>
                  <a:pt x="6214" y="12428"/>
                </a:lnTo>
                <a:cubicBezTo>
                  <a:pt x="6214" y="12428"/>
                  <a:pt x="6214" y="12428"/>
                  <a:pt x="6214" y="12428"/>
                </a:cubicBezTo>
                <a:cubicBezTo>
                  <a:pt x="2784" y="12428"/>
                  <a:pt x="0" y="9644"/>
                  <a:pt x="0" y="6214"/>
                </a:cubicBezTo>
                <a:cubicBezTo>
                  <a:pt x="0" y="6214"/>
                  <a:pt x="0" y="6214"/>
                  <a:pt x="0" y="6214"/>
                </a:cubicBezTo>
                <a:lnTo>
                  <a:pt x="0" y="6214"/>
                </a:lnTo>
                <a:cubicBezTo>
                  <a:pt x="0" y="6214"/>
                  <a:pt x="0" y="6214"/>
                  <a:pt x="0" y="6214"/>
                </a:cubicBezTo>
                <a:cubicBezTo>
                  <a:pt x="0" y="2784"/>
                  <a:pt x="2784" y="0"/>
                  <a:pt x="6214" y="0"/>
                </a:cubicBezTo>
                <a:cubicBezTo>
                  <a:pt x="6214" y="0"/>
                  <a:pt x="6214" y="0"/>
                  <a:pt x="6214"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5" name="Rectangle 126"/>
          <p:cNvSpPr/>
          <p:nvPr/>
        </p:nvSpPr>
        <p:spPr>
          <a:xfrm>
            <a:off x="7213600" y="4775200"/>
            <a:ext cx="430022" cy="139700"/>
          </a:xfrm>
          <a:custGeom>
            <a:avLst/>
            <a:gdLst/>
            <a:ahLst/>
            <a:cxnLst/>
            <a:rect l="l" t="t" r="r" b="b"/>
            <a:pathLst>
              <a:path w="100000" h="32487">
                <a:moveTo>
                  <a:pt x="83757" y="0"/>
                </a:moveTo>
                <a:cubicBezTo>
                  <a:pt x="83757" y="0"/>
                  <a:pt x="83757" y="0"/>
                  <a:pt x="83757" y="0"/>
                </a:cubicBezTo>
                <a:cubicBezTo>
                  <a:pt x="92729" y="0"/>
                  <a:pt x="100000" y="7271"/>
                  <a:pt x="100000" y="16243"/>
                </a:cubicBezTo>
                <a:cubicBezTo>
                  <a:pt x="100000" y="16243"/>
                  <a:pt x="100000" y="16243"/>
                  <a:pt x="100000" y="16243"/>
                </a:cubicBezTo>
                <a:lnTo>
                  <a:pt x="100000" y="16243"/>
                </a:lnTo>
                <a:cubicBezTo>
                  <a:pt x="100000" y="16243"/>
                  <a:pt x="100000" y="16243"/>
                  <a:pt x="100000" y="16243"/>
                </a:cubicBezTo>
                <a:cubicBezTo>
                  <a:pt x="100000" y="25216"/>
                  <a:pt x="92729" y="32487"/>
                  <a:pt x="83757" y="32487"/>
                </a:cubicBezTo>
                <a:cubicBezTo>
                  <a:pt x="83757" y="32487"/>
                  <a:pt x="83757" y="32487"/>
                  <a:pt x="83757" y="32487"/>
                </a:cubicBezTo>
                <a:lnTo>
                  <a:pt x="16243" y="32487"/>
                </a:lnTo>
                <a:cubicBezTo>
                  <a:pt x="16243" y="32487"/>
                  <a:pt x="16243" y="32487"/>
                  <a:pt x="16243" y="32487"/>
                </a:cubicBezTo>
                <a:cubicBezTo>
                  <a:pt x="7271" y="32487"/>
                  <a:pt x="0" y="25216"/>
                  <a:pt x="0" y="16243"/>
                </a:cubicBezTo>
                <a:cubicBezTo>
                  <a:pt x="0" y="16243"/>
                  <a:pt x="0" y="16243"/>
                  <a:pt x="0" y="16243"/>
                </a:cubicBezTo>
                <a:lnTo>
                  <a:pt x="0" y="16243"/>
                </a:lnTo>
                <a:cubicBezTo>
                  <a:pt x="0" y="16243"/>
                  <a:pt x="0" y="16243"/>
                  <a:pt x="0" y="16243"/>
                </a:cubicBezTo>
                <a:cubicBezTo>
                  <a:pt x="0" y="7271"/>
                  <a:pt x="7271" y="0"/>
                  <a:pt x="16243" y="0"/>
                </a:cubicBezTo>
                <a:cubicBezTo>
                  <a:pt x="16243" y="0"/>
                  <a:pt x="16243" y="0"/>
                  <a:pt x="1624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6" name="Oval 127"/>
          <p:cNvSpPr/>
          <p:nvPr/>
        </p:nvSpPr>
        <p:spPr>
          <a:xfrm>
            <a:off x="7265670" y="4823460"/>
            <a:ext cx="43180" cy="4318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77" name="TextBox 128"/>
          <p:cNvSpPr txBox="1"/>
          <p:nvPr/>
        </p:nvSpPr>
        <p:spPr>
          <a:xfrm>
            <a:off x="7343140" y="4775200"/>
            <a:ext cx="277622" cy="139700"/>
          </a:xfrm>
          <a:prstGeom prst="rect">
            <a:avLst/>
          </a:prstGeom>
        </p:spPr>
        <p:txBody>
          <a:bodyPr wrap="square" lIns="0" tIns="0" rIns="0" bIns="0" anchor="ctr">
            <a:noAutofit/>
          </a:bodyPr>
          <a:lstStyle/>
          <a:p>
            <a:pPr>
              <a:lnSpc>
                <a:spcPct val="135000"/>
              </a:lnSpc>
            </a:pPr>
            <a:r>
              <a:rPr sz="440" b="1" spc="0">
                <a:solidFill>
                  <a:srgbClr val="0E6B5F"/>
                </a:solidFill>
                <a:latin typeface="Telegraf"/>
              </a:rPr>
              <a:t>triaged</a:t>
            </a:r>
            <a:endParaRPr sz="440" b="1" spc="0">
              <a:solidFill>
                <a:srgbClr val="0E6B5F"/>
              </a:solidFill>
              <a:latin typeface="Telegraf"/>
            </a:endParaRPr>
          </a:p>
        </p:txBody>
      </p:sp>
      <p:sp>
        <p:nvSpPr>
          <p:cNvPr id="478" name="TextBox 129"/>
          <p:cNvSpPr txBox="1"/>
          <p:nvPr/>
        </p:nvSpPr>
        <p:spPr>
          <a:xfrm>
            <a:off x="4673600" y="5232400"/>
            <a:ext cx="3124200" cy="584200"/>
          </a:xfrm>
          <a:prstGeom prst="rect">
            <a:avLst/>
          </a:prstGeom>
        </p:spPr>
        <p:txBody>
          <a:bodyPr wrap="square" lIns="0" tIns="0" rIns="0" bIns="0">
            <a:noAutofit/>
          </a:bodyPr>
          <a:lstStyle/>
          <a:p>
            <a:pPr>
              <a:lnSpc>
                <a:spcPct val="145000"/>
              </a:lnSpc>
            </a:pPr>
            <a:r>
              <a:rPr sz="500" spc="0">
                <a:solidFill>
                  <a:srgbClr val="67676E"/>
                </a:solidFill>
                <a:latin typeface="Telegraf"/>
              </a:rPr>
              <a:t>34 tall · channel · name · intent · confidence · state. Selected rows take the teal wash and a 2pt bar, never a border.</a:t>
            </a:r>
            <a:endParaRPr sz="500" spc="0">
              <a:solidFill>
                <a:srgbClr val="67676E"/>
              </a:solidFill>
              <a:latin typeface="Telegraf"/>
            </a:endParaRPr>
          </a:p>
        </p:txBody>
      </p:sp>
      <p:sp>
        <p:nvSpPr>
          <p:cNvPr id="479" name="Rectangle 130"/>
          <p:cNvSpPr/>
          <p:nvPr/>
        </p:nvSpPr>
        <p:spPr>
          <a:xfrm>
            <a:off x="8280400" y="4089400"/>
            <a:ext cx="3505200" cy="2540000"/>
          </a:xfrm>
          <a:custGeom>
            <a:avLst/>
            <a:gdLst/>
            <a:ahLst/>
            <a:cxnLst/>
            <a:rect l="l" t="t" r="r" b="b"/>
            <a:pathLst>
              <a:path w="100000" h="72464">
                <a:moveTo>
                  <a:pt x="91304" y="0"/>
                </a:moveTo>
                <a:cubicBezTo>
                  <a:pt x="95404" y="0"/>
                  <a:pt x="97453" y="0"/>
                  <a:pt x="98726" y="1274"/>
                </a:cubicBezTo>
                <a:cubicBezTo>
                  <a:pt x="98726" y="1274"/>
                  <a:pt x="98726" y="1274"/>
                  <a:pt x="98726" y="1274"/>
                </a:cubicBezTo>
                <a:cubicBezTo>
                  <a:pt x="100000" y="2547"/>
                  <a:pt x="100000" y="4596"/>
                  <a:pt x="100000" y="8696"/>
                </a:cubicBezTo>
                <a:lnTo>
                  <a:pt x="100000" y="63768"/>
                </a:lnTo>
                <a:cubicBezTo>
                  <a:pt x="100000" y="67867"/>
                  <a:pt x="100000" y="69917"/>
                  <a:pt x="98726" y="71190"/>
                </a:cubicBezTo>
                <a:cubicBezTo>
                  <a:pt x="98726" y="71190"/>
                  <a:pt x="98726" y="71190"/>
                  <a:pt x="98726" y="71190"/>
                </a:cubicBezTo>
                <a:cubicBezTo>
                  <a:pt x="97453" y="72464"/>
                  <a:pt x="95404" y="72464"/>
                  <a:pt x="91304" y="72464"/>
                </a:cubicBezTo>
                <a:lnTo>
                  <a:pt x="8696" y="72464"/>
                </a:lnTo>
                <a:cubicBezTo>
                  <a:pt x="4596" y="72464"/>
                  <a:pt x="2547" y="72464"/>
                  <a:pt x="1274" y="71190"/>
                </a:cubicBezTo>
                <a:cubicBezTo>
                  <a:pt x="1274" y="71190"/>
                  <a:pt x="1274" y="71190"/>
                  <a:pt x="1274" y="71190"/>
                </a:cubicBezTo>
                <a:cubicBezTo>
                  <a:pt x="0" y="69917"/>
                  <a:pt x="0" y="67867"/>
                  <a:pt x="0" y="63768"/>
                </a:cubicBezTo>
                <a:lnTo>
                  <a:pt x="0" y="8696"/>
                </a:lnTo>
                <a:cubicBezTo>
                  <a:pt x="0" y="4596"/>
                  <a:pt x="0" y="2547"/>
                  <a:pt x="1274" y="1274"/>
                </a:cubicBezTo>
                <a:cubicBezTo>
                  <a:pt x="1274" y="1274"/>
                  <a:pt x="1274" y="1274"/>
                  <a:pt x="1274" y="1274"/>
                </a:cubicBezTo>
                <a:cubicBezTo>
                  <a:pt x="2547" y="0"/>
                  <a:pt x="4596" y="0"/>
                  <a:pt x="869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0" name="TextBox 131"/>
          <p:cNvSpPr txBox="1"/>
          <p:nvPr/>
        </p:nvSpPr>
        <p:spPr>
          <a:xfrm>
            <a:off x="8458200" y="4254500"/>
            <a:ext cx="2286000" cy="114300"/>
          </a:xfrm>
          <a:prstGeom prst="rect">
            <a:avLst/>
          </a:prstGeom>
        </p:spPr>
        <p:txBody>
          <a:bodyPr wrap="square" lIns="0" tIns="0" rIns="0" bIns="0">
            <a:noAutofit/>
          </a:bodyPr>
          <a:lstStyle/>
          <a:p>
            <a:r>
              <a:rPr sz="480" b="1" spc="120">
                <a:solidFill>
                  <a:srgbClr val="0E6B5F"/>
                </a:solidFill>
                <a:latin typeface="Telegraf"/>
              </a:rPr>
              <a:t>DATA &amp; MARKS</a:t>
            </a:r>
            <a:endParaRPr sz="480" b="1" spc="120">
              <a:solidFill>
                <a:srgbClr val="0E6B5F"/>
              </a:solidFill>
              <a:latin typeface="Telegraf"/>
            </a:endParaRPr>
          </a:p>
        </p:txBody>
      </p:sp>
      <p:sp>
        <p:nvSpPr>
          <p:cNvPr id="481" name="TextBox 132"/>
          <p:cNvSpPr txBox="1"/>
          <p:nvPr/>
        </p:nvSpPr>
        <p:spPr>
          <a:xfrm>
            <a:off x="8458200" y="4394200"/>
            <a:ext cx="2794000" cy="114300"/>
          </a:xfrm>
          <a:prstGeom prst="rect">
            <a:avLst/>
          </a:prstGeom>
        </p:spPr>
        <p:txBody>
          <a:bodyPr wrap="square" lIns="0" tIns="0" rIns="0" bIns="0">
            <a:noAutofit/>
          </a:bodyPr>
          <a:lstStyle/>
          <a:p>
            <a:pPr>
              <a:lnSpc>
                <a:spcPct val="135000"/>
              </a:lnSpc>
            </a:pPr>
            <a:r>
              <a:rPr sz="500" spc="0">
                <a:solidFill>
                  <a:srgbClr val="A2A2A8"/>
                </a:solidFill>
                <a:latin typeface="Telegraf"/>
              </a:rPr>
              <a:t>the only decorative layer</a:t>
            </a:r>
            <a:endParaRPr sz="500" spc="0">
              <a:solidFill>
                <a:srgbClr val="A2A2A8"/>
              </a:solidFill>
              <a:latin typeface="Telegraf"/>
            </a:endParaRPr>
          </a:p>
        </p:txBody>
      </p:sp>
      <p:sp>
        <p:nvSpPr>
          <p:cNvPr id="482" name="Rectangle 133"/>
          <p:cNvSpPr/>
          <p:nvPr/>
        </p:nvSpPr>
        <p:spPr>
          <a:xfrm>
            <a:off x="8432800" y="6248400"/>
            <a:ext cx="3200400" cy="228600"/>
          </a:xfrm>
          <a:custGeom>
            <a:avLst/>
            <a:gdLst/>
            <a:ahLst/>
            <a:cxnLst/>
            <a:rect l="l" t="t" r="r" b="b"/>
            <a:pathLst>
              <a:path w="100000" h="7143">
                <a:moveTo>
                  <a:pt x="96429" y="0"/>
                </a:moveTo>
                <a:cubicBezTo>
                  <a:pt x="97538" y="0"/>
                  <a:pt x="98092" y="0"/>
                  <a:pt x="98530" y="181"/>
                </a:cubicBezTo>
                <a:cubicBezTo>
                  <a:pt x="99113" y="423"/>
                  <a:pt x="99577" y="887"/>
                  <a:pt x="99819" y="1470"/>
                </a:cubicBezTo>
                <a:cubicBezTo>
                  <a:pt x="100000" y="1908"/>
                  <a:pt x="100000" y="2462"/>
                  <a:pt x="100000" y="3571"/>
                </a:cubicBezTo>
                <a:lnTo>
                  <a:pt x="100000" y="3571"/>
                </a:lnTo>
                <a:cubicBezTo>
                  <a:pt x="100000" y="4681"/>
                  <a:pt x="100000" y="5235"/>
                  <a:pt x="99819" y="5673"/>
                </a:cubicBezTo>
                <a:cubicBezTo>
                  <a:pt x="99577" y="6256"/>
                  <a:pt x="99113" y="6720"/>
                  <a:pt x="98530" y="6962"/>
                </a:cubicBezTo>
                <a:cubicBezTo>
                  <a:pt x="98092" y="7143"/>
                  <a:pt x="97538" y="7143"/>
                  <a:pt x="96429" y="7143"/>
                </a:cubicBezTo>
                <a:lnTo>
                  <a:pt x="3571" y="7143"/>
                </a:lnTo>
                <a:cubicBezTo>
                  <a:pt x="2462" y="7143"/>
                  <a:pt x="1908" y="7143"/>
                  <a:pt x="1470" y="6962"/>
                </a:cubicBezTo>
                <a:cubicBezTo>
                  <a:pt x="887" y="6720"/>
                  <a:pt x="423" y="6256"/>
                  <a:pt x="181" y="5673"/>
                </a:cubicBezTo>
                <a:cubicBezTo>
                  <a:pt x="0" y="5235"/>
                  <a:pt x="0" y="4681"/>
                  <a:pt x="0" y="3571"/>
                </a:cubicBezTo>
                <a:lnTo>
                  <a:pt x="0" y="3571"/>
                </a:lnTo>
                <a:cubicBezTo>
                  <a:pt x="0" y="2462"/>
                  <a:pt x="0" y="1908"/>
                  <a:pt x="181" y="1470"/>
                </a:cubicBezTo>
                <a:cubicBezTo>
                  <a:pt x="423" y="887"/>
                  <a:pt x="887" y="423"/>
                  <a:pt x="1470" y="181"/>
                </a:cubicBezTo>
                <a:cubicBezTo>
                  <a:pt x="1908" y="0"/>
                  <a:pt x="2462" y="0"/>
                  <a:pt x="357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3" name="TextBox 134"/>
          <p:cNvSpPr txBox="1"/>
          <p:nvPr/>
        </p:nvSpPr>
        <p:spPr>
          <a:xfrm>
            <a:off x="8534400" y="6248400"/>
            <a:ext cx="3073400" cy="228600"/>
          </a:xfrm>
          <a:prstGeom prst="rect">
            <a:avLst/>
          </a:prstGeom>
        </p:spPr>
        <p:txBody>
          <a:bodyPr wrap="square" lIns="0" tIns="0" rIns="0" bIns="0" anchor="ctr">
            <a:noAutofit/>
          </a:bodyPr>
          <a:lstStyle/>
          <a:p>
            <a:pPr>
              <a:lnSpc>
                <a:spcPct val="135000"/>
              </a:lnSpc>
            </a:pPr>
            <a:r>
              <a:rPr sz="490" spc="15">
                <a:solidFill>
                  <a:srgbClr val="67676E"/>
                </a:solidFill>
                <a:latin typeface="Telegraf"/>
              </a:rPr>
              <a:t>&lt;Donut data={decisionMix} /&gt;</a:t>
            </a:r>
            <a:endParaRPr sz="490" spc="15">
              <a:solidFill>
                <a:srgbClr val="67676E"/>
              </a:solidFill>
              <a:latin typeface="Telegraf"/>
            </a:endParaRPr>
          </a:p>
        </p:txBody>
      </p:sp>
      <p:sp>
        <p:nvSpPr>
          <p:cNvPr id="484" name="Freeform 484"/>
          <p:cNvSpPr/>
          <p:nvPr/>
        </p:nvSpPr>
        <p:spPr>
          <a:xfrm>
            <a:off x="8692642" y="4686427"/>
            <a:ext cx="489458" cy="583946"/>
          </a:xfrm>
          <a:custGeom>
            <a:avLst/>
            <a:gdLst/>
            <a:ahLst/>
            <a:cxnLst/>
            <a:rect l="l" t="t" r="r" b="b"/>
            <a:pathLst>
              <a:path w="83819" h="100000">
                <a:moveTo>
                  <a:pt x="35102" y="0"/>
                </a:moveTo>
                <a:lnTo>
                  <a:pt x="39909" y="348"/>
                </a:lnTo>
                <a:lnTo>
                  <a:pt x="44672" y="1174"/>
                </a:lnTo>
                <a:lnTo>
                  <a:pt x="49326" y="2458"/>
                </a:lnTo>
                <a:lnTo>
                  <a:pt x="53828" y="4154"/>
                </a:lnTo>
                <a:lnTo>
                  <a:pt x="58134" y="6307"/>
                </a:lnTo>
                <a:lnTo>
                  <a:pt x="62244" y="8852"/>
                </a:lnTo>
                <a:lnTo>
                  <a:pt x="66072" y="11788"/>
                </a:lnTo>
                <a:lnTo>
                  <a:pt x="69595" y="15072"/>
                </a:lnTo>
                <a:lnTo>
                  <a:pt x="72793" y="18682"/>
                </a:lnTo>
                <a:lnTo>
                  <a:pt x="75620" y="22575"/>
                </a:lnTo>
                <a:lnTo>
                  <a:pt x="78077" y="26729"/>
                </a:lnTo>
                <a:lnTo>
                  <a:pt x="80122" y="31100"/>
                </a:lnTo>
                <a:lnTo>
                  <a:pt x="81709" y="35646"/>
                </a:lnTo>
                <a:lnTo>
                  <a:pt x="82884" y="40322"/>
                </a:lnTo>
                <a:lnTo>
                  <a:pt x="83580" y="45107"/>
                </a:lnTo>
                <a:lnTo>
                  <a:pt x="83819" y="49913"/>
                </a:lnTo>
                <a:lnTo>
                  <a:pt x="83602" y="54719"/>
                </a:lnTo>
                <a:lnTo>
                  <a:pt x="82906" y="59504"/>
                </a:lnTo>
                <a:lnTo>
                  <a:pt x="81775" y="64180"/>
                </a:lnTo>
                <a:lnTo>
                  <a:pt x="80187" y="68747"/>
                </a:lnTo>
                <a:lnTo>
                  <a:pt x="78164" y="73119"/>
                </a:lnTo>
                <a:lnTo>
                  <a:pt x="75729" y="77273"/>
                </a:lnTo>
                <a:lnTo>
                  <a:pt x="72901" y="81187"/>
                </a:lnTo>
                <a:lnTo>
                  <a:pt x="69726" y="84819"/>
                </a:lnTo>
                <a:lnTo>
                  <a:pt x="66203" y="88104"/>
                </a:lnTo>
                <a:lnTo>
                  <a:pt x="62375" y="91040"/>
                </a:lnTo>
                <a:lnTo>
                  <a:pt x="58286" y="93606"/>
                </a:lnTo>
                <a:lnTo>
                  <a:pt x="53980" y="95759"/>
                </a:lnTo>
                <a:lnTo>
                  <a:pt x="49478" y="97499"/>
                </a:lnTo>
                <a:lnTo>
                  <a:pt x="44846" y="98782"/>
                </a:lnTo>
                <a:lnTo>
                  <a:pt x="40083" y="99630"/>
                </a:lnTo>
                <a:lnTo>
                  <a:pt x="35276" y="100000"/>
                </a:lnTo>
                <a:lnTo>
                  <a:pt x="30470" y="99913"/>
                </a:lnTo>
                <a:lnTo>
                  <a:pt x="25663" y="99348"/>
                </a:lnTo>
                <a:lnTo>
                  <a:pt x="20966" y="98347"/>
                </a:lnTo>
                <a:lnTo>
                  <a:pt x="16355" y="96890"/>
                </a:lnTo>
                <a:lnTo>
                  <a:pt x="11918" y="94998"/>
                </a:lnTo>
                <a:lnTo>
                  <a:pt x="7699" y="92671"/>
                </a:lnTo>
                <a:lnTo>
                  <a:pt x="3719" y="89952"/>
                </a:lnTo>
                <a:lnTo>
                  <a:pt x="0" y="86886"/>
                </a:lnTo>
                <a:lnTo>
                  <a:pt x="13223" y="72445"/>
                </a:lnTo>
                <a:lnTo>
                  <a:pt x="15485" y="74315"/>
                </a:lnTo>
                <a:lnTo>
                  <a:pt x="17921" y="75968"/>
                </a:lnTo>
                <a:lnTo>
                  <a:pt x="20487" y="77381"/>
                </a:lnTo>
                <a:lnTo>
                  <a:pt x="23184" y="78534"/>
                </a:lnTo>
                <a:lnTo>
                  <a:pt x="25990" y="79426"/>
                </a:lnTo>
                <a:lnTo>
                  <a:pt x="28860" y="80035"/>
                </a:lnTo>
                <a:lnTo>
                  <a:pt x="31775" y="80383"/>
                </a:lnTo>
                <a:lnTo>
                  <a:pt x="34711" y="80426"/>
                </a:lnTo>
                <a:lnTo>
                  <a:pt x="37625" y="80209"/>
                </a:lnTo>
                <a:lnTo>
                  <a:pt x="40518" y="79687"/>
                </a:lnTo>
                <a:lnTo>
                  <a:pt x="43345" y="78904"/>
                </a:lnTo>
                <a:lnTo>
                  <a:pt x="46085" y="77860"/>
                </a:lnTo>
                <a:lnTo>
                  <a:pt x="48717" y="76555"/>
                </a:lnTo>
                <a:lnTo>
                  <a:pt x="51196" y="74989"/>
                </a:lnTo>
                <a:lnTo>
                  <a:pt x="53523" y="73206"/>
                </a:lnTo>
                <a:lnTo>
                  <a:pt x="55655" y="71183"/>
                </a:lnTo>
                <a:lnTo>
                  <a:pt x="57612" y="68987"/>
                </a:lnTo>
                <a:lnTo>
                  <a:pt x="59308" y="66616"/>
                </a:lnTo>
                <a:lnTo>
                  <a:pt x="60809" y="64071"/>
                </a:lnTo>
                <a:lnTo>
                  <a:pt x="62027" y="61396"/>
                </a:lnTo>
                <a:lnTo>
                  <a:pt x="63006" y="58634"/>
                </a:lnTo>
                <a:lnTo>
                  <a:pt x="63702" y="55785"/>
                </a:lnTo>
                <a:lnTo>
                  <a:pt x="64115" y="52871"/>
                </a:lnTo>
                <a:lnTo>
                  <a:pt x="64245" y="49957"/>
                </a:lnTo>
                <a:lnTo>
                  <a:pt x="64093" y="47020"/>
                </a:lnTo>
                <a:lnTo>
                  <a:pt x="63680" y="44106"/>
                </a:lnTo>
                <a:lnTo>
                  <a:pt x="62962" y="41257"/>
                </a:lnTo>
                <a:lnTo>
                  <a:pt x="61983" y="38495"/>
                </a:lnTo>
                <a:lnTo>
                  <a:pt x="60744" y="35842"/>
                </a:lnTo>
                <a:lnTo>
                  <a:pt x="59265" y="33297"/>
                </a:lnTo>
                <a:lnTo>
                  <a:pt x="57525" y="30926"/>
                </a:lnTo>
                <a:lnTo>
                  <a:pt x="55589" y="28730"/>
                </a:lnTo>
                <a:lnTo>
                  <a:pt x="53436" y="26729"/>
                </a:lnTo>
                <a:lnTo>
                  <a:pt x="51109" y="24946"/>
                </a:lnTo>
                <a:lnTo>
                  <a:pt x="48608" y="23401"/>
                </a:lnTo>
                <a:lnTo>
                  <a:pt x="45977" y="22097"/>
                </a:lnTo>
                <a:lnTo>
                  <a:pt x="43236" y="21053"/>
                </a:lnTo>
                <a:lnTo>
                  <a:pt x="40409" y="20270"/>
                </a:lnTo>
                <a:lnTo>
                  <a:pt x="37516" y="19791"/>
                </a:lnTo>
                <a:lnTo>
                  <a:pt x="34602" y="19552"/>
                </a:ln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5" name="Freeform 485"/>
          <p:cNvSpPr/>
          <p:nvPr/>
        </p:nvSpPr>
        <p:spPr>
          <a:xfrm>
            <a:off x="8597900" y="4890516"/>
            <a:ext cx="165227" cy="292608"/>
          </a:xfrm>
          <a:custGeom>
            <a:avLst/>
            <a:gdLst/>
            <a:ahLst/>
            <a:cxnLst/>
            <a:rect l="l" t="t" r="r" b="b"/>
            <a:pathLst>
              <a:path w="56467" h="100000">
                <a:moveTo>
                  <a:pt x="28646" y="100000"/>
                </a:moveTo>
                <a:lnTo>
                  <a:pt x="26780" y="98047"/>
                </a:lnTo>
                <a:lnTo>
                  <a:pt x="24957" y="96050"/>
                </a:lnTo>
                <a:lnTo>
                  <a:pt x="23177" y="94010"/>
                </a:lnTo>
                <a:lnTo>
                  <a:pt x="21484" y="91884"/>
                </a:lnTo>
                <a:lnTo>
                  <a:pt x="19835" y="89757"/>
                </a:lnTo>
                <a:lnTo>
                  <a:pt x="18273" y="87587"/>
                </a:lnTo>
                <a:lnTo>
                  <a:pt x="16710" y="85330"/>
                </a:lnTo>
                <a:lnTo>
                  <a:pt x="15278" y="83073"/>
                </a:lnTo>
                <a:lnTo>
                  <a:pt x="13845" y="80773"/>
                </a:lnTo>
                <a:lnTo>
                  <a:pt x="12500" y="78429"/>
                </a:lnTo>
                <a:lnTo>
                  <a:pt x="11241" y="76042"/>
                </a:lnTo>
                <a:lnTo>
                  <a:pt x="10026" y="73655"/>
                </a:lnTo>
                <a:lnTo>
                  <a:pt x="8898" y="71181"/>
                </a:lnTo>
                <a:lnTo>
                  <a:pt x="7812" y="68707"/>
                </a:lnTo>
                <a:lnTo>
                  <a:pt x="6771" y="66233"/>
                </a:lnTo>
                <a:lnTo>
                  <a:pt x="5859" y="63672"/>
                </a:lnTo>
                <a:lnTo>
                  <a:pt x="4948" y="61111"/>
                </a:lnTo>
                <a:lnTo>
                  <a:pt x="4167" y="58550"/>
                </a:lnTo>
                <a:lnTo>
                  <a:pt x="3429" y="55946"/>
                </a:lnTo>
                <a:lnTo>
                  <a:pt x="2778" y="53342"/>
                </a:lnTo>
                <a:lnTo>
                  <a:pt x="2170" y="50694"/>
                </a:lnTo>
                <a:lnTo>
                  <a:pt x="1649" y="48047"/>
                </a:lnTo>
                <a:lnTo>
                  <a:pt x="1172" y="45399"/>
                </a:lnTo>
                <a:lnTo>
                  <a:pt x="825" y="42708"/>
                </a:lnTo>
                <a:lnTo>
                  <a:pt x="521" y="40017"/>
                </a:lnTo>
                <a:lnTo>
                  <a:pt x="260" y="37326"/>
                </a:lnTo>
                <a:lnTo>
                  <a:pt x="87" y="34635"/>
                </a:lnTo>
                <a:lnTo>
                  <a:pt x="0" y="31944"/>
                </a:lnTo>
                <a:lnTo>
                  <a:pt x="0" y="29253"/>
                </a:lnTo>
                <a:lnTo>
                  <a:pt x="43" y="26562"/>
                </a:lnTo>
                <a:lnTo>
                  <a:pt x="174" y="23872"/>
                </a:lnTo>
                <a:lnTo>
                  <a:pt x="391" y="21181"/>
                </a:lnTo>
                <a:lnTo>
                  <a:pt x="651" y="18490"/>
                </a:lnTo>
                <a:lnTo>
                  <a:pt x="1042" y="15799"/>
                </a:lnTo>
                <a:lnTo>
                  <a:pt x="1432" y="13108"/>
                </a:lnTo>
                <a:lnTo>
                  <a:pt x="1953" y="10460"/>
                </a:lnTo>
                <a:lnTo>
                  <a:pt x="2517" y="7812"/>
                </a:lnTo>
                <a:lnTo>
                  <a:pt x="3125" y="5208"/>
                </a:lnTo>
                <a:lnTo>
                  <a:pt x="3863" y="2604"/>
                </a:lnTo>
                <a:lnTo>
                  <a:pt x="4601" y="0"/>
                </a:lnTo>
                <a:lnTo>
                  <a:pt x="41884" y="11762"/>
                </a:lnTo>
                <a:lnTo>
                  <a:pt x="41406" y="13325"/>
                </a:lnTo>
                <a:lnTo>
                  <a:pt x="40972" y="14931"/>
                </a:lnTo>
                <a:lnTo>
                  <a:pt x="40582" y="16536"/>
                </a:lnTo>
                <a:lnTo>
                  <a:pt x="40234" y="18142"/>
                </a:lnTo>
                <a:lnTo>
                  <a:pt x="39931" y="19748"/>
                </a:lnTo>
                <a:lnTo>
                  <a:pt x="39670" y="21354"/>
                </a:lnTo>
                <a:lnTo>
                  <a:pt x="39453" y="23003"/>
                </a:lnTo>
                <a:lnTo>
                  <a:pt x="39323" y="24653"/>
                </a:lnTo>
                <a:lnTo>
                  <a:pt x="39193" y="26259"/>
                </a:lnTo>
                <a:lnTo>
                  <a:pt x="39106" y="27908"/>
                </a:lnTo>
                <a:lnTo>
                  <a:pt x="39062" y="29557"/>
                </a:lnTo>
                <a:lnTo>
                  <a:pt x="39062" y="31207"/>
                </a:lnTo>
                <a:lnTo>
                  <a:pt x="39106" y="32856"/>
                </a:lnTo>
                <a:lnTo>
                  <a:pt x="39236" y="34505"/>
                </a:lnTo>
                <a:lnTo>
                  <a:pt x="39366" y="36111"/>
                </a:lnTo>
                <a:lnTo>
                  <a:pt x="39540" y="37760"/>
                </a:lnTo>
                <a:lnTo>
                  <a:pt x="39800" y="39366"/>
                </a:lnTo>
                <a:lnTo>
                  <a:pt x="40061" y="41016"/>
                </a:lnTo>
                <a:lnTo>
                  <a:pt x="40365" y="42622"/>
                </a:lnTo>
                <a:lnTo>
                  <a:pt x="40755" y="44227"/>
                </a:lnTo>
                <a:lnTo>
                  <a:pt x="41146" y="45833"/>
                </a:lnTo>
                <a:lnTo>
                  <a:pt x="41580" y="47396"/>
                </a:lnTo>
                <a:lnTo>
                  <a:pt x="42101" y="48958"/>
                </a:lnTo>
                <a:lnTo>
                  <a:pt x="42622" y="50521"/>
                </a:lnTo>
                <a:lnTo>
                  <a:pt x="43186" y="52040"/>
                </a:lnTo>
                <a:lnTo>
                  <a:pt x="43793" y="53602"/>
                </a:lnTo>
                <a:lnTo>
                  <a:pt x="44488" y="55078"/>
                </a:lnTo>
                <a:lnTo>
                  <a:pt x="45182" y="56597"/>
                </a:lnTo>
                <a:lnTo>
                  <a:pt x="45920" y="58030"/>
                </a:lnTo>
                <a:lnTo>
                  <a:pt x="46701" y="59505"/>
                </a:lnTo>
                <a:lnTo>
                  <a:pt x="47483" y="60937"/>
                </a:lnTo>
                <a:lnTo>
                  <a:pt x="48351" y="62326"/>
                </a:lnTo>
                <a:lnTo>
                  <a:pt x="49262" y="63715"/>
                </a:lnTo>
                <a:lnTo>
                  <a:pt x="50174" y="65061"/>
                </a:lnTo>
                <a:lnTo>
                  <a:pt x="51128" y="66406"/>
                </a:lnTo>
                <a:lnTo>
                  <a:pt x="52127" y="67708"/>
                </a:lnTo>
                <a:lnTo>
                  <a:pt x="53168" y="68967"/>
                </a:lnTo>
                <a:lnTo>
                  <a:pt x="54253" y="70226"/>
                </a:lnTo>
                <a:lnTo>
                  <a:pt x="55339" y="71441"/>
                </a:lnTo>
                <a:lnTo>
                  <a:pt x="56467" y="72613"/>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6" name="Freeform 486"/>
          <p:cNvSpPr/>
          <p:nvPr/>
        </p:nvSpPr>
        <p:spPr>
          <a:xfrm>
            <a:off x="8616442" y="4724146"/>
            <a:ext cx="186055" cy="192024"/>
          </a:xfrm>
          <a:custGeom>
            <a:avLst/>
            <a:gdLst/>
            <a:ahLst/>
            <a:cxnLst/>
            <a:rect l="l" t="t" r="r" b="b"/>
            <a:pathLst>
              <a:path w="96892" h="100000">
                <a:moveTo>
                  <a:pt x="0" y="79167"/>
                </a:moveTo>
                <a:lnTo>
                  <a:pt x="926" y="76653"/>
                </a:lnTo>
                <a:lnTo>
                  <a:pt x="1918" y="74206"/>
                </a:lnTo>
                <a:lnTo>
                  <a:pt x="2976" y="71759"/>
                </a:lnTo>
                <a:lnTo>
                  <a:pt x="4034" y="69312"/>
                </a:lnTo>
                <a:lnTo>
                  <a:pt x="5159" y="66931"/>
                </a:lnTo>
                <a:lnTo>
                  <a:pt x="6349" y="64550"/>
                </a:lnTo>
                <a:lnTo>
                  <a:pt x="7540" y="62169"/>
                </a:lnTo>
                <a:lnTo>
                  <a:pt x="8796" y="59854"/>
                </a:lnTo>
                <a:lnTo>
                  <a:pt x="10053" y="57474"/>
                </a:lnTo>
                <a:lnTo>
                  <a:pt x="11376" y="55225"/>
                </a:lnTo>
                <a:lnTo>
                  <a:pt x="12765" y="52910"/>
                </a:lnTo>
                <a:lnTo>
                  <a:pt x="14153" y="50661"/>
                </a:lnTo>
                <a:lnTo>
                  <a:pt x="15608" y="48479"/>
                </a:lnTo>
                <a:lnTo>
                  <a:pt x="17130" y="46230"/>
                </a:lnTo>
                <a:lnTo>
                  <a:pt x="18651" y="44048"/>
                </a:lnTo>
                <a:lnTo>
                  <a:pt x="20172" y="41931"/>
                </a:lnTo>
                <a:lnTo>
                  <a:pt x="21759" y="39815"/>
                </a:lnTo>
                <a:lnTo>
                  <a:pt x="23413" y="37698"/>
                </a:lnTo>
                <a:lnTo>
                  <a:pt x="25066" y="35648"/>
                </a:lnTo>
                <a:lnTo>
                  <a:pt x="26786" y="33598"/>
                </a:lnTo>
                <a:lnTo>
                  <a:pt x="28505" y="31614"/>
                </a:lnTo>
                <a:lnTo>
                  <a:pt x="30291" y="29630"/>
                </a:lnTo>
                <a:lnTo>
                  <a:pt x="32143" y="27712"/>
                </a:lnTo>
                <a:lnTo>
                  <a:pt x="33995" y="25794"/>
                </a:lnTo>
                <a:lnTo>
                  <a:pt x="35847" y="23942"/>
                </a:lnTo>
                <a:lnTo>
                  <a:pt x="37765" y="22090"/>
                </a:lnTo>
                <a:lnTo>
                  <a:pt x="39683" y="20238"/>
                </a:lnTo>
                <a:lnTo>
                  <a:pt x="41667" y="18452"/>
                </a:lnTo>
                <a:lnTo>
                  <a:pt x="43651" y="16733"/>
                </a:lnTo>
                <a:lnTo>
                  <a:pt x="45701" y="15013"/>
                </a:lnTo>
                <a:lnTo>
                  <a:pt x="47751" y="13360"/>
                </a:lnTo>
                <a:lnTo>
                  <a:pt x="49868" y="11706"/>
                </a:lnTo>
                <a:lnTo>
                  <a:pt x="51984" y="10119"/>
                </a:lnTo>
                <a:lnTo>
                  <a:pt x="54101" y="8598"/>
                </a:lnTo>
                <a:lnTo>
                  <a:pt x="56283" y="7077"/>
                </a:lnTo>
                <a:lnTo>
                  <a:pt x="58532" y="5556"/>
                </a:lnTo>
                <a:lnTo>
                  <a:pt x="60714" y="4101"/>
                </a:lnTo>
                <a:lnTo>
                  <a:pt x="62963" y="2712"/>
                </a:lnTo>
                <a:lnTo>
                  <a:pt x="65278" y="1323"/>
                </a:lnTo>
                <a:lnTo>
                  <a:pt x="67526" y="0"/>
                </a:lnTo>
                <a:lnTo>
                  <a:pt x="96892" y="51852"/>
                </a:lnTo>
                <a:lnTo>
                  <a:pt x="95437" y="52646"/>
                </a:lnTo>
                <a:lnTo>
                  <a:pt x="94114" y="53439"/>
                </a:lnTo>
                <a:lnTo>
                  <a:pt x="92725" y="54299"/>
                </a:lnTo>
                <a:lnTo>
                  <a:pt x="91336" y="55225"/>
                </a:lnTo>
                <a:lnTo>
                  <a:pt x="90013" y="56085"/>
                </a:lnTo>
                <a:lnTo>
                  <a:pt x="88690" y="57011"/>
                </a:lnTo>
                <a:lnTo>
                  <a:pt x="87368" y="58003"/>
                </a:lnTo>
                <a:lnTo>
                  <a:pt x="86111" y="58929"/>
                </a:lnTo>
                <a:lnTo>
                  <a:pt x="84788" y="59921"/>
                </a:lnTo>
                <a:lnTo>
                  <a:pt x="83532" y="60979"/>
                </a:lnTo>
                <a:lnTo>
                  <a:pt x="82341" y="61971"/>
                </a:lnTo>
                <a:lnTo>
                  <a:pt x="81085" y="63029"/>
                </a:lnTo>
                <a:lnTo>
                  <a:pt x="79894" y="64153"/>
                </a:lnTo>
                <a:lnTo>
                  <a:pt x="78704" y="65212"/>
                </a:lnTo>
                <a:lnTo>
                  <a:pt x="77579" y="66336"/>
                </a:lnTo>
                <a:lnTo>
                  <a:pt x="76389" y="67526"/>
                </a:lnTo>
                <a:lnTo>
                  <a:pt x="75265" y="68651"/>
                </a:lnTo>
                <a:lnTo>
                  <a:pt x="74206" y="69841"/>
                </a:lnTo>
                <a:lnTo>
                  <a:pt x="73082" y="71032"/>
                </a:lnTo>
                <a:lnTo>
                  <a:pt x="72024" y="72288"/>
                </a:lnTo>
                <a:lnTo>
                  <a:pt x="71032" y="73479"/>
                </a:lnTo>
                <a:lnTo>
                  <a:pt x="69974" y="74735"/>
                </a:lnTo>
                <a:lnTo>
                  <a:pt x="68981" y="76058"/>
                </a:lnTo>
                <a:lnTo>
                  <a:pt x="68056" y="77315"/>
                </a:lnTo>
                <a:lnTo>
                  <a:pt x="67063" y="78638"/>
                </a:lnTo>
                <a:lnTo>
                  <a:pt x="66138" y="79960"/>
                </a:lnTo>
                <a:lnTo>
                  <a:pt x="65278" y="81283"/>
                </a:lnTo>
                <a:lnTo>
                  <a:pt x="64352" y="82672"/>
                </a:lnTo>
                <a:lnTo>
                  <a:pt x="63492" y="84061"/>
                </a:lnTo>
                <a:lnTo>
                  <a:pt x="62698" y="85384"/>
                </a:lnTo>
                <a:lnTo>
                  <a:pt x="61905" y="86839"/>
                </a:lnTo>
                <a:lnTo>
                  <a:pt x="61111" y="88228"/>
                </a:lnTo>
                <a:lnTo>
                  <a:pt x="60317" y="89683"/>
                </a:lnTo>
                <a:lnTo>
                  <a:pt x="59590" y="91071"/>
                </a:lnTo>
                <a:lnTo>
                  <a:pt x="58862" y="92526"/>
                </a:lnTo>
                <a:lnTo>
                  <a:pt x="58201" y="93981"/>
                </a:lnTo>
                <a:lnTo>
                  <a:pt x="57540" y="95503"/>
                </a:lnTo>
                <a:lnTo>
                  <a:pt x="56944" y="96958"/>
                </a:lnTo>
                <a:lnTo>
                  <a:pt x="56283" y="98479"/>
                </a:lnTo>
                <a:lnTo>
                  <a:pt x="55754" y="100000"/>
                </a:ln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7" name="Freeform 487"/>
          <p:cNvSpPr/>
          <p:nvPr/>
        </p:nvSpPr>
        <p:spPr>
          <a:xfrm>
            <a:off x="8759698" y="4686427"/>
            <a:ext cx="125603" cy="132842"/>
          </a:xfrm>
          <a:custGeom>
            <a:avLst/>
            <a:gdLst/>
            <a:ahLst/>
            <a:cxnLst/>
            <a:rect l="l" t="t" r="r" b="b"/>
            <a:pathLst>
              <a:path w="94551" h="100000">
                <a:moveTo>
                  <a:pt x="0" y="23040"/>
                </a:moveTo>
                <a:lnTo>
                  <a:pt x="2103" y="21989"/>
                </a:lnTo>
                <a:lnTo>
                  <a:pt x="4302" y="20937"/>
                </a:lnTo>
                <a:lnTo>
                  <a:pt x="6501" y="19885"/>
                </a:lnTo>
                <a:lnTo>
                  <a:pt x="8700" y="18929"/>
                </a:lnTo>
                <a:lnTo>
                  <a:pt x="10803" y="17973"/>
                </a:lnTo>
                <a:lnTo>
                  <a:pt x="13098" y="17017"/>
                </a:lnTo>
                <a:lnTo>
                  <a:pt x="15296" y="16061"/>
                </a:lnTo>
                <a:lnTo>
                  <a:pt x="17495" y="15201"/>
                </a:lnTo>
                <a:lnTo>
                  <a:pt x="19694" y="14340"/>
                </a:lnTo>
                <a:lnTo>
                  <a:pt x="21989" y="13480"/>
                </a:lnTo>
                <a:lnTo>
                  <a:pt x="24283" y="12715"/>
                </a:lnTo>
                <a:lnTo>
                  <a:pt x="26482" y="11855"/>
                </a:lnTo>
                <a:lnTo>
                  <a:pt x="28776" y="11090"/>
                </a:lnTo>
                <a:lnTo>
                  <a:pt x="31071" y="10325"/>
                </a:lnTo>
                <a:lnTo>
                  <a:pt x="33365" y="9656"/>
                </a:lnTo>
                <a:lnTo>
                  <a:pt x="35660" y="8987"/>
                </a:lnTo>
                <a:lnTo>
                  <a:pt x="37954" y="8317"/>
                </a:lnTo>
                <a:lnTo>
                  <a:pt x="40249" y="7648"/>
                </a:lnTo>
                <a:lnTo>
                  <a:pt x="42543" y="7075"/>
                </a:lnTo>
                <a:lnTo>
                  <a:pt x="44933" y="6405"/>
                </a:lnTo>
                <a:lnTo>
                  <a:pt x="47228" y="5832"/>
                </a:lnTo>
                <a:lnTo>
                  <a:pt x="49522" y="5354"/>
                </a:lnTo>
                <a:lnTo>
                  <a:pt x="51912" y="4780"/>
                </a:lnTo>
                <a:lnTo>
                  <a:pt x="54207" y="4302"/>
                </a:lnTo>
                <a:lnTo>
                  <a:pt x="56597" y="3824"/>
                </a:lnTo>
                <a:lnTo>
                  <a:pt x="58987" y="3442"/>
                </a:lnTo>
                <a:lnTo>
                  <a:pt x="61281" y="2964"/>
                </a:lnTo>
                <a:lnTo>
                  <a:pt x="63671" y="2581"/>
                </a:lnTo>
                <a:lnTo>
                  <a:pt x="66061" y="2294"/>
                </a:lnTo>
                <a:lnTo>
                  <a:pt x="68451" y="1912"/>
                </a:lnTo>
                <a:lnTo>
                  <a:pt x="70841" y="1625"/>
                </a:lnTo>
                <a:lnTo>
                  <a:pt x="73231" y="1338"/>
                </a:lnTo>
                <a:lnTo>
                  <a:pt x="75621" y="1052"/>
                </a:lnTo>
                <a:lnTo>
                  <a:pt x="78011" y="860"/>
                </a:lnTo>
                <a:lnTo>
                  <a:pt x="80402" y="574"/>
                </a:lnTo>
                <a:lnTo>
                  <a:pt x="82792" y="478"/>
                </a:lnTo>
                <a:lnTo>
                  <a:pt x="85182" y="287"/>
                </a:lnTo>
                <a:lnTo>
                  <a:pt x="87572" y="191"/>
                </a:lnTo>
                <a:lnTo>
                  <a:pt x="89962" y="96"/>
                </a:lnTo>
                <a:lnTo>
                  <a:pt x="92352" y="0"/>
                </a:lnTo>
                <a:lnTo>
                  <a:pt x="94551" y="85946"/>
                </a:lnTo>
                <a:lnTo>
                  <a:pt x="93117" y="86042"/>
                </a:lnTo>
                <a:lnTo>
                  <a:pt x="91683" y="86138"/>
                </a:lnTo>
                <a:lnTo>
                  <a:pt x="90249" y="86138"/>
                </a:lnTo>
                <a:lnTo>
                  <a:pt x="88719" y="86233"/>
                </a:lnTo>
                <a:lnTo>
                  <a:pt x="87285" y="86424"/>
                </a:lnTo>
                <a:lnTo>
                  <a:pt x="85851" y="86520"/>
                </a:lnTo>
                <a:lnTo>
                  <a:pt x="84417" y="86616"/>
                </a:lnTo>
                <a:lnTo>
                  <a:pt x="82983" y="86807"/>
                </a:lnTo>
                <a:lnTo>
                  <a:pt x="81453" y="86998"/>
                </a:lnTo>
                <a:lnTo>
                  <a:pt x="80019" y="87189"/>
                </a:lnTo>
                <a:lnTo>
                  <a:pt x="78585" y="87380"/>
                </a:lnTo>
                <a:lnTo>
                  <a:pt x="77151" y="87572"/>
                </a:lnTo>
                <a:lnTo>
                  <a:pt x="75717" y="87859"/>
                </a:lnTo>
                <a:lnTo>
                  <a:pt x="74283" y="88050"/>
                </a:lnTo>
                <a:lnTo>
                  <a:pt x="72849" y="88337"/>
                </a:lnTo>
                <a:lnTo>
                  <a:pt x="71415" y="88623"/>
                </a:lnTo>
                <a:lnTo>
                  <a:pt x="69981" y="88910"/>
                </a:lnTo>
                <a:lnTo>
                  <a:pt x="68547" y="89293"/>
                </a:lnTo>
                <a:lnTo>
                  <a:pt x="67113" y="89579"/>
                </a:lnTo>
                <a:lnTo>
                  <a:pt x="65679" y="89962"/>
                </a:lnTo>
                <a:lnTo>
                  <a:pt x="64340" y="90249"/>
                </a:lnTo>
                <a:lnTo>
                  <a:pt x="62906" y="90631"/>
                </a:lnTo>
                <a:lnTo>
                  <a:pt x="61472" y="91013"/>
                </a:lnTo>
                <a:lnTo>
                  <a:pt x="60038" y="91491"/>
                </a:lnTo>
                <a:lnTo>
                  <a:pt x="58700" y="91874"/>
                </a:lnTo>
                <a:lnTo>
                  <a:pt x="57266" y="92352"/>
                </a:lnTo>
                <a:lnTo>
                  <a:pt x="55927" y="92734"/>
                </a:lnTo>
                <a:lnTo>
                  <a:pt x="54493" y="93212"/>
                </a:lnTo>
                <a:lnTo>
                  <a:pt x="53155" y="93690"/>
                </a:lnTo>
                <a:lnTo>
                  <a:pt x="51721" y="94264"/>
                </a:lnTo>
                <a:lnTo>
                  <a:pt x="50382" y="94742"/>
                </a:lnTo>
                <a:lnTo>
                  <a:pt x="49044" y="95220"/>
                </a:lnTo>
                <a:lnTo>
                  <a:pt x="47706" y="95793"/>
                </a:lnTo>
                <a:lnTo>
                  <a:pt x="46367" y="96367"/>
                </a:lnTo>
                <a:lnTo>
                  <a:pt x="45029" y="96941"/>
                </a:lnTo>
                <a:lnTo>
                  <a:pt x="43690" y="97514"/>
                </a:lnTo>
                <a:lnTo>
                  <a:pt x="42352" y="98088"/>
                </a:lnTo>
                <a:lnTo>
                  <a:pt x="41013" y="98757"/>
                </a:lnTo>
                <a:lnTo>
                  <a:pt x="39675" y="99331"/>
                </a:lnTo>
                <a:lnTo>
                  <a:pt x="38337" y="100000"/>
                </a:ln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88" name="TextBox 139"/>
          <p:cNvSpPr txBox="1"/>
          <p:nvPr/>
        </p:nvSpPr>
        <p:spPr>
          <a:xfrm>
            <a:off x="8788400" y="4889500"/>
            <a:ext cx="203200" cy="177800"/>
          </a:xfrm>
          <a:prstGeom prst="rect">
            <a:avLst/>
          </a:prstGeom>
        </p:spPr>
        <p:txBody>
          <a:bodyPr wrap="square" lIns="0" tIns="0" rIns="0" bIns="0" anchor="ctr">
            <a:noAutofit/>
          </a:bodyPr>
          <a:lstStyle/>
          <a:p>
            <a:pPr algn="ctr">
              <a:lnSpc>
                <a:spcPct val="135000"/>
              </a:lnSpc>
            </a:pPr>
            <a:r>
              <a:rPr sz="660" spc="0">
                <a:solidFill>
                  <a:srgbClr val="0A0A0A"/>
                </a:solidFill>
                <a:latin typeface="PP Editorial New Ultralight"/>
              </a:rPr>
              <a:t>62</a:t>
            </a:r>
            <a:endParaRPr sz="660" spc="0">
              <a:solidFill>
                <a:srgbClr val="0A0A0A"/>
              </a:solidFill>
              <a:latin typeface="PP Editorial New Ultralight"/>
            </a:endParaRPr>
          </a:p>
        </p:txBody>
      </p:sp>
      <p:sp>
        <p:nvSpPr>
          <p:cNvPr id="489" name="Oval 140"/>
          <p:cNvSpPr/>
          <p:nvPr/>
        </p:nvSpPr>
        <p:spPr>
          <a:xfrm>
            <a:off x="9428480" y="47929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90" name="TextBox 141"/>
          <p:cNvSpPr txBox="1"/>
          <p:nvPr/>
        </p:nvSpPr>
        <p:spPr>
          <a:xfrm>
            <a:off x="9550400" y="4762500"/>
            <a:ext cx="508000" cy="127000"/>
          </a:xfrm>
          <a:prstGeom prst="rect">
            <a:avLst/>
          </a:prstGeom>
        </p:spPr>
        <p:txBody>
          <a:bodyPr wrap="square" lIns="0" tIns="0" rIns="0" bIns="0">
            <a:noAutofit/>
          </a:bodyPr>
          <a:lstStyle/>
          <a:p>
            <a:pPr>
              <a:lnSpc>
                <a:spcPct val="135000"/>
              </a:lnSpc>
            </a:pPr>
            <a:r>
              <a:rPr sz="460" spc="0">
                <a:solidFill>
                  <a:srgbClr val="0A0A0A"/>
                </a:solidFill>
                <a:latin typeface="Telegraf"/>
              </a:rPr>
              <a:t>R6</a:t>
            </a:r>
            <a:endParaRPr sz="460" spc="0">
              <a:solidFill>
                <a:srgbClr val="0A0A0A"/>
              </a:solidFill>
              <a:latin typeface="Telegraf"/>
            </a:endParaRPr>
          </a:p>
        </p:txBody>
      </p:sp>
      <p:sp>
        <p:nvSpPr>
          <p:cNvPr id="491" name="TextBox 142"/>
          <p:cNvSpPr txBox="1"/>
          <p:nvPr/>
        </p:nvSpPr>
        <p:spPr>
          <a:xfrm>
            <a:off x="10693400" y="4762500"/>
            <a:ext cx="4064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62%</a:t>
            </a:r>
            <a:endParaRPr sz="460" spc="0">
              <a:solidFill>
                <a:srgbClr val="A2A2A8"/>
              </a:solidFill>
              <a:latin typeface="Telegraf"/>
            </a:endParaRPr>
          </a:p>
        </p:txBody>
      </p:sp>
      <p:sp>
        <p:nvSpPr>
          <p:cNvPr id="492" name="Oval 143"/>
          <p:cNvSpPr/>
          <p:nvPr/>
        </p:nvSpPr>
        <p:spPr>
          <a:xfrm>
            <a:off x="9428480" y="4970780"/>
            <a:ext cx="40640" cy="4064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93" name="TextBox 144"/>
          <p:cNvSpPr txBox="1"/>
          <p:nvPr/>
        </p:nvSpPr>
        <p:spPr>
          <a:xfrm>
            <a:off x="9550400" y="4940300"/>
            <a:ext cx="508000" cy="127000"/>
          </a:xfrm>
          <a:prstGeom prst="rect">
            <a:avLst/>
          </a:prstGeom>
        </p:spPr>
        <p:txBody>
          <a:bodyPr wrap="square" lIns="0" tIns="0" rIns="0" bIns="0">
            <a:noAutofit/>
          </a:bodyPr>
          <a:lstStyle/>
          <a:p>
            <a:pPr>
              <a:lnSpc>
                <a:spcPct val="135000"/>
              </a:lnSpc>
            </a:pPr>
            <a:r>
              <a:rPr sz="460" spc="0">
                <a:solidFill>
                  <a:srgbClr val="0A0A0A"/>
                </a:solidFill>
                <a:latin typeface="Telegraf"/>
              </a:rPr>
              <a:t>R5</a:t>
            </a:r>
            <a:endParaRPr sz="460" spc="0">
              <a:solidFill>
                <a:srgbClr val="0A0A0A"/>
              </a:solidFill>
              <a:latin typeface="Telegraf"/>
            </a:endParaRPr>
          </a:p>
        </p:txBody>
      </p:sp>
      <p:sp>
        <p:nvSpPr>
          <p:cNvPr id="494" name="TextBox 145"/>
          <p:cNvSpPr txBox="1"/>
          <p:nvPr/>
        </p:nvSpPr>
        <p:spPr>
          <a:xfrm>
            <a:off x="10693400" y="4940300"/>
            <a:ext cx="4064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18%</a:t>
            </a:r>
            <a:endParaRPr sz="460" spc="0">
              <a:solidFill>
                <a:srgbClr val="A2A2A8"/>
              </a:solidFill>
              <a:latin typeface="Telegraf"/>
            </a:endParaRPr>
          </a:p>
        </p:txBody>
      </p:sp>
      <p:sp>
        <p:nvSpPr>
          <p:cNvPr id="495" name="Oval 146"/>
          <p:cNvSpPr/>
          <p:nvPr/>
        </p:nvSpPr>
        <p:spPr>
          <a:xfrm>
            <a:off x="9428480" y="5148580"/>
            <a:ext cx="40640" cy="4064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96" name="TextBox 147"/>
          <p:cNvSpPr txBox="1"/>
          <p:nvPr/>
        </p:nvSpPr>
        <p:spPr>
          <a:xfrm>
            <a:off x="9550400" y="5118100"/>
            <a:ext cx="508000" cy="127000"/>
          </a:xfrm>
          <a:prstGeom prst="rect">
            <a:avLst/>
          </a:prstGeom>
        </p:spPr>
        <p:txBody>
          <a:bodyPr wrap="square" lIns="0" tIns="0" rIns="0" bIns="0">
            <a:noAutofit/>
          </a:bodyPr>
          <a:lstStyle/>
          <a:p>
            <a:pPr>
              <a:lnSpc>
                <a:spcPct val="135000"/>
              </a:lnSpc>
            </a:pPr>
            <a:r>
              <a:rPr sz="460" spc="0">
                <a:solidFill>
                  <a:srgbClr val="0A0A0A"/>
                </a:solidFill>
                <a:latin typeface="Telegraf"/>
              </a:rPr>
              <a:t>R2</a:t>
            </a:r>
            <a:endParaRPr sz="460" spc="0">
              <a:solidFill>
                <a:srgbClr val="0A0A0A"/>
              </a:solidFill>
              <a:latin typeface="Telegraf"/>
            </a:endParaRPr>
          </a:p>
        </p:txBody>
      </p:sp>
      <p:sp>
        <p:nvSpPr>
          <p:cNvPr id="497" name="TextBox 148"/>
          <p:cNvSpPr txBox="1"/>
          <p:nvPr/>
        </p:nvSpPr>
        <p:spPr>
          <a:xfrm>
            <a:off x="10693400" y="5118100"/>
            <a:ext cx="4064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12%</a:t>
            </a:r>
            <a:endParaRPr sz="460" spc="0">
              <a:solidFill>
                <a:srgbClr val="A2A2A8"/>
              </a:solidFill>
              <a:latin typeface="Telegraf"/>
            </a:endParaRPr>
          </a:p>
        </p:txBody>
      </p:sp>
      <p:sp>
        <p:nvSpPr>
          <p:cNvPr id="498" name="Oval 149"/>
          <p:cNvSpPr/>
          <p:nvPr/>
        </p:nvSpPr>
        <p:spPr>
          <a:xfrm>
            <a:off x="9428480" y="5326380"/>
            <a:ext cx="40640" cy="4064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499" name="TextBox 150"/>
          <p:cNvSpPr txBox="1"/>
          <p:nvPr/>
        </p:nvSpPr>
        <p:spPr>
          <a:xfrm>
            <a:off x="9550400" y="5295900"/>
            <a:ext cx="508000" cy="127000"/>
          </a:xfrm>
          <a:prstGeom prst="rect">
            <a:avLst/>
          </a:prstGeom>
        </p:spPr>
        <p:txBody>
          <a:bodyPr wrap="square" lIns="0" tIns="0" rIns="0" bIns="0">
            <a:noAutofit/>
          </a:bodyPr>
          <a:lstStyle/>
          <a:p>
            <a:pPr>
              <a:lnSpc>
                <a:spcPct val="135000"/>
              </a:lnSpc>
            </a:pPr>
            <a:r>
              <a:rPr sz="460" spc="0">
                <a:solidFill>
                  <a:srgbClr val="0A0A0A"/>
                </a:solidFill>
                <a:latin typeface="Telegraf"/>
              </a:rPr>
              <a:t>R1</a:t>
            </a:r>
            <a:endParaRPr sz="460" spc="0">
              <a:solidFill>
                <a:srgbClr val="0A0A0A"/>
              </a:solidFill>
              <a:latin typeface="Telegraf"/>
            </a:endParaRPr>
          </a:p>
        </p:txBody>
      </p:sp>
      <p:sp>
        <p:nvSpPr>
          <p:cNvPr id="500" name="TextBox 151"/>
          <p:cNvSpPr txBox="1"/>
          <p:nvPr/>
        </p:nvSpPr>
        <p:spPr>
          <a:xfrm>
            <a:off x="10693400" y="5295900"/>
            <a:ext cx="4064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8%</a:t>
            </a:r>
            <a:endParaRPr sz="460" spc="0">
              <a:solidFill>
                <a:srgbClr val="A2A2A8"/>
              </a:solidFill>
              <a:latin typeface="Telegraf"/>
            </a:endParaRPr>
          </a:p>
        </p:txBody>
      </p:sp>
      <p:sp>
        <p:nvSpPr>
          <p:cNvPr id="501" name="Freeform 501"/>
          <p:cNvSpPr/>
          <p:nvPr/>
        </p:nvSpPr>
        <p:spPr>
          <a:xfrm>
            <a:off x="8458200" y="5524500"/>
            <a:ext cx="1285240" cy="152400"/>
          </a:xfrm>
          <a:custGeom>
            <a:avLst/>
            <a:gdLst/>
            <a:ahLst/>
            <a:cxnLst/>
            <a:rect l="l" t="t" r="r" b="b"/>
            <a:pathLst>
              <a:path w="100000" h="11858" fill="none">
                <a:moveTo>
                  <a:pt x="0" y="2964"/>
                </a:moveTo>
                <a:lnTo>
                  <a:pt x="4545" y="5929"/>
                </a:lnTo>
                <a:lnTo>
                  <a:pt x="9091" y="988"/>
                </a:lnTo>
                <a:lnTo>
                  <a:pt x="13636" y="7905"/>
                </a:lnTo>
                <a:lnTo>
                  <a:pt x="18182" y="3953"/>
                </a:lnTo>
                <a:lnTo>
                  <a:pt x="22727" y="5929"/>
                </a:lnTo>
                <a:lnTo>
                  <a:pt x="27273" y="0"/>
                </a:lnTo>
                <a:lnTo>
                  <a:pt x="31818" y="9881"/>
                </a:lnTo>
                <a:lnTo>
                  <a:pt x="36364" y="6917"/>
                </a:lnTo>
                <a:lnTo>
                  <a:pt x="40909" y="10870"/>
                </a:lnTo>
                <a:lnTo>
                  <a:pt x="45455" y="4941"/>
                </a:lnTo>
                <a:lnTo>
                  <a:pt x="50000" y="11858"/>
                </a:lnTo>
                <a:lnTo>
                  <a:pt x="54545" y="7905"/>
                </a:lnTo>
                <a:lnTo>
                  <a:pt x="59091" y="9881"/>
                </a:lnTo>
                <a:lnTo>
                  <a:pt x="63636" y="5929"/>
                </a:lnTo>
                <a:lnTo>
                  <a:pt x="68182" y="10870"/>
                </a:lnTo>
                <a:lnTo>
                  <a:pt x="72727" y="8893"/>
                </a:lnTo>
                <a:lnTo>
                  <a:pt x="77273" y="10870"/>
                </a:lnTo>
                <a:lnTo>
                  <a:pt x="81818" y="6917"/>
                </a:lnTo>
                <a:lnTo>
                  <a:pt x="86364" y="11858"/>
                </a:lnTo>
                <a:lnTo>
                  <a:pt x="90909" y="9881"/>
                </a:lnTo>
                <a:lnTo>
                  <a:pt x="95455" y="11858"/>
                </a:lnTo>
                <a:lnTo>
                  <a:pt x="100000" y="10870"/>
                </a:lnTo>
              </a:path>
            </a:pathLst>
          </a:custGeom>
          <a:noFill/>
          <a:ln w="1397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502" name="Oval 153"/>
          <p:cNvSpPr/>
          <p:nvPr/>
        </p:nvSpPr>
        <p:spPr>
          <a:xfrm>
            <a:off x="9724390" y="5645150"/>
            <a:ext cx="38100" cy="3810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03" name="TextBox 154"/>
          <p:cNvSpPr txBox="1"/>
          <p:nvPr/>
        </p:nvSpPr>
        <p:spPr>
          <a:xfrm>
            <a:off x="8458200" y="5791200"/>
            <a:ext cx="3175000" cy="304800"/>
          </a:xfrm>
          <a:prstGeom prst="rect">
            <a:avLst/>
          </a:prstGeom>
        </p:spPr>
        <p:txBody>
          <a:bodyPr wrap="square" lIns="0" tIns="0" rIns="0" bIns="0">
            <a:noAutofit/>
          </a:bodyPr>
          <a:lstStyle/>
          <a:p>
            <a:pPr>
              <a:lnSpc>
                <a:spcPct val="135000"/>
              </a:lnSpc>
            </a:pPr>
            <a:r>
              <a:rPr sz="470" spc="0">
                <a:solidFill>
                  <a:srgbClr val="67676E"/>
                </a:solidFill>
                <a:latin typeface="Telegraf"/>
              </a:rPr>
              <a:t>Sparkline 1.1pt · measured, never invented. The donut takes the routing mix from the queue's own count.</a:t>
            </a:r>
            <a:endParaRPr sz="470" spc="0">
              <a:solidFill>
                <a:srgbClr val="67676E"/>
              </a:solidFill>
              <a:latin typeface="Telegra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3B37"/>
        </a:solidFill>
        <a:effectLst/>
      </p:bgPr>
    </p:bg>
    <p:spTree>
      <p:nvGrpSpPr>
        <p:cNvPr id="1" name=""/>
        <p:cNvGrpSpPr/>
        <p:nvPr/>
      </p:nvGrpSpPr>
      <p:grpSpPr>
        <a:xfrm>
          <a:off x="0" y="0"/>
          <a:ext cx="0" cy="0"/>
          <a:chOff x="0" y="0"/>
          <a:chExt cx="0" cy="0"/>
        </a:xfrm>
      </p:grpSpPr>
      <p:sp>
        <p:nvSpPr>
          <p:cNvPr id="505" name="Freeform 505"/>
          <p:cNvSpPr/>
          <p:nvPr/>
        </p:nvSpPr>
        <p:spPr>
          <a:xfrm>
            <a:off x="8697722" y="3683127"/>
            <a:ext cx="6034278" cy="3446399"/>
          </a:xfrm>
          <a:custGeom>
            <a:avLst/>
            <a:gdLst/>
            <a:ahLst/>
            <a:cxnLst/>
            <a:rect l="l" t="t" r="r" b="b"/>
            <a:pathLst>
              <a:path w="100000" h="57114">
                <a:moveTo>
                  <a:pt x="0" y="55651"/>
                </a:moveTo>
                <a:lnTo>
                  <a:pt x="440" y="53384"/>
                </a:lnTo>
                <a:lnTo>
                  <a:pt x="958" y="51134"/>
                </a:lnTo>
                <a:lnTo>
                  <a:pt x="1551" y="48903"/>
                </a:lnTo>
                <a:lnTo>
                  <a:pt x="2223" y="46694"/>
                </a:lnTo>
                <a:lnTo>
                  <a:pt x="2968" y="44509"/>
                </a:lnTo>
                <a:lnTo>
                  <a:pt x="3786" y="42352"/>
                </a:lnTo>
                <a:lnTo>
                  <a:pt x="4681" y="40222"/>
                </a:lnTo>
                <a:lnTo>
                  <a:pt x="5647" y="38126"/>
                </a:lnTo>
                <a:lnTo>
                  <a:pt x="6684" y="36063"/>
                </a:lnTo>
                <a:lnTo>
                  <a:pt x="7791" y="34036"/>
                </a:lnTo>
                <a:lnTo>
                  <a:pt x="8968" y="32050"/>
                </a:lnTo>
                <a:lnTo>
                  <a:pt x="10212" y="30105"/>
                </a:lnTo>
                <a:lnTo>
                  <a:pt x="11521" y="28202"/>
                </a:lnTo>
                <a:lnTo>
                  <a:pt x="12895" y="26348"/>
                </a:lnTo>
                <a:lnTo>
                  <a:pt x="14331" y="24540"/>
                </a:lnTo>
                <a:lnTo>
                  <a:pt x="15829" y="22783"/>
                </a:lnTo>
                <a:lnTo>
                  <a:pt x="17386" y="21078"/>
                </a:lnTo>
                <a:lnTo>
                  <a:pt x="19001" y="19428"/>
                </a:lnTo>
                <a:lnTo>
                  <a:pt x="20672" y="17835"/>
                </a:lnTo>
                <a:lnTo>
                  <a:pt x="22396" y="16298"/>
                </a:lnTo>
                <a:lnTo>
                  <a:pt x="24170" y="14823"/>
                </a:lnTo>
                <a:lnTo>
                  <a:pt x="25997" y="13409"/>
                </a:lnTo>
                <a:lnTo>
                  <a:pt x="27868" y="12057"/>
                </a:lnTo>
                <a:lnTo>
                  <a:pt x="29787" y="10772"/>
                </a:lnTo>
                <a:lnTo>
                  <a:pt x="31746" y="9553"/>
                </a:lnTo>
                <a:lnTo>
                  <a:pt x="33748" y="8402"/>
                </a:lnTo>
                <a:lnTo>
                  <a:pt x="35787" y="7320"/>
                </a:lnTo>
                <a:lnTo>
                  <a:pt x="37863" y="6308"/>
                </a:lnTo>
                <a:lnTo>
                  <a:pt x="39971" y="5369"/>
                </a:lnTo>
                <a:lnTo>
                  <a:pt x="42112" y="4502"/>
                </a:lnTo>
                <a:lnTo>
                  <a:pt x="44280" y="3708"/>
                </a:lnTo>
                <a:lnTo>
                  <a:pt x="46475" y="2991"/>
                </a:lnTo>
                <a:lnTo>
                  <a:pt x="48691" y="2347"/>
                </a:lnTo>
                <a:lnTo>
                  <a:pt x="50930" y="1781"/>
                </a:lnTo>
                <a:lnTo>
                  <a:pt x="53186" y="1292"/>
                </a:lnTo>
                <a:lnTo>
                  <a:pt x="55459" y="880"/>
                </a:lnTo>
                <a:lnTo>
                  <a:pt x="57743" y="547"/>
                </a:lnTo>
                <a:lnTo>
                  <a:pt x="60037" y="293"/>
                </a:lnTo>
                <a:lnTo>
                  <a:pt x="62340" y="116"/>
                </a:lnTo>
                <a:lnTo>
                  <a:pt x="64646" y="19"/>
                </a:lnTo>
                <a:lnTo>
                  <a:pt x="66955" y="0"/>
                </a:lnTo>
                <a:lnTo>
                  <a:pt x="69264" y="61"/>
                </a:lnTo>
                <a:lnTo>
                  <a:pt x="71568" y="202"/>
                </a:lnTo>
                <a:lnTo>
                  <a:pt x="73867" y="421"/>
                </a:lnTo>
                <a:lnTo>
                  <a:pt x="76157" y="720"/>
                </a:lnTo>
                <a:lnTo>
                  <a:pt x="78434" y="1094"/>
                </a:lnTo>
                <a:lnTo>
                  <a:pt x="80698" y="1549"/>
                </a:lnTo>
                <a:lnTo>
                  <a:pt x="82944" y="2081"/>
                </a:lnTo>
                <a:lnTo>
                  <a:pt x="85173" y="2688"/>
                </a:lnTo>
                <a:lnTo>
                  <a:pt x="87376" y="3372"/>
                </a:lnTo>
                <a:lnTo>
                  <a:pt x="89557" y="4131"/>
                </a:lnTo>
                <a:lnTo>
                  <a:pt x="91710" y="4965"/>
                </a:lnTo>
                <a:lnTo>
                  <a:pt x="93833" y="5872"/>
                </a:lnTo>
                <a:lnTo>
                  <a:pt x="95925" y="6851"/>
                </a:lnTo>
                <a:lnTo>
                  <a:pt x="97982" y="7901"/>
                </a:lnTo>
                <a:lnTo>
                  <a:pt x="100000" y="9020"/>
                </a:lnTo>
                <a:lnTo>
                  <a:pt x="95791" y="16311"/>
                </a:lnTo>
                <a:lnTo>
                  <a:pt x="94025" y="15332"/>
                </a:lnTo>
                <a:lnTo>
                  <a:pt x="92225" y="14413"/>
                </a:lnTo>
                <a:lnTo>
                  <a:pt x="90394" y="13556"/>
                </a:lnTo>
                <a:lnTo>
                  <a:pt x="88538" y="12763"/>
                </a:lnTo>
                <a:lnTo>
                  <a:pt x="86654" y="12034"/>
                </a:lnTo>
                <a:lnTo>
                  <a:pt x="84746" y="11369"/>
                </a:lnTo>
                <a:lnTo>
                  <a:pt x="82816" y="10772"/>
                </a:lnTo>
                <a:lnTo>
                  <a:pt x="80867" y="10239"/>
                </a:lnTo>
                <a:lnTo>
                  <a:pt x="78901" y="9774"/>
                </a:lnTo>
                <a:lnTo>
                  <a:pt x="76920" y="9376"/>
                </a:lnTo>
                <a:lnTo>
                  <a:pt x="74927" y="9048"/>
                </a:lnTo>
                <a:lnTo>
                  <a:pt x="72924" y="8787"/>
                </a:lnTo>
                <a:lnTo>
                  <a:pt x="70912" y="8595"/>
                </a:lnTo>
                <a:lnTo>
                  <a:pt x="68895" y="8473"/>
                </a:lnTo>
                <a:lnTo>
                  <a:pt x="66877" y="8419"/>
                </a:lnTo>
                <a:lnTo>
                  <a:pt x="64857" y="8435"/>
                </a:lnTo>
                <a:lnTo>
                  <a:pt x="62838" y="8520"/>
                </a:lnTo>
                <a:lnTo>
                  <a:pt x="60824" y="8673"/>
                </a:lnTo>
                <a:lnTo>
                  <a:pt x="58816" y="8896"/>
                </a:lnTo>
                <a:lnTo>
                  <a:pt x="56817" y="9189"/>
                </a:lnTo>
                <a:lnTo>
                  <a:pt x="54828" y="9549"/>
                </a:lnTo>
                <a:lnTo>
                  <a:pt x="52854" y="9976"/>
                </a:lnTo>
                <a:lnTo>
                  <a:pt x="50897" y="10473"/>
                </a:lnTo>
                <a:lnTo>
                  <a:pt x="48956" y="11035"/>
                </a:lnTo>
                <a:lnTo>
                  <a:pt x="47037" y="11664"/>
                </a:lnTo>
                <a:lnTo>
                  <a:pt x="45138" y="12356"/>
                </a:lnTo>
                <a:lnTo>
                  <a:pt x="43265" y="13116"/>
                </a:lnTo>
                <a:lnTo>
                  <a:pt x="41421" y="13937"/>
                </a:lnTo>
                <a:lnTo>
                  <a:pt x="39605" y="14823"/>
                </a:lnTo>
                <a:lnTo>
                  <a:pt x="37820" y="15770"/>
                </a:lnTo>
                <a:lnTo>
                  <a:pt x="36069" y="16776"/>
                </a:lnTo>
                <a:lnTo>
                  <a:pt x="34354" y="17843"/>
                </a:lnTo>
                <a:lnTo>
                  <a:pt x="32675" y="18969"/>
                </a:lnTo>
                <a:lnTo>
                  <a:pt x="31037" y="20150"/>
                </a:lnTo>
                <a:lnTo>
                  <a:pt x="29440" y="21387"/>
                </a:lnTo>
                <a:lnTo>
                  <a:pt x="27887" y="22680"/>
                </a:lnTo>
                <a:lnTo>
                  <a:pt x="26377" y="24022"/>
                </a:lnTo>
                <a:lnTo>
                  <a:pt x="24917" y="25418"/>
                </a:lnTo>
                <a:lnTo>
                  <a:pt x="23505" y="26862"/>
                </a:lnTo>
                <a:lnTo>
                  <a:pt x="22141" y="28354"/>
                </a:lnTo>
                <a:lnTo>
                  <a:pt x="20830" y="29890"/>
                </a:lnTo>
                <a:lnTo>
                  <a:pt x="19573" y="31473"/>
                </a:lnTo>
                <a:lnTo>
                  <a:pt x="18371" y="33096"/>
                </a:lnTo>
                <a:lnTo>
                  <a:pt x="17224" y="34760"/>
                </a:lnTo>
                <a:lnTo>
                  <a:pt x="16136" y="36461"/>
                </a:lnTo>
                <a:lnTo>
                  <a:pt x="15107" y="38199"/>
                </a:lnTo>
                <a:lnTo>
                  <a:pt x="14139" y="39973"/>
                </a:lnTo>
                <a:lnTo>
                  <a:pt x="13232" y="41777"/>
                </a:lnTo>
                <a:lnTo>
                  <a:pt x="12386" y="43612"/>
                </a:lnTo>
                <a:lnTo>
                  <a:pt x="11605" y="45475"/>
                </a:lnTo>
                <a:lnTo>
                  <a:pt x="10887" y="47363"/>
                </a:lnTo>
                <a:lnTo>
                  <a:pt x="10235" y="49276"/>
                </a:lnTo>
                <a:lnTo>
                  <a:pt x="9648" y="51208"/>
                </a:lnTo>
                <a:lnTo>
                  <a:pt x="9128" y="53161"/>
                </a:lnTo>
                <a:lnTo>
                  <a:pt x="8675" y="55131"/>
                </a:lnTo>
                <a:lnTo>
                  <a:pt x="8290" y="57114"/>
                </a:lnTo>
                <a:close/>
              </a:path>
            </a:pathLst>
          </a:custGeom>
          <a:solidFill>
            <a:srgbClr val="0B4B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06" name="Freeform 506"/>
          <p:cNvSpPr/>
          <p:nvPr/>
        </p:nvSpPr>
        <p:spPr>
          <a:xfrm>
            <a:off x="7958709" y="2959100"/>
            <a:ext cx="6534912" cy="4181602"/>
          </a:xfrm>
          <a:custGeom>
            <a:avLst/>
            <a:gdLst/>
            <a:ahLst/>
            <a:cxnLst/>
            <a:rect l="l" t="t" r="r" b="b"/>
            <a:pathLst>
              <a:path w="100000" h="63989">
                <a:moveTo>
                  <a:pt x="0" y="63069"/>
                </a:moveTo>
                <a:lnTo>
                  <a:pt x="369" y="60724"/>
                </a:lnTo>
                <a:lnTo>
                  <a:pt x="812" y="58392"/>
                </a:lnTo>
                <a:lnTo>
                  <a:pt x="1333" y="56073"/>
                </a:lnTo>
                <a:lnTo>
                  <a:pt x="1928" y="53774"/>
                </a:lnTo>
                <a:lnTo>
                  <a:pt x="2596" y="51496"/>
                </a:lnTo>
                <a:lnTo>
                  <a:pt x="3339" y="49240"/>
                </a:lnTo>
                <a:lnTo>
                  <a:pt x="4153" y="47011"/>
                </a:lnTo>
                <a:lnTo>
                  <a:pt x="5039" y="44807"/>
                </a:lnTo>
                <a:lnTo>
                  <a:pt x="5997" y="42634"/>
                </a:lnTo>
                <a:lnTo>
                  <a:pt x="7025" y="40493"/>
                </a:lnTo>
                <a:lnTo>
                  <a:pt x="8122" y="38386"/>
                </a:lnTo>
                <a:lnTo>
                  <a:pt x="9286" y="36316"/>
                </a:lnTo>
                <a:lnTo>
                  <a:pt x="10516" y="34286"/>
                </a:lnTo>
                <a:lnTo>
                  <a:pt x="11812" y="32296"/>
                </a:lnTo>
                <a:lnTo>
                  <a:pt x="13172" y="30350"/>
                </a:lnTo>
                <a:lnTo>
                  <a:pt x="14595" y="28448"/>
                </a:lnTo>
                <a:lnTo>
                  <a:pt x="16078" y="26594"/>
                </a:lnTo>
                <a:lnTo>
                  <a:pt x="17619" y="24786"/>
                </a:lnTo>
                <a:lnTo>
                  <a:pt x="19220" y="23031"/>
                </a:lnTo>
                <a:lnTo>
                  <a:pt x="20876" y="21331"/>
                </a:lnTo>
                <a:lnTo>
                  <a:pt x="22586" y="19683"/>
                </a:lnTo>
                <a:lnTo>
                  <a:pt x="24349" y="18091"/>
                </a:lnTo>
                <a:lnTo>
                  <a:pt x="26162" y="16558"/>
                </a:lnTo>
                <a:lnTo>
                  <a:pt x="28024" y="15085"/>
                </a:lnTo>
                <a:lnTo>
                  <a:pt x="29932" y="13672"/>
                </a:lnTo>
                <a:lnTo>
                  <a:pt x="31887" y="12323"/>
                </a:lnTo>
                <a:lnTo>
                  <a:pt x="33883" y="11037"/>
                </a:lnTo>
                <a:lnTo>
                  <a:pt x="35920" y="9816"/>
                </a:lnTo>
                <a:lnTo>
                  <a:pt x="37996" y="8662"/>
                </a:lnTo>
                <a:lnTo>
                  <a:pt x="40108" y="7575"/>
                </a:lnTo>
                <a:lnTo>
                  <a:pt x="42254" y="6559"/>
                </a:lnTo>
                <a:lnTo>
                  <a:pt x="44430" y="5613"/>
                </a:lnTo>
                <a:lnTo>
                  <a:pt x="46638" y="4736"/>
                </a:lnTo>
                <a:lnTo>
                  <a:pt x="48873" y="3932"/>
                </a:lnTo>
                <a:lnTo>
                  <a:pt x="51133" y="3201"/>
                </a:lnTo>
                <a:lnTo>
                  <a:pt x="53415" y="2544"/>
                </a:lnTo>
                <a:lnTo>
                  <a:pt x="55716" y="1961"/>
                </a:lnTo>
                <a:lnTo>
                  <a:pt x="58036" y="1452"/>
                </a:lnTo>
                <a:lnTo>
                  <a:pt x="60370" y="1020"/>
                </a:lnTo>
                <a:lnTo>
                  <a:pt x="62718" y="663"/>
                </a:lnTo>
                <a:lnTo>
                  <a:pt x="65077" y="383"/>
                </a:lnTo>
                <a:lnTo>
                  <a:pt x="67442" y="179"/>
                </a:lnTo>
                <a:lnTo>
                  <a:pt x="69813" y="51"/>
                </a:lnTo>
                <a:lnTo>
                  <a:pt x="72188" y="0"/>
                </a:lnTo>
                <a:lnTo>
                  <a:pt x="74563" y="27"/>
                </a:lnTo>
                <a:lnTo>
                  <a:pt x="76936" y="130"/>
                </a:lnTo>
                <a:lnTo>
                  <a:pt x="79303" y="311"/>
                </a:lnTo>
                <a:lnTo>
                  <a:pt x="81664" y="569"/>
                </a:lnTo>
                <a:lnTo>
                  <a:pt x="84015" y="902"/>
                </a:lnTo>
                <a:lnTo>
                  <a:pt x="86353" y="1312"/>
                </a:lnTo>
                <a:lnTo>
                  <a:pt x="88678" y="1796"/>
                </a:lnTo>
                <a:lnTo>
                  <a:pt x="90986" y="2357"/>
                </a:lnTo>
                <a:lnTo>
                  <a:pt x="93274" y="2991"/>
                </a:lnTo>
                <a:lnTo>
                  <a:pt x="95542" y="3700"/>
                </a:lnTo>
                <a:lnTo>
                  <a:pt x="97783" y="4481"/>
                </a:lnTo>
                <a:lnTo>
                  <a:pt x="100000" y="5335"/>
                </a:lnTo>
                <a:lnTo>
                  <a:pt x="97524" y="11462"/>
                </a:lnTo>
                <a:lnTo>
                  <a:pt x="95509" y="10685"/>
                </a:lnTo>
                <a:lnTo>
                  <a:pt x="93468" y="9974"/>
                </a:lnTo>
                <a:lnTo>
                  <a:pt x="91406" y="9328"/>
                </a:lnTo>
                <a:lnTo>
                  <a:pt x="89323" y="8751"/>
                </a:lnTo>
                <a:lnTo>
                  <a:pt x="87224" y="8242"/>
                </a:lnTo>
                <a:lnTo>
                  <a:pt x="85110" y="7801"/>
                </a:lnTo>
                <a:lnTo>
                  <a:pt x="82982" y="7428"/>
                </a:lnTo>
                <a:lnTo>
                  <a:pt x="80842" y="7125"/>
                </a:lnTo>
                <a:lnTo>
                  <a:pt x="78694" y="6891"/>
                </a:lnTo>
                <a:lnTo>
                  <a:pt x="76539" y="6726"/>
                </a:lnTo>
                <a:lnTo>
                  <a:pt x="74382" y="6633"/>
                </a:lnTo>
                <a:lnTo>
                  <a:pt x="72221" y="6608"/>
                </a:lnTo>
                <a:lnTo>
                  <a:pt x="70060" y="6654"/>
                </a:lnTo>
                <a:lnTo>
                  <a:pt x="67903" y="6771"/>
                </a:lnTo>
                <a:lnTo>
                  <a:pt x="65751" y="6955"/>
                </a:lnTo>
                <a:lnTo>
                  <a:pt x="63606" y="7210"/>
                </a:lnTo>
                <a:lnTo>
                  <a:pt x="61470" y="7535"/>
                </a:lnTo>
                <a:lnTo>
                  <a:pt x="59346" y="7929"/>
                </a:lnTo>
                <a:lnTo>
                  <a:pt x="57235" y="8392"/>
                </a:lnTo>
                <a:lnTo>
                  <a:pt x="55140" y="8922"/>
                </a:lnTo>
                <a:lnTo>
                  <a:pt x="53065" y="9521"/>
                </a:lnTo>
                <a:lnTo>
                  <a:pt x="51009" y="10185"/>
                </a:lnTo>
                <a:lnTo>
                  <a:pt x="48976" y="10916"/>
                </a:lnTo>
                <a:lnTo>
                  <a:pt x="46966" y="11713"/>
                </a:lnTo>
                <a:lnTo>
                  <a:pt x="44986" y="12576"/>
                </a:lnTo>
                <a:lnTo>
                  <a:pt x="43033" y="13501"/>
                </a:lnTo>
                <a:lnTo>
                  <a:pt x="41113" y="14488"/>
                </a:lnTo>
                <a:lnTo>
                  <a:pt x="39224" y="15538"/>
                </a:lnTo>
                <a:lnTo>
                  <a:pt x="37370" y="16649"/>
                </a:lnTo>
                <a:lnTo>
                  <a:pt x="35555" y="17819"/>
                </a:lnTo>
                <a:lnTo>
                  <a:pt x="33776" y="19047"/>
                </a:lnTo>
                <a:lnTo>
                  <a:pt x="32039" y="20332"/>
                </a:lnTo>
                <a:lnTo>
                  <a:pt x="30346" y="21673"/>
                </a:lnTo>
                <a:lnTo>
                  <a:pt x="28696" y="23068"/>
                </a:lnTo>
                <a:lnTo>
                  <a:pt x="27091" y="24516"/>
                </a:lnTo>
                <a:lnTo>
                  <a:pt x="25536" y="26014"/>
                </a:lnTo>
                <a:lnTo>
                  <a:pt x="24030" y="27563"/>
                </a:lnTo>
                <a:lnTo>
                  <a:pt x="22575" y="29159"/>
                </a:lnTo>
                <a:lnTo>
                  <a:pt x="21170" y="30803"/>
                </a:lnTo>
                <a:lnTo>
                  <a:pt x="19821" y="32490"/>
                </a:lnTo>
                <a:lnTo>
                  <a:pt x="18528" y="34220"/>
                </a:lnTo>
                <a:lnTo>
                  <a:pt x="17291" y="35992"/>
                </a:lnTo>
                <a:lnTo>
                  <a:pt x="16111" y="37801"/>
                </a:lnTo>
                <a:lnTo>
                  <a:pt x="14991" y="39649"/>
                </a:lnTo>
                <a:lnTo>
                  <a:pt x="13932" y="41533"/>
                </a:lnTo>
                <a:lnTo>
                  <a:pt x="12935" y="43449"/>
                </a:lnTo>
                <a:lnTo>
                  <a:pt x="12001" y="45396"/>
                </a:lnTo>
                <a:lnTo>
                  <a:pt x="11128" y="47374"/>
                </a:lnTo>
                <a:lnTo>
                  <a:pt x="10321" y="49378"/>
                </a:lnTo>
                <a:lnTo>
                  <a:pt x="9581" y="51407"/>
                </a:lnTo>
                <a:lnTo>
                  <a:pt x="8905" y="53459"/>
                </a:lnTo>
                <a:lnTo>
                  <a:pt x="8296" y="55533"/>
                </a:lnTo>
                <a:lnTo>
                  <a:pt x="7756" y="57624"/>
                </a:lnTo>
                <a:lnTo>
                  <a:pt x="7282" y="59733"/>
                </a:lnTo>
                <a:lnTo>
                  <a:pt x="6878" y="61855"/>
                </a:lnTo>
                <a:lnTo>
                  <a:pt x="6543" y="63989"/>
                </a:lnTo>
                <a:close/>
              </a:path>
            </a:pathLst>
          </a:custGeom>
          <a:solidFill>
            <a:srgbClr val="0B4B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07" name="Freeform 507"/>
          <p:cNvSpPr/>
          <p:nvPr/>
        </p:nvSpPr>
        <p:spPr>
          <a:xfrm>
            <a:off x="7218426" y="2235200"/>
            <a:ext cx="7000875" cy="4972812"/>
          </a:xfrm>
          <a:custGeom>
            <a:avLst/>
            <a:gdLst/>
            <a:ahLst/>
            <a:cxnLst/>
            <a:rect l="l" t="t" r="r" b="b"/>
            <a:pathLst>
              <a:path w="100000" h="71031">
                <a:moveTo>
                  <a:pt x="0" y="70500"/>
                </a:moveTo>
                <a:lnTo>
                  <a:pt x="294" y="68065"/>
                </a:lnTo>
                <a:lnTo>
                  <a:pt x="664" y="65640"/>
                </a:lnTo>
                <a:lnTo>
                  <a:pt x="1110" y="63225"/>
                </a:lnTo>
                <a:lnTo>
                  <a:pt x="1631" y="60829"/>
                </a:lnTo>
                <a:lnTo>
                  <a:pt x="2226" y="58449"/>
                </a:lnTo>
                <a:lnTo>
                  <a:pt x="2895" y="56087"/>
                </a:lnTo>
                <a:lnTo>
                  <a:pt x="3637" y="53749"/>
                </a:lnTo>
                <a:lnTo>
                  <a:pt x="4452" y="51434"/>
                </a:lnTo>
                <a:lnTo>
                  <a:pt x="5339" y="49146"/>
                </a:lnTo>
                <a:lnTo>
                  <a:pt x="6295" y="46888"/>
                </a:lnTo>
                <a:lnTo>
                  <a:pt x="7323" y="44659"/>
                </a:lnTo>
                <a:lnTo>
                  <a:pt x="8419" y="42463"/>
                </a:lnTo>
                <a:lnTo>
                  <a:pt x="9582" y="40303"/>
                </a:lnTo>
                <a:lnTo>
                  <a:pt x="10814" y="38180"/>
                </a:lnTo>
                <a:lnTo>
                  <a:pt x="12111" y="36098"/>
                </a:lnTo>
                <a:lnTo>
                  <a:pt x="13471" y="34055"/>
                </a:lnTo>
                <a:lnTo>
                  <a:pt x="14893" y="32058"/>
                </a:lnTo>
                <a:lnTo>
                  <a:pt x="16379" y="30104"/>
                </a:lnTo>
                <a:lnTo>
                  <a:pt x="17925" y="28198"/>
                </a:lnTo>
                <a:lnTo>
                  <a:pt x="19528" y="26342"/>
                </a:lnTo>
                <a:lnTo>
                  <a:pt x="21190" y="24535"/>
                </a:lnTo>
                <a:lnTo>
                  <a:pt x="22906" y="22783"/>
                </a:lnTo>
                <a:lnTo>
                  <a:pt x="24677" y="21083"/>
                </a:lnTo>
                <a:lnTo>
                  <a:pt x="26498" y="19441"/>
                </a:lnTo>
                <a:lnTo>
                  <a:pt x="28372" y="17856"/>
                </a:lnTo>
                <a:lnTo>
                  <a:pt x="30293" y="16328"/>
                </a:lnTo>
                <a:lnTo>
                  <a:pt x="32261" y="14864"/>
                </a:lnTo>
                <a:lnTo>
                  <a:pt x="34273" y="13460"/>
                </a:lnTo>
                <a:lnTo>
                  <a:pt x="36328" y="12120"/>
                </a:lnTo>
                <a:lnTo>
                  <a:pt x="38424" y="10844"/>
                </a:lnTo>
                <a:lnTo>
                  <a:pt x="40559" y="9634"/>
                </a:lnTo>
                <a:lnTo>
                  <a:pt x="42730" y="8492"/>
                </a:lnTo>
                <a:lnTo>
                  <a:pt x="44936" y="7418"/>
                </a:lnTo>
                <a:lnTo>
                  <a:pt x="47175" y="6413"/>
                </a:lnTo>
                <a:lnTo>
                  <a:pt x="49444" y="5478"/>
                </a:lnTo>
                <a:lnTo>
                  <a:pt x="51741" y="4615"/>
                </a:lnTo>
                <a:lnTo>
                  <a:pt x="54063" y="3822"/>
                </a:lnTo>
                <a:lnTo>
                  <a:pt x="56408" y="3104"/>
                </a:lnTo>
                <a:lnTo>
                  <a:pt x="58776" y="2458"/>
                </a:lnTo>
                <a:lnTo>
                  <a:pt x="61163" y="1887"/>
                </a:lnTo>
                <a:lnTo>
                  <a:pt x="63565" y="1391"/>
                </a:lnTo>
                <a:lnTo>
                  <a:pt x="65983" y="969"/>
                </a:lnTo>
                <a:lnTo>
                  <a:pt x="68412" y="624"/>
                </a:lnTo>
                <a:lnTo>
                  <a:pt x="70850" y="354"/>
                </a:lnTo>
                <a:lnTo>
                  <a:pt x="73295" y="160"/>
                </a:lnTo>
                <a:lnTo>
                  <a:pt x="75748" y="42"/>
                </a:lnTo>
                <a:lnTo>
                  <a:pt x="78200" y="0"/>
                </a:lnTo>
                <a:lnTo>
                  <a:pt x="80653" y="34"/>
                </a:lnTo>
                <a:lnTo>
                  <a:pt x="83106" y="147"/>
                </a:lnTo>
                <a:lnTo>
                  <a:pt x="85551" y="336"/>
                </a:lnTo>
                <a:lnTo>
                  <a:pt x="87991" y="599"/>
                </a:lnTo>
                <a:lnTo>
                  <a:pt x="90420" y="940"/>
                </a:lnTo>
                <a:lnTo>
                  <a:pt x="92838" y="1355"/>
                </a:lnTo>
                <a:lnTo>
                  <a:pt x="95244" y="1845"/>
                </a:lnTo>
                <a:lnTo>
                  <a:pt x="97631" y="2411"/>
                </a:lnTo>
                <a:lnTo>
                  <a:pt x="100000" y="3049"/>
                </a:lnTo>
                <a:lnTo>
                  <a:pt x="98600" y="7933"/>
                </a:lnTo>
                <a:lnTo>
                  <a:pt x="96383" y="7334"/>
                </a:lnTo>
                <a:lnTo>
                  <a:pt x="94150" y="6805"/>
                </a:lnTo>
                <a:lnTo>
                  <a:pt x="91900" y="6346"/>
                </a:lnTo>
                <a:lnTo>
                  <a:pt x="89638" y="5957"/>
                </a:lnTo>
                <a:lnTo>
                  <a:pt x="87365" y="5640"/>
                </a:lnTo>
                <a:lnTo>
                  <a:pt x="85083" y="5393"/>
                </a:lnTo>
                <a:lnTo>
                  <a:pt x="82795" y="5217"/>
                </a:lnTo>
                <a:lnTo>
                  <a:pt x="80502" y="5112"/>
                </a:lnTo>
                <a:lnTo>
                  <a:pt x="78206" y="5079"/>
                </a:lnTo>
                <a:lnTo>
                  <a:pt x="75911" y="5117"/>
                </a:lnTo>
                <a:lnTo>
                  <a:pt x="73618" y="5228"/>
                </a:lnTo>
                <a:lnTo>
                  <a:pt x="71331" y="5410"/>
                </a:lnTo>
                <a:lnTo>
                  <a:pt x="69049" y="5662"/>
                </a:lnTo>
                <a:lnTo>
                  <a:pt x="66777" y="5986"/>
                </a:lnTo>
                <a:lnTo>
                  <a:pt x="64515" y="6380"/>
                </a:lnTo>
                <a:lnTo>
                  <a:pt x="62268" y="6844"/>
                </a:lnTo>
                <a:lnTo>
                  <a:pt x="60036" y="7380"/>
                </a:lnTo>
                <a:lnTo>
                  <a:pt x="57821" y="7984"/>
                </a:lnTo>
                <a:lnTo>
                  <a:pt x="55626" y="8655"/>
                </a:lnTo>
                <a:lnTo>
                  <a:pt x="53453" y="9397"/>
                </a:lnTo>
                <a:lnTo>
                  <a:pt x="51305" y="10204"/>
                </a:lnTo>
                <a:lnTo>
                  <a:pt x="49183" y="11078"/>
                </a:lnTo>
                <a:lnTo>
                  <a:pt x="47089" y="12018"/>
                </a:lnTo>
                <a:lnTo>
                  <a:pt x="45025" y="13023"/>
                </a:lnTo>
                <a:lnTo>
                  <a:pt x="42993" y="14092"/>
                </a:lnTo>
                <a:lnTo>
                  <a:pt x="40998" y="15224"/>
                </a:lnTo>
                <a:lnTo>
                  <a:pt x="39037" y="16417"/>
                </a:lnTo>
                <a:lnTo>
                  <a:pt x="37114" y="17671"/>
                </a:lnTo>
                <a:lnTo>
                  <a:pt x="35231" y="18984"/>
                </a:lnTo>
                <a:lnTo>
                  <a:pt x="33390" y="20356"/>
                </a:lnTo>
                <a:lnTo>
                  <a:pt x="31592" y="21783"/>
                </a:lnTo>
                <a:lnTo>
                  <a:pt x="29841" y="23265"/>
                </a:lnTo>
                <a:lnTo>
                  <a:pt x="28136" y="24804"/>
                </a:lnTo>
                <a:lnTo>
                  <a:pt x="26480" y="26393"/>
                </a:lnTo>
                <a:lnTo>
                  <a:pt x="24874" y="28033"/>
                </a:lnTo>
                <a:lnTo>
                  <a:pt x="23320" y="29722"/>
                </a:lnTo>
                <a:lnTo>
                  <a:pt x="21820" y="31459"/>
                </a:lnTo>
                <a:lnTo>
                  <a:pt x="20374" y="33241"/>
                </a:lnTo>
                <a:lnTo>
                  <a:pt x="18984" y="35069"/>
                </a:lnTo>
                <a:lnTo>
                  <a:pt x="17653" y="36938"/>
                </a:lnTo>
                <a:lnTo>
                  <a:pt x="16381" y="38848"/>
                </a:lnTo>
                <a:lnTo>
                  <a:pt x="15167" y="40796"/>
                </a:lnTo>
                <a:lnTo>
                  <a:pt x="14015" y="42783"/>
                </a:lnTo>
                <a:lnTo>
                  <a:pt x="12927" y="44804"/>
                </a:lnTo>
                <a:lnTo>
                  <a:pt x="11902" y="46857"/>
                </a:lnTo>
                <a:lnTo>
                  <a:pt x="10941" y="48941"/>
                </a:lnTo>
                <a:lnTo>
                  <a:pt x="10044" y="51055"/>
                </a:lnTo>
                <a:lnTo>
                  <a:pt x="9215" y="53195"/>
                </a:lnTo>
                <a:lnTo>
                  <a:pt x="8454" y="55360"/>
                </a:lnTo>
                <a:lnTo>
                  <a:pt x="7759" y="57547"/>
                </a:lnTo>
                <a:lnTo>
                  <a:pt x="7133" y="59757"/>
                </a:lnTo>
                <a:lnTo>
                  <a:pt x="6576" y="61983"/>
                </a:lnTo>
                <a:lnTo>
                  <a:pt x="6090" y="64227"/>
                </a:lnTo>
                <a:lnTo>
                  <a:pt x="5673" y="66483"/>
                </a:lnTo>
                <a:lnTo>
                  <a:pt x="5326" y="68753"/>
                </a:lnTo>
                <a:lnTo>
                  <a:pt x="5050" y="71031"/>
                </a:lnTo>
                <a:close/>
              </a:path>
            </a:pathLst>
          </a:custGeom>
          <a:solidFill>
            <a:srgbClr val="0B4B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08" name="TextBox 4"/>
          <p:cNvSpPr txBox="1"/>
          <p:nvPr/>
        </p:nvSpPr>
        <p:spPr>
          <a:xfrm>
            <a:off x="711200" y="660400"/>
            <a:ext cx="3810000" cy="127000"/>
          </a:xfrm>
          <a:prstGeom prst="rect">
            <a:avLst/>
          </a:prstGeom>
        </p:spPr>
        <p:txBody>
          <a:bodyPr wrap="square" lIns="0" tIns="0" rIns="0" bIns="0">
            <a:noAutofit/>
          </a:bodyPr>
          <a:lstStyle/>
          <a:p>
            <a:r>
              <a:rPr sz="540" b="1" spc="140">
                <a:solidFill>
                  <a:srgbClr val="8FE0CE"/>
                </a:solidFill>
                <a:latin typeface="Telegraf"/>
              </a:rPr>
              <a:t>03  —  THE SCREENS</a:t>
            </a:r>
            <a:endParaRPr sz="540" b="1" spc="140">
              <a:solidFill>
                <a:srgbClr val="8FE0CE"/>
              </a:solidFill>
              <a:latin typeface="Telegraf"/>
            </a:endParaRPr>
          </a:p>
        </p:txBody>
      </p:sp>
      <p:sp>
        <p:nvSpPr>
          <p:cNvPr id="509" name="TextBox 5"/>
          <p:cNvSpPr txBox="1"/>
          <p:nvPr/>
        </p:nvSpPr>
        <p:spPr>
          <a:xfrm>
            <a:off x="660400" y="863600"/>
            <a:ext cx="5969000" cy="1397000"/>
          </a:xfrm>
          <a:prstGeom prst="rect">
            <a:avLst/>
          </a:prstGeom>
        </p:spPr>
        <p:txBody>
          <a:bodyPr wrap="square" lIns="0" tIns="0" rIns="0" bIns="0">
            <a:noAutofit/>
          </a:bodyPr>
          <a:lstStyle/>
          <a:p>
            <a:pPr>
              <a:lnSpc>
                <a:spcPct val="100000"/>
              </a:lnSpc>
            </a:pPr>
            <a:r>
              <a:rPr sz="4200" spc="-180">
                <a:solidFill>
                  <a:srgbClr val="FFFFFF"/>
                </a:solidFill>
                <a:latin typeface="PP Editorial New Ultralight"/>
              </a:rPr>
              <a:t>Four routes.</a:t>
            </a:r>
            <a:endParaRPr sz="4200" spc="-180">
              <a:solidFill>
                <a:srgbClr val="FFFFFF"/>
              </a:solidFill>
              <a:latin typeface="PP Editorial New Ultralight"/>
            </a:endParaRPr>
          </a:p>
          <a:p>
            <a:pPr>
              <a:lnSpc>
                <a:spcPct val="100000"/>
              </a:lnSpc>
            </a:pPr>
            <a:r>
              <a:rPr sz="4200" spc="-180">
                <a:solidFill>
                  <a:srgbClr val="FFFFFF"/>
                </a:solidFill>
                <a:latin typeface="PP Editorial New Ultralight"/>
              </a:rPr>
              <a:t>Every surface.</a:t>
            </a:r>
            <a:endParaRPr sz="4200" spc="-180">
              <a:solidFill>
                <a:srgbClr val="FFFFFF"/>
              </a:solidFill>
              <a:latin typeface="PP Editorial New Ultralight"/>
            </a:endParaRPr>
          </a:p>
        </p:txBody>
      </p:sp>
      <p:sp>
        <p:nvSpPr>
          <p:cNvPr id="510" name="TextBox 6"/>
          <p:cNvSpPr txBox="1"/>
          <p:nvPr/>
        </p:nvSpPr>
        <p:spPr>
          <a:xfrm>
            <a:off x="711200" y="2489200"/>
            <a:ext cx="4902200" cy="762000"/>
          </a:xfrm>
          <a:prstGeom prst="rect">
            <a:avLst/>
          </a:prstGeom>
        </p:spPr>
        <p:txBody>
          <a:bodyPr wrap="square" lIns="0" tIns="0" rIns="0" bIns="0">
            <a:noAutofit/>
          </a:bodyPr>
          <a:lstStyle/>
          <a:p>
            <a:pPr>
              <a:lnSpc>
                <a:spcPct val="160000"/>
              </a:lnSpc>
            </a:pPr>
            <a:r>
              <a:rPr sz="740" spc="0">
                <a:solidFill>
                  <a:srgbClr val="BBD3CE"/>
                </a:solidFill>
                <a:latin typeface="Telegraf"/>
              </a:rPr>
              <a:t>A judge walks the same path the code does: public site, sign-in, twelve facts, then the four dashboard panels. One shell, one component kit, one accent.</a:t>
            </a:r>
            <a:endParaRPr sz="740" spc="0">
              <a:solidFill>
                <a:srgbClr val="BBD3CE"/>
              </a:solidFill>
              <a:latin typeface="Telegraf"/>
            </a:endParaRPr>
          </a:p>
        </p:txBody>
      </p:sp>
      <p:sp>
        <p:nvSpPr>
          <p:cNvPr id="511" name="Rectangle 7"/>
          <p:cNvSpPr/>
          <p:nvPr/>
        </p:nvSpPr>
        <p:spPr>
          <a:xfrm>
            <a:off x="711200" y="3479800"/>
            <a:ext cx="59690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12" name="TextBox 8"/>
          <p:cNvSpPr txBox="1"/>
          <p:nvPr/>
        </p:nvSpPr>
        <p:spPr>
          <a:xfrm>
            <a:off x="711200" y="3632200"/>
            <a:ext cx="1219200" cy="152400"/>
          </a:xfrm>
          <a:prstGeom prst="rect">
            <a:avLst/>
          </a:prstGeom>
        </p:spPr>
        <p:txBody>
          <a:bodyPr wrap="square" lIns="0" tIns="0" rIns="0" bIns="0">
            <a:noAutofit/>
          </a:bodyPr>
          <a:lstStyle/>
          <a:p>
            <a:pPr>
              <a:lnSpc>
                <a:spcPct val="135000"/>
              </a:lnSpc>
            </a:pPr>
            <a:r>
              <a:rPr sz="720" spc="0">
                <a:solidFill>
                  <a:srgbClr val="8FE0CE"/>
                </a:solidFill>
                <a:latin typeface="Telegraf"/>
              </a:rPr>
              <a:t>/</a:t>
            </a:r>
            <a:endParaRPr sz="720" spc="0">
              <a:solidFill>
                <a:srgbClr val="8FE0CE"/>
              </a:solidFill>
              <a:latin typeface="Telegraf"/>
            </a:endParaRPr>
          </a:p>
        </p:txBody>
      </p:sp>
      <p:sp>
        <p:nvSpPr>
          <p:cNvPr id="513" name="TextBox 9"/>
          <p:cNvSpPr txBox="1"/>
          <p:nvPr/>
        </p:nvSpPr>
        <p:spPr>
          <a:xfrm>
            <a:off x="2006600" y="3619500"/>
            <a:ext cx="1524000" cy="152400"/>
          </a:xfrm>
          <a:prstGeom prst="rect">
            <a:avLst/>
          </a:prstGeom>
        </p:spPr>
        <p:txBody>
          <a:bodyPr wrap="square" lIns="0" tIns="0" rIns="0" bIns="0">
            <a:noAutofit/>
          </a:bodyPr>
          <a:lstStyle/>
          <a:p>
            <a:pPr>
              <a:lnSpc>
                <a:spcPct val="135000"/>
              </a:lnSpc>
            </a:pPr>
            <a:r>
              <a:rPr sz="720" b="1" spc="0">
                <a:solidFill>
                  <a:srgbClr val="FFFFFF"/>
                </a:solidFill>
                <a:latin typeface="Telegraf"/>
              </a:rPr>
              <a:t>Landing</a:t>
            </a:r>
            <a:endParaRPr sz="720" b="1" spc="0">
              <a:solidFill>
                <a:srgbClr val="FFFFFF"/>
              </a:solidFill>
              <a:latin typeface="Telegraf"/>
            </a:endParaRPr>
          </a:p>
        </p:txBody>
      </p:sp>
      <p:sp>
        <p:nvSpPr>
          <p:cNvPr id="514" name="TextBox 10"/>
          <p:cNvSpPr txBox="1"/>
          <p:nvPr/>
        </p:nvSpPr>
        <p:spPr>
          <a:xfrm>
            <a:off x="2006600" y="3784600"/>
            <a:ext cx="3556000" cy="127000"/>
          </a:xfrm>
          <a:prstGeom prst="rect">
            <a:avLst/>
          </a:prstGeom>
        </p:spPr>
        <p:txBody>
          <a:bodyPr wrap="square" lIns="0" tIns="0" rIns="0" bIns="0">
            <a:noAutofit/>
          </a:bodyPr>
          <a:lstStyle/>
          <a:p>
            <a:pPr>
              <a:lnSpc>
                <a:spcPct val="135000"/>
              </a:lnSpc>
            </a:pPr>
            <a:r>
              <a:rPr sz="520" spc="0">
                <a:solidFill>
                  <a:srgbClr val="9FBFBA"/>
                </a:solidFill>
                <a:latin typeface="Telegraf"/>
              </a:rPr>
              <a:t>hero video · 3 steps · rules</a:t>
            </a:r>
            <a:endParaRPr sz="520" spc="0">
              <a:solidFill>
                <a:srgbClr val="9FBFBA"/>
              </a:solidFill>
              <a:latin typeface="Telegraf"/>
            </a:endParaRPr>
          </a:p>
        </p:txBody>
      </p:sp>
      <p:sp>
        <p:nvSpPr>
          <p:cNvPr id="515" name="TextBox 11"/>
          <p:cNvSpPr txBox="1"/>
          <p:nvPr/>
        </p:nvSpPr>
        <p:spPr>
          <a:xfrm>
            <a:off x="5740400" y="3632200"/>
            <a:ext cx="609600" cy="152400"/>
          </a:xfrm>
          <a:prstGeom prst="rect">
            <a:avLst/>
          </a:prstGeom>
        </p:spPr>
        <p:txBody>
          <a:bodyPr wrap="square" lIns="0" tIns="0" rIns="0" bIns="0">
            <a:noAutofit/>
          </a:bodyPr>
          <a:lstStyle/>
          <a:p>
            <a:pPr algn="r">
              <a:lnSpc>
                <a:spcPct val="135000"/>
              </a:lnSpc>
            </a:pPr>
            <a:r>
              <a:rPr sz="560" spc="0">
                <a:solidFill>
                  <a:srgbClr val="9FBFBA"/>
                </a:solidFill>
                <a:latin typeface="Telegraf"/>
              </a:rPr>
              <a:t>05</a:t>
            </a:r>
            <a:endParaRPr sz="560" spc="0">
              <a:solidFill>
                <a:srgbClr val="9FBFBA"/>
              </a:solidFill>
              <a:latin typeface="Telegraf"/>
            </a:endParaRPr>
          </a:p>
        </p:txBody>
      </p:sp>
      <p:sp>
        <p:nvSpPr>
          <p:cNvPr id="516" name="Rectangle 12"/>
          <p:cNvSpPr/>
          <p:nvPr/>
        </p:nvSpPr>
        <p:spPr>
          <a:xfrm>
            <a:off x="711200" y="4064000"/>
            <a:ext cx="59690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17" name="TextBox 13"/>
          <p:cNvSpPr txBox="1"/>
          <p:nvPr/>
        </p:nvSpPr>
        <p:spPr>
          <a:xfrm>
            <a:off x="711200" y="4216400"/>
            <a:ext cx="1219200" cy="152400"/>
          </a:xfrm>
          <a:prstGeom prst="rect">
            <a:avLst/>
          </a:prstGeom>
        </p:spPr>
        <p:txBody>
          <a:bodyPr wrap="square" lIns="0" tIns="0" rIns="0" bIns="0">
            <a:noAutofit/>
          </a:bodyPr>
          <a:lstStyle/>
          <a:p>
            <a:pPr>
              <a:lnSpc>
                <a:spcPct val="135000"/>
              </a:lnSpc>
            </a:pPr>
            <a:r>
              <a:rPr sz="720" spc="0">
                <a:solidFill>
                  <a:srgbClr val="8FE0CE"/>
                </a:solidFill>
                <a:latin typeface="Telegraf"/>
              </a:rPr>
              <a:t>/auth</a:t>
            </a:r>
            <a:endParaRPr sz="720" spc="0">
              <a:solidFill>
                <a:srgbClr val="8FE0CE"/>
              </a:solidFill>
              <a:latin typeface="Telegraf"/>
            </a:endParaRPr>
          </a:p>
        </p:txBody>
      </p:sp>
      <p:sp>
        <p:nvSpPr>
          <p:cNvPr id="518" name="TextBox 14"/>
          <p:cNvSpPr txBox="1"/>
          <p:nvPr/>
        </p:nvSpPr>
        <p:spPr>
          <a:xfrm>
            <a:off x="2006600" y="4203700"/>
            <a:ext cx="1524000" cy="152400"/>
          </a:xfrm>
          <a:prstGeom prst="rect">
            <a:avLst/>
          </a:prstGeom>
        </p:spPr>
        <p:txBody>
          <a:bodyPr wrap="square" lIns="0" tIns="0" rIns="0" bIns="0">
            <a:noAutofit/>
          </a:bodyPr>
          <a:lstStyle/>
          <a:p>
            <a:pPr>
              <a:lnSpc>
                <a:spcPct val="135000"/>
              </a:lnSpc>
            </a:pPr>
            <a:r>
              <a:rPr sz="720" b="1" spc="0">
                <a:solidFill>
                  <a:srgbClr val="FFFFFF"/>
                </a:solidFill>
                <a:latin typeface="Telegraf"/>
              </a:rPr>
              <a:t>Sign in</a:t>
            </a:r>
            <a:endParaRPr sz="720" b="1" spc="0">
              <a:solidFill>
                <a:srgbClr val="FFFFFF"/>
              </a:solidFill>
              <a:latin typeface="Telegraf"/>
            </a:endParaRPr>
          </a:p>
        </p:txBody>
      </p:sp>
      <p:sp>
        <p:nvSpPr>
          <p:cNvPr id="519" name="TextBox 15"/>
          <p:cNvSpPr txBox="1"/>
          <p:nvPr/>
        </p:nvSpPr>
        <p:spPr>
          <a:xfrm>
            <a:off x="2006600" y="4368800"/>
            <a:ext cx="3556000" cy="127000"/>
          </a:xfrm>
          <a:prstGeom prst="rect">
            <a:avLst/>
          </a:prstGeom>
        </p:spPr>
        <p:txBody>
          <a:bodyPr wrap="square" lIns="0" tIns="0" rIns="0" bIns="0">
            <a:noAutofit/>
          </a:bodyPr>
          <a:lstStyle/>
          <a:p>
            <a:pPr>
              <a:lnSpc>
                <a:spcPct val="135000"/>
              </a:lnSpc>
            </a:pPr>
            <a:r>
              <a:rPr sz="520" spc="0">
                <a:solidFill>
                  <a:srgbClr val="9FBFBA"/>
                </a:solidFill>
                <a:latin typeface="Telegraf"/>
              </a:rPr>
              <a:t>tabs · Google · judge demo</a:t>
            </a:r>
            <a:endParaRPr sz="520" spc="0">
              <a:solidFill>
                <a:srgbClr val="9FBFBA"/>
              </a:solidFill>
              <a:latin typeface="Telegraf"/>
            </a:endParaRPr>
          </a:p>
        </p:txBody>
      </p:sp>
      <p:sp>
        <p:nvSpPr>
          <p:cNvPr id="520" name="TextBox 16"/>
          <p:cNvSpPr txBox="1"/>
          <p:nvPr/>
        </p:nvSpPr>
        <p:spPr>
          <a:xfrm>
            <a:off x="5740400" y="4216400"/>
            <a:ext cx="609600" cy="152400"/>
          </a:xfrm>
          <a:prstGeom prst="rect">
            <a:avLst/>
          </a:prstGeom>
        </p:spPr>
        <p:txBody>
          <a:bodyPr wrap="square" lIns="0" tIns="0" rIns="0" bIns="0">
            <a:noAutofit/>
          </a:bodyPr>
          <a:lstStyle/>
          <a:p>
            <a:pPr algn="r">
              <a:lnSpc>
                <a:spcPct val="135000"/>
              </a:lnSpc>
            </a:pPr>
            <a:r>
              <a:rPr sz="560" spc="0">
                <a:solidFill>
                  <a:srgbClr val="9FBFBA"/>
                </a:solidFill>
                <a:latin typeface="Telegraf"/>
              </a:rPr>
              <a:t>06</a:t>
            </a:r>
            <a:endParaRPr sz="560" spc="0">
              <a:solidFill>
                <a:srgbClr val="9FBFBA"/>
              </a:solidFill>
              <a:latin typeface="Telegraf"/>
            </a:endParaRPr>
          </a:p>
        </p:txBody>
      </p:sp>
      <p:sp>
        <p:nvSpPr>
          <p:cNvPr id="521" name="Rectangle 17"/>
          <p:cNvSpPr/>
          <p:nvPr/>
        </p:nvSpPr>
        <p:spPr>
          <a:xfrm>
            <a:off x="711200" y="4648200"/>
            <a:ext cx="59690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22" name="TextBox 18"/>
          <p:cNvSpPr txBox="1"/>
          <p:nvPr/>
        </p:nvSpPr>
        <p:spPr>
          <a:xfrm>
            <a:off x="711200" y="4800600"/>
            <a:ext cx="1219200" cy="152400"/>
          </a:xfrm>
          <a:prstGeom prst="rect">
            <a:avLst/>
          </a:prstGeom>
        </p:spPr>
        <p:txBody>
          <a:bodyPr wrap="square" lIns="0" tIns="0" rIns="0" bIns="0">
            <a:noAutofit/>
          </a:bodyPr>
          <a:lstStyle/>
          <a:p>
            <a:pPr>
              <a:lnSpc>
                <a:spcPct val="135000"/>
              </a:lnSpc>
            </a:pPr>
            <a:r>
              <a:rPr sz="720" spc="0">
                <a:solidFill>
                  <a:srgbClr val="8FE0CE"/>
                </a:solidFill>
                <a:latin typeface="Telegraf"/>
              </a:rPr>
              <a:t>/onboarding</a:t>
            </a:r>
            <a:endParaRPr sz="720" spc="0">
              <a:solidFill>
                <a:srgbClr val="8FE0CE"/>
              </a:solidFill>
              <a:latin typeface="Telegraf"/>
            </a:endParaRPr>
          </a:p>
        </p:txBody>
      </p:sp>
      <p:sp>
        <p:nvSpPr>
          <p:cNvPr id="523" name="TextBox 19"/>
          <p:cNvSpPr txBox="1"/>
          <p:nvPr/>
        </p:nvSpPr>
        <p:spPr>
          <a:xfrm>
            <a:off x="2006600" y="4787900"/>
            <a:ext cx="1524000" cy="152400"/>
          </a:xfrm>
          <a:prstGeom prst="rect">
            <a:avLst/>
          </a:prstGeom>
        </p:spPr>
        <p:txBody>
          <a:bodyPr wrap="square" lIns="0" tIns="0" rIns="0" bIns="0">
            <a:noAutofit/>
          </a:bodyPr>
          <a:lstStyle/>
          <a:p>
            <a:pPr>
              <a:lnSpc>
                <a:spcPct val="135000"/>
              </a:lnSpc>
            </a:pPr>
            <a:r>
              <a:rPr sz="720" b="1" spc="0">
                <a:solidFill>
                  <a:srgbClr val="FFFFFF"/>
                </a:solidFill>
                <a:latin typeface="Telegraf"/>
              </a:rPr>
              <a:t>Twelve facts</a:t>
            </a:r>
            <a:endParaRPr sz="720" b="1" spc="0">
              <a:solidFill>
                <a:srgbClr val="FFFFFF"/>
              </a:solidFill>
              <a:latin typeface="Telegraf"/>
            </a:endParaRPr>
          </a:p>
        </p:txBody>
      </p:sp>
      <p:sp>
        <p:nvSpPr>
          <p:cNvPr id="524" name="TextBox 20"/>
          <p:cNvSpPr txBox="1"/>
          <p:nvPr/>
        </p:nvSpPr>
        <p:spPr>
          <a:xfrm>
            <a:off x="2006600" y="4953000"/>
            <a:ext cx="3556000" cy="127000"/>
          </a:xfrm>
          <a:prstGeom prst="rect">
            <a:avLst/>
          </a:prstGeom>
        </p:spPr>
        <p:txBody>
          <a:bodyPr wrap="square" lIns="0" tIns="0" rIns="0" bIns="0">
            <a:noAutofit/>
          </a:bodyPr>
          <a:lstStyle/>
          <a:p>
            <a:pPr>
              <a:lnSpc>
                <a:spcPct val="135000"/>
              </a:lnSpc>
            </a:pPr>
            <a:r>
              <a:rPr sz="520" spc="0">
                <a:solidFill>
                  <a:srgbClr val="9FBFBA"/>
                </a:solidFill>
                <a:latin typeface="Telegraf"/>
              </a:rPr>
              <a:t>4 steps · .md upload · compile</a:t>
            </a:r>
            <a:endParaRPr sz="520" spc="0">
              <a:solidFill>
                <a:srgbClr val="9FBFBA"/>
              </a:solidFill>
              <a:latin typeface="Telegraf"/>
            </a:endParaRPr>
          </a:p>
        </p:txBody>
      </p:sp>
      <p:sp>
        <p:nvSpPr>
          <p:cNvPr id="525" name="TextBox 21"/>
          <p:cNvSpPr txBox="1"/>
          <p:nvPr/>
        </p:nvSpPr>
        <p:spPr>
          <a:xfrm>
            <a:off x="5740400" y="4800600"/>
            <a:ext cx="609600" cy="152400"/>
          </a:xfrm>
          <a:prstGeom prst="rect">
            <a:avLst/>
          </a:prstGeom>
        </p:spPr>
        <p:txBody>
          <a:bodyPr wrap="square" lIns="0" tIns="0" rIns="0" bIns="0">
            <a:noAutofit/>
          </a:bodyPr>
          <a:lstStyle/>
          <a:p>
            <a:pPr algn="r">
              <a:lnSpc>
                <a:spcPct val="135000"/>
              </a:lnSpc>
            </a:pPr>
            <a:r>
              <a:rPr sz="560" spc="0">
                <a:solidFill>
                  <a:srgbClr val="9FBFBA"/>
                </a:solidFill>
                <a:latin typeface="Telegraf"/>
              </a:rPr>
              <a:t>07–10</a:t>
            </a:r>
            <a:endParaRPr sz="560" spc="0">
              <a:solidFill>
                <a:srgbClr val="9FBFBA"/>
              </a:solidFill>
              <a:latin typeface="Telegraf"/>
            </a:endParaRPr>
          </a:p>
        </p:txBody>
      </p:sp>
      <p:sp>
        <p:nvSpPr>
          <p:cNvPr id="526" name="Rectangle 22"/>
          <p:cNvSpPr/>
          <p:nvPr/>
        </p:nvSpPr>
        <p:spPr>
          <a:xfrm>
            <a:off x="711200" y="5232400"/>
            <a:ext cx="59690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27" name="TextBox 23"/>
          <p:cNvSpPr txBox="1"/>
          <p:nvPr/>
        </p:nvSpPr>
        <p:spPr>
          <a:xfrm>
            <a:off x="711200" y="5384800"/>
            <a:ext cx="1219200" cy="152400"/>
          </a:xfrm>
          <a:prstGeom prst="rect">
            <a:avLst/>
          </a:prstGeom>
        </p:spPr>
        <p:txBody>
          <a:bodyPr wrap="square" lIns="0" tIns="0" rIns="0" bIns="0">
            <a:noAutofit/>
          </a:bodyPr>
          <a:lstStyle/>
          <a:p>
            <a:pPr>
              <a:lnSpc>
                <a:spcPct val="135000"/>
              </a:lnSpc>
            </a:pPr>
            <a:r>
              <a:rPr sz="720" spc="0">
                <a:solidFill>
                  <a:srgbClr val="8FE0CE"/>
                </a:solidFill>
                <a:latin typeface="Telegraf"/>
              </a:rPr>
              <a:t>/dashboard</a:t>
            </a:r>
            <a:endParaRPr sz="720" spc="0">
              <a:solidFill>
                <a:srgbClr val="8FE0CE"/>
              </a:solidFill>
              <a:latin typeface="Telegraf"/>
            </a:endParaRPr>
          </a:p>
        </p:txBody>
      </p:sp>
      <p:sp>
        <p:nvSpPr>
          <p:cNvPr id="528" name="TextBox 24"/>
          <p:cNvSpPr txBox="1"/>
          <p:nvPr/>
        </p:nvSpPr>
        <p:spPr>
          <a:xfrm>
            <a:off x="2006600" y="5372100"/>
            <a:ext cx="1524000" cy="152400"/>
          </a:xfrm>
          <a:prstGeom prst="rect">
            <a:avLst/>
          </a:prstGeom>
        </p:spPr>
        <p:txBody>
          <a:bodyPr wrap="square" lIns="0" tIns="0" rIns="0" bIns="0">
            <a:noAutofit/>
          </a:bodyPr>
          <a:lstStyle/>
          <a:p>
            <a:pPr>
              <a:lnSpc>
                <a:spcPct val="135000"/>
              </a:lnSpc>
            </a:pPr>
            <a:r>
              <a:rPr sz="720" b="1" spc="0">
                <a:solidFill>
                  <a:srgbClr val="FFFFFF"/>
                </a:solidFill>
                <a:latin typeface="Telegraf"/>
              </a:rPr>
              <a:t>Four panels</a:t>
            </a:r>
            <a:endParaRPr sz="720" b="1" spc="0">
              <a:solidFill>
                <a:srgbClr val="FFFFFF"/>
              </a:solidFill>
              <a:latin typeface="Telegraf"/>
            </a:endParaRPr>
          </a:p>
        </p:txBody>
      </p:sp>
      <p:sp>
        <p:nvSpPr>
          <p:cNvPr id="529" name="TextBox 25"/>
          <p:cNvSpPr txBox="1"/>
          <p:nvPr/>
        </p:nvSpPr>
        <p:spPr>
          <a:xfrm>
            <a:off x="2006600" y="5537200"/>
            <a:ext cx="3556000" cy="127000"/>
          </a:xfrm>
          <a:prstGeom prst="rect">
            <a:avLst/>
          </a:prstGeom>
        </p:spPr>
        <p:txBody>
          <a:bodyPr wrap="square" lIns="0" tIns="0" rIns="0" bIns="0">
            <a:noAutofit/>
          </a:bodyPr>
          <a:lstStyle/>
          <a:p>
            <a:pPr>
              <a:lnSpc>
                <a:spcPct val="135000"/>
              </a:lnSpc>
            </a:pPr>
            <a:r>
              <a:rPr sz="520" spc="0">
                <a:solidFill>
                  <a:srgbClr val="9FBFBA"/>
                </a:solidFill>
                <a:latin typeface="Telegraf"/>
              </a:rPr>
              <a:t>queue · voice · brain · channels</a:t>
            </a:r>
            <a:endParaRPr sz="520" spc="0">
              <a:solidFill>
                <a:srgbClr val="9FBFBA"/>
              </a:solidFill>
              <a:latin typeface="Telegraf"/>
            </a:endParaRPr>
          </a:p>
        </p:txBody>
      </p:sp>
      <p:sp>
        <p:nvSpPr>
          <p:cNvPr id="530" name="TextBox 26"/>
          <p:cNvSpPr txBox="1"/>
          <p:nvPr/>
        </p:nvSpPr>
        <p:spPr>
          <a:xfrm>
            <a:off x="5740400" y="5384800"/>
            <a:ext cx="609600" cy="152400"/>
          </a:xfrm>
          <a:prstGeom prst="rect">
            <a:avLst/>
          </a:prstGeom>
        </p:spPr>
        <p:txBody>
          <a:bodyPr wrap="square" lIns="0" tIns="0" rIns="0" bIns="0">
            <a:noAutofit/>
          </a:bodyPr>
          <a:lstStyle/>
          <a:p>
            <a:pPr algn="r">
              <a:lnSpc>
                <a:spcPct val="135000"/>
              </a:lnSpc>
            </a:pPr>
            <a:r>
              <a:rPr sz="560" spc="0">
                <a:solidFill>
                  <a:srgbClr val="9FBFBA"/>
                </a:solidFill>
                <a:latin typeface="Telegraf"/>
              </a:rPr>
              <a:t>11–16</a:t>
            </a:r>
            <a:endParaRPr sz="560" spc="0">
              <a:solidFill>
                <a:srgbClr val="9FBFBA"/>
              </a:solidFill>
              <a:latin typeface="Telegraf"/>
            </a:endParaRPr>
          </a:p>
        </p:txBody>
      </p:sp>
      <p:sp>
        <p:nvSpPr>
          <p:cNvPr id="531" name="Rectangle 27"/>
          <p:cNvSpPr/>
          <p:nvPr/>
        </p:nvSpPr>
        <p:spPr>
          <a:xfrm>
            <a:off x="711200" y="5816600"/>
            <a:ext cx="59690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32" name="TextBox 28"/>
          <p:cNvSpPr txBox="1"/>
          <p:nvPr/>
        </p:nvSpPr>
        <p:spPr>
          <a:xfrm>
            <a:off x="7112000" y="762000"/>
            <a:ext cx="3810000" cy="127000"/>
          </a:xfrm>
          <a:prstGeom prst="rect">
            <a:avLst/>
          </a:prstGeom>
        </p:spPr>
        <p:txBody>
          <a:bodyPr wrap="square" lIns="0" tIns="0" rIns="0" bIns="0">
            <a:noAutofit/>
          </a:bodyPr>
          <a:lstStyle/>
          <a:p>
            <a:r>
              <a:rPr sz="500" b="1" spc="120">
                <a:solidFill>
                  <a:srgbClr val="8FE0CE"/>
                </a:solidFill>
                <a:latin typeface="Telegraf"/>
              </a:rPr>
              <a:t>IN THIS DECK</a:t>
            </a:r>
            <a:endParaRPr sz="500" b="1" spc="120">
              <a:solidFill>
                <a:srgbClr val="8FE0CE"/>
              </a:solidFill>
              <a:latin typeface="Telegraf"/>
            </a:endParaRPr>
          </a:p>
        </p:txBody>
      </p:sp>
      <p:sp>
        <p:nvSpPr>
          <p:cNvPr id="533" name="TextBox 29"/>
          <p:cNvSpPr txBox="1"/>
          <p:nvPr/>
        </p:nvSpPr>
        <p:spPr>
          <a:xfrm>
            <a:off x="7112000" y="9906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01</a:t>
            </a:r>
            <a:endParaRPr sz="480" spc="0">
              <a:solidFill>
                <a:srgbClr val="8FE0CE"/>
              </a:solidFill>
              <a:latin typeface="Telegraf"/>
            </a:endParaRPr>
          </a:p>
        </p:txBody>
      </p:sp>
      <p:sp>
        <p:nvSpPr>
          <p:cNvPr id="534" name="TextBox 30"/>
          <p:cNvSpPr txBox="1"/>
          <p:nvPr/>
        </p:nvSpPr>
        <p:spPr>
          <a:xfrm>
            <a:off x="7340600" y="9829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Cover</a:t>
            </a:r>
            <a:endParaRPr sz="540" spc="0">
              <a:solidFill>
                <a:srgbClr val="D7E5E2"/>
              </a:solidFill>
              <a:latin typeface="Telegraf"/>
            </a:endParaRPr>
          </a:p>
        </p:txBody>
      </p:sp>
      <p:sp>
        <p:nvSpPr>
          <p:cNvPr id="535" name="Rectangle 31"/>
          <p:cNvSpPr/>
          <p:nvPr/>
        </p:nvSpPr>
        <p:spPr>
          <a:xfrm>
            <a:off x="7112000" y="11557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36" name="TextBox 32"/>
          <p:cNvSpPr txBox="1"/>
          <p:nvPr/>
        </p:nvSpPr>
        <p:spPr>
          <a:xfrm>
            <a:off x="7112000" y="12573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02</a:t>
            </a:r>
            <a:endParaRPr sz="480" spc="0">
              <a:solidFill>
                <a:srgbClr val="8FE0CE"/>
              </a:solidFill>
              <a:latin typeface="Telegraf"/>
            </a:endParaRPr>
          </a:p>
        </p:txBody>
      </p:sp>
      <p:sp>
        <p:nvSpPr>
          <p:cNvPr id="537" name="TextBox 33"/>
          <p:cNvSpPr txBox="1"/>
          <p:nvPr/>
        </p:nvSpPr>
        <p:spPr>
          <a:xfrm>
            <a:off x="7340600" y="12496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Material</a:t>
            </a:r>
            <a:endParaRPr sz="540" spc="0">
              <a:solidFill>
                <a:srgbClr val="D7E5E2"/>
              </a:solidFill>
              <a:latin typeface="Telegraf"/>
            </a:endParaRPr>
          </a:p>
        </p:txBody>
      </p:sp>
      <p:sp>
        <p:nvSpPr>
          <p:cNvPr id="538" name="Rectangle 34"/>
          <p:cNvSpPr/>
          <p:nvPr/>
        </p:nvSpPr>
        <p:spPr>
          <a:xfrm>
            <a:off x="7112000" y="14224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39" name="TextBox 35"/>
          <p:cNvSpPr txBox="1"/>
          <p:nvPr/>
        </p:nvSpPr>
        <p:spPr>
          <a:xfrm>
            <a:off x="7112000" y="15240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03</a:t>
            </a:r>
            <a:endParaRPr sz="480" spc="0">
              <a:solidFill>
                <a:srgbClr val="8FE0CE"/>
              </a:solidFill>
              <a:latin typeface="Telegraf"/>
            </a:endParaRPr>
          </a:p>
        </p:txBody>
      </p:sp>
      <p:sp>
        <p:nvSpPr>
          <p:cNvPr id="540" name="TextBox 36"/>
          <p:cNvSpPr txBox="1"/>
          <p:nvPr/>
        </p:nvSpPr>
        <p:spPr>
          <a:xfrm>
            <a:off x="7340600" y="15163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The kit</a:t>
            </a:r>
            <a:endParaRPr sz="540" spc="0">
              <a:solidFill>
                <a:srgbClr val="D7E5E2"/>
              </a:solidFill>
              <a:latin typeface="Telegraf"/>
            </a:endParaRPr>
          </a:p>
        </p:txBody>
      </p:sp>
      <p:sp>
        <p:nvSpPr>
          <p:cNvPr id="541" name="Rectangle 37"/>
          <p:cNvSpPr/>
          <p:nvPr/>
        </p:nvSpPr>
        <p:spPr>
          <a:xfrm>
            <a:off x="7112000" y="16891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42" name="TextBox 38"/>
          <p:cNvSpPr txBox="1"/>
          <p:nvPr/>
        </p:nvSpPr>
        <p:spPr>
          <a:xfrm>
            <a:off x="7112000" y="17907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04</a:t>
            </a:r>
            <a:endParaRPr sz="480" spc="0">
              <a:solidFill>
                <a:srgbClr val="8FE0CE"/>
              </a:solidFill>
              <a:latin typeface="Telegraf"/>
            </a:endParaRPr>
          </a:p>
        </p:txBody>
      </p:sp>
      <p:sp>
        <p:nvSpPr>
          <p:cNvPr id="543" name="TextBox 39"/>
          <p:cNvSpPr txBox="1"/>
          <p:nvPr/>
        </p:nvSpPr>
        <p:spPr>
          <a:xfrm>
            <a:off x="7340600" y="17830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Route map</a:t>
            </a:r>
            <a:endParaRPr sz="540" spc="0">
              <a:solidFill>
                <a:srgbClr val="D7E5E2"/>
              </a:solidFill>
              <a:latin typeface="Telegraf"/>
            </a:endParaRPr>
          </a:p>
        </p:txBody>
      </p:sp>
      <p:sp>
        <p:nvSpPr>
          <p:cNvPr id="544" name="Rectangle 40"/>
          <p:cNvSpPr/>
          <p:nvPr/>
        </p:nvSpPr>
        <p:spPr>
          <a:xfrm>
            <a:off x="7112000" y="19558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45" name="TextBox 41"/>
          <p:cNvSpPr txBox="1"/>
          <p:nvPr/>
        </p:nvSpPr>
        <p:spPr>
          <a:xfrm>
            <a:off x="7112000" y="20574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05</a:t>
            </a:r>
            <a:endParaRPr sz="480" spc="0">
              <a:solidFill>
                <a:srgbClr val="8FE0CE"/>
              </a:solidFill>
              <a:latin typeface="Telegraf"/>
            </a:endParaRPr>
          </a:p>
        </p:txBody>
      </p:sp>
      <p:sp>
        <p:nvSpPr>
          <p:cNvPr id="546" name="TextBox 42"/>
          <p:cNvSpPr txBox="1"/>
          <p:nvPr/>
        </p:nvSpPr>
        <p:spPr>
          <a:xfrm>
            <a:off x="7340600" y="20497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Landing</a:t>
            </a:r>
            <a:endParaRPr sz="540" spc="0">
              <a:solidFill>
                <a:srgbClr val="D7E5E2"/>
              </a:solidFill>
              <a:latin typeface="Telegraf"/>
            </a:endParaRPr>
          </a:p>
        </p:txBody>
      </p:sp>
      <p:sp>
        <p:nvSpPr>
          <p:cNvPr id="547" name="Rectangle 43"/>
          <p:cNvSpPr/>
          <p:nvPr/>
        </p:nvSpPr>
        <p:spPr>
          <a:xfrm>
            <a:off x="7112000" y="22225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48" name="TextBox 44"/>
          <p:cNvSpPr txBox="1"/>
          <p:nvPr/>
        </p:nvSpPr>
        <p:spPr>
          <a:xfrm>
            <a:off x="7112000" y="23241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06</a:t>
            </a:r>
            <a:endParaRPr sz="480" spc="0">
              <a:solidFill>
                <a:srgbClr val="8FE0CE"/>
              </a:solidFill>
              <a:latin typeface="Telegraf"/>
            </a:endParaRPr>
          </a:p>
        </p:txBody>
      </p:sp>
      <p:sp>
        <p:nvSpPr>
          <p:cNvPr id="549" name="TextBox 45"/>
          <p:cNvSpPr txBox="1"/>
          <p:nvPr/>
        </p:nvSpPr>
        <p:spPr>
          <a:xfrm>
            <a:off x="7340600" y="23164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Sign in</a:t>
            </a:r>
            <a:endParaRPr sz="540" spc="0">
              <a:solidFill>
                <a:srgbClr val="D7E5E2"/>
              </a:solidFill>
              <a:latin typeface="Telegraf"/>
            </a:endParaRPr>
          </a:p>
        </p:txBody>
      </p:sp>
      <p:sp>
        <p:nvSpPr>
          <p:cNvPr id="550" name="Rectangle 46"/>
          <p:cNvSpPr/>
          <p:nvPr/>
        </p:nvSpPr>
        <p:spPr>
          <a:xfrm>
            <a:off x="7112000" y="24892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51" name="TextBox 47"/>
          <p:cNvSpPr txBox="1"/>
          <p:nvPr/>
        </p:nvSpPr>
        <p:spPr>
          <a:xfrm>
            <a:off x="7112000" y="25908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07</a:t>
            </a:r>
            <a:endParaRPr sz="480" spc="0">
              <a:solidFill>
                <a:srgbClr val="8FE0CE"/>
              </a:solidFill>
              <a:latin typeface="Telegraf"/>
            </a:endParaRPr>
          </a:p>
        </p:txBody>
      </p:sp>
      <p:sp>
        <p:nvSpPr>
          <p:cNvPr id="552" name="TextBox 48"/>
          <p:cNvSpPr txBox="1"/>
          <p:nvPr/>
        </p:nvSpPr>
        <p:spPr>
          <a:xfrm>
            <a:off x="7340600" y="25831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Onboarding 1 · identity</a:t>
            </a:r>
            <a:endParaRPr sz="540" spc="0">
              <a:solidFill>
                <a:srgbClr val="D7E5E2"/>
              </a:solidFill>
              <a:latin typeface="Telegraf"/>
            </a:endParaRPr>
          </a:p>
        </p:txBody>
      </p:sp>
      <p:sp>
        <p:nvSpPr>
          <p:cNvPr id="553" name="Rectangle 49"/>
          <p:cNvSpPr/>
          <p:nvPr/>
        </p:nvSpPr>
        <p:spPr>
          <a:xfrm>
            <a:off x="7112000" y="27559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54" name="TextBox 50"/>
          <p:cNvSpPr txBox="1"/>
          <p:nvPr/>
        </p:nvSpPr>
        <p:spPr>
          <a:xfrm>
            <a:off x="7112000" y="28575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08</a:t>
            </a:r>
            <a:endParaRPr sz="480" spc="0">
              <a:solidFill>
                <a:srgbClr val="8FE0CE"/>
              </a:solidFill>
              <a:latin typeface="Telegraf"/>
            </a:endParaRPr>
          </a:p>
        </p:txBody>
      </p:sp>
      <p:sp>
        <p:nvSpPr>
          <p:cNvPr id="555" name="TextBox 51"/>
          <p:cNvSpPr txBox="1"/>
          <p:nvPr/>
        </p:nvSpPr>
        <p:spPr>
          <a:xfrm>
            <a:off x="7340600" y="28498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Onboarding 2 · catalog</a:t>
            </a:r>
            <a:endParaRPr sz="540" spc="0">
              <a:solidFill>
                <a:srgbClr val="D7E5E2"/>
              </a:solidFill>
              <a:latin typeface="Telegraf"/>
            </a:endParaRPr>
          </a:p>
        </p:txBody>
      </p:sp>
      <p:sp>
        <p:nvSpPr>
          <p:cNvPr id="556" name="Rectangle 52"/>
          <p:cNvSpPr/>
          <p:nvPr/>
        </p:nvSpPr>
        <p:spPr>
          <a:xfrm>
            <a:off x="7112000" y="30226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57" name="TextBox 53"/>
          <p:cNvSpPr txBox="1"/>
          <p:nvPr/>
        </p:nvSpPr>
        <p:spPr>
          <a:xfrm>
            <a:off x="7112000" y="31242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09</a:t>
            </a:r>
            <a:endParaRPr sz="480" spc="0">
              <a:solidFill>
                <a:srgbClr val="8FE0CE"/>
              </a:solidFill>
              <a:latin typeface="Telegraf"/>
            </a:endParaRPr>
          </a:p>
        </p:txBody>
      </p:sp>
      <p:sp>
        <p:nvSpPr>
          <p:cNvPr id="558" name="TextBox 54"/>
          <p:cNvSpPr txBox="1"/>
          <p:nvPr/>
        </p:nvSpPr>
        <p:spPr>
          <a:xfrm>
            <a:off x="7340600" y="31165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Onboarding 3 · escalation</a:t>
            </a:r>
            <a:endParaRPr sz="540" spc="0">
              <a:solidFill>
                <a:srgbClr val="D7E5E2"/>
              </a:solidFill>
              <a:latin typeface="Telegraf"/>
            </a:endParaRPr>
          </a:p>
        </p:txBody>
      </p:sp>
      <p:sp>
        <p:nvSpPr>
          <p:cNvPr id="559" name="Rectangle 55"/>
          <p:cNvSpPr/>
          <p:nvPr/>
        </p:nvSpPr>
        <p:spPr>
          <a:xfrm>
            <a:off x="7112000" y="32893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60" name="TextBox 56"/>
          <p:cNvSpPr txBox="1"/>
          <p:nvPr/>
        </p:nvSpPr>
        <p:spPr>
          <a:xfrm>
            <a:off x="9474200" y="9906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10</a:t>
            </a:r>
            <a:endParaRPr sz="480" spc="0">
              <a:solidFill>
                <a:srgbClr val="8FE0CE"/>
              </a:solidFill>
              <a:latin typeface="Telegraf"/>
            </a:endParaRPr>
          </a:p>
        </p:txBody>
      </p:sp>
      <p:sp>
        <p:nvSpPr>
          <p:cNvPr id="561" name="TextBox 57"/>
          <p:cNvSpPr txBox="1"/>
          <p:nvPr/>
        </p:nvSpPr>
        <p:spPr>
          <a:xfrm>
            <a:off x="9702800" y="9829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Onboarding 4 · channels</a:t>
            </a:r>
            <a:endParaRPr sz="540" spc="0">
              <a:solidFill>
                <a:srgbClr val="D7E5E2"/>
              </a:solidFill>
              <a:latin typeface="Telegraf"/>
            </a:endParaRPr>
          </a:p>
        </p:txBody>
      </p:sp>
      <p:sp>
        <p:nvSpPr>
          <p:cNvPr id="562" name="Rectangle 58"/>
          <p:cNvSpPr/>
          <p:nvPr/>
        </p:nvSpPr>
        <p:spPr>
          <a:xfrm>
            <a:off x="9474200" y="11557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63" name="TextBox 59"/>
          <p:cNvSpPr txBox="1"/>
          <p:nvPr/>
        </p:nvSpPr>
        <p:spPr>
          <a:xfrm>
            <a:off x="9474200" y="12573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11</a:t>
            </a:r>
            <a:endParaRPr sz="480" spc="0">
              <a:solidFill>
                <a:srgbClr val="8FE0CE"/>
              </a:solidFill>
              <a:latin typeface="Telegraf"/>
            </a:endParaRPr>
          </a:p>
        </p:txBody>
      </p:sp>
      <p:sp>
        <p:nvSpPr>
          <p:cNvPr id="564" name="TextBox 60"/>
          <p:cNvSpPr txBox="1"/>
          <p:nvPr/>
        </p:nvSpPr>
        <p:spPr>
          <a:xfrm>
            <a:off x="9702800" y="12496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Dashboard · queue</a:t>
            </a:r>
            <a:endParaRPr sz="540" spc="0">
              <a:solidFill>
                <a:srgbClr val="D7E5E2"/>
              </a:solidFill>
              <a:latin typeface="Telegraf"/>
            </a:endParaRPr>
          </a:p>
        </p:txBody>
      </p:sp>
      <p:sp>
        <p:nvSpPr>
          <p:cNvPr id="565" name="Rectangle 61"/>
          <p:cNvSpPr/>
          <p:nvPr/>
        </p:nvSpPr>
        <p:spPr>
          <a:xfrm>
            <a:off x="9474200" y="14224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66" name="TextBox 62"/>
          <p:cNvSpPr txBox="1"/>
          <p:nvPr/>
        </p:nvSpPr>
        <p:spPr>
          <a:xfrm>
            <a:off x="9474200" y="15240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12</a:t>
            </a:r>
            <a:endParaRPr sz="480" spc="0">
              <a:solidFill>
                <a:srgbClr val="8FE0CE"/>
              </a:solidFill>
              <a:latin typeface="Telegraf"/>
            </a:endParaRPr>
          </a:p>
        </p:txBody>
      </p:sp>
      <p:sp>
        <p:nvSpPr>
          <p:cNvPr id="567" name="TextBox 63"/>
          <p:cNvSpPr txBox="1"/>
          <p:nvPr/>
        </p:nvSpPr>
        <p:spPr>
          <a:xfrm>
            <a:off x="9702800" y="15163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Ticket detail · trace</a:t>
            </a:r>
            <a:endParaRPr sz="540" spc="0">
              <a:solidFill>
                <a:srgbClr val="D7E5E2"/>
              </a:solidFill>
              <a:latin typeface="Telegraf"/>
            </a:endParaRPr>
          </a:p>
        </p:txBody>
      </p:sp>
      <p:sp>
        <p:nvSpPr>
          <p:cNvPr id="568" name="Rectangle 64"/>
          <p:cNvSpPr/>
          <p:nvPr/>
        </p:nvSpPr>
        <p:spPr>
          <a:xfrm>
            <a:off x="9474200" y="16891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69" name="TextBox 65"/>
          <p:cNvSpPr txBox="1"/>
          <p:nvPr/>
        </p:nvSpPr>
        <p:spPr>
          <a:xfrm>
            <a:off x="9474200" y="17907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13</a:t>
            </a:r>
            <a:endParaRPr sz="480" spc="0">
              <a:solidFill>
                <a:srgbClr val="8FE0CE"/>
              </a:solidFill>
              <a:latin typeface="Telegraf"/>
            </a:endParaRPr>
          </a:p>
        </p:txBody>
      </p:sp>
      <p:sp>
        <p:nvSpPr>
          <p:cNvPr id="570" name="TextBox 66"/>
          <p:cNvSpPr txBox="1"/>
          <p:nvPr/>
        </p:nvSpPr>
        <p:spPr>
          <a:xfrm>
            <a:off x="9702800" y="17830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Text agent modal</a:t>
            </a:r>
            <a:endParaRPr sz="540" spc="0">
              <a:solidFill>
                <a:srgbClr val="D7E5E2"/>
              </a:solidFill>
              <a:latin typeface="Telegraf"/>
            </a:endParaRPr>
          </a:p>
        </p:txBody>
      </p:sp>
      <p:sp>
        <p:nvSpPr>
          <p:cNvPr id="571" name="Rectangle 67"/>
          <p:cNvSpPr/>
          <p:nvPr/>
        </p:nvSpPr>
        <p:spPr>
          <a:xfrm>
            <a:off x="9474200" y="19558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72" name="TextBox 68"/>
          <p:cNvSpPr txBox="1"/>
          <p:nvPr/>
        </p:nvSpPr>
        <p:spPr>
          <a:xfrm>
            <a:off x="9474200" y="20574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14</a:t>
            </a:r>
            <a:endParaRPr sz="480" spc="0">
              <a:solidFill>
                <a:srgbClr val="8FE0CE"/>
              </a:solidFill>
              <a:latin typeface="Telegraf"/>
            </a:endParaRPr>
          </a:p>
        </p:txBody>
      </p:sp>
      <p:sp>
        <p:nvSpPr>
          <p:cNvPr id="573" name="TextBox 69"/>
          <p:cNvSpPr txBox="1"/>
          <p:nvPr/>
        </p:nvSpPr>
        <p:spPr>
          <a:xfrm>
            <a:off x="9702800" y="20497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Voice test</a:t>
            </a:r>
            <a:endParaRPr sz="540" spc="0">
              <a:solidFill>
                <a:srgbClr val="D7E5E2"/>
              </a:solidFill>
              <a:latin typeface="Telegraf"/>
            </a:endParaRPr>
          </a:p>
        </p:txBody>
      </p:sp>
      <p:sp>
        <p:nvSpPr>
          <p:cNvPr id="574" name="Rectangle 70"/>
          <p:cNvSpPr/>
          <p:nvPr/>
        </p:nvSpPr>
        <p:spPr>
          <a:xfrm>
            <a:off x="9474200" y="22225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75" name="TextBox 71"/>
          <p:cNvSpPr txBox="1"/>
          <p:nvPr/>
        </p:nvSpPr>
        <p:spPr>
          <a:xfrm>
            <a:off x="9474200" y="23241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15</a:t>
            </a:r>
            <a:endParaRPr sz="480" spc="0">
              <a:solidFill>
                <a:srgbClr val="8FE0CE"/>
              </a:solidFill>
              <a:latin typeface="Telegraf"/>
            </a:endParaRPr>
          </a:p>
        </p:txBody>
      </p:sp>
      <p:sp>
        <p:nvSpPr>
          <p:cNvPr id="576" name="TextBox 72"/>
          <p:cNvSpPr txBox="1"/>
          <p:nvPr/>
        </p:nvSpPr>
        <p:spPr>
          <a:xfrm>
            <a:off x="9702800" y="23164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Brain &amp; insights</a:t>
            </a:r>
            <a:endParaRPr sz="540" spc="0">
              <a:solidFill>
                <a:srgbClr val="D7E5E2"/>
              </a:solidFill>
              <a:latin typeface="Telegraf"/>
            </a:endParaRPr>
          </a:p>
        </p:txBody>
      </p:sp>
      <p:sp>
        <p:nvSpPr>
          <p:cNvPr id="577" name="Rectangle 73"/>
          <p:cNvSpPr/>
          <p:nvPr/>
        </p:nvSpPr>
        <p:spPr>
          <a:xfrm>
            <a:off x="9474200" y="24892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78" name="TextBox 74"/>
          <p:cNvSpPr txBox="1"/>
          <p:nvPr/>
        </p:nvSpPr>
        <p:spPr>
          <a:xfrm>
            <a:off x="9474200" y="25908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16</a:t>
            </a:r>
            <a:endParaRPr sz="480" spc="0">
              <a:solidFill>
                <a:srgbClr val="8FE0CE"/>
              </a:solidFill>
              <a:latin typeface="Telegraf"/>
            </a:endParaRPr>
          </a:p>
        </p:txBody>
      </p:sp>
      <p:sp>
        <p:nvSpPr>
          <p:cNvPr id="579" name="TextBox 75"/>
          <p:cNvSpPr txBox="1"/>
          <p:nvPr/>
        </p:nvSpPr>
        <p:spPr>
          <a:xfrm>
            <a:off x="9702800" y="25831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Channels &amp; readiness</a:t>
            </a:r>
            <a:endParaRPr sz="540" spc="0">
              <a:solidFill>
                <a:srgbClr val="D7E5E2"/>
              </a:solidFill>
              <a:latin typeface="Telegraf"/>
            </a:endParaRPr>
          </a:p>
        </p:txBody>
      </p:sp>
      <p:sp>
        <p:nvSpPr>
          <p:cNvPr id="580" name="Rectangle 76"/>
          <p:cNvSpPr/>
          <p:nvPr/>
        </p:nvSpPr>
        <p:spPr>
          <a:xfrm>
            <a:off x="9474200" y="27559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81" name="TextBox 77"/>
          <p:cNvSpPr txBox="1"/>
          <p:nvPr/>
        </p:nvSpPr>
        <p:spPr>
          <a:xfrm>
            <a:off x="9474200" y="28575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17</a:t>
            </a:r>
            <a:endParaRPr sz="480" spc="0">
              <a:solidFill>
                <a:srgbClr val="8FE0CE"/>
              </a:solidFill>
              <a:latin typeface="Telegraf"/>
            </a:endParaRPr>
          </a:p>
        </p:txBody>
      </p:sp>
      <p:sp>
        <p:nvSpPr>
          <p:cNvPr id="582" name="TextBox 78"/>
          <p:cNvSpPr txBox="1"/>
          <p:nvPr/>
        </p:nvSpPr>
        <p:spPr>
          <a:xfrm>
            <a:off x="9702800" y="28498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States &amp; layout</a:t>
            </a:r>
            <a:endParaRPr sz="540" spc="0">
              <a:solidFill>
                <a:srgbClr val="D7E5E2"/>
              </a:solidFill>
              <a:latin typeface="Telegraf"/>
            </a:endParaRPr>
          </a:p>
        </p:txBody>
      </p:sp>
      <p:sp>
        <p:nvSpPr>
          <p:cNvPr id="583" name="Rectangle 79"/>
          <p:cNvSpPr/>
          <p:nvPr/>
        </p:nvSpPr>
        <p:spPr>
          <a:xfrm>
            <a:off x="9474200" y="30226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84" name="TextBox 80"/>
          <p:cNvSpPr txBox="1"/>
          <p:nvPr/>
        </p:nvSpPr>
        <p:spPr>
          <a:xfrm>
            <a:off x="9474200" y="3124200"/>
            <a:ext cx="228600" cy="127000"/>
          </a:xfrm>
          <a:prstGeom prst="rect">
            <a:avLst/>
          </a:prstGeom>
        </p:spPr>
        <p:txBody>
          <a:bodyPr wrap="square" lIns="0" tIns="0" rIns="0" bIns="0">
            <a:noAutofit/>
          </a:bodyPr>
          <a:lstStyle/>
          <a:p>
            <a:pPr>
              <a:lnSpc>
                <a:spcPct val="135000"/>
              </a:lnSpc>
            </a:pPr>
            <a:r>
              <a:rPr sz="480" spc="0">
                <a:solidFill>
                  <a:srgbClr val="8FE0CE"/>
                </a:solidFill>
                <a:latin typeface="Telegraf"/>
              </a:rPr>
              <a:t>18</a:t>
            </a:r>
            <a:endParaRPr sz="480" spc="0">
              <a:solidFill>
                <a:srgbClr val="8FE0CE"/>
              </a:solidFill>
              <a:latin typeface="Telegraf"/>
            </a:endParaRPr>
          </a:p>
        </p:txBody>
      </p:sp>
      <p:sp>
        <p:nvSpPr>
          <p:cNvPr id="585" name="TextBox 81"/>
          <p:cNvSpPr txBox="1"/>
          <p:nvPr/>
        </p:nvSpPr>
        <p:spPr>
          <a:xfrm>
            <a:off x="9702800" y="3116580"/>
            <a:ext cx="2032000" cy="127000"/>
          </a:xfrm>
          <a:prstGeom prst="rect">
            <a:avLst/>
          </a:prstGeom>
        </p:spPr>
        <p:txBody>
          <a:bodyPr wrap="square" lIns="0" tIns="0" rIns="0" bIns="0">
            <a:noAutofit/>
          </a:bodyPr>
          <a:lstStyle/>
          <a:p>
            <a:pPr>
              <a:lnSpc>
                <a:spcPct val="135000"/>
              </a:lnSpc>
            </a:pPr>
            <a:r>
              <a:rPr sz="540" spc="0">
                <a:solidFill>
                  <a:srgbClr val="D7E5E2"/>
                </a:solidFill>
                <a:latin typeface="Telegraf"/>
              </a:rPr>
              <a:t>Build order</a:t>
            </a:r>
            <a:endParaRPr sz="540" spc="0">
              <a:solidFill>
                <a:srgbClr val="D7E5E2"/>
              </a:solidFill>
              <a:latin typeface="Telegraf"/>
            </a:endParaRPr>
          </a:p>
        </p:txBody>
      </p:sp>
      <p:sp>
        <p:nvSpPr>
          <p:cNvPr id="586" name="Rectangle 82"/>
          <p:cNvSpPr/>
          <p:nvPr/>
        </p:nvSpPr>
        <p:spPr>
          <a:xfrm>
            <a:off x="9474200" y="3289300"/>
            <a:ext cx="2159000" cy="11430"/>
          </a:xfrm>
          <a:prstGeom prst="roundRect">
            <a:avLst/>
          </a:prstGeom>
          <a:solidFill>
            <a:srgbClr val="15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87" name="Rectangle 83"/>
          <p:cNvSpPr/>
          <p:nvPr/>
        </p:nvSpPr>
        <p:spPr>
          <a:xfrm>
            <a:off x="711200" y="5918200"/>
            <a:ext cx="107696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88" name="TextBox 84"/>
          <p:cNvSpPr txBox="1"/>
          <p:nvPr/>
        </p:nvSpPr>
        <p:spPr>
          <a:xfrm>
            <a:off x="711200" y="6070600"/>
            <a:ext cx="4826000" cy="381000"/>
          </a:xfrm>
          <a:prstGeom prst="rect">
            <a:avLst/>
          </a:prstGeom>
        </p:spPr>
        <p:txBody>
          <a:bodyPr wrap="square" lIns="0" tIns="0" rIns="0" bIns="0">
            <a:noAutofit/>
          </a:bodyPr>
          <a:lstStyle/>
          <a:p>
            <a:pPr>
              <a:lnSpc>
                <a:spcPct val="150000"/>
              </a:lnSpc>
            </a:pPr>
            <a:r>
              <a:rPr sz="560" spc="0">
                <a:solidFill>
                  <a:srgbClr val="9FBFBA"/>
                </a:solidFill>
                <a:latin typeface="Telegraf"/>
              </a:rPr>
              <a:t>Screens 05–17 are build sheets: an 812×540 viewport plus a spec strip.</a:t>
            </a:r>
            <a:endParaRPr sz="560" spc="0">
              <a:solidFill>
                <a:srgbClr val="9FBFBA"/>
              </a:solidFill>
              <a:latin typeface="Telegraf"/>
            </a:endParaRPr>
          </a:p>
        </p:txBody>
      </p:sp>
      <p:sp>
        <p:nvSpPr>
          <p:cNvPr id="589" name="TextBox 85"/>
          <p:cNvSpPr txBox="1"/>
          <p:nvPr/>
        </p:nvSpPr>
        <p:spPr>
          <a:xfrm>
            <a:off x="6604000" y="6070600"/>
            <a:ext cx="4876800" cy="381000"/>
          </a:xfrm>
          <a:prstGeom prst="rect">
            <a:avLst/>
          </a:prstGeom>
        </p:spPr>
        <p:txBody>
          <a:bodyPr wrap="square" lIns="0" tIns="0" rIns="0" bIns="0">
            <a:noAutofit/>
          </a:bodyPr>
          <a:lstStyle/>
          <a:p>
            <a:pPr algn="r">
              <a:lnSpc>
                <a:spcPct val="150000"/>
              </a:lnSpc>
            </a:pPr>
            <a:r>
              <a:rPr sz="560" spc="0">
                <a:solidFill>
                  <a:srgbClr val="9FBFBA"/>
                </a:solidFill>
                <a:latin typeface="Telegraf"/>
              </a:rPr>
              <a:t>Markers on the screen match the list on the strip — read them against the route and the component names.</a:t>
            </a:r>
            <a:endParaRPr sz="560" spc="0">
              <a:solidFill>
                <a:srgbClr val="9FBFBA"/>
              </a:solidFill>
              <a:latin typeface="Telegraf"/>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1" name="TextBox 1"/>
          <p:cNvSpPr txBox="1"/>
          <p:nvPr/>
        </p:nvSpPr>
        <p:spPr>
          <a:xfrm>
            <a:off x="304800" y="177800"/>
            <a:ext cx="2540000" cy="254000"/>
          </a:xfrm>
          <a:prstGeom prst="rect">
            <a:avLst/>
          </a:prstGeom>
        </p:spPr>
        <p:txBody>
          <a:bodyPr wrap="square" lIns="0" tIns="0" rIns="0" bIns="0">
            <a:noAutofit/>
          </a:bodyPr>
          <a:lstStyle/>
          <a:p>
            <a:pPr>
              <a:lnSpc>
                <a:spcPct val="102000"/>
              </a:lnSpc>
            </a:pPr>
            <a:r>
              <a:rPr sz="1250" spc="-30">
                <a:solidFill>
                  <a:srgbClr val="0A0A0A"/>
                </a:solidFill>
                <a:latin typeface="PP Editorial New Ultralight"/>
              </a:rPr>
              <a:t>AfterSales.</a:t>
            </a:r>
            <a:endParaRPr sz="1250" spc="-30">
              <a:solidFill>
                <a:srgbClr val="0A0A0A"/>
              </a:solidFill>
              <a:latin typeface="PP Editorial New Ultralight"/>
            </a:endParaRPr>
          </a:p>
        </p:txBody>
      </p:sp>
      <p:sp>
        <p:nvSpPr>
          <p:cNvPr id="592" name="TextBox 2"/>
          <p:cNvSpPr txBox="1"/>
          <p:nvPr/>
        </p:nvSpPr>
        <p:spPr>
          <a:xfrm>
            <a:off x="7061200" y="190500"/>
            <a:ext cx="1143000" cy="203200"/>
          </a:xfrm>
          <a:prstGeom prst="rect">
            <a:avLst/>
          </a:prstGeom>
        </p:spPr>
        <p:txBody>
          <a:bodyPr wrap="square" lIns="0" tIns="0" rIns="0" bIns="0">
            <a:noAutofit/>
          </a:bodyPr>
          <a:lstStyle/>
          <a:p>
            <a:pPr>
              <a:lnSpc>
                <a:spcPct val="135000"/>
              </a:lnSpc>
            </a:pPr>
            <a:r>
              <a:rPr sz="540" spc="0">
                <a:solidFill>
                  <a:srgbClr val="67676E"/>
                </a:solidFill>
                <a:latin typeface="Telegraf"/>
              </a:rPr>
              <a:t>How it works</a:t>
            </a:r>
            <a:endParaRPr sz="540" spc="0">
              <a:solidFill>
                <a:srgbClr val="67676E"/>
              </a:solidFill>
              <a:latin typeface="Telegraf"/>
            </a:endParaRPr>
          </a:p>
        </p:txBody>
      </p:sp>
      <p:sp>
        <p:nvSpPr>
          <p:cNvPr id="593" name="TextBox 3"/>
          <p:cNvSpPr txBox="1"/>
          <p:nvPr/>
        </p:nvSpPr>
        <p:spPr>
          <a:xfrm>
            <a:off x="7823200" y="190500"/>
            <a:ext cx="1143000" cy="203200"/>
          </a:xfrm>
          <a:prstGeom prst="rect">
            <a:avLst/>
          </a:prstGeom>
        </p:spPr>
        <p:txBody>
          <a:bodyPr wrap="square" lIns="0" tIns="0" rIns="0" bIns="0">
            <a:noAutofit/>
          </a:bodyPr>
          <a:lstStyle/>
          <a:p>
            <a:pPr>
              <a:lnSpc>
                <a:spcPct val="135000"/>
              </a:lnSpc>
            </a:pPr>
            <a:r>
              <a:rPr sz="540" spc="0">
                <a:solidFill>
                  <a:srgbClr val="67676E"/>
                </a:solidFill>
                <a:latin typeface="Telegraf"/>
              </a:rPr>
              <a:t>Rules</a:t>
            </a:r>
            <a:endParaRPr sz="540" spc="0">
              <a:solidFill>
                <a:srgbClr val="67676E"/>
              </a:solidFill>
              <a:latin typeface="Telegraf"/>
            </a:endParaRPr>
          </a:p>
        </p:txBody>
      </p:sp>
      <p:sp>
        <p:nvSpPr>
          <p:cNvPr id="594" name="TextBox 4"/>
          <p:cNvSpPr txBox="1"/>
          <p:nvPr/>
        </p:nvSpPr>
        <p:spPr>
          <a:xfrm>
            <a:off x="8331200" y="190500"/>
            <a:ext cx="1143000" cy="203200"/>
          </a:xfrm>
          <a:prstGeom prst="rect">
            <a:avLst/>
          </a:prstGeom>
        </p:spPr>
        <p:txBody>
          <a:bodyPr wrap="square" lIns="0" tIns="0" rIns="0" bIns="0">
            <a:noAutofit/>
          </a:bodyPr>
          <a:lstStyle/>
          <a:p>
            <a:pPr>
              <a:lnSpc>
                <a:spcPct val="135000"/>
              </a:lnSpc>
            </a:pPr>
            <a:r>
              <a:rPr sz="540" spc="0">
                <a:solidFill>
                  <a:srgbClr val="67676E"/>
                </a:solidFill>
                <a:latin typeface="Telegraf"/>
              </a:rPr>
              <a:t>Features</a:t>
            </a:r>
            <a:endParaRPr sz="540" spc="0">
              <a:solidFill>
                <a:srgbClr val="67676E"/>
              </a:solidFill>
              <a:latin typeface="Telegraf"/>
            </a:endParaRPr>
          </a:p>
        </p:txBody>
      </p:sp>
      <p:sp>
        <p:nvSpPr>
          <p:cNvPr id="595" name="Rectangle 5"/>
          <p:cNvSpPr/>
          <p:nvPr/>
        </p:nvSpPr>
        <p:spPr>
          <a:xfrm>
            <a:off x="9194800" y="139700"/>
            <a:ext cx="812800" cy="266700"/>
          </a:xfrm>
          <a:custGeom>
            <a:avLst/>
            <a:gdLst/>
            <a:ahLst/>
            <a:cxnLst/>
            <a:rect l="l" t="t" r="r" b="b"/>
            <a:pathLst>
              <a:path w="100000" h="32813">
                <a:moveTo>
                  <a:pt x="83594" y="0"/>
                </a:moveTo>
                <a:cubicBezTo>
                  <a:pt x="83594" y="0"/>
                  <a:pt x="83594" y="0"/>
                  <a:pt x="83594" y="0"/>
                </a:cubicBezTo>
                <a:cubicBezTo>
                  <a:pt x="92655" y="0"/>
                  <a:pt x="100000" y="7345"/>
                  <a:pt x="100000" y="16406"/>
                </a:cubicBezTo>
                <a:cubicBezTo>
                  <a:pt x="100000" y="16406"/>
                  <a:pt x="100000" y="16406"/>
                  <a:pt x="100000" y="16406"/>
                </a:cubicBezTo>
                <a:lnTo>
                  <a:pt x="100000" y="16406"/>
                </a:lnTo>
                <a:cubicBezTo>
                  <a:pt x="100000" y="16406"/>
                  <a:pt x="100000" y="16406"/>
                  <a:pt x="100000" y="16406"/>
                </a:cubicBezTo>
                <a:cubicBezTo>
                  <a:pt x="100000" y="25467"/>
                  <a:pt x="92655" y="32813"/>
                  <a:pt x="83594" y="32813"/>
                </a:cubicBezTo>
                <a:cubicBezTo>
                  <a:pt x="83594" y="32813"/>
                  <a:pt x="83594" y="32813"/>
                  <a:pt x="83594" y="32813"/>
                </a:cubicBezTo>
                <a:lnTo>
                  <a:pt x="16406" y="32813"/>
                </a:lnTo>
                <a:cubicBezTo>
                  <a:pt x="16406" y="32813"/>
                  <a:pt x="16406" y="32813"/>
                  <a:pt x="16406" y="32813"/>
                </a:cubicBezTo>
                <a:cubicBezTo>
                  <a:pt x="7345" y="32813"/>
                  <a:pt x="0" y="25467"/>
                  <a:pt x="0" y="16406"/>
                </a:cubicBezTo>
                <a:cubicBezTo>
                  <a:pt x="0" y="16406"/>
                  <a:pt x="0" y="16406"/>
                  <a:pt x="0" y="16406"/>
                </a:cubicBezTo>
                <a:lnTo>
                  <a:pt x="0" y="16406"/>
                </a:lnTo>
                <a:cubicBezTo>
                  <a:pt x="0" y="16406"/>
                  <a:pt x="0" y="16406"/>
                  <a:pt x="0" y="16406"/>
                </a:cubicBezTo>
                <a:cubicBezTo>
                  <a:pt x="0" y="7345"/>
                  <a:pt x="7345" y="0"/>
                  <a:pt x="16406" y="0"/>
                </a:cubicBezTo>
                <a:cubicBezTo>
                  <a:pt x="16406" y="0"/>
                  <a:pt x="16406" y="0"/>
                  <a:pt x="16406"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96" name="TextBox 6"/>
          <p:cNvSpPr txBox="1"/>
          <p:nvPr/>
        </p:nvSpPr>
        <p:spPr>
          <a:xfrm>
            <a:off x="9271000" y="139700"/>
            <a:ext cx="685800" cy="266700"/>
          </a:xfrm>
          <a:prstGeom prst="rect">
            <a:avLst/>
          </a:prstGeom>
        </p:spPr>
        <p:txBody>
          <a:bodyPr wrap="square" lIns="0" tIns="0" rIns="0" bIns="0" anchor="ctr">
            <a:noAutofit/>
          </a:bodyPr>
          <a:lstStyle/>
          <a:p>
            <a:pPr>
              <a:lnSpc>
                <a:spcPct val="135000"/>
              </a:lnSpc>
            </a:pPr>
            <a:r>
              <a:rPr sz="500" b="1" spc="10">
                <a:solidFill>
                  <a:srgbClr val="FFFFFF"/>
                </a:solidFill>
                <a:latin typeface="Telegraf"/>
              </a:rPr>
              <a:t>Go to dashboard</a:t>
            </a:r>
            <a:endParaRPr sz="500" b="1" spc="10">
              <a:solidFill>
                <a:srgbClr val="FFFFFF"/>
              </a:solidFill>
              <a:latin typeface="Telegraf"/>
            </a:endParaRPr>
          </a:p>
        </p:txBody>
      </p:sp>
      <p:sp>
        <p:nvSpPr>
          <p:cNvPr id="597" name="Rectangle 7"/>
          <p:cNvSpPr/>
          <p:nvPr/>
        </p:nvSpPr>
        <p:spPr>
          <a:xfrm>
            <a:off x="0" y="558800"/>
            <a:ext cx="10312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598" name="TextBox 8"/>
          <p:cNvSpPr txBox="1"/>
          <p:nvPr/>
        </p:nvSpPr>
        <p:spPr>
          <a:xfrm>
            <a:off x="304800" y="838200"/>
            <a:ext cx="3302000" cy="127000"/>
          </a:xfrm>
          <a:prstGeom prst="rect">
            <a:avLst/>
          </a:prstGeom>
        </p:spPr>
        <p:txBody>
          <a:bodyPr wrap="square" lIns="0" tIns="0" rIns="0" bIns="0">
            <a:noAutofit/>
          </a:bodyPr>
          <a:lstStyle/>
          <a:p>
            <a:r>
              <a:rPr sz="480" b="1" spc="125">
                <a:solidFill>
                  <a:srgbClr val="0E6B5F"/>
                </a:solidFill>
                <a:latin typeface="Telegraf"/>
              </a:rPr>
              <a:t>SPHINX ’26  ·  PS 2.5</a:t>
            </a:r>
            <a:endParaRPr sz="480" b="1" spc="125">
              <a:solidFill>
                <a:srgbClr val="0E6B5F"/>
              </a:solidFill>
              <a:latin typeface="Telegraf"/>
            </a:endParaRPr>
          </a:p>
        </p:txBody>
      </p:sp>
      <p:sp>
        <p:nvSpPr>
          <p:cNvPr id="599" name="TextBox 9"/>
          <p:cNvSpPr txBox="1"/>
          <p:nvPr/>
        </p:nvSpPr>
        <p:spPr>
          <a:xfrm>
            <a:off x="292100" y="1016000"/>
            <a:ext cx="4572000" cy="1422400"/>
          </a:xfrm>
          <a:prstGeom prst="rect">
            <a:avLst/>
          </a:prstGeom>
        </p:spPr>
        <p:txBody>
          <a:bodyPr wrap="square" lIns="0" tIns="0" rIns="0" bIns="0">
            <a:noAutofit/>
          </a:bodyPr>
          <a:lstStyle/>
          <a:p>
            <a:pPr>
              <a:lnSpc>
                <a:spcPct val="100000"/>
              </a:lnSpc>
            </a:pPr>
            <a:r>
              <a:rPr sz="3300" spc="-150">
                <a:solidFill>
                  <a:srgbClr val="0A0A0A"/>
                </a:solidFill>
                <a:latin typeface="PP Editorial New Ultralight"/>
              </a:rPr>
              <a:t>Your support</a:t>
            </a:r>
            <a:endParaRPr sz="3300" spc="-150">
              <a:solidFill>
                <a:srgbClr val="0A0A0A"/>
              </a:solidFill>
              <a:latin typeface="PP Editorial New Ultralight"/>
            </a:endParaRPr>
          </a:p>
          <a:p>
            <a:pPr>
              <a:lnSpc>
                <a:spcPct val="100000"/>
              </a:lnSpc>
            </a:pPr>
            <a:r>
              <a:rPr sz="3300" spc="-150">
                <a:solidFill>
                  <a:srgbClr val="0A0A0A"/>
                </a:solidFill>
                <a:latin typeface="PP Editorial New Ultralight"/>
              </a:rPr>
              <a:t>queue, minus</a:t>
            </a:r>
            <a:endParaRPr sz="3300" spc="-150">
              <a:solidFill>
                <a:srgbClr val="0A0A0A"/>
              </a:solidFill>
              <a:latin typeface="PP Editorial New Ultralight"/>
            </a:endParaRPr>
          </a:p>
          <a:p>
            <a:pPr>
              <a:lnSpc>
                <a:spcPct val="100000"/>
              </a:lnSpc>
            </a:pPr>
            <a:r>
              <a:rPr sz="3300" spc="-150">
                <a:solidFill>
                  <a:srgbClr val="0A0A0A"/>
                </a:solidFill>
                <a:latin typeface="PP Editorial New Ultralight"/>
              </a:rPr>
              <a:t>the guessing.</a:t>
            </a:r>
            <a:endParaRPr sz="3300" spc="-150">
              <a:solidFill>
                <a:srgbClr val="0A0A0A"/>
              </a:solidFill>
              <a:latin typeface="PP Editorial New Ultralight"/>
            </a:endParaRPr>
          </a:p>
        </p:txBody>
      </p:sp>
      <p:sp>
        <p:nvSpPr>
          <p:cNvPr id="600" name="TextBox 10"/>
          <p:cNvSpPr txBox="1"/>
          <p:nvPr/>
        </p:nvSpPr>
        <p:spPr>
          <a:xfrm>
            <a:off x="304800" y="2540000"/>
            <a:ext cx="4267200" cy="584200"/>
          </a:xfrm>
          <a:prstGeom prst="rect">
            <a:avLst/>
          </a:prstGeom>
        </p:spPr>
        <p:txBody>
          <a:bodyPr wrap="square" lIns="0" tIns="0" rIns="0" bIns="0">
            <a:noAutofit/>
          </a:bodyPr>
          <a:lstStyle/>
          <a:p>
            <a:pPr>
              <a:lnSpc>
                <a:spcPct val="160000"/>
              </a:lnSpc>
            </a:pPr>
            <a:r>
              <a:rPr sz="660" spc="0">
                <a:solidFill>
                  <a:srgbClr val="67676E"/>
                </a:solidFill>
                <a:latin typeface="Telegraf"/>
              </a:rPr>
              <a:t>Every inbound message read, answered from your own business facts, and escalated below confidence 50 — with the rule and the reason attached.</a:t>
            </a:r>
            <a:endParaRPr sz="660" spc="0">
              <a:solidFill>
                <a:srgbClr val="67676E"/>
              </a:solidFill>
              <a:latin typeface="Telegraf"/>
            </a:endParaRPr>
          </a:p>
        </p:txBody>
      </p:sp>
      <p:sp>
        <p:nvSpPr>
          <p:cNvPr id="601" name="Rectangle 11"/>
          <p:cNvSpPr/>
          <p:nvPr/>
        </p:nvSpPr>
        <p:spPr>
          <a:xfrm>
            <a:off x="304800" y="3327400"/>
            <a:ext cx="1371600" cy="304800"/>
          </a:xfrm>
          <a:custGeom>
            <a:avLst/>
            <a:gdLst/>
            <a:ahLst/>
            <a:cxnLst/>
            <a:rect l="l" t="t" r="r" b="b"/>
            <a:pathLst>
              <a:path w="100000" h="22222">
                <a:moveTo>
                  <a:pt x="88889" y="0"/>
                </a:moveTo>
                <a:cubicBezTo>
                  <a:pt x="88889" y="0"/>
                  <a:pt x="88889" y="0"/>
                  <a:pt x="88889" y="0"/>
                </a:cubicBezTo>
                <a:cubicBezTo>
                  <a:pt x="95025" y="0"/>
                  <a:pt x="100000" y="4975"/>
                  <a:pt x="100000" y="11111"/>
                </a:cubicBezTo>
                <a:cubicBezTo>
                  <a:pt x="100000" y="11111"/>
                  <a:pt x="100000" y="11111"/>
                  <a:pt x="100000" y="11111"/>
                </a:cubicBezTo>
                <a:lnTo>
                  <a:pt x="100000" y="11111"/>
                </a:lnTo>
                <a:cubicBezTo>
                  <a:pt x="100000" y="11111"/>
                  <a:pt x="100000" y="11111"/>
                  <a:pt x="100000" y="11111"/>
                </a:cubicBezTo>
                <a:cubicBezTo>
                  <a:pt x="100000" y="17247"/>
                  <a:pt x="95025" y="22222"/>
                  <a:pt x="88889" y="22222"/>
                </a:cubicBezTo>
                <a:cubicBezTo>
                  <a:pt x="88889" y="22222"/>
                  <a:pt x="88889" y="22222"/>
                  <a:pt x="88889" y="22222"/>
                </a:cubicBezTo>
                <a:lnTo>
                  <a:pt x="11111" y="22222"/>
                </a:lnTo>
                <a:cubicBezTo>
                  <a:pt x="11111" y="22222"/>
                  <a:pt x="11111" y="22222"/>
                  <a:pt x="11111" y="22222"/>
                </a:cubicBezTo>
                <a:cubicBezTo>
                  <a:pt x="4975" y="22222"/>
                  <a:pt x="0" y="17247"/>
                  <a:pt x="0" y="11111"/>
                </a:cubicBezTo>
                <a:cubicBezTo>
                  <a:pt x="0" y="11111"/>
                  <a:pt x="0" y="11111"/>
                  <a:pt x="0" y="11111"/>
                </a:cubicBezTo>
                <a:lnTo>
                  <a:pt x="0" y="11111"/>
                </a:lnTo>
                <a:cubicBezTo>
                  <a:pt x="0" y="11111"/>
                  <a:pt x="0" y="11111"/>
                  <a:pt x="0" y="11111"/>
                </a:cubicBezTo>
                <a:cubicBezTo>
                  <a:pt x="0" y="4975"/>
                  <a:pt x="4975" y="0"/>
                  <a:pt x="11111" y="0"/>
                </a:cubicBezTo>
                <a:cubicBezTo>
                  <a:pt x="11111" y="0"/>
                  <a:pt x="11111" y="0"/>
                  <a:pt x="11111"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02" name="TextBox 12"/>
          <p:cNvSpPr txBox="1"/>
          <p:nvPr/>
        </p:nvSpPr>
        <p:spPr>
          <a:xfrm>
            <a:off x="381000" y="3327400"/>
            <a:ext cx="1244600" cy="304800"/>
          </a:xfrm>
          <a:prstGeom prst="rect">
            <a:avLst/>
          </a:prstGeom>
        </p:spPr>
        <p:txBody>
          <a:bodyPr wrap="square" lIns="0" tIns="0" rIns="0" bIns="0" anchor="ctr">
            <a:noAutofit/>
          </a:bodyPr>
          <a:lstStyle/>
          <a:p>
            <a:pPr>
              <a:lnSpc>
                <a:spcPct val="135000"/>
              </a:lnSpc>
            </a:pPr>
            <a:r>
              <a:rPr sz="560" b="1" spc="10">
                <a:solidFill>
                  <a:srgbClr val="FFFFFF"/>
                </a:solidFill>
                <a:latin typeface="Telegraf"/>
              </a:rPr>
              <a:t>Open the live demo</a:t>
            </a:r>
            <a:endParaRPr sz="560" b="1" spc="10">
              <a:solidFill>
                <a:srgbClr val="FFFFFF"/>
              </a:solidFill>
              <a:latin typeface="Telegraf"/>
            </a:endParaRPr>
          </a:p>
        </p:txBody>
      </p:sp>
      <p:sp>
        <p:nvSpPr>
          <p:cNvPr id="603" name="Rectangle 13"/>
          <p:cNvSpPr/>
          <p:nvPr/>
        </p:nvSpPr>
        <p:spPr>
          <a:xfrm>
            <a:off x="1778000" y="3327400"/>
            <a:ext cx="1219200" cy="3048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04" name="TextBox 14"/>
          <p:cNvSpPr txBox="1"/>
          <p:nvPr/>
        </p:nvSpPr>
        <p:spPr>
          <a:xfrm>
            <a:off x="1854200" y="3327400"/>
            <a:ext cx="1092200" cy="304800"/>
          </a:xfrm>
          <a:prstGeom prst="rect">
            <a:avLst/>
          </a:prstGeom>
        </p:spPr>
        <p:txBody>
          <a:bodyPr wrap="square" lIns="0" tIns="0" rIns="0" bIns="0" anchor="ctr">
            <a:noAutofit/>
          </a:bodyPr>
          <a:lstStyle/>
          <a:p>
            <a:pPr>
              <a:lnSpc>
                <a:spcPct val="135000"/>
              </a:lnSpc>
            </a:pPr>
            <a:r>
              <a:rPr sz="560" b="1" spc="10">
                <a:solidFill>
                  <a:srgbClr val="0A0A0A"/>
                </a:solidFill>
                <a:latin typeface="Telegraf"/>
              </a:rPr>
              <a:t>Judge demo →</a:t>
            </a:r>
            <a:endParaRPr sz="560" b="1" spc="10">
              <a:solidFill>
                <a:srgbClr val="0A0A0A"/>
              </a:solidFill>
              <a:latin typeface="Telegraf"/>
            </a:endParaRPr>
          </a:p>
        </p:txBody>
      </p:sp>
      <p:sp>
        <p:nvSpPr>
          <p:cNvPr id="605" name="TextBox 15"/>
          <p:cNvSpPr txBox="1"/>
          <p:nvPr/>
        </p:nvSpPr>
        <p:spPr>
          <a:xfrm>
            <a:off x="304800" y="3810000"/>
            <a:ext cx="4318000" cy="127000"/>
          </a:xfrm>
          <a:prstGeom prst="rect">
            <a:avLst/>
          </a:prstGeom>
        </p:spPr>
        <p:txBody>
          <a:bodyPr wrap="square" lIns="0" tIns="0" rIns="0" bIns="0">
            <a:noAutofit/>
          </a:bodyPr>
          <a:lstStyle/>
          <a:p>
            <a:r>
              <a:rPr sz="460" b="1" spc="110">
                <a:solidFill>
                  <a:srgbClr val="A2A2A8"/>
                </a:solidFill>
                <a:latin typeface="Telegraf"/>
              </a:rPr>
              <a:t>4 CHANNELS · 6 CHUNKS · 7 RULES</a:t>
            </a:r>
            <a:endParaRPr sz="460" b="1" spc="110">
              <a:solidFill>
                <a:srgbClr val="A2A2A8"/>
              </a:solidFill>
              <a:latin typeface="Telegraf"/>
            </a:endParaRPr>
          </a:p>
        </p:txBody>
      </p:sp>
      <p:sp>
        <p:nvSpPr>
          <p:cNvPr id="606" name="Rectangle 16"/>
          <p:cNvSpPr/>
          <p:nvPr/>
        </p:nvSpPr>
        <p:spPr>
          <a:xfrm>
            <a:off x="5080000" y="812800"/>
            <a:ext cx="4927600" cy="3403600"/>
          </a:xfrm>
          <a:custGeom>
            <a:avLst/>
            <a:gdLst/>
            <a:ahLst/>
            <a:cxnLst/>
            <a:rect l="l" t="t" r="r" b="b"/>
            <a:pathLst>
              <a:path w="100000" h="69072">
                <a:moveTo>
                  <a:pt x="91753" y="0"/>
                </a:moveTo>
                <a:cubicBezTo>
                  <a:pt x="95640" y="0"/>
                  <a:pt x="97584" y="0"/>
                  <a:pt x="98792" y="1208"/>
                </a:cubicBezTo>
                <a:cubicBezTo>
                  <a:pt x="98792" y="1208"/>
                  <a:pt x="98792" y="1208"/>
                  <a:pt x="98792" y="1208"/>
                </a:cubicBezTo>
                <a:cubicBezTo>
                  <a:pt x="100000" y="2416"/>
                  <a:pt x="100000" y="4360"/>
                  <a:pt x="100000" y="8247"/>
                </a:cubicBezTo>
                <a:lnTo>
                  <a:pt x="100000" y="60825"/>
                </a:lnTo>
                <a:cubicBezTo>
                  <a:pt x="100000" y="64713"/>
                  <a:pt x="100000" y="66656"/>
                  <a:pt x="98792" y="67864"/>
                </a:cubicBezTo>
                <a:cubicBezTo>
                  <a:pt x="98792" y="67864"/>
                  <a:pt x="98792" y="67864"/>
                  <a:pt x="98792" y="67864"/>
                </a:cubicBezTo>
                <a:cubicBezTo>
                  <a:pt x="97584" y="69072"/>
                  <a:pt x="95640" y="69072"/>
                  <a:pt x="91753" y="69072"/>
                </a:cubicBezTo>
                <a:lnTo>
                  <a:pt x="8247" y="69072"/>
                </a:lnTo>
                <a:cubicBezTo>
                  <a:pt x="4360" y="69072"/>
                  <a:pt x="2416" y="69072"/>
                  <a:pt x="1208" y="67864"/>
                </a:cubicBezTo>
                <a:cubicBezTo>
                  <a:pt x="1208" y="67864"/>
                  <a:pt x="1208" y="67864"/>
                  <a:pt x="1208" y="67864"/>
                </a:cubicBezTo>
                <a:cubicBezTo>
                  <a:pt x="0" y="66656"/>
                  <a:pt x="0" y="64713"/>
                  <a:pt x="0" y="60825"/>
                </a:cubicBezTo>
                <a:lnTo>
                  <a:pt x="0" y="8247"/>
                </a:lnTo>
                <a:cubicBezTo>
                  <a:pt x="0" y="4360"/>
                  <a:pt x="0" y="2416"/>
                  <a:pt x="1208" y="1208"/>
                </a:cubicBezTo>
                <a:cubicBezTo>
                  <a:pt x="1208" y="1208"/>
                  <a:pt x="1208" y="1208"/>
                  <a:pt x="1208" y="1208"/>
                </a:cubicBezTo>
                <a:cubicBezTo>
                  <a:pt x="2416" y="0"/>
                  <a:pt x="4360" y="0"/>
                  <a:pt x="8247"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07" name="Freeform 607"/>
          <p:cNvSpPr/>
          <p:nvPr/>
        </p:nvSpPr>
        <p:spPr>
          <a:xfrm>
            <a:off x="8001000" y="2209800"/>
            <a:ext cx="2006600" cy="2006600"/>
          </a:xfrm>
          <a:custGeom>
            <a:avLst/>
            <a:gdLst/>
            <a:ahLst/>
            <a:cxnLst/>
            <a:rect l="l" t="t" r="r" b="b"/>
            <a:pathLst>
              <a:path w="100000" h="100000">
                <a:moveTo>
                  <a:pt x="0" y="100000"/>
                </a:moveTo>
                <a:lnTo>
                  <a:pt x="38" y="97196"/>
                </a:lnTo>
                <a:lnTo>
                  <a:pt x="158" y="94392"/>
                </a:lnTo>
                <a:lnTo>
                  <a:pt x="354" y="91595"/>
                </a:lnTo>
                <a:lnTo>
                  <a:pt x="627" y="88804"/>
                </a:lnTo>
                <a:lnTo>
                  <a:pt x="981" y="86019"/>
                </a:lnTo>
                <a:lnTo>
                  <a:pt x="1411" y="83247"/>
                </a:lnTo>
                <a:lnTo>
                  <a:pt x="1924" y="80494"/>
                </a:lnTo>
                <a:lnTo>
                  <a:pt x="2506" y="77747"/>
                </a:lnTo>
                <a:lnTo>
                  <a:pt x="3171" y="75025"/>
                </a:lnTo>
                <a:lnTo>
                  <a:pt x="3911" y="72316"/>
                </a:lnTo>
                <a:lnTo>
                  <a:pt x="4722" y="69633"/>
                </a:lnTo>
                <a:lnTo>
                  <a:pt x="5614" y="66975"/>
                </a:lnTo>
                <a:lnTo>
                  <a:pt x="6576" y="64335"/>
                </a:lnTo>
                <a:lnTo>
                  <a:pt x="7614" y="61734"/>
                </a:lnTo>
                <a:lnTo>
                  <a:pt x="8722" y="59158"/>
                </a:lnTo>
                <a:lnTo>
                  <a:pt x="9905" y="56614"/>
                </a:lnTo>
                <a:lnTo>
                  <a:pt x="11158" y="54101"/>
                </a:lnTo>
                <a:lnTo>
                  <a:pt x="12475" y="51627"/>
                </a:lnTo>
                <a:lnTo>
                  <a:pt x="13867" y="49190"/>
                </a:lnTo>
                <a:lnTo>
                  <a:pt x="15329" y="46797"/>
                </a:lnTo>
                <a:lnTo>
                  <a:pt x="16854" y="44443"/>
                </a:lnTo>
                <a:lnTo>
                  <a:pt x="18443" y="42133"/>
                </a:lnTo>
                <a:lnTo>
                  <a:pt x="20101" y="39867"/>
                </a:lnTo>
                <a:lnTo>
                  <a:pt x="21816" y="37652"/>
                </a:lnTo>
                <a:lnTo>
                  <a:pt x="23595" y="35481"/>
                </a:lnTo>
                <a:lnTo>
                  <a:pt x="25437" y="33367"/>
                </a:lnTo>
                <a:lnTo>
                  <a:pt x="27335" y="31297"/>
                </a:lnTo>
                <a:lnTo>
                  <a:pt x="29291" y="29291"/>
                </a:lnTo>
                <a:lnTo>
                  <a:pt x="31297" y="27335"/>
                </a:lnTo>
                <a:lnTo>
                  <a:pt x="33367" y="25437"/>
                </a:lnTo>
                <a:lnTo>
                  <a:pt x="35481" y="23595"/>
                </a:lnTo>
                <a:lnTo>
                  <a:pt x="37652" y="21816"/>
                </a:lnTo>
                <a:lnTo>
                  <a:pt x="39867" y="20101"/>
                </a:lnTo>
                <a:lnTo>
                  <a:pt x="42133" y="18443"/>
                </a:lnTo>
                <a:lnTo>
                  <a:pt x="44443" y="16854"/>
                </a:lnTo>
                <a:lnTo>
                  <a:pt x="46797" y="15329"/>
                </a:lnTo>
                <a:lnTo>
                  <a:pt x="49190" y="13867"/>
                </a:lnTo>
                <a:lnTo>
                  <a:pt x="51627" y="12475"/>
                </a:lnTo>
                <a:lnTo>
                  <a:pt x="54101" y="11158"/>
                </a:lnTo>
                <a:lnTo>
                  <a:pt x="56614" y="9905"/>
                </a:lnTo>
                <a:lnTo>
                  <a:pt x="59158" y="8722"/>
                </a:lnTo>
                <a:lnTo>
                  <a:pt x="61734" y="7614"/>
                </a:lnTo>
                <a:lnTo>
                  <a:pt x="64335" y="6576"/>
                </a:lnTo>
                <a:lnTo>
                  <a:pt x="66975" y="5614"/>
                </a:lnTo>
                <a:lnTo>
                  <a:pt x="69633" y="4722"/>
                </a:lnTo>
                <a:lnTo>
                  <a:pt x="72316" y="3911"/>
                </a:lnTo>
                <a:lnTo>
                  <a:pt x="75025" y="3171"/>
                </a:lnTo>
                <a:lnTo>
                  <a:pt x="77747" y="2506"/>
                </a:lnTo>
                <a:lnTo>
                  <a:pt x="80494" y="1924"/>
                </a:lnTo>
                <a:lnTo>
                  <a:pt x="83247" y="1411"/>
                </a:lnTo>
                <a:lnTo>
                  <a:pt x="86019" y="981"/>
                </a:lnTo>
                <a:lnTo>
                  <a:pt x="88804" y="627"/>
                </a:lnTo>
                <a:lnTo>
                  <a:pt x="91595" y="354"/>
                </a:lnTo>
                <a:lnTo>
                  <a:pt x="94392" y="158"/>
                </a:lnTo>
                <a:lnTo>
                  <a:pt x="97196" y="38"/>
                </a:lnTo>
                <a:lnTo>
                  <a:pt x="100000" y="0"/>
                </a:lnTo>
                <a:lnTo>
                  <a:pt x="100000" y="10127"/>
                </a:lnTo>
                <a:lnTo>
                  <a:pt x="97481" y="10165"/>
                </a:lnTo>
                <a:lnTo>
                  <a:pt x="94962" y="10266"/>
                </a:lnTo>
                <a:lnTo>
                  <a:pt x="92443" y="10443"/>
                </a:lnTo>
                <a:lnTo>
                  <a:pt x="89937" y="10690"/>
                </a:lnTo>
                <a:lnTo>
                  <a:pt x="87437" y="11006"/>
                </a:lnTo>
                <a:lnTo>
                  <a:pt x="84943" y="11399"/>
                </a:lnTo>
                <a:lnTo>
                  <a:pt x="82468" y="11854"/>
                </a:lnTo>
                <a:lnTo>
                  <a:pt x="80000" y="12380"/>
                </a:lnTo>
                <a:lnTo>
                  <a:pt x="77551" y="12975"/>
                </a:lnTo>
                <a:lnTo>
                  <a:pt x="75120" y="13639"/>
                </a:lnTo>
                <a:lnTo>
                  <a:pt x="72709" y="14373"/>
                </a:lnTo>
                <a:lnTo>
                  <a:pt x="70316" y="15171"/>
                </a:lnTo>
                <a:lnTo>
                  <a:pt x="67949" y="16038"/>
                </a:lnTo>
                <a:lnTo>
                  <a:pt x="65608" y="16968"/>
                </a:lnTo>
                <a:lnTo>
                  <a:pt x="63291" y="17962"/>
                </a:lnTo>
                <a:lnTo>
                  <a:pt x="61006" y="19025"/>
                </a:lnTo>
                <a:lnTo>
                  <a:pt x="58747" y="20152"/>
                </a:lnTo>
                <a:lnTo>
                  <a:pt x="56525" y="21342"/>
                </a:lnTo>
                <a:lnTo>
                  <a:pt x="54335" y="22589"/>
                </a:lnTo>
                <a:lnTo>
                  <a:pt x="52184" y="23905"/>
                </a:lnTo>
                <a:lnTo>
                  <a:pt x="50070" y="25272"/>
                </a:lnTo>
                <a:lnTo>
                  <a:pt x="47994" y="26703"/>
                </a:lnTo>
                <a:lnTo>
                  <a:pt x="45956" y="28190"/>
                </a:lnTo>
                <a:lnTo>
                  <a:pt x="43962" y="29734"/>
                </a:lnTo>
                <a:lnTo>
                  <a:pt x="42019" y="31335"/>
                </a:lnTo>
                <a:lnTo>
                  <a:pt x="40114" y="32987"/>
                </a:lnTo>
                <a:lnTo>
                  <a:pt x="38259" y="34690"/>
                </a:lnTo>
                <a:lnTo>
                  <a:pt x="36449" y="36449"/>
                </a:lnTo>
                <a:lnTo>
                  <a:pt x="34690" y="38259"/>
                </a:lnTo>
                <a:lnTo>
                  <a:pt x="32987" y="40114"/>
                </a:lnTo>
                <a:lnTo>
                  <a:pt x="31335" y="42019"/>
                </a:lnTo>
                <a:lnTo>
                  <a:pt x="29734" y="43962"/>
                </a:lnTo>
                <a:lnTo>
                  <a:pt x="28190" y="45956"/>
                </a:lnTo>
                <a:lnTo>
                  <a:pt x="26703" y="47994"/>
                </a:lnTo>
                <a:lnTo>
                  <a:pt x="25272" y="50070"/>
                </a:lnTo>
                <a:lnTo>
                  <a:pt x="23905" y="52184"/>
                </a:lnTo>
                <a:lnTo>
                  <a:pt x="22589" y="54335"/>
                </a:lnTo>
                <a:lnTo>
                  <a:pt x="21342" y="56525"/>
                </a:lnTo>
                <a:lnTo>
                  <a:pt x="20152" y="58747"/>
                </a:lnTo>
                <a:lnTo>
                  <a:pt x="19025" y="61006"/>
                </a:lnTo>
                <a:lnTo>
                  <a:pt x="17962" y="63291"/>
                </a:lnTo>
                <a:lnTo>
                  <a:pt x="16968" y="65608"/>
                </a:lnTo>
                <a:lnTo>
                  <a:pt x="16038" y="67949"/>
                </a:lnTo>
                <a:lnTo>
                  <a:pt x="15171" y="70316"/>
                </a:lnTo>
                <a:lnTo>
                  <a:pt x="14373" y="72709"/>
                </a:lnTo>
                <a:lnTo>
                  <a:pt x="13639" y="75120"/>
                </a:lnTo>
                <a:lnTo>
                  <a:pt x="12975" y="77551"/>
                </a:lnTo>
                <a:lnTo>
                  <a:pt x="12380" y="80000"/>
                </a:lnTo>
                <a:lnTo>
                  <a:pt x="11854" y="82468"/>
                </a:lnTo>
                <a:lnTo>
                  <a:pt x="11399" y="84943"/>
                </a:lnTo>
                <a:lnTo>
                  <a:pt x="11006" y="87437"/>
                </a:lnTo>
                <a:lnTo>
                  <a:pt x="10690" y="89937"/>
                </a:lnTo>
                <a:lnTo>
                  <a:pt x="10443" y="92443"/>
                </a:lnTo>
                <a:lnTo>
                  <a:pt x="10266" y="94962"/>
                </a:lnTo>
                <a:lnTo>
                  <a:pt x="10165" y="97481"/>
                </a:lnTo>
                <a:lnTo>
                  <a:pt x="10127" y="100000"/>
                </a:lnTo>
                <a:close/>
              </a:path>
            </a:pathLst>
          </a:custGeom>
          <a:solidFill>
            <a:srgbClr val="0C4C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08" name="Freeform 608"/>
          <p:cNvSpPr/>
          <p:nvPr/>
        </p:nvSpPr>
        <p:spPr>
          <a:xfrm>
            <a:off x="7435850" y="1644650"/>
            <a:ext cx="2571750" cy="2571750"/>
          </a:xfrm>
          <a:custGeom>
            <a:avLst/>
            <a:gdLst/>
            <a:ahLst/>
            <a:cxnLst/>
            <a:rect l="l" t="t" r="r" b="b"/>
            <a:pathLst>
              <a:path w="100000" h="100000">
                <a:moveTo>
                  <a:pt x="0" y="100000"/>
                </a:moveTo>
                <a:lnTo>
                  <a:pt x="40" y="97195"/>
                </a:lnTo>
                <a:lnTo>
                  <a:pt x="158" y="94395"/>
                </a:lnTo>
                <a:lnTo>
                  <a:pt x="356" y="91595"/>
                </a:lnTo>
                <a:lnTo>
                  <a:pt x="627" y="88805"/>
                </a:lnTo>
                <a:lnTo>
                  <a:pt x="983" y="86020"/>
                </a:lnTo>
                <a:lnTo>
                  <a:pt x="1412" y="83249"/>
                </a:lnTo>
                <a:lnTo>
                  <a:pt x="1921" y="80489"/>
                </a:lnTo>
                <a:lnTo>
                  <a:pt x="2509" y="77748"/>
                </a:lnTo>
                <a:lnTo>
                  <a:pt x="3170" y="75022"/>
                </a:lnTo>
                <a:lnTo>
                  <a:pt x="3906" y="72316"/>
                </a:lnTo>
                <a:lnTo>
                  <a:pt x="4721" y="69635"/>
                </a:lnTo>
                <a:lnTo>
                  <a:pt x="5610" y="66973"/>
                </a:lnTo>
                <a:lnTo>
                  <a:pt x="6573" y="64336"/>
                </a:lnTo>
                <a:lnTo>
                  <a:pt x="7610" y="61733"/>
                </a:lnTo>
                <a:lnTo>
                  <a:pt x="8721" y="59156"/>
                </a:lnTo>
                <a:lnTo>
                  <a:pt x="9901" y="56612"/>
                </a:lnTo>
                <a:lnTo>
                  <a:pt x="11156" y="54104"/>
                </a:lnTo>
                <a:lnTo>
                  <a:pt x="12479" y="51630"/>
                </a:lnTo>
                <a:lnTo>
                  <a:pt x="13867" y="49190"/>
                </a:lnTo>
                <a:lnTo>
                  <a:pt x="15328" y="46795"/>
                </a:lnTo>
                <a:lnTo>
                  <a:pt x="16854" y="44444"/>
                </a:lnTo>
                <a:lnTo>
                  <a:pt x="18444" y="42133"/>
                </a:lnTo>
                <a:lnTo>
                  <a:pt x="20099" y="39867"/>
                </a:lnTo>
                <a:lnTo>
                  <a:pt x="21817" y="37649"/>
                </a:lnTo>
                <a:lnTo>
                  <a:pt x="23595" y="35481"/>
                </a:lnTo>
                <a:lnTo>
                  <a:pt x="25437" y="33363"/>
                </a:lnTo>
                <a:lnTo>
                  <a:pt x="27333" y="31299"/>
                </a:lnTo>
                <a:lnTo>
                  <a:pt x="29289" y="29289"/>
                </a:lnTo>
                <a:lnTo>
                  <a:pt x="31299" y="27333"/>
                </a:lnTo>
                <a:lnTo>
                  <a:pt x="33363" y="25437"/>
                </a:lnTo>
                <a:lnTo>
                  <a:pt x="35481" y="23595"/>
                </a:lnTo>
                <a:lnTo>
                  <a:pt x="37649" y="21817"/>
                </a:lnTo>
                <a:lnTo>
                  <a:pt x="39867" y="20099"/>
                </a:lnTo>
                <a:lnTo>
                  <a:pt x="42133" y="18444"/>
                </a:lnTo>
                <a:lnTo>
                  <a:pt x="44444" y="16854"/>
                </a:lnTo>
                <a:lnTo>
                  <a:pt x="46795" y="15328"/>
                </a:lnTo>
                <a:lnTo>
                  <a:pt x="49190" y="13867"/>
                </a:lnTo>
                <a:lnTo>
                  <a:pt x="51630" y="12479"/>
                </a:lnTo>
                <a:lnTo>
                  <a:pt x="54104" y="11156"/>
                </a:lnTo>
                <a:lnTo>
                  <a:pt x="56612" y="9901"/>
                </a:lnTo>
                <a:lnTo>
                  <a:pt x="59156" y="8721"/>
                </a:lnTo>
                <a:lnTo>
                  <a:pt x="61733" y="7610"/>
                </a:lnTo>
                <a:lnTo>
                  <a:pt x="64336" y="6573"/>
                </a:lnTo>
                <a:lnTo>
                  <a:pt x="66973" y="5610"/>
                </a:lnTo>
                <a:lnTo>
                  <a:pt x="69635" y="4721"/>
                </a:lnTo>
                <a:lnTo>
                  <a:pt x="72316" y="3906"/>
                </a:lnTo>
                <a:lnTo>
                  <a:pt x="75022" y="3170"/>
                </a:lnTo>
                <a:lnTo>
                  <a:pt x="77748" y="2509"/>
                </a:lnTo>
                <a:lnTo>
                  <a:pt x="80489" y="1921"/>
                </a:lnTo>
                <a:lnTo>
                  <a:pt x="83249" y="1412"/>
                </a:lnTo>
                <a:lnTo>
                  <a:pt x="86020" y="983"/>
                </a:lnTo>
                <a:lnTo>
                  <a:pt x="88805" y="627"/>
                </a:lnTo>
                <a:lnTo>
                  <a:pt x="91595" y="356"/>
                </a:lnTo>
                <a:lnTo>
                  <a:pt x="94395" y="158"/>
                </a:lnTo>
                <a:lnTo>
                  <a:pt x="97195" y="40"/>
                </a:lnTo>
                <a:lnTo>
                  <a:pt x="100000" y="0"/>
                </a:lnTo>
                <a:lnTo>
                  <a:pt x="100000" y="6420"/>
                </a:lnTo>
                <a:lnTo>
                  <a:pt x="97378" y="6454"/>
                </a:lnTo>
                <a:lnTo>
                  <a:pt x="94751" y="6568"/>
                </a:lnTo>
                <a:lnTo>
                  <a:pt x="92133" y="6751"/>
                </a:lnTo>
                <a:lnTo>
                  <a:pt x="89521" y="7007"/>
                </a:lnTo>
                <a:lnTo>
                  <a:pt x="86919" y="7338"/>
                </a:lnTo>
                <a:lnTo>
                  <a:pt x="84326" y="7743"/>
                </a:lnTo>
                <a:lnTo>
                  <a:pt x="81743" y="8217"/>
                </a:lnTo>
                <a:lnTo>
                  <a:pt x="79175" y="8765"/>
                </a:lnTo>
                <a:lnTo>
                  <a:pt x="76627" y="9388"/>
                </a:lnTo>
                <a:lnTo>
                  <a:pt x="74094" y="10079"/>
                </a:lnTo>
                <a:lnTo>
                  <a:pt x="71580" y="10840"/>
                </a:lnTo>
                <a:lnTo>
                  <a:pt x="69091" y="11669"/>
                </a:lnTo>
                <a:lnTo>
                  <a:pt x="66627" y="12573"/>
                </a:lnTo>
                <a:lnTo>
                  <a:pt x="64188" y="13541"/>
                </a:lnTo>
                <a:lnTo>
                  <a:pt x="61778" y="14583"/>
                </a:lnTo>
                <a:lnTo>
                  <a:pt x="59398" y="15689"/>
                </a:lnTo>
                <a:lnTo>
                  <a:pt x="57047" y="16859"/>
                </a:lnTo>
                <a:lnTo>
                  <a:pt x="54736" y="18099"/>
                </a:lnTo>
                <a:lnTo>
                  <a:pt x="52454" y="19398"/>
                </a:lnTo>
                <a:lnTo>
                  <a:pt x="50212" y="20765"/>
                </a:lnTo>
                <a:lnTo>
                  <a:pt x="48010" y="22193"/>
                </a:lnTo>
                <a:lnTo>
                  <a:pt x="45847" y="23679"/>
                </a:lnTo>
                <a:lnTo>
                  <a:pt x="43728" y="25230"/>
                </a:lnTo>
                <a:lnTo>
                  <a:pt x="41654" y="26835"/>
                </a:lnTo>
                <a:lnTo>
                  <a:pt x="39625" y="28499"/>
                </a:lnTo>
                <a:lnTo>
                  <a:pt x="37644" y="30222"/>
                </a:lnTo>
                <a:lnTo>
                  <a:pt x="35709" y="32000"/>
                </a:lnTo>
                <a:lnTo>
                  <a:pt x="33827" y="33827"/>
                </a:lnTo>
                <a:lnTo>
                  <a:pt x="32000" y="35709"/>
                </a:lnTo>
                <a:lnTo>
                  <a:pt x="30222" y="37644"/>
                </a:lnTo>
                <a:lnTo>
                  <a:pt x="28499" y="39625"/>
                </a:lnTo>
                <a:lnTo>
                  <a:pt x="26835" y="41654"/>
                </a:lnTo>
                <a:lnTo>
                  <a:pt x="25230" y="43728"/>
                </a:lnTo>
                <a:lnTo>
                  <a:pt x="23679" y="45847"/>
                </a:lnTo>
                <a:lnTo>
                  <a:pt x="22193" y="48010"/>
                </a:lnTo>
                <a:lnTo>
                  <a:pt x="20765" y="50212"/>
                </a:lnTo>
                <a:lnTo>
                  <a:pt x="19398" y="52454"/>
                </a:lnTo>
                <a:lnTo>
                  <a:pt x="18099" y="54736"/>
                </a:lnTo>
                <a:lnTo>
                  <a:pt x="16859" y="57047"/>
                </a:lnTo>
                <a:lnTo>
                  <a:pt x="15689" y="59398"/>
                </a:lnTo>
                <a:lnTo>
                  <a:pt x="14583" y="61778"/>
                </a:lnTo>
                <a:lnTo>
                  <a:pt x="13541" y="64188"/>
                </a:lnTo>
                <a:lnTo>
                  <a:pt x="12573" y="66627"/>
                </a:lnTo>
                <a:lnTo>
                  <a:pt x="11669" y="69091"/>
                </a:lnTo>
                <a:lnTo>
                  <a:pt x="10840" y="71580"/>
                </a:lnTo>
                <a:lnTo>
                  <a:pt x="10079" y="74094"/>
                </a:lnTo>
                <a:lnTo>
                  <a:pt x="9388" y="76627"/>
                </a:lnTo>
                <a:lnTo>
                  <a:pt x="8765" y="79175"/>
                </a:lnTo>
                <a:lnTo>
                  <a:pt x="8217" y="81743"/>
                </a:lnTo>
                <a:lnTo>
                  <a:pt x="7743" y="84326"/>
                </a:lnTo>
                <a:lnTo>
                  <a:pt x="7338" y="86919"/>
                </a:lnTo>
                <a:lnTo>
                  <a:pt x="7007" y="89521"/>
                </a:lnTo>
                <a:lnTo>
                  <a:pt x="6751" y="92133"/>
                </a:lnTo>
                <a:lnTo>
                  <a:pt x="6568" y="94751"/>
                </a:lnTo>
                <a:lnTo>
                  <a:pt x="6454" y="97378"/>
                </a:lnTo>
                <a:lnTo>
                  <a:pt x="6420" y="100000"/>
                </a:lnTo>
                <a:close/>
              </a:path>
            </a:pathLst>
          </a:custGeom>
          <a:solidFill>
            <a:srgbClr val="0C4C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09" name="Freeform 609"/>
          <p:cNvSpPr/>
          <p:nvPr/>
        </p:nvSpPr>
        <p:spPr>
          <a:xfrm>
            <a:off x="6896100" y="1104900"/>
            <a:ext cx="3111500" cy="3111500"/>
          </a:xfrm>
          <a:custGeom>
            <a:avLst/>
            <a:gdLst/>
            <a:ahLst/>
            <a:cxnLst/>
            <a:rect l="l" t="t" r="r" b="b"/>
            <a:pathLst>
              <a:path w="100000" h="100000">
                <a:moveTo>
                  <a:pt x="0" y="100000"/>
                </a:moveTo>
                <a:lnTo>
                  <a:pt x="41" y="97196"/>
                </a:lnTo>
                <a:lnTo>
                  <a:pt x="159" y="94392"/>
                </a:lnTo>
                <a:lnTo>
                  <a:pt x="355" y="91596"/>
                </a:lnTo>
                <a:lnTo>
                  <a:pt x="629" y="88804"/>
                </a:lnTo>
                <a:lnTo>
                  <a:pt x="984" y="86020"/>
                </a:lnTo>
                <a:lnTo>
                  <a:pt x="1412" y="83249"/>
                </a:lnTo>
                <a:lnTo>
                  <a:pt x="1922" y="80490"/>
                </a:lnTo>
                <a:lnTo>
                  <a:pt x="2506" y="77747"/>
                </a:lnTo>
                <a:lnTo>
                  <a:pt x="3171" y="75020"/>
                </a:lnTo>
                <a:lnTo>
                  <a:pt x="3910" y="72318"/>
                </a:lnTo>
                <a:lnTo>
                  <a:pt x="4722" y="69633"/>
                </a:lnTo>
                <a:lnTo>
                  <a:pt x="5612" y="66971"/>
                </a:lnTo>
                <a:lnTo>
                  <a:pt x="6576" y="64339"/>
                </a:lnTo>
                <a:lnTo>
                  <a:pt x="7612" y="61731"/>
                </a:lnTo>
                <a:lnTo>
                  <a:pt x="8722" y="59155"/>
                </a:lnTo>
                <a:lnTo>
                  <a:pt x="9902" y="56612"/>
                </a:lnTo>
                <a:lnTo>
                  <a:pt x="11155" y="54102"/>
                </a:lnTo>
                <a:lnTo>
                  <a:pt x="12478" y="51629"/>
                </a:lnTo>
                <a:lnTo>
                  <a:pt x="13869" y="49192"/>
                </a:lnTo>
                <a:lnTo>
                  <a:pt x="15327" y="46796"/>
                </a:lnTo>
                <a:lnTo>
                  <a:pt x="16853" y="44445"/>
                </a:lnTo>
                <a:lnTo>
                  <a:pt x="18445" y="42135"/>
                </a:lnTo>
                <a:lnTo>
                  <a:pt x="20098" y="39869"/>
                </a:lnTo>
                <a:lnTo>
                  <a:pt x="21816" y="37649"/>
                </a:lnTo>
                <a:lnTo>
                  <a:pt x="23596" y="35482"/>
                </a:lnTo>
                <a:lnTo>
                  <a:pt x="25437" y="33367"/>
                </a:lnTo>
                <a:lnTo>
                  <a:pt x="27335" y="31302"/>
                </a:lnTo>
                <a:lnTo>
                  <a:pt x="29290" y="29290"/>
                </a:lnTo>
                <a:lnTo>
                  <a:pt x="31302" y="27335"/>
                </a:lnTo>
                <a:lnTo>
                  <a:pt x="33367" y="25437"/>
                </a:lnTo>
                <a:lnTo>
                  <a:pt x="35482" y="23596"/>
                </a:lnTo>
                <a:lnTo>
                  <a:pt x="37649" y="21816"/>
                </a:lnTo>
                <a:lnTo>
                  <a:pt x="39869" y="20098"/>
                </a:lnTo>
                <a:lnTo>
                  <a:pt x="42135" y="18445"/>
                </a:lnTo>
                <a:lnTo>
                  <a:pt x="44445" y="16853"/>
                </a:lnTo>
                <a:lnTo>
                  <a:pt x="46796" y="15327"/>
                </a:lnTo>
                <a:lnTo>
                  <a:pt x="49192" y="13869"/>
                </a:lnTo>
                <a:lnTo>
                  <a:pt x="51629" y="12478"/>
                </a:lnTo>
                <a:lnTo>
                  <a:pt x="54102" y="11155"/>
                </a:lnTo>
                <a:lnTo>
                  <a:pt x="56612" y="9902"/>
                </a:lnTo>
                <a:lnTo>
                  <a:pt x="59155" y="8722"/>
                </a:lnTo>
                <a:lnTo>
                  <a:pt x="61731" y="7612"/>
                </a:lnTo>
                <a:lnTo>
                  <a:pt x="64339" y="6576"/>
                </a:lnTo>
                <a:lnTo>
                  <a:pt x="66971" y="5612"/>
                </a:lnTo>
                <a:lnTo>
                  <a:pt x="69633" y="4722"/>
                </a:lnTo>
                <a:lnTo>
                  <a:pt x="72318" y="3910"/>
                </a:lnTo>
                <a:lnTo>
                  <a:pt x="75020" y="3171"/>
                </a:lnTo>
                <a:lnTo>
                  <a:pt x="77747" y="2506"/>
                </a:lnTo>
                <a:lnTo>
                  <a:pt x="80490" y="1922"/>
                </a:lnTo>
                <a:lnTo>
                  <a:pt x="83249" y="1412"/>
                </a:lnTo>
                <a:lnTo>
                  <a:pt x="86020" y="984"/>
                </a:lnTo>
                <a:lnTo>
                  <a:pt x="88804" y="629"/>
                </a:lnTo>
                <a:lnTo>
                  <a:pt x="91596" y="355"/>
                </a:lnTo>
                <a:lnTo>
                  <a:pt x="94392" y="159"/>
                </a:lnTo>
                <a:lnTo>
                  <a:pt x="97196" y="41"/>
                </a:lnTo>
                <a:lnTo>
                  <a:pt x="100000" y="0"/>
                </a:lnTo>
                <a:lnTo>
                  <a:pt x="100000" y="4082"/>
                </a:lnTo>
                <a:lnTo>
                  <a:pt x="97310" y="4118"/>
                </a:lnTo>
                <a:lnTo>
                  <a:pt x="94620" y="4233"/>
                </a:lnTo>
                <a:lnTo>
                  <a:pt x="91939" y="4420"/>
                </a:lnTo>
                <a:lnTo>
                  <a:pt x="89261" y="4686"/>
                </a:lnTo>
                <a:lnTo>
                  <a:pt x="86592" y="5024"/>
                </a:lnTo>
                <a:lnTo>
                  <a:pt x="83935" y="5437"/>
                </a:lnTo>
                <a:lnTo>
                  <a:pt x="81286" y="5927"/>
                </a:lnTo>
                <a:lnTo>
                  <a:pt x="78657" y="6486"/>
                </a:lnTo>
                <a:lnTo>
                  <a:pt x="76041" y="7122"/>
                </a:lnTo>
                <a:lnTo>
                  <a:pt x="73445" y="7829"/>
                </a:lnTo>
                <a:lnTo>
                  <a:pt x="70873" y="8612"/>
                </a:lnTo>
                <a:lnTo>
                  <a:pt x="68318" y="9465"/>
                </a:lnTo>
                <a:lnTo>
                  <a:pt x="65792" y="10388"/>
                </a:lnTo>
                <a:lnTo>
                  <a:pt x="63294" y="11384"/>
                </a:lnTo>
                <a:lnTo>
                  <a:pt x="60824" y="12449"/>
                </a:lnTo>
                <a:lnTo>
                  <a:pt x="58384" y="13580"/>
                </a:lnTo>
                <a:lnTo>
                  <a:pt x="55976" y="14784"/>
                </a:lnTo>
                <a:lnTo>
                  <a:pt x="53604" y="16049"/>
                </a:lnTo>
                <a:lnTo>
                  <a:pt x="51265" y="17384"/>
                </a:lnTo>
                <a:lnTo>
                  <a:pt x="48967" y="18784"/>
                </a:lnTo>
                <a:lnTo>
                  <a:pt x="46710" y="20245"/>
                </a:lnTo>
                <a:lnTo>
                  <a:pt x="44494" y="21771"/>
                </a:lnTo>
                <a:lnTo>
                  <a:pt x="42322" y="23359"/>
                </a:lnTo>
                <a:lnTo>
                  <a:pt x="40196" y="25008"/>
                </a:lnTo>
                <a:lnTo>
                  <a:pt x="38114" y="26714"/>
                </a:lnTo>
                <a:lnTo>
                  <a:pt x="36086" y="28478"/>
                </a:lnTo>
                <a:lnTo>
                  <a:pt x="34106" y="30298"/>
                </a:lnTo>
                <a:lnTo>
                  <a:pt x="32176" y="32176"/>
                </a:lnTo>
                <a:lnTo>
                  <a:pt x="30298" y="34106"/>
                </a:lnTo>
                <a:lnTo>
                  <a:pt x="28478" y="36086"/>
                </a:lnTo>
                <a:lnTo>
                  <a:pt x="26714" y="38114"/>
                </a:lnTo>
                <a:lnTo>
                  <a:pt x="25008" y="40196"/>
                </a:lnTo>
                <a:lnTo>
                  <a:pt x="23359" y="42322"/>
                </a:lnTo>
                <a:lnTo>
                  <a:pt x="21771" y="44494"/>
                </a:lnTo>
                <a:lnTo>
                  <a:pt x="20245" y="46710"/>
                </a:lnTo>
                <a:lnTo>
                  <a:pt x="18784" y="48967"/>
                </a:lnTo>
                <a:lnTo>
                  <a:pt x="17384" y="51265"/>
                </a:lnTo>
                <a:lnTo>
                  <a:pt x="16049" y="53604"/>
                </a:lnTo>
                <a:lnTo>
                  <a:pt x="14784" y="55976"/>
                </a:lnTo>
                <a:lnTo>
                  <a:pt x="13580" y="58384"/>
                </a:lnTo>
                <a:lnTo>
                  <a:pt x="12449" y="60824"/>
                </a:lnTo>
                <a:lnTo>
                  <a:pt x="11384" y="63294"/>
                </a:lnTo>
                <a:lnTo>
                  <a:pt x="10388" y="65792"/>
                </a:lnTo>
                <a:lnTo>
                  <a:pt x="9465" y="68318"/>
                </a:lnTo>
                <a:lnTo>
                  <a:pt x="8612" y="70873"/>
                </a:lnTo>
                <a:lnTo>
                  <a:pt x="7829" y="73445"/>
                </a:lnTo>
                <a:lnTo>
                  <a:pt x="7122" y="76041"/>
                </a:lnTo>
                <a:lnTo>
                  <a:pt x="6486" y="78657"/>
                </a:lnTo>
                <a:lnTo>
                  <a:pt x="5927" y="81286"/>
                </a:lnTo>
                <a:lnTo>
                  <a:pt x="5437" y="83935"/>
                </a:lnTo>
                <a:lnTo>
                  <a:pt x="5024" y="86592"/>
                </a:lnTo>
                <a:lnTo>
                  <a:pt x="4686" y="89261"/>
                </a:lnTo>
                <a:lnTo>
                  <a:pt x="4420" y="91939"/>
                </a:lnTo>
                <a:lnTo>
                  <a:pt x="4233" y="94620"/>
                </a:lnTo>
                <a:lnTo>
                  <a:pt x="4118" y="97310"/>
                </a:lnTo>
                <a:lnTo>
                  <a:pt x="4082" y="100000"/>
                </a:lnTo>
                <a:close/>
              </a:path>
            </a:pathLst>
          </a:custGeom>
          <a:solidFill>
            <a:srgbClr val="0F5B5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0" name="Freeform 610"/>
          <p:cNvSpPr/>
          <p:nvPr/>
        </p:nvSpPr>
        <p:spPr>
          <a:xfrm>
            <a:off x="8629650" y="2838450"/>
            <a:ext cx="1377950" cy="1377950"/>
          </a:xfrm>
          <a:custGeom>
            <a:avLst/>
            <a:gdLst/>
            <a:ahLst/>
            <a:cxnLst/>
            <a:rect l="l" t="t" r="r" b="b"/>
            <a:pathLst>
              <a:path w="100000" h="100000">
                <a:moveTo>
                  <a:pt x="0" y="100000"/>
                </a:moveTo>
                <a:lnTo>
                  <a:pt x="37" y="97198"/>
                </a:lnTo>
                <a:lnTo>
                  <a:pt x="157" y="94396"/>
                </a:lnTo>
                <a:lnTo>
                  <a:pt x="350" y="91594"/>
                </a:lnTo>
                <a:lnTo>
                  <a:pt x="627" y="88802"/>
                </a:lnTo>
                <a:lnTo>
                  <a:pt x="986" y="86018"/>
                </a:lnTo>
                <a:lnTo>
                  <a:pt x="1410" y="83253"/>
                </a:lnTo>
                <a:lnTo>
                  <a:pt x="1917" y="80488"/>
                </a:lnTo>
                <a:lnTo>
                  <a:pt x="2507" y="77751"/>
                </a:lnTo>
                <a:lnTo>
                  <a:pt x="3171" y="75023"/>
                </a:lnTo>
                <a:lnTo>
                  <a:pt x="3908" y="72313"/>
                </a:lnTo>
                <a:lnTo>
                  <a:pt x="4719" y="69631"/>
                </a:lnTo>
                <a:lnTo>
                  <a:pt x="5613" y="66968"/>
                </a:lnTo>
                <a:lnTo>
                  <a:pt x="6571" y="64341"/>
                </a:lnTo>
                <a:lnTo>
                  <a:pt x="7613" y="61733"/>
                </a:lnTo>
                <a:lnTo>
                  <a:pt x="8719" y="59152"/>
                </a:lnTo>
                <a:lnTo>
                  <a:pt x="9899" y="56608"/>
                </a:lnTo>
                <a:lnTo>
                  <a:pt x="11152" y="54101"/>
                </a:lnTo>
                <a:lnTo>
                  <a:pt x="12479" y="51631"/>
                </a:lnTo>
                <a:lnTo>
                  <a:pt x="13871" y="49189"/>
                </a:lnTo>
                <a:lnTo>
                  <a:pt x="15327" y="46793"/>
                </a:lnTo>
                <a:lnTo>
                  <a:pt x="16857" y="44442"/>
                </a:lnTo>
                <a:lnTo>
                  <a:pt x="18442" y="42129"/>
                </a:lnTo>
                <a:lnTo>
                  <a:pt x="20101" y="39871"/>
                </a:lnTo>
                <a:lnTo>
                  <a:pt x="21816" y="37650"/>
                </a:lnTo>
                <a:lnTo>
                  <a:pt x="23594" y="35484"/>
                </a:lnTo>
                <a:lnTo>
                  <a:pt x="25438" y="33364"/>
                </a:lnTo>
                <a:lnTo>
                  <a:pt x="27336" y="31300"/>
                </a:lnTo>
                <a:lnTo>
                  <a:pt x="29290" y="29290"/>
                </a:lnTo>
                <a:lnTo>
                  <a:pt x="31300" y="27336"/>
                </a:lnTo>
                <a:lnTo>
                  <a:pt x="33364" y="25438"/>
                </a:lnTo>
                <a:lnTo>
                  <a:pt x="35484" y="23594"/>
                </a:lnTo>
                <a:lnTo>
                  <a:pt x="37650" y="21816"/>
                </a:lnTo>
                <a:lnTo>
                  <a:pt x="39871" y="20101"/>
                </a:lnTo>
                <a:lnTo>
                  <a:pt x="42129" y="18442"/>
                </a:lnTo>
                <a:lnTo>
                  <a:pt x="44442" y="16857"/>
                </a:lnTo>
                <a:lnTo>
                  <a:pt x="46793" y="15327"/>
                </a:lnTo>
                <a:lnTo>
                  <a:pt x="49189" y="13871"/>
                </a:lnTo>
                <a:lnTo>
                  <a:pt x="51631" y="12479"/>
                </a:lnTo>
                <a:lnTo>
                  <a:pt x="54101" y="11152"/>
                </a:lnTo>
                <a:lnTo>
                  <a:pt x="56608" y="9899"/>
                </a:lnTo>
                <a:lnTo>
                  <a:pt x="59152" y="8719"/>
                </a:lnTo>
                <a:lnTo>
                  <a:pt x="61733" y="7613"/>
                </a:lnTo>
                <a:lnTo>
                  <a:pt x="64341" y="6571"/>
                </a:lnTo>
                <a:lnTo>
                  <a:pt x="66968" y="5613"/>
                </a:lnTo>
                <a:lnTo>
                  <a:pt x="69631" y="4719"/>
                </a:lnTo>
                <a:lnTo>
                  <a:pt x="72313" y="3908"/>
                </a:lnTo>
                <a:lnTo>
                  <a:pt x="75023" y="3171"/>
                </a:lnTo>
                <a:lnTo>
                  <a:pt x="77751" y="2507"/>
                </a:lnTo>
                <a:lnTo>
                  <a:pt x="80488" y="1917"/>
                </a:lnTo>
                <a:lnTo>
                  <a:pt x="83253" y="1410"/>
                </a:lnTo>
                <a:lnTo>
                  <a:pt x="86018" y="986"/>
                </a:lnTo>
                <a:lnTo>
                  <a:pt x="88802" y="627"/>
                </a:lnTo>
                <a:lnTo>
                  <a:pt x="91594" y="350"/>
                </a:lnTo>
                <a:lnTo>
                  <a:pt x="94396" y="157"/>
                </a:lnTo>
                <a:lnTo>
                  <a:pt x="97198" y="37"/>
                </a:lnTo>
                <a:lnTo>
                  <a:pt x="100000" y="0"/>
                </a:lnTo>
                <a:lnTo>
                  <a:pt x="100000" y="8295"/>
                </a:lnTo>
                <a:lnTo>
                  <a:pt x="97429" y="8332"/>
                </a:lnTo>
                <a:lnTo>
                  <a:pt x="94857" y="8442"/>
                </a:lnTo>
                <a:lnTo>
                  <a:pt x="92295" y="8618"/>
                </a:lnTo>
                <a:lnTo>
                  <a:pt x="89733" y="8876"/>
                </a:lnTo>
                <a:lnTo>
                  <a:pt x="87180" y="9198"/>
                </a:lnTo>
                <a:lnTo>
                  <a:pt x="84636" y="9594"/>
                </a:lnTo>
                <a:lnTo>
                  <a:pt x="82111" y="10055"/>
                </a:lnTo>
                <a:lnTo>
                  <a:pt x="79594" y="10590"/>
                </a:lnTo>
                <a:lnTo>
                  <a:pt x="77097" y="11198"/>
                </a:lnTo>
                <a:lnTo>
                  <a:pt x="74608" y="11880"/>
                </a:lnTo>
                <a:lnTo>
                  <a:pt x="72147" y="12627"/>
                </a:lnTo>
                <a:lnTo>
                  <a:pt x="69714" y="13438"/>
                </a:lnTo>
                <a:lnTo>
                  <a:pt x="67300" y="14323"/>
                </a:lnTo>
                <a:lnTo>
                  <a:pt x="64903" y="15272"/>
                </a:lnTo>
                <a:lnTo>
                  <a:pt x="62544" y="16295"/>
                </a:lnTo>
                <a:lnTo>
                  <a:pt x="60212" y="17373"/>
                </a:lnTo>
                <a:lnTo>
                  <a:pt x="57908" y="18525"/>
                </a:lnTo>
                <a:lnTo>
                  <a:pt x="55641" y="19742"/>
                </a:lnTo>
                <a:lnTo>
                  <a:pt x="53410" y="21014"/>
                </a:lnTo>
                <a:lnTo>
                  <a:pt x="51207" y="22350"/>
                </a:lnTo>
                <a:lnTo>
                  <a:pt x="49051" y="23751"/>
                </a:lnTo>
                <a:lnTo>
                  <a:pt x="46931" y="25207"/>
                </a:lnTo>
                <a:lnTo>
                  <a:pt x="44857" y="26728"/>
                </a:lnTo>
                <a:lnTo>
                  <a:pt x="42820" y="28304"/>
                </a:lnTo>
                <a:lnTo>
                  <a:pt x="40839" y="29935"/>
                </a:lnTo>
                <a:lnTo>
                  <a:pt x="38894" y="31622"/>
                </a:lnTo>
                <a:lnTo>
                  <a:pt x="36995" y="33364"/>
                </a:lnTo>
                <a:lnTo>
                  <a:pt x="35152" y="35152"/>
                </a:lnTo>
                <a:lnTo>
                  <a:pt x="33364" y="36995"/>
                </a:lnTo>
                <a:lnTo>
                  <a:pt x="31622" y="38894"/>
                </a:lnTo>
                <a:lnTo>
                  <a:pt x="29935" y="40839"/>
                </a:lnTo>
                <a:lnTo>
                  <a:pt x="28304" y="42820"/>
                </a:lnTo>
                <a:lnTo>
                  <a:pt x="26728" y="44857"/>
                </a:lnTo>
                <a:lnTo>
                  <a:pt x="25207" y="46931"/>
                </a:lnTo>
                <a:lnTo>
                  <a:pt x="23751" y="49051"/>
                </a:lnTo>
                <a:lnTo>
                  <a:pt x="22350" y="51207"/>
                </a:lnTo>
                <a:lnTo>
                  <a:pt x="21014" y="53410"/>
                </a:lnTo>
                <a:lnTo>
                  <a:pt x="19742" y="55641"/>
                </a:lnTo>
                <a:lnTo>
                  <a:pt x="18525" y="57908"/>
                </a:lnTo>
                <a:lnTo>
                  <a:pt x="17373" y="60212"/>
                </a:lnTo>
                <a:lnTo>
                  <a:pt x="16295" y="62544"/>
                </a:lnTo>
                <a:lnTo>
                  <a:pt x="15272" y="64903"/>
                </a:lnTo>
                <a:lnTo>
                  <a:pt x="14323" y="67300"/>
                </a:lnTo>
                <a:lnTo>
                  <a:pt x="13438" y="69714"/>
                </a:lnTo>
                <a:lnTo>
                  <a:pt x="12627" y="72147"/>
                </a:lnTo>
                <a:lnTo>
                  <a:pt x="11880" y="74608"/>
                </a:lnTo>
                <a:lnTo>
                  <a:pt x="11198" y="77097"/>
                </a:lnTo>
                <a:lnTo>
                  <a:pt x="10590" y="79594"/>
                </a:lnTo>
                <a:lnTo>
                  <a:pt x="10055" y="82111"/>
                </a:lnTo>
                <a:lnTo>
                  <a:pt x="9594" y="84636"/>
                </a:lnTo>
                <a:lnTo>
                  <a:pt x="9198" y="87180"/>
                </a:lnTo>
                <a:lnTo>
                  <a:pt x="8876" y="89733"/>
                </a:lnTo>
                <a:lnTo>
                  <a:pt x="8618" y="92295"/>
                </a:lnTo>
                <a:lnTo>
                  <a:pt x="8442" y="94857"/>
                </a:lnTo>
                <a:lnTo>
                  <a:pt x="8332" y="97429"/>
                </a:lnTo>
                <a:lnTo>
                  <a:pt x="8295" y="100000"/>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1" name="Rectangle 21"/>
          <p:cNvSpPr/>
          <p:nvPr/>
        </p:nvSpPr>
        <p:spPr>
          <a:xfrm>
            <a:off x="5283200" y="1016000"/>
            <a:ext cx="787400" cy="228600"/>
          </a:xfrm>
          <a:custGeom>
            <a:avLst/>
            <a:gdLst/>
            <a:ahLst/>
            <a:cxnLst/>
            <a:rect l="l" t="t" r="r" b="b"/>
            <a:pathLst>
              <a:path w="100000" h="29032">
                <a:moveTo>
                  <a:pt x="85484" y="0"/>
                </a:moveTo>
                <a:cubicBezTo>
                  <a:pt x="85484" y="0"/>
                  <a:pt x="85484" y="0"/>
                  <a:pt x="85484" y="0"/>
                </a:cubicBezTo>
                <a:cubicBezTo>
                  <a:pt x="93502" y="0"/>
                  <a:pt x="100000" y="6498"/>
                  <a:pt x="100000" y="14516"/>
                </a:cubicBezTo>
                <a:cubicBezTo>
                  <a:pt x="100000" y="14516"/>
                  <a:pt x="100000" y="14516"/>
                  <a:pt x="100000" y="14516"/>
                </a:cubicBezTo>
                <a:lnTo>
                  <a:pt x="100000" y="14516"/>
                </a:lnTo>
                <a:cubicBezTo>
                  <a:pt x="100000" y="14516"/>
                  <a:pt x="100000" y="14516"/>
                  <a:pt x="100000" y="14516"/>
                </a:cubicBezTo>
                <a:cubicBezTo>
                  <a:pt x="100000" y="22534"/>
                  <a:pt x="93502" y="29032"/>
                  <a:pt x="85484" y="29032"/>
                </a:cubicBezTo>
                <a:cubicBezTo>
                  <a:pt x="85484" y="29032"/>
                  <a:pt x="85484" y="29032"/>
                  <a:pt x="85484" y="29032"/>
                </a:cubicBezTo>
                <a:lnTo>
                  <a:pt x="14516" y="29032"/>
                </a:lnTo>
                <a:cubicBezTo>
                  <a:pt x="14516" y="29032"/>
                  <a:pt x="14516" y="29032"/>
                  <a:pt x="14516" y="29032"/>
                </a:cubicBezTo>
                <a:cubicBezTo>
                  <a:pt x="6498" y="29032"/>
                  <a:pt x="0" y="22534"/>
                  <a:pt x="0" y="14516"/>
                </a:cubicBezTo>
                <a:cubicBezTo>
                  <a:pt x="0" y="14516"/>
                  <a:pt x="0" y="14516"/>
                  <a:pt x="0" y="14516"/>
                </a:cubicBezTo>
                <a:lnTo>
                  <a:pt x="0" y="14516"/>
                </a:lnTo>
                <a:cubicBezTo>
                  <a:pt x="0" y="14516"/>
                  <a:pt x="0" y="14516"/>
                  <a:pt x="0" y="14516"/>
                </a:cubicBezTo>
                <a:cubicBezTo>
                  <a:pt x="0" y="6498"/>
                  <a:pt x="6498" y="0"/>
                  <a:pt x="14516" y="0"/>
                </a:cubicBezTo>
                <a:cubicBezTo>
                  <a:pt x="14516" y="0"/>
                  <a:pt x="14516" y="0"/>
                  <a:pt x="1451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2" name="TextBox 22"/>
          <p:cNvSpPr txBox="1"/>
          <p:nvPr/>
        </p:nvSpPr>
        <p:spPr>
          <a:xfrm>
            <a:off x="5359400" y="1016000"/>
            <a:ext cx="660400" cy="228600"/>
          </a:xfrm>
          <a:prstGeom prst="rect">
            <a:avLst/>
          </a:prstGeom>
        </p:spPr>
        <p:txBody>
          <a:bodyPr wrap="square" lIns="0" tIns="0" rIns="0" bIns="0" anchor="ctr">
            <a:noAutofit/>
          </a:bodyPr>
          <a:lstStyle/>
          <a:p>
            <a:pPr>
              <a:lnSpc>
                <a:spcPct val="135000"/>
              </a:lnSpc>
            </a:pPr>
            <a:r>
              <a:rPr sz="460" b="1" spc="0">
                <a:solidFill>
                  <a:srgbClr val="0A0A0A"/>
                </a:solidFill>
                <a:latin typeface="Telegraf"/>
              </a:rPr>
              <a:t>01 · demo</a:t>
            </a:r>
            <a:endParaRPr sz="460" b="1" spc="0">
              <a:solidFill>
                <a:srgbClr val="0A0A0A"/>
              </a:solidFill>
              <a:latin typeface="Telegraf"/>
            </a:endParaRPr>
          </a:p>
        </p:txBody>
      </p:sp>
      <p:sp>
        <p:nvSpPr>
          <p:cNvPr id="613" name="Oval 23"/>
          <p:cNvSpPr/>
          <p:nvPr/>
        </p:nvSpPr>
        <p:spPr>
          <a:xfrm>
            <a:off x="7150100" y="2247900"/>
            <a:ext cx="482600" cy="48260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4" name="Freeform 614"/>
          <p:cNvSpPr/>
          <p:nvPr/>
        </p:nvSpPr>
        <p:spPr>
          <a:xfrm>
            <a:off x="7391400" y="2434336"/>
            <a:ext cx="99060" cy="109728"/>
          </a:xfrm>
          <a:custGeom>
            <a:avLst/>
            <a:gdLst/>
            <a:ahLst/>
            <a:cxnLst/>
            <a:rect l="l" t="t" r="r" b="b"/>
            <a:pathLst>
              <a:path w="90278" h="100000">
                <a:moveTo>
                  <a:pt x="0" y="0"/>
                </a:moveTo>
                <a:lnTo>
                  <a:pt x="90278" y="50000"/>
                </a:lnTo>
                <a:lnTo>
                  <a:pt x="0" y="100000"/>
                </a:ln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5" name="TextBox 25"/>
          <p:cNvSpPr txBox="1"/>
          <p:nvPr/>
        </p:nvSpPr>
        <p:spPr>
          <a:xfrm>
            <a:off x="5283200" y="3606800"/>
            <a:ext cx="3302000" cy="152400"/>
          </a:xfrm>
          <a:prstGeom prst="rect">
            <a:avLst/>
          </a:prstGeom>
        </p:spPr>
        <p:txBody>
          <a:bodyPr wrap="square" lIns="0" tIns="0" rIns="0" bIns="0">
            <a:noAutofit/>
          </a:bodyPr>
          <a:lstStyle/>
          <a:p>
            <a:pPr>
              <a:lnSpc>
                <a:spcPct val="135000"/>
              </a:lnSpc>
            </a:pPr>
            <a:r>
              <a:rPr sz="500" spc="0">
                <a:solidFill>
                  <a:srgbClr val="BBD3CE"/>
                </a:solidFill>
                <a:latin typeface="Telegraf"/>
              </a:rPr>
              <a:t>hero-demo.mp4  ·  00:12 / 00:38</a:t>
            </a:r>
            <a:endParaRPr sz="500" spc="0">
              <a:solidFill>
                <a:srgbClr val="BBD3CE"/>
              </a:solidFill>
              <a:latin typeface="Telegraf"/>
            </a:endParaRPr>
          </a:p>
        </p:txBody>
      </p:sp>
      <p:sp>
        <p:nvSpPr>
          <p:cNvPr id="616" name="Rectangle 26"/>
          <p:cNvSpPr/>
          <p:nvPr/>
        </p:nvSpPr>
        <p:spPr>
          <a:xfrm>
            <a:off x="5283200" y="3962400"/>
            <a:ext cx="45212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7" name="Rectangle 27"/>
          <p:cNvSpPr/>
          <p:nvPr/>
        </p:nvSpPr>
        <p:spPr>
          <a:xfrm>
            <a:off x="5283200" y="3962400"/>
            <a:ext cx="1422400" cy="11430"/>
          </a:xfrm>
          <a:prstGeom prst="roundRect">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8" name="Rectangle 28"/>
          <p:cNvSpPr/>
          <p:nvPr/>
        </p:nvSpPr>
        <p:spPr>
          <a:xfrm>
            <a:off x="304800" y="4521200"/>
            <a:ext cx="3098800" cy="1168400"/>
          </a:xfrm>
          <a:custGeom>
            <a:avLst/>
            <a:gdLst/>
            <a:ahLst/>
            <a:cxnLst/>
            <a:rect l="l" t="t" r="r" b="b"/>
            <a:pathLst>
              <a:path w="100000" h="37705">
                <a:moveTo>
                  <a:pt x="90164" y="0"/>
                </a:moveTo>
                <a:cubicBezTo>
                  <a:pt x="94801" y="0"/>
                  <a:pt x="97119" y="0"/>
                  <a:pt x="98559" y="1441"/>
                </a:cubicBezTo>
                <a:cubicBezTo>
                  <a:pt x="98559" y="1441"/>
                  <a:pt x="98559" y="1441"/>
                  <a:pt x="98559" y="1441"/>
                </a:cubicBezTo>
                <a:cubicBezTo>
                  <a:pt x="100000" y="2881"/>
                  <a:pt x="100000" y="5199"/>
                  <a:pt x="100000" y="9836"/>
                </a:cubicBezTo>
                <a:lnTo>
                  <a:pt x="100000" y="27869"/>
                </a:lnTo>
                <a:cubicBezTo>
                  <a:pt x="100000" y="32506"/>
                  <a:pt x="100000" y="34824"/>
                  <a:pt x="98559" y="36264"/>
                </a:cubicBezTo>
                <a:cubicBezTo>
                  <a:pt x="98559" y="36264"/>
                  <a:pt x="98559" y="36264"/>
                  <a:pt x="98559" y="36264"/>
                </a:cubicBezTo>
                <a:cubicBezTo>
                  <a:pt x="97119" y="37705"/>
                  <a:pt x="94801" y="37705"/>
                  <a:pt x="90164" y="37705"/>
                </a:cubicBezTo>
                <a:lnTo>
                  <a:pt x="9836" y="37705"/>
                </a:lnTo>
                <a:cubicBezTo>
                  <a:pt x="5199" y="37705"/>
                  <a:pt x="2881" y="37705"/>
                  <a:pt x="1441" y="36264"/>
                </a:cubicBezTo>
                <a:cubicBezTo>
                  <a:pt x="1441" y="36264"/>
                  <a:pt x="1441" y="36264"/>
                  <a:pt x="1441" y="36264"/>
                </a:cubicBezTo>
                <a:cubicBezTo>
                  <a:pt x="0" y="34824"/>
                  <a:pt x="0" y="32506"/>
                  <a:pt x="0" y="27869"/>
                </a:cubicBezTo>
                <a:lnTo>
                  <a:pt x="0" y="9836"/>
                </a:lnTo>
                <a:cubicBezTo>
                  <a:pt x="0" y="5199"/>
                  <a:pt x="0" y="2881"/>
                  <a:pt x="1441" y="1441"/>
                </a:cubicBezTo>
                <a:cubicBezTo>
                  <a:pt x="1441" y="1441"/>
                  <a:pt x="1441" y="1441"/>
                  <a:pt x="1441" y="1441"/>
                </a:cubicBezTo>
                <a:cubicBezTo>
                  <a:pt x="2881" y="0"/>
                  <a:pt x="5199" y="0"/>
                  <a:pt x="98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19" name="TextBox 29"/>
          <p:cNvSpPr txBox="1"/>
          <p:nvPr/>
        </p:nvSpPr>
        <p:spPr>
          <a:xfrm>
            <a:off x="482600" y="4673600"/>
            <a:ext cx="254000" cy="127000"/>
          </a:xfrm>
          <a:prstGeom prst="rect">
            <a:avLst/>
          </a:prstGeom>
        </p:spPr>
        <p:txBody>
          <a:bodyPr wrap="square" lIns="0" tIns="0" rIns="0" bIns="0">
            <a:noAutofit/>
          </a:bodyPr>
          <a:lstStyle/>
          <a:p>
            <a:pPr>
              <a:lnSpc>
                <a:spcPct val="135000"/>
              </a:lnSpc>
            </a:pPr>
            <a:r>
              <a:rPr sz="500" b="1" spc="0">
                <a:solidFill>
                  <a:srgbClr val="0E6B5F"/>
                </a:solidFill>
                <a:latin typeface="Telegraf"/>
              </a:rPr>
              <a:t>01</a:t>
            </a:r>
            <a:endParaRPr sz="500" b="1" spc="0">
              <a:solidFill>
                <a:srgbClr val="0E6B5F"/>
              </a:solidFill>
              <a:latin typeface="Telegraf"/>
            </a:endParaRPr>
          </a:p>
        </p:txBody>
      </p:sp>
      <p:sp>
        <p:nvSpPr>
          <p:cNvPr id="620" name="TextBox 30"/>
          <p:cNvSpPr txBox="1"/>
          <p:nvPr/>
        </p:nvSpPr>
        <p:spPr>
          <a:xfrm>
            <a:off x="482600" y="4826000"/>
            <a:ext cx="2667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Teach it your business</a:t>
            </a:r>
            <a:endParaRPr sz="640" b="1" spc="0">
              <a:solidFill>
                <a:srgbClr val="0A0A0A"/>
              </a:solidFill>
              <a:latin typeface="Telegraf"/>
            </a:endParaRPr>
          </a:p>
        </p:txBody>
      </p:sp>
      <p:sp>
        <p:nvSpPr>
          <p:cNvPr id="621" name="TextBox 31"/>
          <p:cNvSpPr txBox="1"/>
          <p:nvPr/>
        </p:nvSpPr>
        <p:spPr>
          <a:xfrm>
            <a:off x="482600" y="5029200"/>
            <a:ext cx="2641600" cy="508000"/>
          </a:xfrm>
          <a:prstGeom prst="rect">
            <a:avLst/>
          </a:prstGeom>
        </p:spPr>
        <p:txBody>
          <a:bodyPr wrap="square" lIns="0" tIns="0" rIns="0" bIns="0">
            <a:noAutofit/>
          </a:bodyPr>
          <a:lstStyle/>
          <a:p>
            <a:pPr>
              <a:lnSpc>
                <a:spcPct val="150000"/>
              </a:lnSpc>
            </a:pPr>
            <a:r>
              <a:rPr sz="540" spc="0">
                <a:solidFill>
                  <a:srgbClr val="67676E"/>
                </a:solidFill>
                <a:latin typeface="Telegraf"/>
              </a:rPr>
              <a:t>Twelve answers compile into one versioned brain.</a:t>
            </a:r>
            <a:endParaRPr sz="540" spc="0">
              <a:solidFill>
                <a:srgbClr val="67676E"/>
              </a:solidFill>
              <a:latin typeface="Telegraf"/>
            </a:endParaRPr>
          </a:p>
        </p:txBody>
      </p:sp>
      <p:sp>
        <p:nvSpPr>
          <p:cNvPr id="622" name="Rectangle 32"/>
          <p:cNvSpPr/>
          <p:nvPr/>
        </p:nvSpPr>
        <p:spPr>
          <a:xfrm>
            <a:off x="3556000" y="4521200"/>
            <a:ext cx="3098800" cy="1168400"/>
          </a:xfrm>
          <a:custGeom>
            <a:avLst/>
            <a:gdLst/>
            <a:ahLst/>
            <a:cxnLst/>
            <a:rect l="l" t="t" r="r" b="b"/>
            <a:pathLst>
              <a:path w="100000" h="37705">
                <a:moveTo>
                  <a:pt x="90164" y="0"/>
                </a:moveTo>
                <a:cubicBezTo>
                  <a:pt x="94801" y="0"/>
                  <a:pt x="97119" y="0"/>
                  <a:pt x="98559" y="1441"/>
                </a:cubicBezTo>
                <a:cubicBezTo>
                  <a:pt x="98559" y="1441"/>
                  <a:pt x="98559" y="1441"/>
                  <a:pt x="98559" y="1441"/>
                </a:cubicBezTo>
                <a:cubicBezTo>
                  <a:pt x="100000" y="2881"/>
                  <a:pt x="100000" y="5199"/>
                  <a:pt x="100000" y="9836"/>
                </a:cubicBezTo>
                <a:lnTo>
                  <a:pt x="100000" y="27869"/>
                </a:lnTo>
                <a:cubicBezTo>
                  <a:pt x="100000" y="32506"/>
                  <a:pt x="100000" y="34824"/>
                  <a:pt x="98559" y="36264"/>
                </a:cubicBezTo>
                <a:cubicBezTo>
                  <a:pt x="98559" y="36264"/>
                  <a:pt x="98559" y="36264"/>
                  <a:pt x="98559" y="36264"/>
                </a:cubicBezTo>
                <a:cubicBezTo>
                  <a:pt x="97119" y="37705"/>
                  <a:pt x="94801" y="37705"/>
                  <a:pt x="90164" y="37705"/>
                </a:cubicBezTo>
                <a:lnTo>
                  <a:pt x="9836" y="37705"/>
                </a:lnTo>
                <a:cubicBezTo>
                  <a:pt x="5199" y="37705"/>
                  <a:pt x="2881" y="37705"/>
                  <a:pt x="1441" y="36264"/>
                </a:cubicBezTo>
                <a:cubicBezTo>
                  <a:pt x="1441" y="36264"/>
                  <a:pt x="1441" y="36264"/>
                  <a:pt x="1441" y="36264"/>
                </a:cubicBezTo>
                <a:cubicBezTo>
                  <a:pt x="0" y="34824"/>
                  <a:pt x="0" y="32506"/>
                  <a:pt x="0" y="27869"/>
                </a:cubicBezTo>
                <a:lnTo>
                  <a:pt x="0" y="9836"/>
                </a:lnTo>
                <a:cubicBezTo>
                  <a:pt x="0" y="5199"/>
                  <a:pt x="0" y="2881"/>
                  <a:pt x="1441" y="1441"/>
                </a:cubicBezTo>
                <a:cubicBezTo>
                  <a:pt x="1441" y="1441"/>
                  <a:pt x="1441" y="1441"/>
                  <a:pt x="1441" y="1441"/>
                </a:cubicBezTo>
                <a:cubicBezTo>
                  <a:pt x="2881" y="0"/>
                  <a:pt x="5199" y="0"/>
                  <a:pt x="98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23" name="TextBox 33"/>
          <p:cNvSpPr txBox="1"/>
          <p:nvPr/>
        </p:nvSpPr>
        <p:spPr>
          <a:xfrm>
            <a:off x="3733800" y="4673600"/>
            <a:ext cx="254000" cy="127000"/>
          </a:xfrm>
          <a:prstGeom prst="rect">
            <a:avLst/>
          </a:prstGeom>
        </p:spPr>
        <p:txBody>
          <a:bodyPr wrap="square" lIns="0" tIns="0" rIns="0" bIns="0">
            <a:noAutofit/>
          </a:bodyPr>
          <a:lstStyle/>
          <a:p>
            <a:pPr>
              <a:lnSpc>
                <a:spcPct val="135000"/>
              </a:lnSpc>
            </a:pPr>
            <a:r>
              <a:rPr sz="500" b="1" spc="0">
                <a:solidFill>
                  <a:srgbClr val="0E6B5F"/>
                </a:solidFill>
                <a:latin typeface="Telegraf"/>
              </a:rPr>
              <a:t>02</a:t>
            </a:r>
            <a:endParaRPr sz="500" b="1" spc="0">
              <a:solidFill>
                <a:srgbClr val="0E6B5F"/>
              </a:solidFill>
              <a:latin typeface="Telegraf"/>
            </a:endParaRPr>
          </a:p>
        </p:txBody>
      </p:sp>
      <p:sp>
        <p:nvSpPr>
          <p:cNvPr id="624" name="TextBox 34"/>
          <p:cNvSpPr txBox="1"/>
          <p:nvPr/>
        </p:nvSpPr>
        <p:spPr>
          <a:xfrm>
            <a:off x="3733800" y="4826000"/>
            <a:ext cx="2667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It triages every channel</a:t>
            </a:r>
            <a:endParaRPr sz="640" b="1" spc="0">
              <a:solidFill>
                <a:srgbClr val="0A0A0A"/>
              </a:solidFill>
              <a:latin typeface="Telegraf"/>
            </a:endParaRPr>
          </a:p>
        </p:txBody>
      </p:sp>
      <p:sp>
        <p:nvSpPr>
          <p:cNvPr id="625" name="TextBox 35"/>
          <p:cNvSpPr txBox="1"/>
          <p:nvPr/>
        </p:nvSpPr>
        <p:spPr>
          <a:xfrm>
            <a:off x="3733800" y="5029200"/>
            <a:ext cx="2641600" cy="508000"/>
          </a:xfrm>
          <a:prstGeom prst="rect">
            <a:avLst/>
          </a:prstGeom>
        </p:spPr>
        <p:txBody>
          <a:bodyPr wrap="square" lIns="0" tIns="0" rIns="0" bIns="0">
            <a:noAutofit/>
          </a:bodyPr>
          <a:lstStyle/>
          <a:p>
            <a:pPr>
              <a:lnSpc>
                <a:spcPct val="150000"/>
              </a:lnSpc>
            </a:pPr>
            <a:r>
              <a:rPr sz="540" spc="0">
                <a:solidFill>
                  <a:srgbClr val="67676E"/>
                </a:solidFill>
                <a:latin typeface="Telegraf"/>
              </a:rPr>
              <a:t>One classifier, seven ordered rules, three outcomes.</a:t>
            </a:r>
            <a:endParaRPr sz="540" spc="0">
              <a:solidFill>
                <a:srgbClr val="67676E"/>
              </a:solidFill>
              <a:latin typeface="Telegraf"/>
            </a:endParaRPr>
          </a:p>
        </p:txBody>
      </p:sp>
      <p:sp>
        <p:nvSpPr>
          <p:cNvPr id="626" name="Rectangle 36"/>
          <p:cNvSpPr/>
          <p:nvPr/>
        </p:nvSpPr>
        <p:spPr>
          <a:xfrm>
            <a:off x="6807200" y="4521200"/>
            <a:ext cx="3098800" cy="1168400"/>
          </a:xfrm>
          <a:custGeom>
            <a:avLst/>
            <a:gdLst/>
            <a:ahLst/>
            <a:cxnLst/>
            <a:rect l="l" t="t" r="r" b="b"/>
            <a:pathLst>
              <a:path w="100000" h="37705">
                <a:moveTo>
                  <a:pt x="90164" y="0"/>
                </a:moveTo>
                <a:cubicBezTo>
                  <a:pt x="94801" y="0"/>
                  <a:pt x="97119" y="0"/>
                  <a:pt x="98559" y="1441"/>
                </a:cubicBezTo>
                <a:cubicBezTo>
                  <a:pt x="98559" y="1441"/>
                  <a:pt x="98559" y="1441"/>
                  <a:pt x="98559" y="1441"/>
                </a:cubicBezTo>
                <a:cubicBezTo>
                  <a:pt x="100000" y="2881"/>
                  <a:pt x="100000" y="5199"/>
                  <a:pt x="100000" y="9836"/>
                </a:cubicBezTo>
                <a:lnTo>
                  <a:pt x="100000" y="27869"/>
                </a:lnTo>
                <a:cubicBezTo>
                  <a:pt x="100000" y="32506"/>
                  <a:pt x="100000" y="34824"/>
                  <a:pt x="98559" y="36264"/>
                </a:cubicBezTo>
                <a:cubicBezTo>
                  <a:pt x="98559" y="36264"/>
                  <a:pt x="98559" y="36264"/>
                  <a:pt x="98559" y="36264"/>
                </a:cubicBezTo>
                <a:cubicBezTo>
                  <a:pt x="97119" y="37705"/>
                  <a:pt x="94801" y="37705"/>
                  <a:pt x="90164" y="37705"/>
                </a:cubicBezTo>
                <a:lnTo>
                  <a:pt x="9836" y="37705"/>
                </a:lnTo>
                <a:cubicBezTo>
                  <a:pt x="5199" y="37705"/>
                  <a:pt x="2881" y="37705"/>
                  <a:pt x="1441" y="36264"/>
                </a:cubicBezTo>
                <a:cubicBezTo>
                  <a:pt x="1441" y="36264"/>
                  <a:pt x="1441" y="36264"/>
                  <a:pt x="1441" y="36264"/>
                </a:cubicBezTo>
                <a:cubicBezTo>
                  <a:pt x="0" y="34824"/>
                  <a:pt x="0" y="32506"/>
                  <a:pt x="0" y="27869"/>
                </a:cubicBezTo>
                <a:lnTo>
                  <a:pt x="0" y="9836"/>
                </a:lnTo>
                <a:cubicBezTo>
                  <a:pt x="0" y="5199"/>
                  <a:pt x="0" y="2881"/>
                  <a:pt x="1441" y="1441"/>
                </a:cubicBezTo>
                <a:cubicBezTo>
                  <a:pt x="1441" y="1441"/>
                  <a:pt x="1441" y="1441"/>
                  <a:pt x="1441" y="1441"/>
                </a:cubicBezTo>
                <a:cubicBezTo>
                  <a:pt x="2881" y="0"/>
                  <a:pt x="5199" y="0"/>
                  <a:pt x="98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27" name="TextBox 37"/>
          <p:cNvSpPr txBox="1"/>
          <p:nvPr/>
        </p:nvSpPr>
        <p:spPr>
          <a:xfrm>
            <a:off x="6985000" y="4673600"/>
            <a:ext cx="254000" cy="127000"/>
          </a:xfrm>
          <a:prstGeom prst="rect">
            <a:avLst/>
          </a:prstGeom>
        </p:spPr>
        <p:txBody>
          <a:bodyPr wrap="square" lIns="0" tIns="0" rIns="0" bIns="0">
            <a:noAutofit/>
          </a:bodyPr>
          <a:lstStyle/>
          <a:p>
            <a:pPr>
              <a:lnSpc>
                <a:spcPct val="135000"/>
              </a:lnSpc>
            </a:pPr>
            <a:r>
              <a:rPr sz="500" b="1" spc="0">
                <a:solidFill>
                  <a:srgbClr val="0E6B5F"/>
                </a:solidFill>
                <a:latin typeface="Telegraf"/>
              </a:rPr>
              <a:t>03</a:t>
            </a:r>
            <a:endParaRPr sz="500" b="1" spc="0">
              <a:solidFill>
                <a:srgbClr val="0E6B5F"/>
              </a:solidFill>
              <a:latin typeface="Telegraf"/>
            </a:endParaRPr>
          </a:p>
        </p:txBody>
      </p:sp>
      <p:sp>
        <p:nvSpPr>
          <p:cNvPr id="628" name="TextBox 38"/>
          <p:cNvSpPr txBox="1"/>
          <p:nvPr/>
        </p:nvSpPr>
        <p:spPr>
          <a:xfrm>
            <a:off x="6985000" y="4826000"/>
            <a:ext cx="2667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You only see the unsure</a:t>
            </a:r>
            <a:endParaRPr sz="640" b="1" spc="0">
              <a:solidFill>
                <a:srgbClr val="0A0A0A"/>
              </a:solidFill>
              <a:latin typeface="Telegraf"/>
            </a:endParaRPr>
          </a:p>
        </p:txBody>
      </p:sp>
      <p:sp>
        <p:nvSpPr>
          <p:cNvPr id="629" name="TextBox 39"/>
          <p:cNvSpPr txBox="1"/>
          <p:nvPr/>
        </p:nvSpPr>
        <p:spPr>
          <a:xfrm>
            <a:off x="6985000" y="5029200"/>
            <a:ext cx="2641600" cy="508000"/>
          </a:xfrm>
          <a:prstGeom prst="rect">
            <a:avLst/>
          </a:prstGeom>
        </p:spPr>
        <p:txBody>
          <a:bodyPr wrap="square" lIns="0" tIns="0" rIns="0" bIns="0">
            <a:noAutofit/>
          </a:bodyPr>
          <a:lstStyle/>
          <a:p>
            <a:pPr>
              <a:lnSpc>
                <a:spcPct val="150000"/>
              </a:lnSpc>
            </a:pPr>
            <a:r>
              <a:rPr sz="540" spc="0">
                <a:solidFill>
                  <a:srgbClr val="67676E"/>
                </a:solidFill>
                <a:latin typeface="Telegraf"/>
              </a:rPr>
              <a:t>Below 50 it escalates instead of guessing.</a:t>
            </a:r>
            <a:endParaRPr sz="540" spc="0">
              <a:solidFill>
                <a:srgbClr val="67676E"/>
              </a:solidFill>
              <a:latin typeface="Telegraf"/>
            </a:endParaRPr>
          </a:p>
        </p:txBody>
      </p:sp>
      <p:sp>
        <p:nvSpPr>
          <p:cNvPr id="630" name="Rectangle 40"/>
          <p:cNvSpPr/>
          <p:nvPr/>
        </p:nvSpPr>
        <p:spPr>
          <a:xfrm>
            <a:off x="304800" y="5867400"/>
            <a:ext cx="9702800" cy="508000"/>
          </a:xfrm>
          <a:custGeom>
            <a:avLst/>
            <a:gdLst/>
            <a:ahLst/>
            <a:cxnLst/>
            <a:rect l="l" t="t" r="r" b="b"/>
            <a:pathLst>
              <a:path w="100000" h="5236">
                <a:moveTo>
                  <a:pt x="97382" y="0"/>
                </a:moveTo>
                <a:cubicBezTo>
                  <a:pt x="98616" y="0"/>
                  <a:pt x="99233" y="0"/>
                  <a:pt x="99617" y="383"/>
                </a:cubicBezTo>
                <a:cubicBezTo>
                  <a:pt x="99617" y="383"/>
                  <a:pt x="99617" y="383"/>
                  <a:pt x="99617" y="383"/>
                </a:cubicBezTo>
                <a:cubicBezTo>
                  <a:pt x="100000" y="767"/>
                  <a:pt x="100000" y="1384"/>
                  <a:pt x="100000" y="2618"/>
                </a:cubicBezTo>
                <a:lnTo>
                  <a:pt x="100000" y="2618"/>
                </a:lnTo>
                <a:cubicBezTo>
                  <a:pt x="100000" y="3852"/>
                  <a:pt x="100000" y="4469"/>
                  <a:pt x="99617" y="4852"/>
                </a:cubicBezTo>
                <a:cubicBezTo>
                  <a:pt x="99617" y="4852"/>
                  <a:pt x="99617" y="4852"/>
                  <a:pt x="99617" y="4852"/>
                </a:cubicBezTo>
                <a:cubicBezTo>
                  <a:pt x="99233" y="5236"/>
                  <a:pt x="98616" y="5236"/>
                  <a:pt x="97382" y="5236"/>
                </a:cubicBezTo>
                <a:lnTo>
                  <a:pt x="2618" y="5236"/>
                </a:lnTo>
                <a:cubicBezTo>
                  <a:pt x="1384" y="5236"/>
                  <a:pt x="767" y="5236"/>
                  <a:pt x="383" y="4852"/>
                </a:cubicBezTo>
                <a:cubicBezTo>
                  <a:pt x="383" y="4852"/>
                  <a:pt x="383" y="4852"/>
                  <a:pt x="383" y="4852"/>
                </a:cubicBezTo>
                <a:cubicBezTo>
                  <a:pt x="0" y="4469"/>
                  <a:pt x="0" y="3852"/>
                  <a:pt x="0" y="2618"/>
                </a:cubicBezTo>
                <a:lnTo>
                  <a:pt x="0" y="2618"/>
                </a:lnTo>
                <a:cubicBezTo>
                  <a:pt x="0" y="1384"/>
                  <a:pt x="0" y="767"/>
                  <a:pt x="383" y="383"/>
                </a:cubicBezTo>
                <a:cubicBezTo>
                  <a:pt x="383" y="383"/>
                  <a:pt x="383" y="383"/>
                  <a:pt x="383" y="383"/>
                </a:cubicBezTo>
                <a:cubicBezTo>
                  <a:pt x="767" y="0"/>
                  <a:pt x="1384" y="0"/>
                  <a:pt x="2618"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31" name="TextBox 41"/>
          <p:cNvSpPr txBox="1"/>
          <p:nvPr/>
        </p:nvSpPr>
        <p:spPr>
          <a:xfrm>
            <a:off x="508000" y="5867400"/>
            <a:ext cx="508000" cy="508000"/>
          </a:xfrm>
          <a:prstGeom prst="rect">
            <a:avLst/>
          </a:prstGeom>
        </p:spPr>
        <p:txBody>
          <a:bodyPr wrap="square" lIns="0" tIns="0" rIns="0" bIns="0" anchor="ctr">
            <a:noAutofit/>
          </a:bodyPr>
          <a:lstStyle/>
          <a:p>
            <a:pPr>
              <a:lnSpc>
                <a:spcPct val="135000"/>
              </a:lnSpc>
            </a:pPr>
            <a:r>
              <a:rPr sz="800" b="1" spc="0">
                <a:solidFill>
                  <a:srgbClr val="0E6B5F"/>
                </a:solidFill>
                <a:latin typeface="Telegraf"/>
              </a:rPr>
              <a:t>R2</a:t>
            </a:r>
            <a:endParaRPr sz="800" b="1" spc="0">
              <a:solidFill>
                <a:srgbClr val="0E6B5F"/>
              </a:solidFill>
              <a:latin typeface="Telegraf"/>
            </a:endParaRPr>
          </a:p>
        </p:txBody>
      </p:sp>
      <p:sp>
        <p:nvSpPr>
          <p:cNvPr id="632" name="TextBox 42"/>
          <p:cNvSpPr txBox="1"/>
          <p:nvPr/>
        </p:nvSpPr>
        <p:spPr>
          <a:xfrm>
            <a:off x="990600" y="5867400"/>
            <a:ext cx="5334000" cy="508000"/>
          </a:xfrm>
          <a:prstGeom prst="rect">
            <a:avLst/>
          </a:prstGeom>
        </p:spPr>
        <p:txBody>
          <a:bodyPr wrap="square" lIns="0" tIns="0" rIns="0" bIns="0" anchor="ctr">
            <a:noAutofit/>
          </a:bodyPr>
          <a:lstStyle/>
          <a:p>
            <a:pPr>
              <a:lnSpc>
                <a:spcPct val="135000"/>
              </a:lnSpc>
            </a:pPr>
            <a:r>
              <a:rPr sz="600" spc="0">
                <a:solidFill>
                  <a:srgbClr val="0E6B5F"/>
                </a:solidFill>
                <a:latin typeface="Telegraf"/>
              </a:rPr>
              <a:t>Confidence below 50 never auto-sends. It escalates, with the rule and the reason attached.</a:t>
            </a:r>
            <a:endParaRPr sz="600" spc="0">
              <a:solidFill>
                <a:srgbClr val="0E6B5F"/>
              </a:solidFill>
              <a:latin typeface="Telegraf"/>
            </a:endParaRPr>
          </a:p>
        </p:txBody>
      </p:sp>
      <p:sp>
        <p:nvSpPr>
          <p:cNvPr id="633" name="Rectangle 43"/>
          <p:cNvSpPr/>
          <p:nvPr/>
        </p:nvSpPr>
        <p:spPr>
          <a:xfrm>
            <a:off x="8737600" y="5969000"/>
            <a:ext cx="1066800" cy="304800"/>
          </a:xfrm>
          <a:custGeom>
            <a:avLst/>
            <a:gdLst/>
            <a:ahLst/>
            <a:cxnLst/>
            <a:rect l="l" t="t" r="r" b="b"/>
            <a:pathLst>
              <a:path w="100000" h="28571">
                <a:moveTo>
                  <a:pt x="85714" y="0"/>
                </a:moveTo>
                <a:cubicBezTo>
                  <a:pt x="85714" y="0"/>
                  <a:pt x="85714" y="0"/>
                  <a:pt x="85714" y="0"/>
                </a:cubicBezTo>
                <a:cubicBezTo>
                  <a:pt x="93604" y="0"/>
                  <a:pt x="100000" y="6396"/>
                  <a:pt x="100000" y="14286"/>
                </a:cubicBezTo>
                <a:cubicBezTo>
                  <a:pt x="100000" y="14286"/>
                  <a:pt x="100000" y="14286"/>
                  <a:pt x="100000" y="14286"/>
                </a:cubicBezTo>
                <a:lnTo>
                  <a:pt x="100000" y="14286"/>
                </a:lnTo>
                <a:cubicBezTo>
                  <a:pt x="100000" y="14286"/>
                  <a:pt x="100000" y="14286"/>
                  <a:pt x="100000" y="14286"/>
                </a:cubicBezTo>
                <a:cubicBezTo>
                  <a:pt x="100000" y="22175"/>
                  <a:pt x="93604" y="28571"/>
                  <a:pt x="85714" y="28571"/>
                </a:cubicBezTo>
                <a:cubicBezTo>
                  <a:pt x="85714" y="28571"/>
                  <a:pt x="85714" y="28571"/>
                  <a:pt x="85714" y="28571"/>
                </a:cubicBezTo>
                <a:lnTo>
                  <a:pt x="14286" y="28571"/>
                </a:lnTo>
                <a:cubicBezTo>
                  <a:pt x="14286" y="28571"/>
                  <a:pt x="14286" y="28571"/>
                  <a:pt x="14286" y="28571"/>
                </a:cubicBezTo>
                <a:cubicBezTo>
                  <a:pt x="6396" y="28571"/>
                  <a:pt x="0" y="22175"/>
                  <a:pt x="0" y="14286"/>
                </a:cubicBezTo>
                <a:cubicBezTo>
                  <a:pt x="0" y="14286"/>
                  <a:pt x="0" y="14286"/>
                  <a:pt x="0" y="14286"/>
                </a:cubicBezTo>
                <a:lnTo>
                  <a:pt x="0" y="14286"/>
                </a:lnTo>
                <a:cubicBezTo>
                  <a:pt x="0" y="14286"/>
                  <a:pt x="0" y="14286"/>
                  <a:pt x="0" y="14286"/>
                </a:cubicBezTo>
                <a:cubicBezTo>
                  <a:pt x="0" y="6396"/>
                  <a:pt x="6396" y="0"/>
                  <a:pt x="14286" y="0"/>
                </a:cubicBezTo>
                <a:cubicBezTo>
                  <a:pt x="14286" y="0"/>
                  <a:pt x="14286" y="0"/>
                  <a:pt x="14286" y="0"/>
                </a:cubicBezTo>
                <a:close/>
              </a:path>
            </a:pathLst>
          </a:custGeom>
          <a:solidFill>
            <a:srgbClr val="FFFFFF"/>
          </a:solidFill>
          <a:ln w="11430">
            <a:solidFill>
              <a:srgbClr val="EAF4F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34" name="TextBox 44"/>
          <p:cNvSpPr txBox="1"/>
          <p:nvPr/>
        </p:nvSpPr>
        <p:spPr>
          <a:xfrm>
            <a:off x="8813800" y="5969000"/>
            <a:ext cx="939800" cy="304800"/>
          </a:xfrm>
          <a:prstGeom prst="rect">
            <a:avLst/>
          </a:prstGeom>
        </p:spPr>
        <p:txBody>
          <a:bodyPr wrap="square" lIns="0" tIns="0" rIns="0" bIns="0" anchor="ctr">
            <a:noAutofit/>
          </a:bodyPr>
          <a:lstStyle/>
          <a:p>
            <a:pPr>
              <a:lnSpc>
                <a:spcPct val="135000"/>
              </a:lnSpc>
            </a:pPr>
            <a:r>
              <a:rPr sz="520" b="1" spc="10">
                <a:solidFill>
                  <a:srgbClr val="0E6B5F"/>
                </a:solidFill>
                <a:latin typeface="Telegraf"/>
              </a:rPr>
              <a:t>Read the rules</a:t>
            </a:r>
            <a:endParaRPr sz="520" b="1" spc="10">
              <a:solidFill>
                <a:srgbClr val="0E6B5F"/>
              </a:solidFill>
              <a:latin typeface="Telegraf"/>
            </a:endParaRPr>
          </a:p>
        </p:txBody>
      </p:sp>
      <p:sp>
        <p:nvSpPr>
          <p:cNvPr id="635" name="Oval 45"/>
          <p:cNvSpPr/>
          <p:nvPr/>
        </p:nvSpPr>
        <p:spPr>
          <a:xfrm>
            <a:off x="9819640" y="-10160"/>
            <a:ext cx="172720" cy="17272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36" name="Oval 46"/>
          <p:cNvSpPr/>
          <p:nvPr/>
        </p:nvSpPr>
        <p:spPr>
          <a:xfrm>
            <a:off x="9843770" y="13970"/>
            <a:ext cx="124460" cy="12446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37" name="TextBox 47"/>
          <p:cNvSpPr txBox="1"/>
          <p:nvPr/>
        </p:nvSpPr>
        <p:spPr>
          <a:xfrm>
            <a:off x="9843770" y="13970"/>
            <a:ext cx="124460" cy="124460"/>
          </a:xfrm>
          <a:prstGeom prst="rect">
            <a:avLst/>
          </a:prstGeom>
        </p:spPr>
        <p:txBody>
          <a:bodyPr wrap="square" lIns="0" tIns="0" rIns="0" bIns="0" anchor="ctr">
            <a:noAutofit/>
          </a:bodyPr>
          <a:lstStyle/>
          <a:p>
            <a:pPr algn="ctr">
              <a:lnSpc>
                <a:spcPct val="135000"/>
              </a:lnSpc>
            </a:pPr>
            <a:r>
              <a:rPr sz="440" b="1" spc="0">
                <a:solidFill>
                  <a:srgbClr val="0A0A0A"/>
                </a:solidFill>
                <a:latin typeface="Telegraf"/>
              </a:rPr>
              <a:t>1</a:t>
            </a:r>
            <a:endParaRPr sz="440" b="1" spc="0">
              <a:solidFill>
                <a:srgbClr val="0A0A0A"/>
              </a:solidFill>
              <a:latin typeface="Telegraf"/>
            </a:endParaRPr>
          </a:p>
        </p:txBody>
      </p:sp>
      <p:sp>
        <p:nvSpPr>
          <p:cNvPr id="638" name="Oval 48"/>
          <p:cNvSpPr/>
          <p:nvPr/>
        </p:nvSpPr>
        <p:spPr>
          <a:xfrm>
            <a:off x="116840" y="751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39" name="Oval 49"/>
          <p:cNvSpPr/>
          <p:nvPr/>
        </p:nvSpPr>
        <p:spPr>
          <a:xfrm>
            <a:off x="140970" y="775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0" name="TextBox 50"/>
          <p:cNvSpPr txBox="1"/>
          <p:nvPr/>
        </p:nvSpPr>
        <p:spPr>
          <a:xfrm>
            <a:off x="140970" y="775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641" name="Oval 51"/>
          <p:cNvSpPr/>
          <p:nvPr/>
        </p:nvSpPr>
        <p:spPr>
          <a:xfrm>
            <a:off x="4892040" y="624840"/>
            <a:ext cx="172720" cy="17272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2" name="Oval 52"/>
          <p:cNvSpPr/>
          <p:nvPr/>
        </p:nvSpPr>
        <p:spPr>
          <a:xfrm>
            <a:off x="4916170" y="648970"/>
            <a:ext cx="124460" cy="12446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3" name="TextBox 53"/>
          <p:cNvSpPr txBox="1"/>
          <p:nvPr/>
        </p:nvSpPr>
        <p:spPr>
          <a:xfrm>
            <a:off x="4916170" y="648970"/>
            <a:ext cx="124460" cy="124460"/>
          </a:xfrm>
          <a:prstGeom prst="rect">
            <a:avLst/>
          </a:prstGeom>
        </p:spPr>
        <p:txBody>
          <a:bodyPr wrap="square" lIns="0" tIns="0" rIns="0" bIns="0" anchor="ctr">
            <a:noAutofit/>
          </a:bodyPr>
          <a:lstStyle/>
          <a:p>
            <a:pPr algn="ctr">
              <a:lnSpc>
                <a:spcPct val="135000"/>
              </a:lnSpc>
            </a:pPr>
            <a:r>
              <a:rPr sz="440" b="1" spc="0">
                <a:solidFill>
                  <a:srgbClr val="0A0A0A"/>
                </a:solidFill>
                <a:latin typeface="Telegraf"/>
              </a:rPr>
              <a:t>3</a:t>
            </a:r>
            <a:endParaRPr sz="440" b="1" spc="0">
              <a:solidFill>
                <a:srgbClr val="0A0A0A"/>
              </a:solidFill>
              <a:latin typeface="Telegraf"/>
            </a:endParaRPr>
          </a:p>
        </p:txBody>
      </p:sp>
      <p:sp>
        <p:nvSpPr>
          <p:cNvPr id="644" name="Oval 54"/>
          <p:cNvSpPr/>
          <p:nvPr/>
        </p:nvSpPr>
        <p:spPr>
          <a:xfrm>
            <a:off x="116840" y="4434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5" name="Oval 55"/>
          <p:cNvSpPr/>
          <p:nvPr/>
        </p:nvSpPr>
        <p:spPr>
          <a:xfrm>
            <a:off x="140970" y="4458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6" name="TextBox 56"/>
          <p:cNvSpPr txBox="1"/>
          <p:nvPr/>
        </p:nvSpPr>
        <p:spPr>
          <a:xfrm>
            <a:off x="140970" y="4458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647" name="Oval 57"/>
          <p:cNvSpPr/>
          <p:nvPr/>
        </p:nvSpPr>
        <p:spPr>
          <a:xfrm>
            <a:off x="9819640" y="5781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8" name="Oval 58"/>
          <p:cNvSpPr/>
          <p:nvPr/>
        </p:nvSpPr>
        <p:spPr>
          <a:xfrm>
            <a:off x="9843770" y="5805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49" name="TextBox 59"/>
          <p:cNvSpPr txBox="1"/>
          <p:nvPr/>
        </p:nvSpPr>
        <p:spPr>
          <a:xfrm>
            <a:off x="9843770" y="5805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5</a:t>
            </a:r>
            <a:endParaRPr sz="440" b="1" spc="0">
              <a:solidFill>
                <a:srgbClr val="FFFFFF"/>
              </a:solidFill>
              <a:latin typeface="Telegraf"/>
            </a:endParaRPr>
          </a:p>
        </p:txBody>
      </p:sp>
      <p:sp>
        <p:nvSpPr>
          <p:cNvPr id="650" name="Rectangle 60"/>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51" name="TextBox 61"/>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05  —  LANDING</a:t>
            </a:r>
            <a:endParaRPr sz="490" b="1" spc="120">
              <a:solidFill>
                <a:srgbClr val="8FE0CE"/>
              </a:solidFill>
              <a:latin typeface="Telegraf"/>
            </a:endParaRPr>
          </a:p>
        </p:txBody>
      </p:sp>
      <p:sp>
        <p:nvSpPr>
          <p:cNvPr id="652" name="TextBox 62"/>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The public</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promise.</a:t>
            </a:r>
            <a:endParaRPr sz="1650" spc="-50">
              <a:solidFill>
                <a:srgbClr val="FFFFFF"/>
              </a:solidFill>
              <a:latin typeface="PP Editorial New Ultralight"/>
            </a:endParaRPr>
          </a:p>
        </p:txBody>
      </p:sp>
      <p:sp>
        <p:nvSpPr>
          <p:cNvPr id="653" name="Rectangle 63"/>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54" name="TextBox 64"/>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655" name="TextBox 65"/>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Black pill nav</a:t>
            </a:r>
            <a:endParaRPr sz="590" b="1" spc="0">
              <a:solidFill>
                <a:srgbClr val="FFFFFF"/>
              </a:solidFill>
              <a:latin typeface="Telegraf"/>
            </a:endParaRPr>
          </a:p>
        </p:txBody>
      </p:sp>
      <p:sp>
        <p:nvSpPr>
          <p:cNvPr id="656" name="TextBox 66"/>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One filled control on the whole page, top right.</a:t>
            </a:r>
            <a:endParaRPr sz="550" spc="0">
              <a:solidFill>
                <a:srgbClr val="A8A8A8"/>
              </a:solidFill>
              <a:latin typeface="Telegraf"/>
            </a:endParaRPr>
          </a:p>
        </p:txBody>
      </p:sp>
      <p:sp>
        <p:nvSpPr>
          <p:cNvPr id="657" name="TextBox 67"/>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658" name="TextBox 68"/>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Serif hero</a:t>
            </a:r>
            <a:endParaRPr sz="590" b="1" spc="0">
              <a:solidFill>
                <a:srgbClr val="FFFFFF"/>
              </a:solidFill>
              <a:latin typeface="Telegraf"/>
            </a:endParaRPr>
          </a:p>
        </p:txBody>
      </p:sp>
      <p:sp>
        <p:nvSpPr>
          <p:cNvPr id="659" name="TextBox 69"/>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33pt display, three short lines, left aligned, never centred.</a:t>
            </a:r>
            <a:endParaRPr sz="550" spc="0">
              <a:solidFill>
                <a:srgbClr val="A8A8A8"/>
              </a:solidFill>
              <a:latin typeface="Telegraf"/>
            </a:endParaRPr>
          </a:p>
        </p:txBody>
      </p:sp>
      <p:sp>
        <p:nvSpPr>
          <p:cNvPr id="660" name="TextBox 70"/>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661" name="TextBox 71"/>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Video slot</a:t>
            </a:r>
            <a:endParaRPr sz="590" b="1" spc="0">
              <a:solidFill>
                <a:srgbClr val="FFFFFF"/>
              </a:solidFill>
              <a:latin typeface="Telegraf"/>
            </a:endParaRPr>
          </a:p>
        </p:txBody>
      </p:sp>
      <p:sp>
        <p:nvSpPr>
          <p:cNvPr id="662" name="TextBox 72"/>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16:9 petrol card; the flower whorl is the only ornament.</a:t>
            </a:r>
            <a:endParaRPr sz="550" spc="0">
              <a:solidFill>
                <a:srgbClr val="A8A8A8"/>
              </a:solidFill>
              <a:latin typeface="Telegraf"/>
            </a:endParaRPr>
          </a:p>
        </p:txBody>
      </p:sp>
      <p:sp>
        <p:nvSpPr>
          <p:cNvPr id="663" name="TextBox 73"/>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664" name="TextBox 74"/>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Proof strip</a:t>
            </a:r>
            <a:endParaRPr sz="590" b="1" spc="0">
              <a:solidFill>
                <a:srgbClr val="FFFFFF"/>
              </a:solidFill>
              <a:latin typeface="Telegraf"/>
            </a:endParaRPr>
          </a:p>
        </p:txBody>
      </p:sp>
      <p:sp>
        <p:nvSpPr>
          <p:cNvPr id="665" name="TextBox 75"/>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R2 stated on the page — the product's own claim, not a testimonial.</a:t>
            </a:r>
            <a:endParaRPr sz="550" spc="0">
              <a:solidFill>
                <a:srgbClr val="A8A8A8"/>
              </a:solidFill>
              <a:latin typeface="Telegraf"/>
            </a:endParaRPr>
          </a:p>
        </p:txBody>
      </p:sp>
      <p:sp>
        <p:nvSpPr>
          <p:cNvPr id="666" name="TextBox 76"/>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667" name="TextBox 77"/>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a:t>
            </a:r>
            <a:endParaRPr sz="560" spc="0">
              <a:solidFill>
                <a:srgbClr val="FFFFFF"/>
              </a:solidFill>
              <a:latin typeface="Telegraf"/>
            </a:endParaRPr>
          </a:p>
        </p:txBody>
      </p:sp>
      <p:sp>
        <p:nvSpPr>
          <p:cNvPr id="668" name="TextBox 78"/>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669" name="TextBox 79"/>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components/landing/Navbar.tsx; HeroStage.tsx; RuleStrip.tsx</a:t>
            </a:r>
            <a:endParaRPr sz="530" spc="0">
              <a:solidFill>
                <a:srgbClr val="CFCFCF"/>
              </a:solidFill>
              <a:latin typeface="Telegraf"/>
            </a:endParaRPr>
          </a:p>
        </p:txBody>
      </p:sp>
      <p:sp>
        <p:nvSpPr>
          <p:cNvPr id="670" name="Rectangle 80"/>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71" name="TextBox 81"/>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3" name="TextBox 1"/>
          <p:cNvSpPr txBox="1"/>
          <p:nvPr/>
        </p:nvSpPr>
        <p:spPr>
          <a:xfrm>
            <a:off x="304800" y="177800"/>
            <a:ext cx="2540000" cy="254000"/>
          </a:xfrm>
          <a:prstGeom prst="rect">
            <a:avLst/>
          </a:prstGeom>
        </p:spPr>
        <p:txBody>
          <a:bodyPr wrap="square" lIns="0" tIns="0" rIns="0" bIns="0">
            <a:noAutofit/>
          </a:bodyPr>
          <a:lstStyle/>
          <a:p>
            <a:pPr>
              <a:lnSpc>
                <a:spcPct val="102000"/>
              </a:lnSpc>
            </a:pPr>
            <a:r>
              <a:rPr sz="1250" spc="-30">
                <a:solidFill>
                  <a:srgbClr val="0A0A0A"/>
                </a:solidFill>
                <a:latin typeface="PP Editorial New Ultralight"/>
              </a:rPr>
              <a:t>AfterSales.</a:t>
            </a:r>
            <a:endParaRPr sz="1250" spc="-30">
              <a:solidFill>
                <a:srgbClr val="0A0A0A"/>
              </a:solidFill>
              <a:latin typeface="PP Editorial New Ultralight"/>
            </a:endParaRPr>
          </a:p>
        </p:txBody>
      </p:sp>
      <p:sp>
        <p:nvSpPr>
          <p:cNvPr id="674" name="TextBox 2"/>
          <p:cNvSpPr txBox="1"/>
          <p:nvPr/>
        </p:nvSpPr>
        <p:spPr>
          <a:xfrm>
            <a:off x="7061200" y="190500"/>
            <a:ext cx="1143000" cy="203200"/>
          </a:xfrm>
          <a:prstGeom prst="rect">
            <a:avLst/>
          </a:prstGeom>
        </p:spPr>
        <p:txBody>
          <a:bodyPr wrap="square" lIns="0" tIns="0" rIns="0" bIns="0">
            <a:noAutofit/>
          </a:bodyPr>
          <a:lstStyle/>
          <a:p>
            <a:pPr>
              <a:lnSpc>
                <a:spcPct val="135000"/>
              </a:lnSpc>
            </a:pPr>
            <a:r>
              <a:rPr sz="540" spc="0">
                <a:solidFill>
                  <a:srgbClr val="67676E"/>
                </a:solidFill>
                <a:latin typeface="Telegraf"/>
              </a:rPr>
              <a:t>How it works</a:t>
            </a:r>
            <a:endParaRPr sz="540" spc="0">
              <a:solidFill>
                <a:srgbClr val="67676E"/>
              </a:solidFill>
              <a:latin typeface="Telegraf"/>
            </a:endParaRPr>
          </a:p>
        </p:txBody>
      </p:sp>
      <p:sp>
        <p:nvSpPr>
          <p:cNvPr id="675" name="TextBox 3"/>
          <p:cNvSpPr txBox="1"/>
          <p:nvPr/>
        </p:nvSpPr>
        <p:spPr>
          <a:xfrm>
            <a:off x="7823200" y="190500"/>
            <a:ext cx="1143000" cy="203200"/>
          </a:xfrm>
          <a:prstGeom prst="rect">
            <a:avLst/>
          </a:prstGeom>
        </p:spPr>
        <p:txBody>
          <a:bodyPr wrap="square" lIns="0" tIns="0" rIns="0" bIns="0">
            <a:noAutofit/>
          </a:bodyPr>
          <a:lstStyle/>
          <a:p>
            <a:pPr>
              <a:lnSpc>
                <a:spcPct val="135000"/>
              </a:lnSpc>
            </a:pPr>
            <a:r>
              <a:rPr sz="540" spc="0">
                <a:solidFill>
                  <a:srgbClr val="67676E"/>
                </a:solidFill>
                <a:latin typeface="Telegraf"/>
              </a:rPr>
              <a:t>Rules</a:t>
            </a:r>
            <a:endParaRPr sz="540" spc="0">
              <a:solidFill>
                <a:srgbClr val="67676E"/>
              </a:solidFill>
              <a:latin typeface="Telegraf"/>
            </a:endParaRPr>
          </a:p>
        </p:txBody>
      </p:sp>
      <p:sp>
        <p:nvSpPr>
          <p:cNvPr id="676" name="TextBox 4"/>
          <p:cNvSpPr txBox="1"/>
          <p:nvPr/>
        </p:nvSpPr>
        <p:spPr>
          <a:xfrm>
            <a:off x="8331200" y="190500"/>
            <a:ext cx="1143000" cy="203200"/>
          </a:xfrm>
          <a:prstGeom prst="rect">
            <a:avLst/>
          </a:prstGeom>
        </p:spPr>
        <p:txBody>
          <a:bodyPr wrap="square" lIns="0" tIns="0" rIns="0" bIns="0">
            <a:noAutofit/>
          </a:bodyPr>
          <a:lstStyle/>
          <a:p>
            <a:pPr>
              <a:lnSpc>
                <a:spcPct val="135000"/>
              </a:lnSpc>
            </a:pPr>
            <a:r>
              <a:rPr sz="540" spc="0">
                <a:solidFill>
                  <a:srgbClr val="67676E"/>
                </a:solidFill>
                <a:latin typeface="Telegraf"/>
              </a:rPr>
              <a:t>Features</a:t>
            </a:r>
            <a:endParaRPr sz="540" spc="0">
              <a:solidFill>
                <a:srgbClr val="67676E"/>
              </a:solidFill>
              <a:latin typeface="Telegraf"/>
            </a:endParaRPr>
          </a:p>
        </p:txBody>
      </p:sp>
      <p:sp>
        <p:nvSpPr>
          <p:cNvPr id="677" name="Rectangle 5"/>
          <p:cNvSpPr/>
          <p:nvPr/>
        </p:nvSpPr>
        <p:spPr>
          <a:xfrm>
            <a:off x="9194800" y="139700"/>
            <a:ext cx="812800" cy="266700"/>
          </a:xfrm>
          <a:custGeom>
            <a:avLst/>
            <a:gdLst/>
            <a:ahLst/>
            <a:cxnLst/>
            <a:rect l="l" t="t" r="r" b="b"/>
            <a:pathLst>
              <a:path w="100000" h="32813">
                <a:moveTo>
                  <a:pt x="83594" y="0"/>
                </a:moveTo>
                <a:cubicBezTo>
                  <a:pt x="83594" y="0"/>
                  <a:pt x="83594" y="0"/>
                  <a:pt x="83594" y="0"/>
                </a:cubicBezTo>
                <a:cubicBezTo>
                  <a:pt x="92655" y="0"/>
                  <a:pt x="100000" y="7345"/>
                  <a:pt x="100000" y="16406"/>
                </a:cubicBezTo>
                <a:cubicBezTo>
                  <a:pt x="100000" y="16406"/>
                  <a:pt x="100000" y="16406"/>
                  <a:pt x="100000" y="16406"/>
                </a:cubicBezTo>
                <a:lnTo>
                  <a:pt x="100000" y="16406"/>
                </a:lnTo>
                <a:cubicBezTo>
                  <a:pt x="100000" y="16406"/>
                  <a:pt x="100000" y="16406"/>
                  <a:pt x="100000" y="16406"/>
                </a:cubicBezTo>
                <a:cubicBezTo>
                  <a:pt x="100000" y="25467"/>
                  <a:pt x="92655" y="32813"/>
                  <a:pt x="83594" y="32813"/>
                </a:cubicBezTo>
                <a:cubicBezTo>
                  <a:pt x="83594" y="32813"/>
                  <a:pt x="83594" y="32813"/>
                  <a:pt x="83594" y="32813"/>
                </a:cubicBezTo>
                <a:lnTo>
                  <a:pt x="16406" y="32813"/>
                </a:lnTo>
                <a:cubicBezTo>
                  <a:pt x="16406" y="32813"/>
                  <a:pt x="16406" y="32813"/>
                  <a:pt x="16406" y="32813"/>
                </a:cubicBezTo>
                <a:cubicBezTo>
                  <a:pt x="7345" y="32813"/>
                  <a:pt x="0" y="25467"/>
                  <a:pt x="0" y="16406"/>
                </a:cubicBezTo>
                <a:cubicBezTo>
                  <a:pt x="0" y="16406"/>
                  <a:pt x="0" y="16406"/>
                  <a:pt x="0" y="16406"/>
                </a:cubicBezTo>
                <a:lnTo>
                  <a:pt x="0" y="16406"/>
                </a:lnTo>
                <a:cubicBezTo>
                  <a:pt x="0" y="16406"/>
                  <a:pt x="0" y="16406"/>
                  <a:pt x="0" y="16406"/>
                </a:cubicBezTo>
                <a:cubicBezTo>
                  <a:pt x="0" y="7345"/>
                  <a:pt x="7345" y="0"/>
                  <a:pt x="16406" y="0"/>
                </a:cubicBezTo>
                <a:cubicBezTo>
                  <a:pt x="16406" y="0"/>
                  <a:pt x="16406" y="0"/>
                  <a:pt x="16406"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78" name="TextBox 6"/>
          <p:cNvSpPr txBox="1"/>
          <p:nvPr/>
        </p:nvSpPr>
        <p:spPr>
          <a:xfrm>
            <a:off x="9271000" y="139700"/>
            <a:ext cx="685800" cy="266700"/>
          </a:xfrm>
          <a:prstGeom prst="rect">
            <a:avLst/>
          </a:prstGeom>
        </p:spPr>
        <p:txBody>
          <a:bodyPr wrap="square" lIns="0" tIns="0" rIns="0" bIns="0" anchor="ctr">
            <a:noAutofit/>
          </a:bodyPr>
          <a:lstStyle/>
          <a:p>
            <a:pPr>
              <a:lnSpc>
                <a:spcPct val="135000"/>
              </a:lnSpc>
            </a:pPr>
            <a:r>
              <a:rPr sz="500" b="1" spc="10">
                <a:solidFill>
                  <a:srgbClr val="FFFFFF"/>
                </a:solidFill>
                <a:latin typeface="Telegraf"/>
              </a:rPr>
              <a:t>Go to dashboard</a:t>
            </a:r>
            <a:endParaRPr sz="500" b="1" spc="10">
              <a:solidFill>
                <a:srgbClr val="FFFFFF"/>
              </a:solidFill>
              <a:latin typeface="Telegraf"/>
            </a:endParaRPr>
          </a:p>
        </p:txBody>
      </p:sp>
      <p:sp>
        <p:nvSpPr>
          <p:cNvPr id="679" name="Rectangle 7"/>
          <p:cNvSpPr/>
          <p:nvPr/>
        </p:nvSpPr>
        <p:spPr>
          <a:xfrm>
            <a:off x="0" y="558800"/>
            <a:ext cx="10312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80" name="TextBox 8"/>
          <p:cNvSpPr txBox="1"/>
          <p:nvPr/>
        </p:nvSpPr>
        <p:spPr>
          <a:xfrm>
            <a:off x="304800" y="1066800"/>
            <a:ext cx="3302000" cy="127000"/>
          </a:xfrm>
          <a:prstGeom prst="rect">
            <a:avLst/>
          </a:prstGeom>
        </p:spPr>
        <p:txBody>
          <a:bodyPr wrap="square" lIns="0" tIns="0" rIns="0" bIns="0">
            <a:noAutofit/>
          </a:bodyPr>
          <a:lstStyle/>
          <a:p>
            <a:r>
              <a:rPr sz="480" b="1" spc="125">
                <a:solidFill>
                  <a:srgbClr val="0E6B5F"/>
                </a:solidFill>
                <a:latin typeface="Telegraf"/>
              </a:rPr>
              <a:t>SIGN IN</a:t>
            </a:r>
            <a:endParaRPr sz="480" b="1" spc="125">
              <a:solidFill>
                <a:srgbClr val="0E6B5F"/>
              </a:solidFill>
              <a:latin typeface="Telegraf"/>
            </a:endParaRPr>
          </a:p>
        </p:txBody>
      </p:sp>
      <p:sp>
        <p:nvSpPr>
          <p:cNvPr id="681" name="TextBox 9"/>
          <p:cNvSpPr txBox="1"/>
          <p:nvPr/>
        </p:nvSpPr>
        <p:spPr>
          <a:xfrm>
            <a:off x="292100" y="1244600"/>
            <a:ext cx="4572000" cy="1117600"/>
          </a:xfrm>
          <a:prstGeom prst="rect">
            <a:avLst/>
          </a:prstGeom>
        </p:spPr>
        <p:txBody>
          <a:bodyPr wrap="square" lIns="0" tIns="0" rIns="0" bIns="0">
            <a:noAutofit/>
          </a:bodyPr>
          <a:lstStyle/>
          <a:p>
            <a:pPr>
              <a:lnSpc>
                <a:spcPct val="100000"/>
              </a:lnSpc>
            </a:pPr>
            <a:r>
              <a:rPr sz="3200" spc="-140">
                <a:solidFill>
                  <a:srgbClr val="0A0A0A"/>
                </a:solidFill>
                <a:latin typeface="PP Editorial New Ultralight"/>
              </a:rPr>
              <a:t>Sign in,</a:t>
            </a:r>
            <a:endParaRPr sz="3200" spc="-140">
              <a:solidFill>
                <a:srgbClr val="0A0A0A"/>
              </a:solidFill>
              <a:latin typeface="PP Editorial New Ultralight"/>
            </a:endParaRPr>
          </a:p>
          <a:p>
            <a:pPr>
              <a:lnSpc>
                <a:spcPct val="100000"/>
              </a:lnSpc>
            </a:pPr>
            <a:r>
              <a:rPr sz="3200" spc="-140">
                <a:solidFill>
                  <a:srgbClr val="0A0A0A"/>
                </a:solidFill>
                <a:latin typeface="PP Editorial New Ultralight"/>
              </a:rPr>
              <a:t>or skip in.</a:t>
            </a:r>
            <a:endParaRPr sz="3200" spc="-140">
              <a:solidFill>
                <a:srgbClr val="0A0A0A"/>
              </a:solidFill>
              <a:latin typeface="PP Editorial New Ultralight"/>
            </a:endParaRPr>
          </a:p>
        </p:txBody>
      </p:sp>
      <p:sp>
        <p:nvSpPr>
          <p:cNvPr id="682" name="TextBox 10"/>
          <p:cNvSpPr txBox="1"/>
          <p:nvPr/>
        </p:nvSpPr>
        <p:spPr>
          <a:xfrm>
            <a:off x="304800" y="2540000"/>
            <a:ext cx="4191000" cy="584200"/>
          </a:xfrm>
          <a:prstGeom prst="rect">
            <a:avLst/>
          </a:prstGeom>
        </p:spPr>
        <p:txBody>
          <a:bodyPr wrap="square" lIns="0" tIns="0" rIns="0" bIns="0">
            <a:noAutofit/>
          </a:bodyPr>
          <a:lstStyle/>
          <a:p>
            <a:pPr>
              <a:lnSpc>
                <a:spcPct val="160000"/>
              </a:lnSpc>
            </a:pPr>
            <a:r>
              <a:rPr sz="660" spc="0">
                <a:solidFill>
                  <a:srgbClr val="67676E"/>
                </a:solidFill>
                <a:latin typeface="Telegraf"/>
              </a:rPr>
              <a:t>One owner per business. Judges take the seeded path; teams take Google. Customers never log in at all.</a:t>
            </a:r>
            <a:endParaRPr sz="660" spc="0">
              <a:solidFill>
                <a:srgbClr val="67676E"/>
              </a:solidFill>
              <a:latin typeface="Telegraf"/>
            </a:endParaRPr>
          </a:p>
        </p:txBody>
      </p:sp>
      <p:sp>
        <p:nvSpPr>
          <p:cNvPr id="683" name="Rectangle 11"/>
          <p:cNvSpPr/>
          <p:nvPr/>
        </p:nvSpPr>
        <p:spPr>
          <a:xfrm>
            <a:off x="304800" y="3276600"/>
            <a:ext cx="4318000" cy="1219200"/>
          </a:xfrm>
          <a:custGeom>
            <a:avLst/>
            <a:gdLst/>
            <a:ahLst/>
            <a:cxnLst/>
            <a:rect l="l" t="t" r="r" b="b"/>
            <a:pathLst>
              <a:path w="100000" h="28235">
                <a:moveTo>
                  <a:pt x="92941" y="0"/>
                </a:moveTo>
                <a:cubicBezTo>
                  <a:pt x="96269" y="0"/>
                  <a:pt x="97933" y="0"/>
                  <a:pt x="98966" y="1034"/>
                </a:cubicBezTo>
                <a:cubicBezTo>
                  <a:pt x="98966" y="1034"/>
                  <a:pt x="98966" y="1034"/>
                  <a:pt x="98966" y="1034"/>
                </a:cubicBezTo>
                <a:cubicBezTo>
                  <a:pt x="100000" y="2067"/>
                  <a:pt x="100000" y="3731"/>
                  <a:pt x="100000" y="7059"/>
                </a:cubicBezTo>
                <a:lnTo>
                  <a:pt x="100000" y="21176"/>
                </a:lnTo>
                <a:cubicBezTo>
                  <a:pt x="100000" y="24504"/>
                  <a:pt x="100000" y="26168"/>
                  <a:pt x="98966" y="27201"/>
                </a:cubicBezTo>
                <a:cubicBezTo>
                  <a:pt x="98966" y="27201"/>
                  <a:pt x="98966" y="27201"/>
                  <a:pt x="98966" y="27201"/>
                </a:cubicBezTo>
                <a:cubicBezTo>
                  <a:pt x="97933" y="28235"/>
                  <a:pt x="96269" y="28235"/>
                  <a:pt x="92941" y="28235"/>
                </a:cubicBezTo>
                <a:lnTo>
                  <a:pt x="7059" y="28235"/>
                </a:lnTo>
                <a:cubicBezTo>
                  <a:pt x="3731" y="28235"/>
                  <a:pt x="2067" y="28235"/>
                  <a:pt x="1034" y="27201"/>
                </a:cubicBezTo>
                <a:cubicBezTo>
                  <a:pt x="1034" y="27201"/>
                  <a:pt x="1034" y="27201"/>
                  <a:pt x="1034" y="27201"/>
                </a:cubicBezTo>
                <a:cubicBezTo>
                  <a:pt x="0" y="26168"/>
                  <a:pt x="0" y="24504"/>
                  <a:pt x="0" y="21176"/>
                </a:cubicBezTo>
                <a:lnTo>
                  <a:pt x="0" y="7059"/>
                </a:lnTo>
                <a:cubicBezTo>
                  <a:pt x="0" y="3731"/>
                  <a:pt x="0" y="2067"/>
                  <a:pt x="1034" y="1034"/>
                </a:cubicBezTo>
                <a:cubicBezTo>
                  <a:pt x="1034" y="1034"/>
                  <a:pt x="1034" y="1034"/>
                  <a:pt x="1034" y="1034"/>
                </a:cubicBezTo>
                <a:cubicBezTo>
                  <a:pt x="2067" y="0"/>
                  <a:pt x="3731" y="0"/>
                  <a:pt x="7059"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84" name="TextBox 12"/>
          <p:cNvSpPr txBox="1"/>
          <p:nvPr/>
        </p:nvSpPr>
        <p:spPr>
          <a:xfrm>
            <a:off x="508000" y="3429000"/>
            <a:ext cx="3302000" cy="114300"/>
          </a:xfrm>
          <a:prstGeom prst="rect">
            <a:avLst/>
          </a:prstGeom>
        </p:spPr>
        <p:txBody>
          <a:bodyPr wrap="square" lIns="0" tIns="0" rIns="0" bIns="0">
            <a:noAutofit/>
          </a:bodyPr>
          <a:lstStyle/>
          <a:p>
            <a:r>
              <a:rPr sz="460" b="1" spc="110">
                <a:solidFill>
                  <a:srgbClr val="A2A2A8"/>
                </a:solidFill>
                <a:latin typeface="Telegraf"/>
              </a:rPr>
              <a:t>POST-AUTH REDIRECT</a:t>
            </a:r>
            <a:endParaRPr sz="460" b="1" spc="110">
              <a:solidFill>
                <a:srgbClr val="A2A2A8"/>
              </a:solidFill>
              <a:latin typeface="Telegraf"/>
            </a:endParaRPr>
          </a:p>
        </p:txBody>
      </p:sp>
      <p:sp>
        <p:nvSpPr>
          <p:cNvPr id="685" name="TextBox 13"/>
          <p:cNvSpPr txBox="1"/>
          <p:nvPr/>
        </p:nvSpPr>
        <p:spPr>
          <a:xfrm>
            <a:off x="508000" y="3657600"/>
            <a:ext cx="990600" cy="127000"/>
          </a:xfrm>
          <a:prstGeom prst="rect">
            <a:avLst/>
          </a:prstGeom>
        </p:spPr>
        <p:txBody>
          <a:bodyPr wrap="square" lIns="0" tIns="0" rIns="0" bIns="0">
            <a:noAutofit/>
          </a:bodyPr>
          <a:lstStyle/>
          <a:p>
            <a:pPr>
              <a:lnSpc>
                <a:spcPct val="135000"/>
              </a:lnSpc>
            </a:pPr>
            <a:r>
              <a:rPr sz="540" spc="0">
                <a:solidFill>
                  <a:srgbClr val="0A0A0A"/>
                </a:solidFill>
                <a:latin typeface="Telegraf"/>
              </a:rPr>
              <a:t>no business</a:t>
            </a:r>
            <a:endParaRPr sz="540" spc="0">
              <a:solidFill>
                <a:srgbClr val="0A0A0A"/>
              </a:solidFill>
              <a:latin typeface="Telegraf"/>
            </a:endParaRPr>
          </a:p>
        </p:txBody>
      </p:sp>
      <p:sp>
        <p:nvSpPr>
          <p:cNvPr id="686" name="Rectangle 14"/>
          <p:cNvSpPr/>
          <p:nvPr/>
        </p:nvSpPr>
        <p:spPr>
          <a:xfrm>
            <a:off x="1473200" y="3721100"/>
            <a:ext cx="78740" cy="11430"/>
          </a:xfrm>
          <a:prstGeom prst="roundRect">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87" name="Freeform 687"/>
          <p:cNvSpPr/>
          <p:nvPr/>
        </p:nvSpPr>
        <p:spPr>
          <a:xfrm>
            <a:off x="1534160" y="3699764"/>
            <a:ext cx="26416" cy="42672"/>
          </a:xfrm>
          <a:custGeom>
            <a:avLst/>
            <a:gdLst/>
            <a:ahLst/>
            <a:cxnLst/>
            <a:rect l="l" t="t" r="r" b="b"/>
            <a:pathLst>
              <a:path w="61905" h="100000" fill="none">
                <a:moveTo>
                  <a:pt x="0" y="0"/>
                </a:moveTo>
                <a:lnTo>
                  <a:pt x="61905" y="50000"/>
                </a:lnTo>
                <a:lnTo>
                  <a:pt x="0" y="100000"/>
                </a:lnTo>
              </a:path>
            </a:pathLst>
          </a:custGeom>
          <a:noFill/>
          <a:ln w="11430"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688" name="TextBox 16"/>
          <p:cNvSpPr txBox="1"/>
          <p:nvPr/>
        </p:nvSpPr>
        <p:spPr>
          <a:xfrm>
            <a:off x="1676400" y="3657600"/>
            <a:ext cx="990600" cy="127000"/>
          </a:xfrm>
          <a:prstGeom prst="rect">
            <a:avLst/>
          </a:prstGeom>
        </p:spPr>
        <p:txBody>
          <a:bodyPr wrap="square" lIns="0" tIns="0" rIns="0" bIns="0">
            <a:noAutofit/>
          </a:bodyPr>
          <a:lstStyle/>
          <a:p>
            <a:pPr>
              <a:lnSpc>
                <a:spcPct val="135000"/>
              </a:lnSpc>
            </a:pPr>
            <a:r>
              <a:rPr sz="540" spc="0">
                <a:solidFill>
                  <a:srgbClr val="0E6B5F"/>
                </a:solidFill>
                <a:latin typeface="Telegraf"/>
              </a:rPr>
              <a:t>/onboarding</a:t>
            </a:r>
            <a:endParaRPr sz="540" spc="0">
              <a:solidFill>
                <a:srgbClr val="0E6B5F"/>
              </a:solidFill>
              <a:latin typeface="Telegraf"/>
            </a:endParaRPr>
          </a:p>
        </p:txBody>
      </p:sp>
      <p:sp>
        <p:nvSpPr>
          <p:cNvPr id="689" name="TextBox 17"/>
          <p:cNvSpPr txBox="1"/>
          <p:nvPr/>
        </p:nvSpPr>
        <p:spPr>
          <a:xfrm>
            <a:off x="2743200" y="3670300"/>
            <a:ext cx="1727200" cy="127000"/>
          </a:xfrm>
          <a:prstGeom prst="rect">
            <a:avLst/>
          </a:prstGeom>
        </p:spPr>
        <p:txBody>
          <a:bodyPr wrap="square" lIns="0" tIns="0" rIns="0" bIns="0">
            <a:noAutofit/>
          </a:bodyPr>
          <a:lstStyle/>
          <a:p>
            <a:pPr>
              <a:lnSpc>
                <a:spcPct val="135000"/>
              </a:lnSpc>
            </a:pPr>
            <a:r>
              <a:rPr sz="460" spc="0">
                <a:solidFill>
                  <a:srgbClr val="A2A2A8"/>
                </a:solidFill>
                <a:latin typeface="Telegraf"/>
              </a:rPr>
              <a:t>compile the brain first</a:t>
            </a:r>
            <a:endParaRPr sz="460" spc="0">
              <a:solidFill>
                <a:srgbClr val="A2A2A8"/>
              </a:solidFill>
              <a:latin typeface="Telegraf"/>
            </a:endParaRPr>
          </a:p>
        </p:txBody>
      </p:sp>
      <p:sp>
        <p:nvSpPr>
          <p:cNvPr id="690" name="TextBox 18"/>
          <p:cNvSpPr txBox="1"/>
          <p:nvPr/>
        </p:nvSpPr>
        <p:spPr>
          <a:xfrm>
            <a:off x="508000" y="4013200"/>
            <a:ext cx="990600" cy="127000"/>
          </a:xfrm>
          <a:prstGeom prst="rect">
            <a:avLst/>
          </a:prstGeom>
        </p:spPr>
        <p:txBody>
          <a:bodyPr wrap="square" lIns="0" tIns="0" rIns="0" bIns="0">
            <a:noAutofit/>
          </a:bodyPr>
          <a:lstStyle/>
          <a:p>
            <a:pPr>
              <a:lnSpc>
                <a:spcPct val="135000"/>
              </a:lnSpc>
            </a:pPr>
            <a:r>
              <a:rPr sz="540" spc="0">
                <a:solidFill>
                  <a:srgbClr val="0A0A0A"/>
                </a:solidFill>
                <a:latin typeface="Telegraf"/>
              </a:rPr>
              <a:t>≥ 1 business</a:t>
            </a:r>
            <a:endParaRPr sz="540" spc="0">
              <a:solidFill>
                <a:srgbClr val="0A0A0A"/>
              </a:solidFill>
              <a:latin typeface="Telegraf"/>
            </a:endParaRPr>
          </a:p>
        </p:txBody>
      </p:sp>
      <p:sp>
        <p:nvSpPr>
          <p:cNvPr id="691" name="Rectangle 19"/>
          <p:cNvSpPr/>
          <p:nvPr/>
        </p:nvSpPr>
        <p:spPr>
          <a:xfrm>
            <a:off x="1473200" y="4076700"/>
            <a:ext cx="78740" cy="11430"/>
          </a:xfrm>
          <a:prstGeom prst="roundRect">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92" name="Freeform 692"/>
          <p:cNvSpPr/>
          <p:nvPr/>
        </p:nvSpPr>
        <p:spPr>
          <a:xfrm>
            <a:off x="1534160" y="4055364"/>
            <a:ext cx="26416" cy="42672"/>
          </a:xfrm>
          <a:custGeom>
            <a:avLst/>
            <a:gdLst/>
            <a:ahLst/>
            <a:cxnLst/>
            <a:rect l="l" t="t" r="r" b="b"/>
            <a:pathLst>
              <a:path w="61905" h="100000" fill="none">
                <a:moveTo>
                  <a:pt x="0" y="0"/>
                </a:moveTo>
                <a:lnTo>
                  <a:pt x="61905" y="50000"/>
                </a:lnTo>
                <a:lnTo>
                  <a:pt x="0" y="100000"/>
                </a:lnTo>
              </a:path>
            </a:pathLst>
          </a:custGeom>
          <a:noFill/>
          <a:ln w="11430"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693" name="TextBox 21"/>
          <p:cNvSpPr txBox="1"/>
          <p:nvPr/>
        </p:nvSpPr>
        <p:spPr>
          <a:xfrm>
            <a:off x="1676400" y="4013200"/>
            <a:ext cx="990600" cy="127000"/>
          </a:xfrm>
          <a:prstGeom prst="rect">
            <a:avLst/>
          </a:prstGeom>
        </p:spPr>
        <p:txBody>
          <a:bodyPr wrap="square" lIns="0" tIns="0" rIns="0" bIns="0">
            <a:noAutofit/>
          </a:bodyPr>
          <a:lstStyle/>
          <a:p>
            <a:pPr>
              <a:lnSpc>
                <a:spcPct val="135000"/>
              </a:lnSpc>
            </a:pPr>
            <a:r>
              <a:rPr sz="540" spc="0">
                <a:solidFill>
                  <a:srgbClr val="0E6B5F"/>
                </a:solidFill>
                <a:latin typeface="Telegraf"/>
              </a:rPr>
              <a:t>/dashboard</a:t>
            </a:r>
            <a:endParaRPr sz="540" spc="0">
              <a:solidFill>
                <a:srgbClr val="0E6B5F"/>
              </a:solidFill>
              <a:latin typeface="Telegraf"/>
            </a:endParaRPr>
          </a:p>
        </p:txBody>
      </p:sp>
      <p:sp>
        <p:nvSpPr>
          <p:cNvPr id="694" name="TextBox 22"/>
          <p:cNvSpPr txBox="1"/>
          <p:nvPr/>
        </p:nvSpPr>
        <p:spPr>
          <a:xfrm>
            <a:off x="2743200" y="4025900"/>
            <a:ext cx="1727200" cy="127000"/>
          </a:xfrm>
          <a:prstGeom prst="rect">
            <a:avLst/>
          </a:prstGeom>
        </p:spPr>
        <p:txBody>
          <a:bodyPr wrap="square" lIns="0" tIns="0" rIns="0" bIns="0">
            <a:noAutofit/>
          </a:bodyPr>
          <a:lstStyle/>
          <a:p>
            <a:pPr>
              <a:lnSpc>
                <a:spcPct val="135000"/>
              </a:lnSpc>
            </a:pPr>
            <a:r>
              <a:rPr sz="460" spc="0">
                <a:solidFill>
                  <a:srgbClr val="A2A2A8"/>
                </a:solidFill>
                <a:latin typeface="Telegraf"/>
              </a:rPr>
              <a:t>queue is already warm</a:t>
            </a:r>
            <a:endParaRPr sz="460" spc="0">
              <a:solidFill>
                <a:srgbClr val="A2A2A8"/>
              </a:solidFill>
              <a:latin typeface="Telegraf"/>
            </a:endParaRPr>
          </a:p>
        </p:txBody>
      </p:sp>
      <p:sp>
        <p:nvSpPr>
          <p:cNvPr id="695" name="TextBox 23"/>
          <p:cNvSpPr txBox="1"/>
          <p:nvPr/>
        </p:nvSpPr>
        <p:spPr>
          <a:xfrm>
            <a:off x="304800" y="4699000"/>
            <a:ext cx="4191000" cy="508000"/>
          </a:xfrm>
          <a:prstGeom prst="rect">
            <a:avLst/>
          </a:prstGeom>
        </p:spPr>
        <p:txBody>
          <a:bodyPr wrap="square" lIns="0" tIns="0" rIns="0" bIns="0">
            <a:noAutofit/>
          </a:bodyPr>
          <a:lstStyle/>
          <a:p>
            <a:pPr>
              <a:lnSpc>
                <a:spcPct val="150000"/>
              </a:lnSpc>
            </a:pPr>
            <a:r>
              <a:rPr sz="580" spc="0">
                <a:solidFill>
                  <a:srgbClr val="A2A2A8"/>
                </a:solidFill>
                <a:latin typeface="Telegraf"/>
              </a:rPr>
              <a:t>Session is the tenant boundary: businessId comes from here, never from the model.</a:t>
            </a:r>
            <a:endParaRPr sz="580" spc="0">
              <a:solidFill>
                <a:srgbClr val="A2A2A8"/>
              </a:solidFill>
              <a:latin typeface="Telegraf"/>
            </a:endParaRPr>
          </a:p>
        </p:txBody>
      </p:sp>
      <p:sp>
        <p:nvSpPr>
          <p:cNvPr id="696" name="Rectangle 24"/>
          <p:cNvSpPr/>
          <p:nvPr/>
        </p:nvSpPr>
        <p:spPr>
          <a:xfrm>
            <a:off x="5334000" y="762000"/>
            <a:ext cx="4673600" cy="5334000"/>
          </a:xfrm>
          <a:custGeom>
            <a:avLst/>
            <a:gdLst/>
            <a:ahLst/>
            <a:cxnLst/>
            <a:rect l="l" t="t" r="r" b="b"/>
            <a:pathLst>
              <a:path w="87619" h="100000">
                <a:moveTo>
                  <a:pt x="80000" y="0"/>
                </a:moveTo>
                <a:cubicBezTo>
                  <a:pt x="83592" y="0"/>
                  <a:pt x="85387" y="0"/>
                  <a:pt x="86503" y="1116"/>
                </a:cubicBezTo>
                <a:cubicBezTo>
                  <a:pt x="86503" y="1116"/>
                  <a:pt x="86503" y="1116"/>
                  <a:pt x="86503" y="1116"/>
                </a:cubicBezTo>
                <a:cubicBezTo>
                  <a:pt x="87619" y="2232"/>
                  <a:pt x="87619" y="4027"/>
                  <a:pt x="87619" y="7619"/>
                </a:cubicBezTo>
                <a:lnTo>
                  <a:pt x="87619" y="92381"/>
                </a:lnTo>
                <a:cubicBezTo>
                  <a:pt x="87619" y="95973"/>
                  <a:pt x="87619" y="97768"/>
                  <a:pt x="86503" y="98884"/>
                </a:cubicBezTo>
                <a:cubicBezTo>
                  <a:pt x="86503" y="98884"/>
                  <a:pt x="86503" y="98884"/>
                  <a:pt x="86503" y="98884"/>
                </a:cubicBezTo>
                <a:cubicBezTo>
                  <a:pt x="85387" y="100000"/>
                  <a:pt x="83592" y="100000"/>
                  <a:pt x="80000" y="100000"/>
                </a:cubicBezTo>
                <a:lnTo>
                  <a:pt x="7619" y="100000"/>
                </a:lnTo>
                <a:cubicBezTo>
                  <a:pt x="4027" y="100000"/>
                  <a:pt x="2232" y="100000"/>
                  <a:pt x="1116" y="98884"/>
                </a:cubicBezTo>
                <a:cubicBezTo>
                  <a:pt x="1116" y="98884"/>
                  <a:pt x="1116" y="98884"/>
                  <a:pt x="1116" y="98884"/>
                </a:cubicBezTo>
                <a:cubicBezTo>
                  <a:pt x="0" y="97768"/>
                  <a:pt x="0" y="95973"/>
                  <a:pt x="0" y="92381"/>
                </a:cubicBezTo>
                <a:lnTo>
                  <a:pt x="0" y="7619"/>
                </a:lnTo>
                <a:cubicBezTo>
                  <a:pt x="0" y="4027"/>
                  <a:pt x="0" y="2232"/>
                  <a:pt x="1116" y="1116"/>
                </a:cubicBezTo>
                <a:cubicBezTo>
                  <a:pt x="1116" y="1116"/>
                  <a:pt x="1116" y="1116"/>
                  <a:pt x="1116" y="1116"/>
                </a:cubicBezTo>
                <a:cubicBezTo>
                  <a:pt x="2232" y="0"/>
                  <a:pt x="4027" y="0"/>
                  <a:pt x="761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697" name="TextBox 25"/>
          <p:cNvSpPr txBox="1"/>
          <p:nvPr/>
        </p:nvSpPr>
        <p:spPr>
          <a:xfrm>
            <a:off x="5638800" y="1041400"/>
            <a:ext cx="1143000" cy="203200"/>
          </a:xfrm>
          <a:prstGeom prst="rect">
            <a:avLst/>
          </a:prstGeom>
        </p:spPr>
        <p:txBody>
          <a:bodyPr wrap="square" lIns="0" tIns="0" rIns="0" bIns="0">
            <a:noAutofit/>
          </a:bodyPr>
          <a:lstStyle/>
          <a:p>
            <a:pPr>
              <a:lnSpc>
                <a:spcPct val="135000"/>
              </a:lnSpc>
            </a:pPr>
            <a:r>
              <a:rPr sz="660" b="1" spc="0">
                <a:solidFill>
                  <a:srgbClr val="0A0A0A"/>
                </a:solidFill>
                <a:latin typeface="Telegraf"/>
              </a:rPr>
              <a:t>Sign in</a:t>
            </a:r>
            <a:endParaRPr sz="660" b="1" spc="0">
              <a:solidFill>
                <a:srgbClr val="0A0A0A"/>
              </a:solidFill>
              <a:latin typeface="Telegraf"/>
            </a:endParaRPr>
          </a:p>
        </p:txBody>
      </p:sp>
      <p:sp>
        <p:nvSpPr>
          <p:cNvPr id="698" name="TextBox 26"/>
          <p:cNvSpPr txBox="1"/>
          <p:nvPr/>
        </p:nvSpPr>
        <p:spPr>
          <a:xfrm>
            <a:off x="6604000" y="1041400"/>
            <a:ext cx="1397000" cy="203200"/>
          </a:xfrm>
          <a:prstGeom prst="rect">
            <a:avLst/>
          </a:prstGeom>
        </p:spPr>
        <p:txBody>
          <a:bodyPr wrap="square" lIns="0" tIns="0" rIns="0" bIns="0">
            <a:noAutofit/>
          </a:bodyPr>
          <a:lstStyle/>
          <a:p>
            <a:pPr>
              <a:lnSpc>
                <a:spcPct val="135000"/>
              </a:lnSpc>
            </a:pPr>
            <a:r>
              <a:rPr sz="660" spc="0">
                <a:solidFill>
                  <a:srgbClr val="A2A2A8"/>
                </a:solidFill>
                <a:latin typeface="Telegraf"/>
              </a:rPr>
              <a:t>Create account</a:t>
            </a:r>
            <a:endParaRPr sz="660" spc="0">
              <a:solidFill>
                <a:srgbClr val="A2A2A8"/>
              </a:solidFill>
              <a:latin typeface="Telegraf"/>
            </a:endParaRPr>
          </a:p>
        </p:txBody>
      </p:sp>
      <p:sp>
        <p:nvSpPr>
          <p:cNvPr id="699" name="Rectangle 27"/>
          <p:cNvSpPr/>
          <p:nvPr/>
        </p:nvSpPr>
        <p:spPr>
          <a:xfrm>
            <a:off x="5638800" y="1320800"/>
            <a:ext cx="4064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00" name="Rectangle 28"/>
          <p:cNvSpPr/>
          <p:nvPr/>
        </p:nvSpPr>
        <p:spPr>
          <a:xfrm>
            <a:off x="5638800" y="1320800"/>
            <a:ext cx="736600" cy="1778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01" name="TextBox 29"/>
          <p:cNvSpPr txBox="1"/>
          <p:nvPr/>
        </p:nvSpPr>
        <p:spPr>
          <a:xfrm>
            <a:off x="5638800" y="1536700"/>
            <a:ext cx="4064000" cy="101600"/>
          </a:xfrm>
          <a:prstGeom prst="rect">
            <a:avLst/>
          </a:prstGeom>
        </p:spPr>
        <p:txBody>
          <a:bodyPr wrap="square" lIns="0" tIns="0" rIns="0" bIns="0">
            <a:noAutofit/>
          </a:bodyPr>
          <a:lstStyle/>
          <a:p>
            <a:r>
              <a:rPr sz="490" b="1" spc="100">
                <a:solidFill>
                  <a:srgbClr val="A2A2A8"/>
                </a:solidFill>
                <a:latin typeface="Telegraf"/>
              </a:rPr>
              <a:t>EMAIL</a:t>
            </a:r>
            <a:endParaRPr sz="490" b="1" spc="100">
              <a:solidFill>
                <a:srgbClr val="A2A2A8"/>
              </a:solidFill>
              <a:latin typeface="Telegraf"/>
            </a:endParaRPr>
          </a:p>
        </p:txBody>
      </p:sp>
      <p:sp>
        <p:nvSpPr>
          <p:cNvPr id="702" name="Rectangle 30"/>
          <p:cNvSpPr/>
          <p:nvPr/>
        </p:nvSpPr>
        <p:spPr>
          <a:xfrm>
            <a:off x="5638800" y="1651000"/>
            <a:ext cx="4064000" cy="330200"/>
          </a:xfrm>
          <a:custGeom>
            <a:avLst/>
            <a:gdLst/>
            <a:ahLst/>
            <a:cxnLst/>
            <a:rect l="l" t="t" r="r" b="b"/>
            <a:pathLst>
              <a:path w="100000" h="8125">
                <a:moveTo>
                  <a:pt x="95938" y="0"/>
                </a:moveTo>
                <a:cubicBezTo>
                  <a:pt x="97698" y="0"/>
                  <a:pt x="98578" y="0"/>
                  <a:pt x="99176" y="477"/>
                </a:cubicBezTo>
                <a:cubicBezTo>
                  <a:pt x="99304" y="579"/>
                  <a:pt x="99421" y="696"/>
                  <a:pt x="99523" y="824"/>
                </a:cubicBezTo>
                <a:cubicBezTo>
                  <a:pt x="100000" y="1422"/>
                  <a:pt x="100000" y="2302"/>
                  <a:pt x="100000" y="4063"/>
                </a:cubicBezTo>
                <a:lnTo>
                  <a:pt x="100000" y="4063"/>
                </a:lnTo>
                <a:cubicBezTo>
                  <a:pt x="100000" y="5823"/>
                  <a:pt x="100000" y="6703"/>
                  <a:pt x="99523" y="7301"/>
                </a:cubicBezTo>
                <a:cubicBezTo>
                  <a:pt x="99421" y="7429"/>
                  <a:pt x="99304" y="7546"/>
                  <a:pt x="99176" y="7648"/>
                </a:cubicBezTo>
                <a:cubicBezTo>
                  <a:pt x="98578" y="8125"/>
                  <a:pt x="97698" y="8125"/>
                  <a:pt x="95938" y="8125"/>
                </a:cubicBezTo>
                <a:lnTo>
                  <a:pt x="4063" y="8125"/>
                </a:lnTo>
                <a:cubicBezTo>
                  <a:pt x="2302" y="8125"/>
                  <a:pt x="1422" y="8125"/>
                  <a:pt x="824" y="7648"/>
                </a:cubicBezTo>
                <a:cubicBezTo>
                  <a:pt x="696" y="7546"/>
                  <a:pt x="579" y="7429"/>
                  <a:pt x="477" y="7301"/>
                </a:cubicBezTo>
                <a:cubicBezTo>
                  <a:pt x="0" y="6703"/>
                  <a:pt x="0" y="5823"/>
                  <a:pt x="0" y="4063"/>
                </a:cubicBezTo>
                <a:lnTo>
                  <a:pt x="0" y="4063"/>
                </a:lnTo>
                <a:cubicBezTo>
                  <a:pt x="0" y="2302"/>
                  <a:pt x="0" y="1422"/>
                  <a:pt x="477" y="824"/>
                </a:cubicBezTo>
                <a:cubicBezTo>
                  <a:pt x="579" y="696"/>
                  <a:pt x="696" y="579"/>
                  <a:pt x="824" y="477"/>
                </a:cubicBezTo>
                <a:cubicBezTo>
                  <a:pt x="1422" y="0"/>
                  <a:pt x="2302" y="0"/>
                  <a:pt x="4063"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03" name="TextBox 31"/>
          <p:cNvSpPr txBox="1"/>
          <p:nvPr/>
        </p:nvSpPr>
        <p:spPr>
          <a:xfrm>
            <a:off x="5740400" y="1651000"/>
            <a:ext cx="3886200" cy="330200"/>
          </a:xfrm>
          <a:prstGeom prst="rect">
            <a:avLst/>
          </a:prstGeom>
        </p:spPr>
        <p:txBody>
          <a:bodyPr wrap="square" lIns="0" tIns="0" rIns="0" bIns="0" anchor="ctr">
            <a:noAutofit/>
          </a:bodyPr>
          <a:lstStyle/>
          <a:p>
            <a:pPr>
              <a:lnSpc>
                <a:spcPct val="140000"/>
              </a:lnSpc>
            </a:pPr>
            <a:r>
              <a:rPr sz="600" spc="0">
                <a:solidFill>
                  <a:srgbClr val="0A0A0A"/>
                </a:solidFill>
                <a:latin typeface="Telegraf"/>
              </a:rPr>
              <a:t>judge@sphinx.mnit.ac.in</a:t>
            </a:r>
            <a:endParaRPr sz="600" spc="0">
              <a:solidFill>
                <a:srgbClr val="0A0A0A"/>
              </a:solidFill>
              <a:latin typeface="Telegraf"/>
            </a:endParaRPr>
          </a:p>
        </p:txBody>
      </p:sp>
      <p:sp>
        <p:nvSpPr>
          <p:cNvPr id="704" name="TextBox 32"/>
          <p:cNvSpPr txBox="1"/>
          <p:nvPr/>
        </p:nvSpPr>
        <p:spPr>
          <a:xfrm>
            <a:off x="5638800" y="2146300"/>
            <a:ext cx="4064000" cy="101600"/>
          </a:xfrm>
          <a:prstGeom prst="rect">
            <a:avLst/>
          </a:prstGeom>
        </p:spPr>
        <p:txBody>
          <a:bodyPr wrap="square" lIns="0" tIns="0" rIns="0" bIns="0">
            <a:noAutofit/>
          </a:bodyPr>
          <a:lstStyle/>
          <a:p>
            <a:r>
              <a:rPr sz="490" b="1" spc="100">
                <a:solidFill>
                  <a:srgbClr val="A2A2A8"/>
                </a:solidFill>
                <a:latin typeface="Telegraf"/>
              </a:rPr>
              <a:t>PASSWORD</a:t>
            </a:r>
            <a:endParaRPr sz="490" b="1" spc="100">
              <a:solidFill>
                <a:srgbClr val="A2A2A8"/>
              </a:solidFill>
              <a:latin typeface="Telegraf"/>
            </a:endParaRPr>
          </a:p>
        </p:txBody>
      </p:sp>
      <p:sp>
        <p:nvSpPr>
          <p:cNvPr id="705" name="Rectangle 33"/>
          <p:cNvSpPr/>
          <p:nvPr/>
        </p:nvSpPr>
        <p:spPr>
          <a:xfrm>
            <a:off x="5638800" y="2260600"/>
            <a:ext cx="4064000" cy="330200"/>
          </a:xfrm>
          <a:custGeom>
            <a:avLst/>
            <a:gdLst/>
            <a:ahLst/>
            <a:cxnLst/>
            <a:rect l="l" t="t" r="r" b="b"/>
            <a:pathLst>
              <a:path w="100000" h="8125">
                <a:moveTo>
                  <a:pt x="95938" y="0"/>
                </a:moveTo>
                <a:cubicBezTo>
                  <a:pt x="97698" y="0"/>
                  <a:pt x="98578" y="0"/>
                  <a:pt x="99176" y="477"/>
                </a:cubicBezTo>
                <a:cubicBezTo>
                  <a:pt x="99304" y="579"/>
                  <a:pt x="99421" y="696"/>
                  <a:pt x="99523" y="824"/>
                </a:cubicBezTo>
                <a:cubicBezTo>
                  <a:pt x="100000" y="1422"/>
                  <a:pt x="100000" y="2302"/>
                  <a:pt x="100000" y="4063"/>
                </a:cubicBezTo>
                <a:lnTo>
                  <a:pt x="100000" y="4063"/>
                </a:lnTo>
                <a:cubicBezTo>
                  <a:pt x="100000" y="5823"/>
                  <a:pt x="100000" y="6703"/>
                  <a:pt x="99523" y="7301"/>
                </a:cubicBezTo>
                <a:cubicBezTo>
                  <a:pt x="99421" y="7429"/>
                  <a:pt x="99304" y="7546"/>
                  <a:pt x="99176" y="7648"/>
                </a:cubicBezTo>
                <a:cubicBezTo>
                  <a:pt x="98578" y="8125"/>
                  <a:pt x="97698" y="8125"/>
                  <a:pt x="95938" y="8125"/>
                </a:cubicBezTo>
                <a:lnTo>
                  <a:pt x="4063" y="8125"/>
                </a:lnTo>
                <a:cubicBezTo>
                  <a:pt x="2302" y="8125"/>
                  <a:pt x="1422" y="8125"/>
                  <a:pt x="824" y="7648"/>
                </a:cubicBezTo>
                <a:cubicBezTo>
                  <a:pt x="696" y="7546"/>
                  <a:pt x="579" y="7429"/>
                  <a:pt x="477" y="7301"/>
                </a:cubicBezTo>
                <a:cubicBezTo>
                  <a:pt x="0" y="6703"/>
                  <a:pt x="0" y="5823"/>
                  <a:pt x="0" y="4063"/>
                </a:cubicBezTo>
                <a:lnTo>
                  <a:pt x="0" y="4063"/>
                </a:lnTo>
                <a:cubicBezTo>
                  <a:pt x="0" y="2302"/>
                  <a:pt x="0" y="1422"/>
                  <a:pt x="477" y="824"/>
                </a:cubicBezTo>
                <a:cubicBezTo>
                  <a:pt x="579" y="696"/>
                  <a:pt x="696" y="579"/>
                  <a:pt x="824" y="477"/>
                </a:cubicBezTo>
                <a:cubicBezTo>
                  <a:pt x="1422" y="0"/>
                  <a:pt x="2302" y="0"/>
                  <a:pt x="4063"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06" name="TextBox 34"/>
          <p:cNvSpPr txBox="1"/>
          <p:nvPr/>
        </p:nvSpPr>
        <p:spPr>
          <a:xfrm>
            <a:off x="5740400" y="2260600"/>
            <a:ext cx="3733800" cy="330200"/>
          </a:xfrm>
          <a:prstGeom prst="rect">
            <a:avLst/>
          </a:prstGeom>
        </p:spPr>
        <p:txBody>
          <a:bodyPr wrap="square" lIns="0" tIns="0" rIns="0" bIns="0" anchor="ctr">
            <a:noAutofit/>
          </a:bodyPr>
          <a:lstStyle/>
          <a:p>
            <a:pPr>
              <a:lnSpc>
                <a:spcPct val="140000"/>
              </a:lnSpc>
            </a:pPr>
            <a:r>
              <a:rPr sz="600" spc="0">
                <a:solidFill>
                  <a:srgbClr val="0A0A0A"/>
                </a:solidFill>
                <a:latin typeface="Telegraf"/>
              </a:rPr>
              <a:t>••••••••••</a:t>
            </a:r>
            <a:endParaRPr sz="600" spc="0">
              <a:solidFill>
                <a:srgbClr val="0A0A0A"/>
              </a:solidFill>
              <a:latin typeface="Telegraf"/>
            </a:endParaRPr>
          </a:p>
        </p:txBody>
      </p:sp>
      <p:sp>
        <p:nvSpPr>
          <p:cNvPr id="707" name="TextBox 35"/>
          <p:cNvSpPr txBox="1"/>
          <p:nvPr/>
        </p:nvSpPr>
        <p:spPr>
          <a:xfrm>
            <a:off x="9423400" y="2260600"/>
            <a:ext cx="203200" cy="330200"/>
          </a:xfrm>
          <a:prstGeom prst="rect">
            <a:avLst/>
          </a:prstGeom>
        </p:spPr>
        <p:txBody>
          <a:bodyPr wrap="square" lIns="0" tIns="0" rIns="0" bIns="0" anchor="ctr">
            <a:noAutofit/>
          </a:bodyPr>
          <a:lstStyle/>
          <a:p>
            <a:pPr algn="r">
              <a:lnSpc>
                <a:spcPct val="135000"/>
              </a:lnSpc>
            </a:pPr>
            <a:r>
              <a:rPr sz="540" spc="0">
                <a:solidFill>
                  <a:srgbClr val="67676E"/>
                </a:solidFill>
                <a:latin typeface="Telegraf"/>
              </a:rPr>
              <a:t>Show</a:t>
            </a:r>
            <a:endParaRPr sz="540" spc="0">
              <a:solidFill>
                <a:srgbClr val="67676E"/>
              </a:solidFill>
              <a:latin typeface="Telegraf"/>
            </a:endParaRPr>
          </a:p>
        </p:txBody>
      </p:sp>
      <p:sp>
        <p:nvSpPr>
          <p:cNvPr id="708" name="Rectangle 36"/>
          <p:cNvSpPr/>
          <p:nvPr/>
        </p:nvSpPr>
        <p:spPr>
          <a:xfrm>
            <a:off x="5638800" y="2819400"/>
            <a:ext cx="4064000" cy="330200"/>
          </a:xfrm>
          <a:custGeom>
            <a:avLst/>
            <a:gdLst/>
            <a:ahLst/>
            <a:cxnLst/>
            <a:rect l="l" t="t" r="r" b="b"/>
            <a:pathLst>
              <a:path w="100000" h="8125">
                <a:moveTo>
                  <a:pt x="95938" y="0"/>
                </a:moveTo>
                <a:cubicBezTo>
                  <a:pt x="95938" y="0"/>
                  <a:pt x="95938" y="0"/>
                  <a:pt x="95938" y="0"/>
                </a:cubicBezTo>
                <a:cubicBezTo>
                  <a:pt x="98181" y="0"/>
                  <a:pt x="100000" y="1819"/>
                  <a:pt x="100000" y="4063"/>
                </a:cubicBezTo>
                <a:cubicBezTo>
                  <a:pt x="100000" y="4063"/>
                  <a:pt x="100000" y="4063"/>
                  <a:pt x="100000" y="4063"/>
                </a:cubicBezTo>
                <a:lnTo>
                  <a:pt x="100000" y="4063"/>
                </a:lnTo>
                <a:cubicBezTo>
                  <a:pt x="100000" y="4063"/>
                  <a:pt x="100000" y="4063"/>
                  <a:pt x="100000" y="4063"/>
                </a:cubicBezTo>
                <a:cubicBezTo>
                  <a:pt x="100000" y="6306"/>
                  <a:pt x="98181" y="8125"/>
                  <a:pt x="95938" y="8125"/>
                </a:cubicBezTo>
                <a:cubicBezTo>
                  <a:pt x="95938" y="8125"/>
                  <a:pt x="95938" y="8125"/>
                  <a:pt x="95938" y="8125"/>
                </a:cubicBezTo>
                <a:lnTo>
                  <a:pt x="4063" y="8125"/>
                </a:lnTo>
                <a:cubicBezTo>
                  <a:pt x="4063" y="8125"/>
                  <a:pt x="4063" y="8125"/>
                  <a:pt x="4063" y="8125"/>
                </a:cubicBezTo>
                <a:cubicBezTo>
                  <a:pt x="1819" y="8125"/>
                  <a:pt x="0" y="6306"/>
                  <a:pt x="0" y="4063"/>
                </a:cubicBezTo>
                <a:cubicBezTo>
                  <a:pt x="0" y="4063"/>
                  <a:pt x="0" y="4063"/>
                  <a:pt x="0" y="4063"/>
                </a:cubicBezTo>
                <a:lnTo>
                  <a:pt x="0" y="4063"/>
                </a:lnTo>
                <a:cubicBezTo>
                  <a:pt x="0" y="4063"/>
                  <a:pt x="0" y="4063"/>
                  <a:pt x="0" y="4063"/>
                </a:cubicBezTo>
                <a:cubicBezTo>
                  <a:pt x="0" y="1819"/>
                  <a:pt x="1819" y="0"/>
                  <a:pt x="4063" y="0"/>
                </a:cubicBezTo>
                <a:cubicBezTo>
                  <a:pt x="4063" y="0"/>
                  <a:pt x="4063" y="0"/>
                  <a:pt x="4063"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09" name="TextBox 37"/>
          <p:cNvSpPr txBox="1"/>
          <p:nvPr/>
        </p:nvSpPr>
        <p:spPr>
          <a:xfrm>
            <a:off x="5715000" y="2819400"/>
            <a:ext cx="3937000" cy="330200"/>
          </a:xfrm>
          <a:prstGeom prst="rect">
            <a:avLst/>
          </a:prstGeom>
        </p:spPr>
        <p:txBody>
          <a:bodyPr wrap="square" lIns="0" tIns="0" rIns="0" bIns="0" anchor="ctr">
            <a:noAutofit/>
          </a:bodyPr>
          <a:lstStyle/>
          <a:p>
            <a:pPr>
              <a:lnSpc>
                <a:spcPct val="135000"/>
              </a:lnSpc>
            </a:pPr>
            <a:r>
              <a:rPr sz="620" b="1" spc="10">
                <a:solidFill>
                  <a:srgbClr val="FFFFFF"/>
                </a:solidFill>
                <a:latin typeface="Telegraf"/>
              </a:rPr>
              <a:t>Sign in</a:t>
            </a:r>
            <a:endParaRPr sz="620" b="1" spc="10">
              <a:solidFill>
                <a:srgbClr val="FFFFFF"/>
              </a:solidFill>
              <a:latin typeface="Telegraf"/>
            </a:endParaRPr>
          </a:p>
        </p:txBody>
      </p:sp>
      <p:sp>
        <p:nvSpPr>
          <p:cNvPr id="710" name="Rectangle 38"/>
          <p:cNvSpPr/>
          <p:nvPr/>
        </p:nvSpPr>
        <p:spPr>
          <a:xfrm>
            <a:off x="5638800" y="3403600"/>
            <a:ext cx="167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11" name="TextBox 39"/>
          <p:cNvSpPr txBox="1"/>
          <p:nvPr/>
        </p:nvSpPr>
        <p:spPr>
          <a:xfrm>
            <a:off x="7467600" y="3352800"/>
            <a:ext cx="330200" cy="127000"/>
          </a:xfrm>
          <a:prstGeom prst="rect">
            <a:avLst/>
          </a:prstGeom>
        </p:spPr>
        <p:txBody>
          <a:bodyPr wrap="square" lIns="0" tIns="0" rIns="0" bIns="0">
            <a:noAutofit/>
          </a:bodyPr>
          <a:lstStyle/>
          <a:p>
            <a:pPr>
              <a:lnSpc>
                <a:spcPct val="135000"/>
              </a:lnSpc>
            </a:pPr>
            <a:r>
              <a:rPr sz="500" spc="0">
                <a:solidFill>
                  <a:srgbClr val="A2A2A8"/>
                </a:solidFill>
                <a:latin typeface="Telegraf"/>
              </a:rPr>
              <a:t>or</a:t>
            </a:r>
            <a:endParaRPr sz="500" spc="0">
              <a:solidFill>
                <a:srgbClr val="A2A2A8"/>
              </a:solidFill>
              <a:latin typeface="Telegraf"/>
            </a:endParaRPr>
          </a:p>
        </p:txBody>
      </p:sp>
      <p:sp>
        <p:nvSpPr>
          <p:cNvPr id="712" name="Rectangle 40"/>
          <p:cNvSpPr/>
          <p:nvPr/>
        </p:nvSpPr>
        <p:spPr>
          <a:xfrm>
            <a:off x="7874000" y="3403600"/>
            <a:ext cx="18288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13" name="Rectangle 41"/>
          <p:cNvSpPr/>
          <p:nvPr/>
        </p:nvSpPr>
        <p:spPr>
          <a:xfrm>
            <a:off x="5638800" y="3606800"/>
            <a:ext cx="4064000" cy="330200"/>
          </a:xfrm>
          <a:custGeom>
            <a:avLst/>
            <a:gdLst/>
            <a:ahLst/>
            <a:cxnLst/>
            <a:rect l="l" t="t" r="r" b="b"/>
            <a:pathLst>
              <a:path w="100000" h="8125">
                <a:moveTo>
                  <a:pt x="95938" y="0"/>
                </a:moveTo>
                <a:cubicBezTo>
                  <a:pt x="95938" y="0"/>
                  <a:pt x="95938" y="0"/>
                  <a:pt x="95938" y="0"/>
                </a:cubicBezTo>
                <a:cubicBezTo>
                  <a:pt x="98181" y="0"/>
                  <a:pt x="100000" y="1819"/>
                  <a:pt x="100000" y="4063"/>
                </a:cubicBezTo>
                <a:cubicBezTo>
                  <a:pt x="100000" y="4063"/>
                  <a:pt x="100000" y="4063"/>
                  <a:pt x="100000" y="4063"/>
                </a:cubicBezTo>
                <a:lnTo>
                  <a:pt x="100000" y="4063"/>
                </a:lnTo>
                <a:cubicBezTo>
                  <a:pt x="100000" y="4063"/>
                  <a:pt x="100000" y="4063"/>
                  <a:pt x="100000" y="4063"/>
                </a:cubicBezTo>
                <a:cubicBezTo>
                  <a:pt x="100000" y="6306"/>
                  <a:pt x="98181" y="8125"/>
                  <a:pt x="95938" y="8125"/>
                </a:cubicBezTo>
                <a:cubicBezTo>
                  <a:pt x="95938" y="8125"/>
                  <a:pt x="95938" y="8125"/>
                  <a:pt x="95938" y="8125"/>
                </a:cubicBezTo>
                <a:lnTo>
                  <a:pt x="4063" y="8125"/>
                </a:lnTo>
                <a:cubicBezTo>
                  <a:pt x="4063" y="8125"/>
                  <a:pt x="4063" y="8125"/>
                  <a:pt x="4063" y="8125"/>
                </a:cubicBezTo>
                <a:cubicBezTo>
                  <a:pt x="1819" y="8125"/>
                  <a:pt x="0" y="6306"/>
                  <a:pt x="0" y="4063"/>
                </a:cubicBezTo>
                <a:cubicBezTo>
                  <a:pt x="0" y="4063"/>
                  <a:pt x="0" y="4063"/>
                  <a:pt x="0" y="4063"/>
                </a:cubicBezTo>
                <a:lnTo>
                  <a:pt x="0" y="4063"/>
                </a:lnTo>
                <a:cubicBezTo>
                  <a:pt x="0" y="4063"/>
                  <a:pt x="0" y="4063"/>
                  <a:pt x="0" y="4063"/>
                </a:cubicBezTo>
                <a:cubicBezTo>
                  <a:pt x="0" y="1819"/>
                  <a:pt x="1819" y="0"/>
                  <a:pt x="4063" y="0"/>
                </a:cubicBezTo>
                <a:cubicBezTo>
                  <a:pt x="4063" y="0"/>
                  <a:pt x="4063" y="0"/>
                  <a:pt x="4063"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14" name="Oval 42"/>
          <p:cNvSpPr/>
          <p:nvPr/>
        </p:nvSpPr>
        <p:spPr>
          <a:xfrm>
            <a:off x="5684901" y="3716401"/>
            <a:ext cx="110998" cy="110998"/>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15" name="TextBox 43"/>
          <p:cNvSpPr txBox="1"/>
          <p:nvPr/>
        </p:nvSpPr>
        <p:spPr>
          <a:xfrm>
            <a:off x="5791200" y="3606800"/>
            <a:ext cx="3860800" cy="330200"/>
          </a:xfrm>
          <a:prstGeom prst="rect">
            <a:avLst/>
          </a:prstGeom>
        </p:spPr>
        <p:txBody>
          <a:bodyPr wrap="square" lIns="0" tIns="0" rIns="0" bIns="0" anchor="ctr">
            <a:noAutofit/>
          </a:bodyPr>
          <a:lstStyle/>
          <a:p>
            <a:pPr>
              <a:lnSpc>
                <a:spcPct val="135000"/>
              </a:lnSpc>
            </a:pPr>
            <a:r>
              <a:rPr sz="580" b="1" spc="10">
                <a:solidFill>
                  <a:srgbClr val="0A0A0A"/>
                </a:solidFill>
                <a:latin typeface="Telegraf"/>
              </a:rPr>
              <a:t>Continue with Google</a:t>
            </a:r>
            <a:endParaRPr sz="580" b="1" spc="10">
              <a:solidFill>
                <a:srgbClr val="0A0A0A"/>
              </a:solidFill>
              <a:latin typeface="Telegraf"/>
            </a:endParaRPr>
          </a:p>
        </p:txBody>
      </p:sp>
      <p:sp>
        <p:nvSpPr>
          <p:cNvPr id="716" name="Rectangle 44"/>
          <p:cNvSpPr/>
          <p:nvPr/>
        </p:nvSpPr>
        <p:spPr>
          <a:xfrm>
            <a:off x="5638800" y="4140200"/>
            <a:ext cx="4064000" cy="939800"/>
          </a:xfrm>
          <a:custGeom>
            <a:avLst/>
            <a:gdLst/>
            <a:ahLst/>
            <a:cxnLst/>
            <a:rect l="l" t="t" r="r" b="b"/>
            <a:pathLst>
              <a:path w="100000" h="23125">
                <a:moveTo>
                  <a:pt x="92500" y="0"/>
                </a:moveTo>
                <a:cubicBezTo>
                  <a:pt x="96036" y="0"/>
                  <a:pt x="97803" y="0"/>
                  <a:pt x="98902" y="1098"/>
                </a:cubicBezTo>
                <a:cubicBezTo>
                  <a:pt x="98902" y="1098"/>
                  <a:pt x="98902" y="1098"/>
                  <a:pt x="98902" y="1098"/>
                </a:cubicBezTo>
                <a:cubicBezTo>
                  <a:pt x="100000" y="2197"/>
                  <a:pt x="100000" y="3964"/>
                  <a:pt x="100000" y="7500"/>
                </a:cubicBezTo>
                <a:lnTo>
                  <a:pt x="100000" y="15625"/>
                </a:lnTo>
                <a:cubicBezTo>
                  <a:pt x="100000" y="19161"/>
                  <a:pt x="100000" y="20928"/>
                  <a:pt x="98902" y="22027"/>
                </a:cubicBezTo>
                <a:cubicBezTo>
                  <a:pt x="98902" y="22027"/>
                  <a:pt x="98902" y="22027"/>
                  <a:pt x="98902" y="22027"/>
                </a:cubicBezTo>
                <a:cubicBezTo>
                  <a:pt x="97803" y="23125"/>
                  <a:pt x="96036" y="23125"/>
                  <a:pt x="92500" y="23125"/>
                </a:cubicBezTo>
                <a:lnTo>
                  <a:pt x="7500" y="23125"/>
                </a:lnTo>
                <a:cubicBezTo>
                  <a:pt x="3964" y="23125"/>
                  <a:pt x="2197" y="23125"/>
                  <a:pt x="1098" y="22027"/>
                </a:cubicBezTo>
                <a:cubicBezTo>
                  <a:pt x="1098" y="22027"/>
                  <a:pt x="1098" y="22027"/>
                  <a:pt x="1098" y="22027"/>
                </a:cubicBezTo>
                <a:cubicBezTo>
                  <a:pt x="0" y="20928"/>
                  <a:pt x="0" y="19161"/>
                  <a:pt x="0" y="15625"/>
                </a:cubicBezTo>
                <a:lnTo>
                  <a:pt x="0" y="7500"/>
                </a:lnTo>
                <a:cubicBezTo>
                  <a:pt x="0" y="3964"/>
                  <a:pt x="0" y="2197"/>
                  <a:pt x="1098" y="1098"/>
                </a:cubicBezTo>
                <a:cubicBezTo>
                  <a:pt x="1098" y="1098"/>
                  <a:pt x="1098" y="1098"/>
                  <a:pt x="1098" y="1098"/>
                </a:cubicBezTo>
                <a:cubicBezTo>
                  <a:pt x="2197" y="0"/>
                  <a:pt x="3964" y="0"/>
                  <a:pt x="7500"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17" name="TextBox 45"/>
          <p:cNvSpPr txBox="1"/>
          <p:nvPr/>
        </p:nvSpPr>
        <p:spPr>
          <a:xfrm>
            <a:off x="5842000" y="4292600"/>
            <a:ext cx="2540000" cy="127000"/>
          </a:xfrm>
          <a:prstGeom prst="rect">
            <a:avLst/>
          </a:prstGeom>
        </p:spPr>
        <p:txBody>
          <a:bodyPr wrap="square" lIns="0" tIns="0" rIns="0" bIns="0">
            <a:noAutofit/>
          </a:bodyPr>
          <a:lstStyle/>
          <a:p>
            <a:pPr>
              <a:lnSpc>
                <a:spcPct val="135000"/>
              </a:lnSpc>
            </a:pPr>
            <a:r>
              <a:rPr sz="620" b="1" spc="0">
                <a:solidFill>
                  <a:srgbClr val="0E6B5F"/>
                </a:solidFill>
                <a:latin typeface="Telegraf"/>
              </a:rPr>
              <a:t>1-click judge demo login</a:t>
            </a:r>
            <a:endParaRPr sz="620" b="1" spc="0">
              <a:solidFill>
                <a:srgbClr val="0E6B5F"/>
              </a:solidFill>
              <a:latin typeface="Telegraf"/>
            </a:endParaRPr>
          </a:p>
        </p:txBody>
      </p:sp>
      <p:sp>
        <p:nvSpPr>
          <p:cNvPr id="718" name="TextBox 46"/>
          <p:cNvSpPr txBox="1"/>
          <p:nvPr/>
        </p:nvSpPr>
        <p:spPr>
          <a:xfrm>
            <a:off x="5842000" y="4470400"/>
            <a:ext cx="3048000" cy="330200"/>
          </a:xfrm>
          <a:prstGeom prst="rect">
            <a:avLst/>
          </a:prstGeom>
        </p:spPr>
        <p:txBody>
          <a:bodyPr wrap="square" lIns="0" tIns="0" rIns="0" bIns="0">
            <a:noAutofit/>
          </a:bodyPr>
          <a:lstStyle/>
          <a:p>
            <a:pPr>
              <a:lnSpc>
                <a:spcPct val="145000"/>
              </a:lnSpc>
            </a:pPr>
            <a:r>
              <a:rPr sz="500" spc="0">
                <a:solidFill>
                  <a:srgbClr val="0E6B5F"/>
                </a:solidFill>
                <a:latin typeface="Telegraf"/>
              </a:rPr>
              <a:t>Seeds CloudPulse CRM and Jaipur Smile Studio, then lands in the queue.</a:t>
            </a:r>
            <a:endParaRPr sz="500" spc="0">
              <a:solidFill>
                <a:srgbClr val="0E6B5F"/>
              </a:solidFill>
              <a:latin typeface="Telegraf"/>
            </a:endParaRPr>
          </a:p>
        </p:txBody>
      </p:sp>
      <p:sp>
        <p:nvSpPr>
          <p:cNvPr id="719" name="Rectangle 47"/>
          <p:cNvSpPr/>
          <p:nvPr/>
        </p:nvSpPr>
        <p:spPr>
          <a:xfrm>
            <a:off x="8559800" y="4318000"/>
            <a:ext cx="939800" cy="279400"/>
          </a:xfrm>
          <a:custGeom>
            <a:avLst/>
            <a:gdLst/>
            <a:ahLst/>
            <a:cxnLst/>
            <a:rect l="l" t="t" r="r" b="b"/>
            <a:pathLst>
              <a:path w="100000" h="29730">
                <a:moveTo>
                  <a:pt x="85135" y="0"/>
                </a:moveTo>
                <a:cubicBezTo>
                  <a:pt x="85135" y="0"/>
                  <a:pt x="85135" y="0"/>
                  <a:pt x="85135" y="0"/>
                </a:cubicBezTo>
                <a:cubicBezTo>
                  <a:pt x="93345" y="0"/>
                  <a:pt x="100000" y="6655"/>
                  <a:pt x="100000" y="14865"/>
                </a:cubicBezTo>
                <a:cubicBezTo>
                  <a:pt x="100000" y="14865"/>
                  <a:pt x="100000" y="14865"/>
                  <a:pt x="100000" y="14865"/>
                </a:cubicBezTo>
                <a:lnTo>
                  <a:pt x="100000" y="14865"/>
                </a:lnTo>
                <a:cubicBezTo>
                  <a:pt x="100000" y="14865"/>
                  <a:pt x="100000" y="14865"/>
                  <a:pt x="100000" y="14865"/>
                </a:cubicBezTo>
                <a:cubicBezTo>
                  <a:pt x="100000" y="23074"/>
                  <a:pt x="93345" y="29730"/>
                  <a:pt x="85135" y="29730"/>
                </a:cubicBezTo>
                <a:cubicBezTo>
                  <a:pt x="85135" y="29730"/>
                  <a:pt x="85135" y="29730"/>
                  <a:pt x="85135" y="29730"/>
                </a:cubicBezTo>
                <a:lnTo>
                  <a:pt x="14865" y="29730"/>
                </a:lnTo>
                <a:cubicBezTo>
                  <a:pt x="14865" y="29730"/>
                  <a:pt x="14865" y="29730"/>
                  <a:pt x="14865" y="29730"/>
                </a:cubicBezTo>
                <a:cubicBezTo>
                  <a:pt x="6655" y="29730"/>
                  <a:pt x="0" y="23074"/>
                  <a:pt x="0" y="14865"/>
                </a:cubicBezTo>
                <a:cubicBezTo>
                  <a:pt x="0" y="14865"/>
                  <a:pt x="0" y="14865"/>
                  <a:pt x="0" y="14865"/>
                </a:cubicBezTo>
                <a:lnTo>
                  <a:pt x="0" y="14865"/>
                </a:lnTo>
                <a:cubicBezTo>
                  <a:pt x="0" y="14865"/>
                  <a:pt x="0" y="14865"/>
                  <a:pt x="0" y="14865"/>
                </a:cubicBezTo>
                <a:cubicBezTo>
                  <a:pt x="0" y="6655"/>
                  <a:pt x="6655" y="0"/>
                  <a:pt x="14865" y="0"/>
                </a:cubicBezTo>
                <a:cubicBezTo>
                  <a:pt x="14865" y="0"/>
                  <a:pt x="14865" y="0"/>
                  <a:pt x="14865"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20" name="TextBox 48"/>
          <p:cNvSpPr txBox="1"/>
          <p:nvPr/>
        </p:nvSpPr>
        <p:spPr>
          <a:xfrm>
            <a:off x="8636000" y="4318000"/>
            <a:ext cx="812800" cy="279400"/>
          </a:xfrm>
          <a:prstGeom prst="rect">
            <a:avLst/>
          </a:prstGeom>
        </p:spPr>
        <p:txBody>
          <a:bodyPr wrap="square" lIns="0" tIns="0" rIns="0" bIns="0" anchor="ctr">
            <a:noAutofit/>
          </a:bodyPr>
          <a:lstStyle/>
          <a:p>
            <a:pPr>
              <a:lnSpc>
                <a:spcPct val="135000"/>
              </a:lnSpc>
            </a:pPr>
            <a:r>
              <a:rPr sz="520" b="1" spc="10">
                <a:solidFill>
                  <a:srgbClr val="FFFFFF"/>
                </a:solidFill>
                <a:latin typeface="Telegraf"/>
              </a:rPr>
              <a:t>Open →</a:t>
            </a:r>
            <a:endParaRPr sz="520" b="1" spc="10">
              <a:solidFill>
                <a:srgbClr val="FFFFFF"/>
              </a:solidFill>
              <a:latin typeface="Telegraf"/>
            </a:endParaRPr>
          </a:p>
        </p:txBody>
      </p:sp>
      <p:sp>
        <p:nvSpPr>
          <p:cNvPr id="721" name="TextBox 49"/>
          <p:cNvSpPr txBox="1"/>
          <p:nvPr/>
        </p:nvSpPr>
        <p:spPr>
          <a:xfrm>
            <a:off x="5638800" y="5283200"/>
            <a:ext cx="2540000" cy="114300"/>
          </a:xfrm>
          <a:prstGeom prst="rect">
            <a:avLst/>
          </a:prstGeom>
        </p:spPr>
        <p:txBody>
          <a:bodyPr wrap="square" lIns="0" tIns="0" rIns="0" bIns="0">
            <a:noAutofit/>
          </a:bodyPr>
          <a:lstStyle/>
          <a:p>
            <a:r>
              <a:rPr sz="460" b="1" spc="110">
                <a:solidFill>
                  <a:srgbClr val="A2A2A8"/>
                </a:solidFill>
                <a:latin typeface="Telegraf"/>
              </a:rPr>
              <a:t>SEEDED BUSINESSES</a:t>
            </a:r>
            <a:endParaRPr sz="460" b="1" spc="110">
              <a:solidFill>
                <a:srgbClr val="A2A2A8"/>
              </a:solidFill>
              <a:latin typeface="Telegraf"/>
            </a:endParaRPr>
          </a:p>
        </p:txBody>
      </p:sp>
      <p:sp>
        <p:nvSpPr>
          <p:cNvPr id="722" name="Rectangle 50"/>
          <p:cNvSpPr/>
          <p:nvPr/>
        </p:nvSpPr>
        <p:spPr>
          <a:xfrm>
            <a:off x="5638800" y="5435600"/>
            <a:ext cx="1854200" cy="279400"/>
          </a:xfrm>
          <a:custGeom>
            <a:avLst/>
            <a:gdLst/>
            <a:ahLst/>
            <a:cxnLst/>
            <a:rect l="l" t="t" r="r" b="b"/>
            <a:pathLst>
              <a:path w="100000" h="15068">
                <a:moveTo>
                  <a:pt x="92466" y="0"/>
                </a:moveTo>
                <a:cubicBezTo>
                  <a:pt x="92466" y="0"/>
                  <a:pt x="92466" y="0"/>
                  <a:pt x="92466" y="0"/>
                </a:cubicBezTo>
                <a:cubicBezTo>
                  <a:pt x="96627" y="0"/>
                  <a:pt x="100000" y="3373"/>
                  <a:pt x="100000" y="7534"/>
                </a:cubicBezTo>
                <a:cubicBezTo>
                  <a:pt x="100000" y="7534"/>
                  <a:pt x="100000" y="7534"/>
                  <a:pt x="100000" y="7534"/>
                </a:cubicBezTo>
                <a:lnTo>
                  <a:pt x="100000" y="7534"/>
                </a:lnTo>
                <a:cubicBezTo>
                  <a:pt x="100000" y="7534"/>
                  <a:pt x="100000" y="7534"/>
                  <a:pt x="100000" y="7534"/>
                </a:cubicBezTo>
                <a:cubicBezTo>
                  <a:pt x="100000" y="11695"/>
                  <a:pt x="96627" y="15068"/>
                  <a:pt x="92466" y="15068"/>
                </a:cubicBezTo>
                <a:cubicBezTo>
                  <a:pt x="92466" y="15068"/>
                  <a:pt x="92466" y="15068"/>
                  <a:pt x="92466" y="15068"/>
                </a:cubicBezTo>
                <a:lnTo>
                  <a:pt x="7534" y="15068"/>
                </a:lnTo>
                <a:cubicBezTo>
                  <a:pt x="7534" y="15068"/>
                  <a:pt x="7534" y="15068"/>
                  <a:pt x="7534" y="15068"/>
                </a:cubicBezTo>
                <a:cubicBezTo>
                  <a:pt x="3373" y="15068"/>
                  <a:pt x="0" y="11695"/>
                  <a:pt x="0" y="7534"/>
                </a:cubicBezTo>
                <a:cubicBezTo>
                  <a:pt x="0" y="7534"/>
                  <a:pt x="0" y="7534"/>
                  <a:pt x="0" y="7534"/>
                </a:cubicBezTo>
                <a:lnTo>
                  <a:pt x="0" y="7534"/>
                </a:lnTo>
                <a:cubicBezTo>
                  <a:pt x="0" y="7534"/>
                  <a:pt x="0" y="7534"/>
                  <a:pt x="0" y="7534"/>
                </a:cubicBezTo>
                <a:cubicBezTo>
                  <a:pt x="0" y="3373"/>
                  <a:pt x="3373" y="0"/>
                  <a:pt x="7534" y="0"/>
                </a:cubicBezTo>
                <a:cubicBezTo>
                  <a:pt x="7534" y="0"/>
                  <a:pt x="7534" y="0"/>
                  <a:pt x="753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23" name="TextBox 51"/>
          <p:cNvSpPr txBox="1"/>
          <p:nvPr/>
        </p:nvSpPr>
        <p:spPr>
          <a:xfrm>
            <a:off x="5765800" y="5435600"/>
            <a:ext cx="1651000" cy="279400"/>
          </a:xfrm>
          <a:prstGeom prst="rect">
            <a:avLst/>
          </a:prstGeom>
        </p:spPr>
        <p:txBody>
          <a:bodyPr wrap="square" lIns="0" tIns="0" rIns="0" bIns="0" anchor="ctr">
            <a:noAutofit/>
          </a:bodyPr>
          <a:lstStyle/>
          <a:p>
            <a:pPr>
              <a:lnSpc>
                <a:spcPct val="135000"/>
              </a:lnSpc>
            </a:pPr>
            <a:r>
              <a:rPr sz="520" spc="0">
                <a:solidFill>
                  <a:srgbClr val="0A0A0A"/>
                </a:solidFill>
                <a:latin typeface="Telegraf"/>
              </a:rPr>
              <a:t>CloudPulse CRM</a:t>
            </a:r>
            <a:endParaRPr sz="520" spc="0">
              <a:solidFill>
                <a:srgbClr val="0A0A0A"/>
              </a:solidFill>
              <a:latin typeface="Telegraf"/>
            </a:endParaRPr>
          </a:p>
        </p:txBody>
      </p:sp>
      <p:sp>
        <p:nvSpPr>
          <p:cNvPr id="724" name="Rectangle 52"/>
          <p:cNvSpPr/>
          <p:nvPr/>
        </p:nvSpPr>
        <p:spPr>
          <a:xfrm>
            <a:off x="7594600" y="5435600"/>
            <a:ext cx="2108200" cy="279400"/>
          </a:xfrm>
          <a:custGeom>
            <a:avLst/>
            <a:gdLst/>
            <a:ahLst/>
            <a:cxnLst/>
            <a:rect l="l" t="t" r="r" b="b"/>
            <a:pathLst>
              <a:path w="100000" h="13253">
                <a:moveTo>
                  <a:pt x="93373" y="0"/>
                </a:moveTo>
                <a:cubicBezTo>
                  <a:pt x="93373" y="0"/>
                  <a:pt x="93373" y="0"/>
                  <a:pt x="93373" y="0"/>
                </a:cubicBezTo>
                <a:cubicBezTo>
                  <a:pt x="97033" y="0"/>
                  <a:pt x="100000" y="2967"/>
                  <a:pt x="100000" y="6627"/>
                </a:cubicBezTo>
                <a:cubicBezTo>
                  <a:pt x="100000" y="6627"/>
                  <a:pt x="100000" y="6627"/>
                  <a:pt x="100000" y="6627"/>
                </a:cubicBezTo>
                <a:lnTo>
                  <a:pt x="100000" y="6627"/>
                </a:lnTo>
                <a:cubicBezTo>
                  <a:pt x="100000" y="6627"/>
                  <a:pt x="100000" y="6627"/>
                  <a:pt x="100000" y="6627"/>
                </a:cubicBezTo>
                <a:cubicBezTo>
                  <a:pt x="100000" y="10286"/>
                  <a:pt x="97033" y="13253"/>
                  <a:pt x="93373" y="13253"/>
                </a:cubicBezTo>
                <a:cubicBezTo>
                  <a:pt x="93373" y="13253"/>
                  <a:pt x="93373" y="13253"/>
                  <a:pt x="93373" y="13253"/>
                </a:cubicBezTo>
                <a:lnTo>
                  <a:pt x="6627" y="13253"/>
                </a:lnTo>
                <a:cubicBezTo>
                  <a:pt x="6627" y="13253"/>
                  <a:pt x="6627" y="13253"/>
                  <a:pt x="6627" y="13253"/>
                </a:cubicBezTo>
                <a:cubicBezTo>
                  <a:pt x="2967" y="13253"/>
                  <a:pt x="0" y="10286"/>
                  <a:pt x="0" y="6627"/>
                </a:cubicBezTo>
                <a:cubicBezTo>
                  <a:pt x="0" y="6627"/>
                  <a:pt x="0" y="6627"/>
                  <a:pt x="0" y="6627"/>
                </a:cubicBezTo>
                <a:lnTo>
                  <a:pt x="0" y="6627"/>
                </a:lnTo>
                <a:cubicBezTo>
                  <a:pt x="0" y="6627"/>
                  <a:pt x="0" y="6627"/>
                  <a:pt x="0" y="6627"/>
                </a:cubicBezTo>
                <a:cubicBezTo>
                  <a:pt x="0" y="2967"/>
                  <a:pt x="2967" y="0"/>
                  <a:pt x="6627" y="0"/>
                </a:cubicBezTo>
                <a:cubicBezTo>
                  <a:pt x="6627" y="0"/>
                  <a:pt x="6627" y="0"/>
                  <a:pt x="6627"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25" name="TextBox 53"/>
          <p:cNvSpPr txBox="1"/>
          <p:nvPr/>
        </p:nvSpPr>
        <p:spPr>
          <a:xfrm>
            <a:off x="7721600" y="5435600"/>
            <a:ext cx="1905000" cy="279400"/>
          </a:xfrm>
          <a:prstGeom prst="rect">
            <a:avLst/>
          </a:prstGeom>
        </p:spPr>
        <p:txBody>
          <a:bodyPr wrap="square" lIns="0" tIns="0" rIns="0" bIns="0" anchor="ctr">
            <a:noAutofit/>
          </a:bodyPr>
          <a:lstStyle/>
          <a:p>
            <a:pPr>
              <a:lnSpc>
                <a:spcPct val="135000"/>
              </a:lnSpc>
            </a:pPr>
            <a:r>
              <a:rPr sz="520" spc="0">
                <a:solidFill>
                  <a:srgbClr val="0A0A0A"/>
                </a:solidFill>
                <a:latin typeface="Telegraf"/>
              </a:rPr>
              <a:t>Jaipur Smile Studio</a:t>
            </a:r>
            <a:endParaRPr sz="520" spc="0">
              <a:solidFill>
                <a:srgbClr val="0A0A0A"/>
              </a:solidFill>
              <a:latin typeface="Telegraf"/>
            </a:endParaRPr>
          </a:p>
        </p:txBody>
      </p:sp>
      <p:sp>
        <p:nvSpPr>
          <p:cNvPr id="726" name="TextBox 54"/>
          <p:cNvSpPr txBox="1"/>
          <p:nvPr/>
        </p:nvSpPr>
        <p:spPr>
          <a:xfrm>
            <a:off x="5638800" y="5816600"/>
            <a:ext cx="4064000" cy="127000"/>
          </a:xfrm>
          <a:prstGeom prst="rect">
            <a:avLst/>
          </a:prstGeom>
        </p:spPr>
        <p:txBody>
          <a:bodyPr wrap="square" lIns="0" tIns="0" rIns="0" bIns="0">
            <a:noAutofit/>
          </a:bodyPr>
          <a:lstStyle/>
          <a:p>
            <a:pPr>
              <a:lnSpc>
                <a:spcPct val="135000"/>
              </a:lnSpc>
            </a:pPr>
            <a:r>
              <a:rPr sz="480" spc="0">
                <a:solidFill>
                  <a:srgbClr val="A2A2A8"/>
                </a:solidFill>
                <a:latin typeface="Telegraf"/>
              </a:rPr>
              <a:t>AT-01 · redirect rule is the acceptance test</a:t>
            </a:r>
            <a:endParaRPr sz="480" spc="0">
              <a:solidFill>
                <a:srgbClr val="A2A2A8"/>
              </a:solidFill>
              <a:latin typeface="Telegraf"/>
            </a:endParaRPr>
          </a:p>
        </p:txBody>
      </p:sp>
      <p:sp>
        <p:nvSpPr>
          <p:cNvPr id="727" name="Oval 55"/>
          <p:cNvSpPr/>
          <p:nvPr/>
        </p:nvSpPr>
        <p:spPr>
          <a:xfrm>
            <a:off x="5450840" y="929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28" name="Oval 56"/>
          <p:cNvSpPr/>
          <p:nvPr/>
        </p:nvSpPr>
        <p:spPr>
          <a:xfrm>
            <a:off x="5474970" y="953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29" name="TextBox 57"/>
          <p:cNvSpPr txBox="1"/>
          <p:nvPr/>
        </p:nvSpPr>
        <p:spPr>
          <a:xfrm>
            <a:off x="5474970" y="953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730" name="Oval 58"/>
          <p:cNvSpPr/>
          <p:nvPr/>
        </p:nvSpPr>
        <p:spPr>
          <a:xfrm>
            <a:off x="5450840" y="1564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31" name="Oval 59"/>
          <p:cNvSpPr/>
          <p:nvPr/>
        </p:nvSpPr>
        <p:spPr>
          <a:xfrm>
            <a:off x="5474970" y="1588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32" name="TextBox 60"/>
          <p:cNvSpPr txBox="1"/>
          <p:nvPr/>
        </p:nvSpPr>
        <p:spPr>
          <a:xfrm>
            <a:off x="5474970" y="1588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733" name="Oval 61"/>
          <p:cNvSpPr/>
          <p:nvPr/>
        </p:nvSpPr>
        <p:spPr>
          <a:xfrm>
            <a:off x="5450840" y="4053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34" name="Oval 62"/>
          <p:cNvSpPr/>
          <p:nvPr/>
        </p:nvSpPr>
        <p:spPr>
          <a:xfrm>
            <a:off x="5474970" y="4077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35" name="TextBox 63"/>
          <p:cNvSpPr txBox="1"/>
          <p:nvPr/>
        </p:nvSpPr>
        <p:spPr>
          <a:xfrm>
            <a:off x="5474970" y="4077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736" name="Oval 64"/>
          <p:cNvSpPr/>
          <p:nvPr/>
        </p:nvSpPr>
        <p:spPr>
          <a:xfrm>
            <a:off x="116840" y="3190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37" name="Oval 65"/>
          <p:cNvSpPr/>
          <p:nvPr/>
        </p:nvSpPr>
        <p:spPr>
          <a:xfrm>
            <a:off x="140970" y="3214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38" name="TextBox 66"/>
          <p:cNvSpPr txBox="1"/>
          <p:nvPr/>
        </p:nvSpPr>
        <p:spPr>
          <a:xfrm>
            <a:off x="140970" y="3214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739" name="Rectangle 67"/>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40" name="TextBox 68"/>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06  —  AUTH</a:t>
            </a:r>
            <a:endParaRPr sz="490" b="1" spc="120">
              <a:solidFill>
                <a:srgbClr val="8FE0CE"/>
              </a:solidFill>
              <a:latin typeface="Telegraf"/>
            </a:endParaRPr>
          </a:p>
        </p:txBody>
      </p:sp>
      <p:sp>
        <p:nvSpPr>
          <p:cNvPr id="741" name="TextBox 69"/>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Two doors,</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one redirect.</a:t>
            </a:r>
            <a:endParaRPr sz="1650" spc="-50">
              <a:solidFill>
                <a:srgbClr val="FFFFFF"/>
              </a:solidFill>
              <a:latin typeface="PP Editorial New Ultralight"/>
            </a:endParaRPr>
          </a:p>
        </p:txBody>
      </p:sp>
      <p:sp>
        <p:nvSpPr>
          <p:cNvPr id="742" name="Rectangle 70"/>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43" name="TextBox 71"/>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744" name="TextBox 72"/>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Tabs</a:t>
            </a:r>
            <a:endParaRPr sz="590" b="1" spc="0">
              <a:solidFill>
                <a:srgbClr val="FFFFFF"/>
              </a:solidFill>
              <a:latin typeface="Telegraf"/>
            </a:endParaRPr>
          </a:p>
        </p:txBody>
      </p:sp>
      <p:sp>
        <p:nvSpPr>
          <p:cNvPr id="745" name="TextBox 73"/>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Sign in and Create account share one card; the underline is 1.4pt ink.</a:t>
            </a:r>
            <a:endParaRPr sz="550" spc="0">
              <a:solidFill>
                <a:srgbClr val="A8A8A8"/>
              </a:solidFill>
              <a:latin typeface="Telegraf"/>
            </a:endParaRPr>
          </a:p>
        </p:txBody>
      </p:sp>
      <p:sp>
        <p:nvSpPr>
          <p:cNvPr id="746" name="TextBox 74"/>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747" name="TextBox 75"/>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Fields</a:t>
            </a:r>
            <a:endParaRPr sz="590" b="1" spc="0">
              <a:solidFill>
                <a:srgbClr val="FFFFFF"/>
              </a:solidFill>
              <a:latin typeface="Telegraf"/>
            </a:endParaRPr>
          </a:p>
        </p:txBody>
      </p:sp>
      <p:sp>
        <p:nvSpPr>
          <p:cNvPr id="748" name="TextBox 76"/>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Focus turns the hairline teal and adds a 1.8pt left bar.</a:t>
            </a:r>
            <a:endParaRPr sz="550" spc="0">
              <a:solidFill>
                <a:srgbClr val="A8A8A8"/>
              </a:solidFill>
              <a:latin typeface="Telegraf"/>
            </a:endParaRPr>
          </a:p>
        </p:txBody>
      </p:sp>
      <p:sp>
        <p:nvSpPr>
          <p:cNvPr id="749" name="TextBox 77"/>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750" name="TextBox 78"/>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Judge path</a:t>
            </a:r>
            <a:endParaRPr sz="590" b="1" spc="0">
              <a:solidFill>
                <a:srgbClr val="FFFFFF"/>
              </a:solidFill>
              <a:latin typeface="Telegraf"/>
            </a:endParaRPr>
          </a:p>
        </p:txBody>
      </p:sp>
      <p:sp>
        <p:nvSpPr>
          <p:cNvPr id="751" name="TextBox 79"/>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Teal tint, not black: the demo is secondary to a real sign-in.</a:t>
            </a:r>
            <a:endParaRPr sz="550" spc="0">
              <a:solidFill>
                <a:srgbClr val="A8A8A8"/>
              </a:solidFill>
              <a:latin typeface="Telegraf"/>
            </a:endParaRPr>
          </a:p>
        </p:txBody>
      </p:sp>
      <p:sp>
        <p:nvSpPr>
          <p:cNvPr id="752" name="TextBox 80"/>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753" name="TextBox 81"/>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Redirect</a:t>
            </a:r>
            <a:endParaRPr sz="590" b="1" spc="0">
              <a:solidFill>
                <a:srgbClr val="FFFFFF"/>
              </a:solidFill>
              <a:latin typeface="Telegraf"/>
            </a:endParaRPr>
          </a:p>
        </p:txBody>
      </p:sp>
      <p:sp>
        <p:nvSpPr>
          <p:cNvPr id="754" name="TextBox 82"/>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rule lives beside the form, so it cannot be forgotten in code.</a:t>
            </a:r>
            <a:endParaRPr sz="550" spc="0">
              <a:solidFill>
                <a:srgbClr val="A8A8A8"/>
              </a:solidFill>
              <a:latin typeface="Telegraf"/>
            </a:endParaRPr>
          </a:p>
        </p:txBody>
      </p:sp>
      <p:sp>
        <p:nvSpPr>
          <p:cNvPr id="755" name="TextBox 83"/>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756" name="TextBox 84"/>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/auth</a:t>
            </a:r>
            <a:endParaRPr sz="560" spc="0">
              <a:solidFill>
                <a:srgbClr val="FFFFFF"/>
              </a:solidFill>
              <a:latin typeface="Telegraf"/>
            </a:endParaRPr>
          </a:p>
        </p:txBody>
      </p:sp>
      <p:sp>
        <p:nvSpPr>
          <p:cNvPr id="757" name="TextBox 85"/>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758" name="TextBox 86"/>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components/auth/AuthPanel.tsx; lib/auth.ts · getCurrentUser + ownership</a:t>
            </a:r>
            <a:endParaRPr sz="530" spc="0">
              <a:solidFill>
                <a:srgbClr val="CFCFCF"/>
              </a:solidFill>
              <a:latin typeface="Telegraf"/>
            </a:endParaRPr>
          </a:p>
        </p:txBody>
      </p:sp>
      <p:sp>
        <p:nvSpPr>
          <p:cNvPr id="759" name="Rectangle 87"/>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60" name="TextBox 88"/>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2" name="TextBox 1"/>
          <p:cNvSpPr txBox="1"/>
          <p:nvPr/>
        </p:nvSpPr>
        <p:spPr>
          <a:xfrm>
            <a:off x="304800" y="177800"/>
            <a:ext cx="2540000" cy="254000"/>
          </a:xfrm>
          <a:prstGeom prst="rect">
            <a:avLst/>
          </a:prstGeom>
        </p:spPr>
        <p:txBody>
          <a:bodyPr wrap="square" lIns="0" tIns="0" rIns="0" bIns="0">
            <a:noAutofit/>
          </a:bodyPr>
          <a:lstStyle/>
          <a:p>
            <a:pPr>
              <a:lnSpc>
                <a:spcPct val="102000"/>
              </a:lnSpc>
            </a:pPr>
            <a:r>
              <a:rPr sz="1250" spc="-30">
                <a:solidFill>
                  <a:srgbClr val="0A0A0A"/>
                </a:solidFill>
                <a:latin typeface="PP Editorial New Ultralight"/>
              </a:rPr>
              <a:t>AfterSales.</a:t>
            </a:r>
            <a:endParaRPr sz="1250" spc="-30">
              <a:solidFill>
                <a:srgbClr val="0A0A0A"/>
              </a:solidFill>
              <a:latin typeface="PP Editorial New Ultralight"/>
            </a:endParaRPr>
          </a:p>
        </p:txBody>
      </p:sp>
      <p:sp>
        <p:nvSpPr>
          <p:cNvPr id="763" name="TextBox 2"/>
          <p:cNvSpPr txBox="1"/>
          <p:nvPr/>
        </p:nvSpPr>
        <p:spPr>
          <a:xfrm>
            <a:off x="3810000" y="228600"/>
            <a:ext cx="3048000" cy="127000"/>
          </a:xfrm>
          <a:prstGeom prst="rect">
            <a:avLst/>
          </a:prstGeom>
        </p:spPr>
        <p:txBody>
          <a:bodyPr wrap="square" lIns="0" tIns="0" rIns="0" bIns="0">
            <a:noAutofit/>
          </a:bodyPr>
          <a:lstStyle/>
          <a:p>
            <a:r>
              <a:rPr sz="460" b="1" spc="110">
                <a:solidFill>
                  <a:srgbClr val="A2A2A8"/>
                </a:solidFill>
                <a:latin typeface="Telegraf"/>
              </a:rPr>
              <a:t>ONBOARDING  ·  CLOUDPULSE CRM</a:t>
            </a:r>
            <a:endParaRPr sz="460" b="1" spc="110">
              <a:solidFill>
                <a:srgbClr val="A2A2A8"/>
              </a:solidFill>
              <a:latin typeface="Telegraf"/>
            </a:endParaRPr>
          </a:p>
        </p:txBody>
      </p:sp>
      <p:sp>
        <p:nvSpPr>
          <p:cNvPr id="764" name="TextBox 3"/>
          <p:cNvSpPr txBox="1"/>
          <p:nvPr/>
        </p:nvSpPr>
        <p:spPr>
          <a:xfrm>
            <a:off x="8763000" y="190500"/>
            <a:ext cx="812800" cy="177800"/>
          </a:xfrm>
          <a:prstGeom prst="rect">
            <a:avLst/>
          </a:prstGeom>
        </p:spPr>
        <p:txBody>
          <a:bodyPr wrap="square" lIns="0" tIns="0" rIns="0" bIns="0">
            <a:noAutofit/>
          </a:bodyPr>
          <a:lstStyle/>
          <a:p>
            <a:pPr algn="r">
              <a:lnSpc>
                <a:spcPct val="135000"/>
              </a:lnSpc>
            </a:pPr>
            <a:r>
              <a:rPr sz="520" spc="0">
                <a:solidFill>
                  <a:srgbClr val="67676E"/>
                </a:solidFill>
                <a:latin typeface="Telegraf"/>
              </a:rPr>
              <a:t>Save &amp; exit</a:t>
            </a:r>
            <a:endParaRPr sz="520" spc="0">
              <a:solidFill>
                <a:srgbClr val="67676E"/>
              </a:solidFill>
              <a:latin typeface="Telegraf"/>
            </a:endParaRPr>
          </a:p>
        </p:txBody>
      </p:sp>
      <p:sp>
        <p:nvSpPr>
          <p:cNvPr id="765" name="Oval 4"/>
          <p:cNvSpPr/>
          <p:nvPr/>
        </p:nvSpPr>
        <p:spPr>
          <a:xfrm>
            <a:off x="9734550" y="1460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66" name="TextBox 5"/>
          <p:cNvSpPr txBox="1"/>
          <p:nvPr/>
        </p:nvSpPr>
        <p:spPr>
          <a:xfrm>
            <a:off x="9734550" y="1460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767" name="Rectangle 6"/>
          <p:cNvSpPr/>
          <p:nvPr/>
        </p:nvSpPr>
        <p:spPr>
          <a:xfrm>
            <a:off x="0" y="558800"/>
            <a:ext cx="10312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68" name="TextBox 7"/>
          <p:cNvSpPr txBox="1"/>
          <p:nvPr/>
        </p:nvSpPr>
        <p:spPr>
          <a:xfrm>
            <a:off x="304800" y="914400"/>
            <a:ext cx="2540000" cy="114300"/>
          </a:xfrm>
          <a:prstGeom prst="rect">
            <a:avLst/>
          </a:prstGeom>
        </p:spPr>
        <p:txBody>
          <a:bodyPr wrap="square" lIns="0" tIns="0" rIns="0" bIns="0">
            <a:noAutofit/>
          </a:bodyPr>
          <a:lstStyle/>
          <a:p>
            <a:r>
              <a:rPr sz="460" b="1" spc="120">
                <a:solidFill>
                  <a:srgbClr val="A2A2A8"/>
                </a:solidFill>
                <a:latin typeface="Telegraf"/>
              </a:rPr>
              <a:t>SET UP YOUR AGENT</a:t>
            </a:r>
            <a:endParaRPr sz="460" b="1" spc="120">
              <a:solidFill>
                <a:srgbClr val="A2A2A8"/>
              </a:solidFill>
              <a:latin typeface="Telegraf"/>
            </a:endParaRPr>
          </a:p>
        </p:txBody>
      </p:sp>
      <p:sp>
        <p:nvSpPr>
          <p:cNvPr id="769" name="Rectangle 8"/>
          <p:cNvSpPr/>
          <p:nvPr/>
        </p:nvSpPr>
        <p:spPr>
          <a:xfrm>
            <a:off x="406400" y="14478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70" name="Oval 9"/>
          <p:cNvSpPr/>
          <p:nvPr/>
        </p:nvSpPr>
        <p:spPr>
          <a:xfrm>
            <a:off x="312420" y="1252220"/>
            <a:ext cx="187960" cy="1879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71" name="TextBox 10"/>
          <p:cNvSpPr txBox="1"/>
          <p:nvPr/>
        </p:nvSpPr>
        <p:spPr>
          <a:xfrm>
            <a:off x="317500" y="1252220"/>
            <a:ext cx="177800" cy="177800"/>
          </a:xfrm>
          <a:prstGeom prst="rect">
            <a:avLst/>
          </a:prstGeom>
        </p:spPr>
        <p:txBody>
          <a:bodyPr wrap="square" lIns="0" tIns="0" rIns="0" bIns="0">
            <a:noAutofit/>
          </a:bodyPr>
          <a:lstStyle/>
          <a:p>
            <a:pPr algn="ctr">
              <a:lnSpc>
                <a:spcPct val="135000"/>
              </a:lnSpc>
            </a:pPr>
            <a:r>
              <a:rPr sz="460" b="1" spc="0">
                <a:solidFill>
                  <a:srgbClr val="FFFFFF"/>
                </a:solidFill>
                <a:latin typeface="Telegraf"/>
              </a:rPr>
              <a:t>01</a:t>
            </a:r>
            <a:endParaRPr sz="460" b="1" spc="0">
              <a:solidFill>
                <a:srgbClr val="FFFFFF"/>
              </a:solidFill>
              <a:latin typeface="Telegraf"/>
            </a:endParaRPr>
          </a:p>
        </p:txBody>
      </p:sp>
      <p:sp>
        <p:nvSpPr>
          <p:cNvPr id="772" name="TextBox 11"/>
          <p:cNvSpPr txBox="1"/>
          <p:nvPr/>
        </p:nvSpPr>
        <p:spPr>
          <a:xfrm>
            <a:off x="635000" y="1257300"/>
            <a:ext cx="2133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Identity &amp; tone</a:t>
            </a:r>
            <a:endParaRPr sz="600" b="1" spc="0">
              <a:solidFill>
                <a:srgbClr val="0A0A0A"/>
              </a:solidFill>
              <a:latin typeface="Telegraf"/>
            </a:endParaRPr>
          </a:p>
        </p:txBody>
      </p:sp>
      <p:sp>
        <p:nvSpPr>
          <p:cNvPr id="773" name="TextBox 12"/>
          <p:cNvSpPr txBox="1"/>
          <p:nvPr/>
        </p:nvSpPr>
        <p:spPr>
          <a:xfrm>
            <a:off x="635000" y="13970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name, type, voice</a:t>
            </a:r>
            <a:endParaRPr sz="480" spc="0">
              <a:solidFill>
                <a:srgbClr val="A2A2A8"/>
              </a:solidFill>
              <a:latin typeface="Telegraf"/>
            </a:endParaRPr>
          </a:p>
        </p:txBody>
      </p:sp>
      <p:sp>
        <p:nvSpPr>
          <p:cNvPr id="774" name="Rectangle 13"/>
          <p:cNvSpPr/>
          <p:nvPr/>
        </p:nvSpPr>
        <p:spPr>
          <a:xfrm>
            <a:off x="406400" y="20574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75" name="Oval 14"/>
          <p:cNvSpPr/>
          <p:nvPr/>
        </p:nvSpPr>
        <p:spPr>
          <a:xfrm>
            <a:off x="317500" y="1866900"/>
            <a:ext cx="177800" cy="177800"/>
          </a:xfrm>
          <a:prstGeom prst="ellipse">
            <a:avLst/>
          </a:pr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76" name="TextBox 15"/>
          <p:cNvSpPr txBox="1"/>
          <p:nvPr/>
        </p:nvSpPr>
        <p:spPr>
          <a:xfrm>
            <a:off x="317500" y="1871980"/>
            <a:ext cx="177800" cy="152400"/>
          </a:xfrm>
          <a:prstGeom prst="rect">
            <a:avLst/>
          </a:prstGeom>
        </p:spPr>
        <p:txBody>
          <a:bodyPr wrap="square" lIns="0" tIns="0" rIns="0" bIns="0">
            <a:noAutofit/>
          </a:bodyPr>
          <a:lstStyle/>
          <a:p>
            <a:pPr algn="ctr">
              <a:lnSpc>
                <a:spcPct val="135000"/>
              </a:lnSpc>
            </a:pPr>
            <a:r>
              <a:rPr sz="440" b="1" spc="0">
                <a:solidFill>
                  <a:srgbClr val="A2A2A8"/>
                </a:solidFill>
                <a:latin typeface="Telegraf"/>
              </a:rPr>
              <a:t>02</a:t>
            </a:r>
            <a:endParaRPr sz="440" b="1" spc="0">
              <a:solidFill>
                <a:srgbClr val="A2A2A8"/>
              </a:solidFill>
              <a:latin typeface="Telegraf"/>
            </a:endParaRPr>
          </a:p>
        </p:txBody>
      </p:sp>
      <p:sp>
        <p:nvSpPr>
          <p:cNvPr id="777" name="TextBox 16"/>
          <p:cNvSpPr txBox="1"/>
          <p:nvPr/>
        </p:nvSpPr>
        <p:spPr>
          <a:xfrm>
            <a:off x="635000" y="1866900"/>
            <a:ext cx="2133600" cy="127000"/>
          </a:xfrm>
          <a:prstGeom prst="rect">
            <a:avLst/>
          </a:prstGeom>
        </p:spPr>
        <p:txBody>
          <a:bodyPr wrap="square" lIns="0" tIns="0" rIns="0" bIns="0">
            <a:noAutofit/>
          </a:bodyPr>
          <a:lstStyle/>
          <a:p>
            <a:pPr>
              <a:lnSpc>
                <a:spcPct val="135000"/>
              </a:lnSpc>
            </a:pPr>
            <a:r>
              <a:rPr sz="600" spc="0">
                <a:solidFill>
                  <a:srgbClr val="A2A2A8"/>
                </a:solidFill>
                <a:latin typeface="Telegraf"/>
              </a:rPr>
              <a:t>Catalog &amp; FAQs</a:t>
            </a:r>
            <a:endParaRPr sz="600" spc="0">
              <a:solidFill>
                <a:srgbClr val="A2A2A8"/>
              </a:solidFill>
              <a:latin typeface="Telegraf"/>
            </a:endParaRPr>
          </a:p>
        </p:txBody>
      </p:sp>
      <p:sp>
        <p:nvSpPr>
          <p:cNvPr id="778" name="TextBox 17"/>
          <p:cNvSpPr txBox="1"/>
          <p:nvPr/>
        </p:nvSpPr>
        <p:spPr>
          <a:xfrm>
            <a:off x="635000" y="20066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prices, hours, policies</a:t>
            </a:r>
            <a:endParaRPr sz="480" spc="0">
              <a:solidFill>
                <a:srgbClr val="A2A2A8"/>
              </a:solidFill>
              <a:latin typeface="Telegraf"/>
            </a:endParaRPr>
          </a:p>
        </p:txBody>
      </p:sp>
      <p:sp>
        <p:nvSpPr>
          <p:cNvPr id="779" name="Rectangle 18"/>
          <p:cNvSpPr/>
          <p:nvPr/>
        </p:nvSpPr>
        <p:spPr>
          <a:xfrm>
            <a:off x="406400" y="26670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80" name="Oval 19"/>
          <p:cNvSpPr/>
          <p:nvPr/>
        </p:nvSpPr>
        <p:spPr>
          <a:xfrm>
            <a:off x="317500" y="2476500"/>
            <a:ext cx="177800" cy="177800"/>
          </a:xfrm>
          <a:prstGeom prst="ellipse">
            <a:avLst/>
          </a:pr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81" name="TextBox 20"/>
          <p:cNvSpPr txBox="1"/>
          <p:nvPr/>
        </p:nvSpPr>
        <p:spPr>
          <a:xfrm>
            <a:off x="317500" y="2481580"/>
            <a:ext cx="177800" cy="152400"/>
          </a:xfrm>
          <a:prstGeom prst="rect">
            <a:avLst/>
          </a:prstGeom>
        </p:spPr>
        <p:txBody>
          <a:bodyPr wrap="square" lIns="0" tIns="0" rIns="0" bIns="0">
            <a:noAutofit/>
          </a:bodyPr>
          <a:lstStyle/>
          <a:p>
            <a:pPr algn="ctr">
              <a:lnSpc>
                <a:spcPct val="135000"/>
              </a:lnSpc>
            </a:pPr>
            <a:r>
              <a:rPr sz="440" b="1" spc="0">
                <a:solidFill>
                  <a:srgbClr val="A2A2A8"/>
                </a:solidFill>
                <a:latin typeface="Telegraf"/>
              </a:rPr>
              <a:t>03</a:t>
            </a:r>
            <a:endParaRPr sz="440" b="1" spc="0">
              <a:solidFill>
                <a:srgbClr val="A2A2A8"/>
              </a:solidFill>
              <a:latin typeface="Telegraf"/>
            </a:endParaRPr>
          </a:p>
        </p:txBody>
      </p:sp>
      <p:sp>
        <p:nvSpPr>
          <p:cNvPr id="782" name="TextBox 21"/>
          <p:cNvSpPr txBox="1"/>
          <p:nvPr/>
        </p:nvSpPr>
        <p:spPr>
          <a:xfrm>
            <a:off x="635000" y="2476500"/>
            <a:ext cx="2133600" cy="127000"/>
          </a:xfrm>
          <a:prstGeom prst="rect">
            <a:avLst/>
          </a:prstGeom>
        </p:spPr>
        <p:txBody>
          <a:bodyPr wrap="square" lIns="0" tIns="0" rIns="0" bIns="0">
            <a:noAutofit/>
          </a:bodyPr>
          <a:lstStyle/>
          <a:p>
            <a:pPr>
              <a:lnSpc>
                <a:spcPct val="135000"/>
              </a:lnSpc>
            </a:pPr>
            <a:r>
              <a:rPr sz="600" spc="0">
                <a:solidFill>
                  <a:srgbClr val="A2A2A8"/>
                </a:solidFill>
                <a:latin typeface="Telegraf"/>
              </a:rPr>
              <a:t>Escalation</a:t>
            </a:r>
            <a:endParaRPr sz="600" spc="0">
              <a:solidFill>
                <a:srgbClr val="A2A2A8"/>
              </a:solidFill>
              <a:latin typeface="Telegraf"/>
            </a:endParaRPr>
          </a:p>
        </p:txBody>
      </p:sp>
      <p:sp>
        <p:nvSpPr>
          <p:cNvPr id="783" name="TextBox 22"/>
          <p:cNvSpPr txBox="1"/>
          <p:nvPr/>
        </p:nvSpPr>
        <p:spPr>
          <a:xfrm>
            <a:off x="635000" y="26162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when a human steps in</a:t>
            </a:r>
            <a:endParaRPr sz="480" spc="0">
              <a:solidFill>
                <a:srgbClr val="A2A2A8"/>
              </a:solidFill>
              <a:latin typeface="Telegraf"/>
            </a:endParaRPr>
          </a:p>
        </p:txBody>
      </p:sp>
      <p:sp>
        <p:nvSpPr>
          <p:cNvPr id="784" name="Oval 23"/>
          <p:cNvSpPr/>
          <p:nvPr/>
        </p:nvSpPr>
        <p:spPr>
          <a:xfrm>
            <a:off x="317500" y="3086100"/>
            <a:ext cx="177800" cy="177800"/>
          </a:xfrm>
          <a:prstGeom prst="ellipse">
            <a:avLst/>
          </a:pr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85" name="TextBox 24"/>
          <p:cNvSpPr txBox="1"/>
          <p:nvPr/>
        </p:nvSpPr>
        <p:spPr>
          <a:xfrm>
            <a:off x="317500" y="3091180"/>
            <a:ext cx="177800" cy="152400"/>
          </a:xfrm>
          <a:prstGeom prst="rect">
            <a:avLst/>
          </a:prstGeom>
        </p:spPr>
        <p:txBody>
          <a:bodyPr wrap="square" lIns="0" tIns="0" rIns="0" bIns="0">
            <a:noAutofit/>
          </a:bodyPr>
          <a:lstStyle/>
          <a:p>
            <a:pPr algn="ctr">
              <a:lnSpc>
                <a:spcPct val="135000"/>
              </a:lnSpc>
            </a:pPr>
            <a:r>
              <a:rPr sz="440" b="1" spc="0">
                <a:solidFill>
                  <a:srgbClr val="A2A2A8"/>
                </a:solidFill>
                <a:latin typeface="Telegraf"/>
              </a:rPr>
              <a:t>04</a:t>
            </a:r>
            <a:endParaRPr sz="440" b="1" spc="0">
              <a:solidFill>
                <a:srgbClr val="A2A2A8"/>
              </a:solidFill>
              <a:latin typeface="Telegraf"/>
            </a:endParaRPr>
          </a:p>
        </p:txBody>
      </p:sp>
      <p:sp>
        <p:nvSpPr>
          <p:cNvPr id="786" name="TextBox 25"/>
          <p:cNvSpPr txBox="1"/>
          <p:nvPr/>
        </p:nvSpPr>
        <p:spPr>
          <a:xfrm>
            <a:off x="635000" y="3086100"/>
            <a:ext cx="2133600" cy="127000"/>
          </a:xfrm>
          <a:prstGeom prst="rect">
            <a:avLst/>
          </a:prstGeom>
        </p:spPr>
        <p:txBody>
          <a:bodyPr wrap="square" lIns="0" tIns="0" rIns="0" bIns="0">
            <a:noAutofit/>
          </a:bodyPr>
          <a:lstStyle/>
          <a:p>
            <a:pPr>
              <a:lnSpc>
                <a:spcPct val="135000"/>
              </a:lnSpc>
            </a:pPr>
            <a:r>
              <a:rPr sz="600" spc="0">
                <a:solidFill>
                  <a:srgbClr val="A2A2A8"/>
                </a:solidFill>
                <a:latin typeface="Telegraf"/>
              </a:rPr>
              <a:t>Channels</a:t>
            </a:r>
            <a:endParaRPr sz="600" spc="0">
              <a:solidFill>
                <a:srgbClr val="A2A2A8"/>
              </a:solidFill>
              <a:latin typeface="Telegraf"/>
            </a:endParaRPr>
          </a:p>
        </p:txBody>
      </p:sp>
      <p:sp>
        <p:nvSpPr>
          <p:cNvPr id="787" name="TextBox 26"/>
          <p:cNvSpPr txBox="1"/>
          <p:nvPr/>
        </p:nvSpPr>
        <p:spPr>
          <a:xfrm>
            <a:off x="635000" y="32258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where messages arrive</a:t>
            </a:r>
            <a:endParaRPr sz="480" spc="0">
              <a:solidFill>
                <a:srgbClr val="A2A2A8"/>
              </a:solidFill>
              <a:latin typeface="Telegraf"/>
            </a:endParaRPr>
          </a:p>
        </p:txBody>
      </p:sp>
      <p:sp>
        <p:nvSpPr>
          <p:cNvPr id="788" name="TextBox 27"/>
          <p:cNvSpPr txBox="1"/>
          <p:nvPr/>
        </p:nvSpPr>
        <p:spPr>
          <a:xfrm>
            <a:off x="304800" y="5918200"/>
            <a:ext cx="2667000" cy="508000"/>
          </a:xfrm>
          <a:prstGeom prst="rect">
            <a:avLst/>
          </a:prstGeom>
        </p:spPr>
        <p:txBody>
          <a:bodyPr wrap="square" lIns="0" tIns="0" rIns="0" bIns="0">
            <a:noAutofit/>
          </a:bodyPr>
          <a:lstStyle/>
          <a:p>
            <a:pPr>
              <a:lnSpc>
                <a:spcPct val="150000"/>
              </a:lnSpc>
            </a:pPr>
            <a:r>
              <a:rPr sz="500" spc="0">
                <a:solidFill>
                  <a:srgbClr val="A2A2A8"/>
                </a:solidFill>
                <a:latin typeface="Telegraf"/>
              </a:rPr>
              <a:t>Saved as you type. The brain compiles into chunks on the last step — nothing is sent before that.</a:t>
            </a:r>
            <a:endParaRPr sz="500" spc="0">
              <a:solidFill>
                <a:srgbClr val="A2A2A8"/>
              </a:solidFill>
              <a:latin typeface="Telegraf"/>
            </a:endParaRPr>
          </a:p>
        </p:txBody>
      </p:sp>
      <p:sp>
        <p:nvSpPr>
          <p:cNvPr id="789" name="TextBox 28"/>
          <p:cNvSpPr txBox="1"/>
          <p:nvPr/>
        </p:nvSpPr>
        <p:spPr>
          <a:xfrm>
            <a:off x="3632200" y="863600"/>
            <a:ext cx="3048000" cy="114300"/>
          </a:xfrm>
          <a:prstGeom prst="rect">
            <a:avLst/>
          </a:prstGeom>
        </p:spPr>
        <p:txBody>
          <a:bodyPr wrap="square" lIns="0" tIns="0" rIns="0" bIns="0">
            <a:noAutofit/>
          </a:bodyPr>
          <a:lstStyle/>
          <a:p>
            <a:r>
              <a:rPr sz="480" b="1" spc="125">
                <a:solidFill>
                  <a:srgbClr val="0E6B5F"/>
                </a:solidFill>
                <a:latin typeface="Telegraf"/>
              </a:rPr>
              <a:t>STEP 1 OF 4</a:t>
            </a:r>
            <a:endParaRPr sz="480" b="1" spc="125">
              <a:solidFill>
                <a:srgbClr val="0E6B5F"/>
              </a:solidFill>
              <a:latin typeface="Telegraf"/>
            </a:endParaRPr>
          </a:p>
        </p:txBody>
      </p:sp>
      <p:sp>
        <p:nvSpPr>
          <p:cNvPr id="790" name="TextBox 29"/>
          <p:cNvSpPr txBox="1"/>
          <p:nvPr/>
        </p:nvSpPr>
        <p:spPr>
          <a:xfrm>
            <a:off x="3619500" y="1016000"/>
            <a:ext cx="6350000" cy="711200"/>
          </a:xfrm>
          <a:prstGeom prst="rect">
            <a:avLst/>
          </a:prstGeom>
        </p:spPr>
        <p:txBody>
          <a:bodyPr wrap="square" lIns="0" tIns="0" rIns="0" bIns="0">
            <a:noAutofit/>
          </a:bodyPr>
          <a:lstStyle/>
          <a:p>
            <a:pPr>
              <a:lnSpc>
                <a:spcPct val="102000"/>
              </a:lnSpc>
            </a:pPr>
            <a:r>
              <a:rPr sz="2500" spc="-110">
                <a:solidFill>
                  <a:srgbClr val="0A0A0A"/>
                </a:solidFill>
                <a:latin typeface="PP Editorial New Ultralight"/>
              </a:rPr>
              <a:t>Who are you</a:t>
            </a:r>
            <a:endParaRPr sz="2500" spc="-110">
              <a:solidFill>
                <a:srgbClr val="0A0A0A"/>
              </a:solidFill>
              <a:latin typeface="PP Editorial New Ultralight"/>
            </a:endParaRPr>
          </a:p>
          <a:p>
            <a:pPr>
              <a:lnSpc>
                <a:spcPct val="102000"/>
              </a:lnSpc>
            </a:pPr>
            <a:r>
              <a:rPr sz="2500" spc="-110">
                <a:solidFill>
                  <a:srgbClr val="0A0A0A"/>
                </a:solidFill>
                <a:latin typeface="PP Editorial New Ultralight"/>
              </a:rPr>
              <a:t>answering for?</a:t>
            </a:r>
            <a:endParaRPr sz="2500" spc="-110">
              <a:solidFill>
                <a:srgbClr val="0A0A0A"/>
              </a:solidFill>
              <a:latin typeface="PP Editorial New Ultralight"/>
            </a:endParaRPr>
          </a:p>
        </p:txBody>
      </p:sp>
      <p:sp>
        <p:nvSpPr>
          <p:cNvPr id="791" name="TextBox 30"/>
          <p:cNvSpPr txBox="1"/>
          <p:nvPr/>
        </p:nvSpPr>
        <p:spPr>
          <a:xfrm>
            <a:off x="3644900" y="1803400"/>
            <a:ext cx="5969000" cy="304800"/>
          </a:xfrm>
          <a:prstGeom prst="rect">
            <a:avLst/>
          </a:prstGeom>
        </p:spPr>
        <p:txBody>
          <a:bodyPr wrap="square" lIns="0" tIns="0" rIns="0" bIns="0">
            <a:noAutofit/>
          </a:bodyPr>
          <a:lstStyle/>
          <a:p>
            <a:pPr>
              <a:lnSpc>
                <a:spcPct val="150000"/>
              </a:lnSpc>
            </a:pPr>
            <a:r>
              <a:rPr sz="620" spc="0">
                <a:solidFill>
                  <a:srgbClr val="67676E"/>
                </a:solidFill>
                <a:latin typeface="Telegraf"/>
              </a:rPr>
              <a:t>Twelve facts become business_brain.md — the only thing the agent may answer from.</a:t>
            </a:r>
            <a:endParaRPr sz="620" spc="0">
              <a:solidFill>
                <a:srgbClr val="67676E"/>
              </a:solidFill>
              <a:latin typeface="Telegraf"/>
            </a:endParaRPr>
          </a:p>
        </p:txBody>
      </p:sp>
      <p:sp>
        <p:nvSpPr>
          <p:cNvPr id="792" name="Rectangle 31"/>
          <p:cNvSpPr/>
          <p:nvPr/>
        </p:nvSpPr>
        <p:spPr>
          <a:xfrm>
            <a:off x="3632200" y="5740400"/>
            <a:ext cx="6375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93" name="Rectangle 32"/>
          <p:cNvSpPr/>
          <p:nvPr/>
        </p:nvSpPr>
        <p:spPr>
          <a:xfrm>
            <a:off x="3632200" y="5892800"/>
            <a:ext cx="736600" cy="279400"/>
          </a:xfrm>
          <a:custGeom>
            <a:avLst/>
            <a:gdLst/>
            <a:ahLst/>
            <a:cxnLst/>
            <a:rect l="l" t="t" r="r" b="b"/>
            <a:pathLst>
              <a:path w="100000" h="37931">
                <a:moveTo>
                  <a:pt x="81034" y="0"/>
                </a:moveTo>
                <a:cubicBezTo>
                  <a:pt x="81034" y="0"/>
                  <a:pt x="81034" y="0"/>
                  <a:pt x="81034" y="0"/>
                </a:cubicBezTo>
                <a:cubicBezTo>
                  <a:pt x="91509" y="0"/>
                  <a:pt x="100000" y="8491"/>
                  <a:pt x="100000" y="18966"/>
                </a:cubicBezTo>
                <a:cubicBezTo>
                  <a:pt x="100000" y="18966"/>
                  <a:pt x="100000" y="18966"/>
                  <a:pt x="100000" y="18966"/>
                </a:cubicBezTo>
                <a:lnTo>
                  <a:pt x="100000" y="18966"/>
                </a:lnTo>
                <a:cubicBezTo>
                  <a:pt x="100000" y="18966"/>
                  <a:pt x="100000" y="18966"/>
                  <a:pt x="100000" y="18966"/>
                </a:cubicBezTo>
                <a:cubicBezTo>
                  <a:pt x="100000" y="29440"/>
                  <a:pt x="91509" y="37931"/>
                  <a:pt x="81034" y="37931"/>
                </a:cubicBezTo>
                <a:cubicBezTo>
                  <a:pt x="81034" y="37931"/>
                  <a:pt x="81034" y="37931"/>
                  <a:pt x="81034" y="37931"/>
                </a:cubicBezTo>
                <a:lnTo>
                  <a:pt x="18966" y="37931"/>
                </a:lnTo>
                <a:cubicBezTo>
                  <a:pt x="18966" y="37931"/>
                  <a:pt x="18966" y="37931"/>
                  <a:pt x="18966" y="37931"/>
                </a:cubicBezTo>
                <a:cubicBezTo>
                  <a:pt x="8491" y="37931"/>
                  <a:pt x="0" y="29440"/>
                  <a:pt x="0" y="18966"/>
                </a:cubicBezTo>
                <a:cubicBezTo>
                  <a:pt x="0" y="18966"/>
                  <a:pt x="0" y="18966"/>
                  <a:pt x="0" y="18966"/>
                </a:cubicBezTo>
                <a:lnTo>
                  <a:pt x="0" y="18966"/>
                </a:lnTo>
                <a:cubicBezTo>
                  <a:pt x="0" y="18966"/>
                  <a:pt x="0" y="18966"/>
                  <a:pt x="0" y="18966"/>
                </a:cubicBezTo>
                <a:cubicBezTo>
                  <a:pt x="0" y="8491"/>
                  <a:pt x="8491" y="0"/>
                  <a:pt x="18966" y="0"/>
                </a:cubicBezTo>
                <a:cubicBezTo>
                  <a:pt x="18966" y="0"/>
                  <a:pt x="18966" y="0"/>
                  <a:pt x="1896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94" name="TextBox 33"/>
          <p:cNvSpPr txBox="1"/>
          <p:nvPr/>
        </p:nvSpPr>
        <p:spPr>
          <a:xfrm>
            <a:off x="3708400" y="5892800"/>
            <a:ext cx="609600" cy="279400"/>
          </a:xfrm>
          <a:prstGeom prst="rect">
            <a:avLst/>
          </a:prstGeom>
        </p:spPr>
        <p:txBody>
          <a:bodyPr wrap="square" lIns="0" tIns="0" rIns="0" bIns="0" anchor="ctr">
            <a:noAutofit/>
          </a:bodyPr>
          <a:lstStyle/>
          <a:p>
            <a:pPr>
              <a:lnSpc>
                <a:spcPct val="135000"/>
              </a:lnSpc>
            </a:pPr>
            <a:r>
              <a:rPr sz="520" b="1" spc="10">
                <a:solidFill>
                  <a:srgbClr val="67676E"/>
                </a:solidFill>
                <a:latin typeface="Telegraf"/>
              </a:rPr>
              <a:t>← Back</a:t>
            </a:r>
            <a:endParaRPr sz="520" b="1" spc="10">
              <a:solidFill>
                <a:srgbClr val="67676E"/>
              </a:solidFill>
              <a:latin typeface="Telegraf"/>
            </a:endParaRPr>
          </a:p>
        </p:txBody>
      </p:sp>
      <p:sp>
        <p:nvSpPr>
          <p:cNvPr id="795" name="TextBox 34"/>
          <p:cNvSpPr txBox="1"/>
          <p:nvPr/>
        </p:nvSpPr>
        <p:spPr>
          <a:xfrm>
            <a:off x="5461000" y="5969000"/>
            <a:ext cx="1143000" cy="127000"/>
          </a:xfrm>
          <a:prstGeom prst="rect">
            <a:avLst/>
          </a:prstGeom>
        </p:spPr>
        <p:txBody>
          <a:bodyPr wrap="square" lIns="0" tIns="0" rIns="0" bIns="0">
            <a:noAutofit/>
          </a:bodyPr>
          <a:lstStyle/>
          <a:p>
            <a:pPr algn="ctr"/>
            <a:r>
              <a:rPr sz="480" b="1" spc="120">
                <a:solidFill>
                  <a:srgbClr val="A2A2A8"/>
                </a:solidFill>
                <a:latin typeface="Telegraf"/>
              </a:rPr>
              <a:t>1 / 4</a:t>
            </a:r>
            <a:endParaRPr sz="480" b="1" spc="120">
              <a:solidFill>
                <a:srgbClr val="A2A2A8"/>
              </a:solidFill>
              <a:latin typeface="Telegraf"/>
            </a:endParaRPr>
          </a:p>
        </p:txBody>
      </p:sp>
      <p:sp>
        <p:nvSpPr>
          <p:cNvPr id="796" name="Rectangle 35"/>
          <p:cNvSpPr/>
          <p:nvPr/>
        </p:nvSpPr>
        <p:spPr>
          <a:xfrm>
            <a:off x="8280400" y="5867400"/>
            <a:ext cx="1727200" cy="330200"/>
          </a:xfrm>
          <a:custGeom>
            <a:avLst/>
            <a:gdLst/>
            <a:ahLst/>
            <a:cxnLst/>
            <a:rect l="l" t="t" r="r" b="b"/>
            <a:pathLst>
              <a:path w="100000" h="19118">
                <a:moveTo>
                  <a:pt x="90441" y="0"/>
                </a:moveTo>
                <a:cubicBezTo>
                  <a:pt x="90441" y="0"/>
                  <a:pt x="90441" y="0"/>
                  <a:pt x="90441" y="0"/>
                </a:cubicBezTo>
                <a:cubicBezTo>
                  <a:pt x="95721" y="0"/>
                  <a:pt x="100000" y="4279"/>
                  <a:pt x="100000" y="9559"/>
                </a:cubicBezTo>
                <a:cubicBezTo>
                  <a:pt x="100000" y="9559"/>
                  <a:pt x="100000" y="9559"/>
                  <a:pt x="100000" y="9559"/>
                </a:cubicBezTo>
                <a:lnTo>
                  <a:pt x="100000" y="9559"/>
                </a:lnTo>
                <a:cubicBezTo>
                  <a:pt x="100000" y="9559"/>
                  <a:pt x="100000" y="9559"/>
                  <a:pt x="100000" y="9559"/>
                </a:cubicBezTo>
                <a:cubicBezTo>
                  <a:pt x="100000" y="14838"/>
                  <a:pt x="95721" y="19118"/>
                  <a:pt x="90441" y="19118"/>
                </a:cubicBezTo>
                <a:cubicBezTo>
                  <a:pt x="90441" y="19118"/>
                  <a:pt x="90441" y="19118"/>
                  <a:pt x="90441" y="19118"/>
                </a:cubicBezTo>
                <a:lnTo>
                  <a:pt x="9559" y="19118"/>
                </a:lnTo>
                <a:cubicBezTo>
                  <a:pt x="9559" y="19118"/>
                  <a:pt x="9559" y="19118"/>
                  <a:pt x="9559" y="19118"/>
                </a:cubicBezTo>
                <a:cubicBezTo>
                  <a:pt x="4279" y="19118"/>
                  <a:pt x="0" y="14838"/>
                  <a:pt x="0" y="9559"/>
                </a:cubicBezTo>
                <a:cubicBezTo>
                  <a:pt x="0" y="9559"/>
                  <a:pt x="0" y="9559"/>
                  <a:pt x="0" y="9559"/>
                </a:cubicBezTo>
                <a:lnTo>
                  <a:pt x="0" y="9559"/>
                </a:lnTo>
                <a:cubicBezTo>
                  <a:pt x="0" y="9559"/>
                  <a:pt x="0" y="9559"/>
                  <a:pt x="0" y="9559"/>
                </a:cubicBezTo>
                <a:cubicBezTo>
                  <a:pt x="0" y="4279"/>
                  <a:pt x="4279" y="0"/>
                  <a:pt x="9559" y="0"/>
                </a:cubicBezTo>
                <a:cubicBezTo>
                  <a:pt x="9559" y="0"/>
                  <a:pt x="9559" y="0"/>
                  <a:pt x="9559"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797" name="TextBox 36"/>
          <p:cNvSpPr txBox="1"/>
          <p:nvPr/>
        </p:nvSpPr>
        <p:spPr>
          <a:xfrm>
            <a:off x="8356600" y="5867400"/>
            <a:ext cx="1600200" cy="3302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Continue →</a:t>
            </a:r>
            <a:endParaRPr sz="580" b="1" spc="10">
              <a:solidFill>
                <a:srgbClr val="FFFFFF"/>
              </a:solidFill>
              <a:latin typeface="Telegraf"/>
            </a:endParaRPr>
          </a:p>
        </p:txBody>
      </p:sp>
      <p:sp>
        <p:nvSpPr>
          <p:cNvPr id="798" name="TextBox 37"/>
          <p:cNvSpPr txBox="1"/>
          <p:nvPr/>
        </p:nvSpPr>
        <p:spPr>
          <a:xfrm>
            <a:off x="3632200" y="2120900"/>
            <a:ext cx="2997200" cy="101600"/>
          </a:xfrm>
          <a:prstGeom prst="rect">
            <a:avLst/>
          </a:prstGeom>
        </p:spPr>
        <p:txBody>
          <a:bodyPr wrap="square" lIns="0" tIns="0" rIns="0" bIns="0">
            <a:noAutofit/>
          </a:bodyPr>
          <a:lstStyle/>
          <a:p>
            <a:r>
              <a:rPr sz="490" b="1" spc="100">
                <a:solidFill>
                  <a:srgbClr val="A2A2A8"/>
                </a:solidFill>
                <a:latin typeface="Telegraf"/>
              </a:rPr>
              <a:t>BUSINESS NAME</a:t>
            </a:r>
            <a:endParaRPr sz="490" b="1" spc="100">
              <a:solidFill>
                <a:srgbClr val="A2A2A8"/>
              </a:solidFill>
              <a:latin typeface="Telegraf"/>
            </a:endParaRPr>
          </a:p>
        </p:txBody>
      </p:sp>
      <p:sp>
        <p:nvSpPr>
          <p:cNvPr id="799" name="Rectangle 38"/>
          <p:cNvSpPr/>
          <p:nvPr/>
        </p:nvSpPr>
        <p:spPr>
          <a:xfrm>
            <a:off x="3632200" y="2235200"/>
            <a:ext cx="2997200" cy="330200"/>
          </a:xfrm>
          <a:custGeom>
            <a:avLst/>
            <a:gdLst/>
            <a:ahLst/>
            <a:cxnLst/>
            <a:rect l="l" t="t" r="r" b="b"/>
            <a:pathLst>
              <a:path w="100000" h="11017">
                <a:moveTo>
                  <a:pt x="94492" y="0"/>
                </a:moveTo>
                <a:cubicBezTo>
                  <a:pt x="96878" y="0"/>
                  <a:pt x="98072" y="0"/>
                  <a:pt x="98883" y="647"/>
                </a:cubicBezTo>
                <a:cubicBezTo>
                  <a:pt x="99057" y="786"/>
                  <a:pt x="99214" y="943"/>
                  <a:pt x="99353" y="1117"/>
                </a:cubicBezTo>
                <a:cubicBezTo>
                  <a:pt x="100000" y="1928"/>
                  <a:pt x="100000" y="3122"/>
                  <a:pt x="100000" y="5508"/>
                </a:cubicBezTo>
                <a:lnTo>
                  <a:pt x="100000" y="5508"/>
                </a:lnTo>
                <a:cubicBezTo>
                  <a:pt x="100000" y="7895"/>
                  <a:pt x="100000" y="9089"/>
                  <a:pt x="99353" y="9900"/>
                </a:cubicBezTo>
                <a:cubicBezTo>
                  <a:pt x="99214" y="10074"/>
                  <a:pt x="99057" y="10231"/>
                  <a:pt x="98883" y="10370"/>
                </a:cubicBezTo>
                <a:cubicBezTo>
                  <a:pt x="98072" y="11017"/>
                  <a:pt x="96878" y="11017"/>
                  <a:pt x="94492" y="11017"/>
                </a:cubicBezTo>
                <a:lnTo>
                  <a:pt x="5508" y="11017"/>
                </a:lnTo>
                <a:cubicBezTo>
                  <a:pt x="3122" y="11017"/>
                  <a:pt x="1928" y="11017"/>
                  <a:pt x="1117" y="10370"/>
                </a:cubicBezTo>
                <a:cubicBezTo>
                  <a:pt x="943" y="10231"/>
                  <a:pt x="786" y="10074"/>
                  <a:pt x="647" y="9900"/>
                </a:cubicBezTo>
                <a:cubicBezTo>
                  <a:pt x="0" y="9089"/>
                  <a:pt x="0" y="7895"/>
                  <a:pt x="0" y="5508"/>
                </a:cubicBezTo>
                <a:lnTo>
                  <a:pt x="0" y="5508"/>
                </a:lnTo>
                <a:cubicBezTo>
                  <a:pt x="0" y="3122"/>
                  <a:pt x="0" y="1928"/>
                  <a:pt x="647" y="1117"/>
                </a:cubicBezTo>
                <a:cubicBezTo>
                  <a:pt x="786" y="943"/>
                  <a:pt x="943" y="786"/>
                  <a:pt x="1117" y="647"/>
                </a:cubicBezTo>
                <a:cubicBezTo>
                  <a:pt x="1928" y="0"/>
                  <a:pt x="3122" y="0"/>
                  <a:pt x="5508" y="0"/>
                </a:cubicBezTo>
                <a:close/>
              </a:path>
            </a:pathLst>
          </a:custGeom>
          <a:solidFill>
            <a:srgbClr val="FFFFFF"/>
          </a:solidFill>
          <a:ln w="1397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00" name="Rectangle 39"/>
          <p:cNvSpPr/>
          <p:nvPr/>
        </p:nvSpPr>
        <p:spPr>
          <a:xfrm>
            <a:off x="3632200" y="2235200"/>
            <a:ext cx="22860" cy="330200"/>
          </a:xfrm>
          <a:custGeom>
            <a:avLst/>
            <a:gdLst/>
            <a:ahLst/>
            <a:cxnLst/>
            <a:rect l="l" t="t" r="r" b="b"/>
            <a:pathLst>
              <a:path w="6923" h="100000">
                <a:moveTo>
                  <a:pt x="3462" y="0"/>
                </a:moveTo>
                <a:cubicBezTo>
                  <a:pt x="3462" y="0"/>
                  <a:pt x="3462" y="0"/>
                  <a:pt x="3462" y="0"/>
                </a:cubicBezTo>
                <a:cubicBezTo>
                  <a:pt x="5373" y="0"/>
                  <a:pt x="6923" y="1550"/>
                  <a:pt x="6923" y="3462"/>
                </a:cubicBezTo>
                <a:cubicBezTo>
                  <a:pt x="6923" y="3462"/>
                  <a:pt x="6923" y="3462"/>
                  <a:pt x="6923" y="3462"/>
                </a:cubicBezTo>
                <a:lnTo>
                  <a:pt x="6923" y="96538"/>
                </a:lnTo>
                <a:cubicBezTo>
                  <a:pt x="6923" y="96538"/>
                  <a:pt x="6923" y="96538"/>
                  <a:pt x="6923" y="96538"/>
                </a:cubicBezTo>
                <a:cubicBezTo>
                  <a:pt x="6923" y="98450"/>
                  <a:pt x="5373" y="100000"/>
                  <a:pt x="3462" y="100000"/>
                </a:cubicBezTo>
                <a:cubicBezTo>
                  <a:pt x="3462" y="100000"/>
                  <a:pt x="3462" y="100000"/>
                  <a:pt x="3462" y="100000"/>
                </a:cubicBezTo>
                <a:lnTo>
                  <a:pt x="3462" y="100000"/>
                </a:lnTo>
                <a:cubicBezTo>
                  <a:pt x="3462" y="100000"/>
                  <a:pt x="3462" y="100000"/>
                  <a:pt x="3462" y="100000"/>
                </a:cubicBezTo>
                <a:cubicBezTo>
                  <a:pt x="1550" y="100000"/>
                  <a:pt x="0" y="98450"/>
                  <a:pt x="0" y="96538"/>
                </a:cubicBezTo>
                <a:cubicBezTo>
                  <a:pt x="0" y="96538"/>
                  <a:pt x="0" y="96538"/>
                  <a:pt x="0" y="96538"/>
                </a:cubicBezTo>
                <a:lnTo>
                  <a:pt x="0" y="3462"/>
                </a:lnTo>
                <a:cubicBezTo>
                  <a:pt x="0" y="3462"/>
                  <a:pt x="0" y="3462"/>
                  <a:pt x="0" y="3462"/>
                </a:cubicBezTo>
                <a:cubicBezTo>
                  <a:pt x="0" y="1550"/>
                  <a:pt x="1550" y="0"/>
                  <a:pt x="3462" y="0"/>
                </a:cubicBezTo>
                <a:cubicBezTo>
                  <a:pt x="3462" y="0"/>
                  <a:pt x="3462" y="0"/>
                  <a:pt x="3462"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01" name="TextBox 40"/>
          <p:cNvSpPr txBox="1"/>
          <p:nvPr/>
        </p:nvSpPr>
        <p:spPr>
          <a:xfrm>
            <a:off x="3733800" y="2235200"/>
            <a:ext cx="2819400" cy="330200"/>
          </a:xfrm>
          <a:prstGeom prst="rect">
            <a:avLst/>
          </a:prstGeom>
        </p:spPr>
        <p:txBody>
          <a:bodyPr wrap="square" lIns="0" tIns="0" rIns="0" bIns="0" anchor="ctr">
            <a:noAutofit/>
          </a:bodyPr>
          <a:lstStyle/>
          <a:p>
            <a:pPr>
              <a:lnSpc>
                <a:spcPct val="140000"/>
              </a:lnSpc>
            </a:pPr>
            <a:r>
              <a:rPr sz="620" spc="0">
                <a:solidFill>
                  <a:srgbClr val="0A0A0A"/>
                </a:solidFill>
                <a:latin typeface="Telegraf"/>
              </a:rPr>
              <a:t>CloudPulse CRM</a:t>
            </a:r>
            <a:endParaRPr sz="620" spc="0">
              <a:solidFill>
                <a:srgbClr val="0A0A0A"/>
              </a:solidFill>
              <a:latin typeface="Telegraf"/>
            </a:endParaRPr>
          </a:p>
        </p:txBody>
      </p:sp>
      <p:sp>
        <p:nvSpPr>
          <p:cNvPr id="802" name="TextBox 41"/>
          <p:cNvSpPr txBox="1"/>
          <p:nvPr/>
        </p:nvSpPr>
        <p:spPr>
          <a:xfrm>
            <a:off x="6934200" y="2120900"/>
            <a:ext cx="1524000" cy="114300"/>
          </a:xfrm>
          <a:prstGeom prst="rect">
            <a:avLst/>
          </a:prstGeom>
        </p:spPr>
        <p:txBody>
          <a:bodyPr wrap="square" lIns="0" tIns="0" rIns="0" bIns="0">
            <a:noAutofit/>
          </a:bodyPr>
          <a:lstStyle/>
          <a:p>
            <a:r>
              <a:rPr sz="460" b="1" spc="100">
                <a:solidFill>
                  <a:srgbClr val="A2A2A8"/>
                </a:solidFill>
                <a:latin typeface="Telegraf"/>
              </a:rPr>
              <a:t>BUSINESS TYPE</a:t>
            </a:r>
            <a:endParaRPr sz="460" b="1" spc="100">
              <a:solidFill>
                <a:srgbClr val="A2A2A8"/>
              </a:solidFill>
              <a:latin typeface="Telegraf"/>
            </a:endParaRPr>
          </a:p>
        </p:txBody>
      </p:sp>
      <p:sp>
        <p:nvSpPr>
          <p:cNvPr id="803" name="Rectangle 42"/>
          <p:cNvSpPr/>
          <p:nvPr/>
        </p:nvSpPr>
        <p:spPr>
          <a:xfrm>
            <a:off x="6934200" y="2235200"/>
            <a:ext cx="584200" cy="304800"/>
          </a:xfrm>
          <a:custGeom>
            <a:avLst/>
            <a:gdLst/>
            <a:ahLst/>
            <a:cxnLst/>
            <a:rect l="l" t="t" r="r" b="b"/>
            <a:pathLst>
              <a:path w="100000" h="52174">
                <a:moveTo>
                  <a:pt x="73913" y="0"/>
                </a:moveTo>
                <a:cubicBezTo>
                  <a:pt x="73913" y="0"/>
                  <a:pt x="73913" y="0"/>
                  <a:pt x="73913" y="0"/>
                </a:cubicBezTo>
                <a:cubicBezTo>
                  <a:pt x="88320" y="0"/>
                  <a:pt x="100000" y="11680"/>
                  <a:pt x="100000" y="26087"/>
                </a:cubicBezTo>
                <a:cubicBezTo>
                  <a:pt x="100000" y="26087"/>
                  <a:pt x="100000" y="26087"/>
                  <a:pt x="100000" y="26087"/>
                </a:cubicBezTo>
                <a:lnTo>
                  <a:pt x="100000" y="26087"/>
                </a:lnTo>
                <a:cubicBezTo>
                  <a:pt x="100000" y="26087"/>
                  <a:pt x="100000" y="26087"/>
                  <a:pt x="100000" y="26087"/>
                </a:cubicBezTo>
                <a:cubicBezTo>
                  <a:pt x="100000" y="40493"/>
                  <a:pt x="88320" y="52174"/>
                  <a:pt x="73913" y="52174"/>
                </a:cubicBezTo>
                <a:cubicBezTo>
                  <a:pt x="73913" y="52174"/>
                  <a:pt x="73913" y="52174"/>
                  <a:pt x="73913" y="52174"/>
                </a:cubicBezTo>
                <a:lnTo>
                  <a:pt x="26087" y="52174"/>
                </a:lnTo>
                <a:cubicBezTo>
                  <a:pt x="26087" y="52174"/>
                  <a:pt x="26087" y="52174"/>
                  <a:pt x="26087" y="52174"/>
                </a:cubicBezTo>
                <a:cubicBezTo>
                  <a:pt x="11680" y="52174"/>
                  <a:pt x="0" y="40493"/>
                  <a:pt x="0" y="26087"/>
                </a:cubicBezTo>
                <a:cubicBezTo>
                  <a:pt x="0" y="26087"/>
                  <a:pt x="0" y="26087"/>
                  <a:pt x="0" y="26087"/>
                </a:cubicBezTo>
                <a:lnTo>
                  <a:pt x="0" y="26087"/>
                </a:lnTo>
                <a:cubicBezTo>
                  <a:pt x="0" y="26087"/>
                  <a:pt x="0" y="26087"/>
                  <a:pt x="0" y="26087"/>
                </a:cubicBezTo>
                <a:cubicBezTo>
                  <a:pt x="0" y="11680"/>
                  <a:pt x="11680" y="0"/>
                  <a:pt x="26087" y="0"/>
                </a:cubicBezTo>
                <a:cubicBezTo>
                  <a:pt x="26087" y="0"/>
                  <a:pt x="26087" y="0"/>
                  <a:pt x="26087"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04" name="TextBox 43"/>
          <p:cNvSpPr txBox="1"/>
          <p:nvPr/>
        </p:nvSpPr>
        <p:spPr>
          <a:xfrm>
            <a:off x="7023100" y="2235200"/>
            <a:ext cx="431800" cy="304800"/>
          </a:xfrm>
          <a:prstGeom prst="rect">
            <a:avLst/>
          </a:prstGeom>
        </p:spPr>
        <p:txBody>
          <a:bodyPr wrap="square" lIns="0" tIns="0" rIns="0" bIns="0" anchor="ctr">
            <a:noAutofit/>
          </a:bodyPr>
          <a:lstStyle/>
          <a:p>
            <a:pPr>
              <a:lnSpc>
                <a:spcPct val="135000"/>
              </a:lnSpc>
            </a:pPr>
            <a:r>
              <a:rPr sz="480" b="1" spc="0">
                <a:solidFill>
                  <a:srgbClr val="FFFFFF"/>
                </a:solidFill>
                <a:latin typeface="Telegraf"/>
              </a:rPr>
              <a:t>SaaS</a:t>
            </a:r>
            <a:endParaRPr sz="480" b="1" spc="0">
              <a:solidFill>
                <a:srgbClr val="FFFFFF"/>
              </a:solidFill>
              <a:latin typeface="Telegraf"/>
            </a:endParaRPr>
          </a:p>
        </p:txBody>
      </p:sp>
      <p:sp>
        <p:nvSpPr>
          <p:cNvPr id="805" name="Rectangle 44"/>
          <p:cNvSpPr/>
          <p:nvPr/>
        </p:nvSpPr>
        <p:spPr>
          <a:xfrm>
            <a:off x="7594600" y="2235200"/>
            <a:ext cx="914400" cy="304800"/>
          </a:xfrm>
          <a:custGeom>
            <a:avLst/>
            <a:gdLst/>
            <a:ahLst/>
            <a:cxnLst/>
            <a:rect l="l" t="t" r="r" b="b"/>
            <a:pathLst>
              <a:path w="100000" h="33333">
                <a:moveTo>
                  <a:pt x="83333" y="0"/>
                </a:moveTo>
                <a:cubicBezTo>
                  <a:pt x="83333" y="0"/>
                  <a:pt x="83333" y="0"/>
                  <a:pt x="83333" y="0"/>
                </a:cubicBezTo>
                <a:cubicBezTo>
                  <a:pt x="92538" y="0"/>
                  <a:pt x="100000" y="7463"/>
                  <a:pt x="100000" y="16667"/>
                </a:cubicBezTo>
                <a:cubicBezTo>
                  <a:pt x="100000" y="16667"/>
                  <a:pt x="100000" y="16667"/>
                  <a:pt x="100000" y="16667"/>
                </a:cubicBezTo>
                <a:lnTo>
                  <a:pt x="100000" y="16667"/>
                </a:lnTo>
                <a:cubicBezTo>
                  <a:pt x="100000" y="16667"/>
                  <a:pt x="100000" y="16667"/>
                  <a:pt x="100000" y="16667"/>
                </a:cubicBezTo>
                <a:cubicBezTo>
                  <a:pt x="100000" y="25871"/>
                  <a:pt x="92538" y="33333"/>
                  <a:pt x="83333" y="33333"/>
                </a:cubicBezTo>
                <a:cubicBezTo>
                  <a:pt x="83333" y="33333"/>
                  <a:pt x="83333" y="33333"/>
                  <a:pt x="83333" y="33333"/>
                </a:cubicBezTo>
                <a:lnTo>
                  <a:pt x="16667" y="33333"/>
                </a:lnTo>
                <a:cubicBezTo>
                  <a:pt x="16667" y="33333"/>
                  <a:pt x="16667" y="33333"/>
                  <a:pt x="16667" y="33333"/>
                </a:cubicBezTo>
                <a:cubicBezTo>
                  <a:pt x="7463" y="33333"/>
                  <a:pt x="0" y="25871"/>
                  <a:pt x="0" y="16667"/>
                </a:cubicBezTo>
                <a:cubicBezTo>
                  <a:pt x="0" y="16667"/>
                  <a:pt x="0" y="16667"/>
                  <a:pt x="0" y="16667"/>
                </a:cubicBezTo>
                <a:lnTo>
                  <a:pt x="0" y="16667"/>
                </a:lnTo>
                <a:cubicBezTo>
                  <a:pt x="0" y="16667"/>
                  <a:pt x="0" y="16667"/>
                  <a:pt x="0" y="16667"/>
                </a:cubicBezTo>
                <a:cubicBezTo>
                  <a:pt x="0" y="7463"/>
                  <a:pt x="7463" y="0"/>
                  <a:pt x="16667" y="0"/>
                </a:cubicBezTo>
                <a:cubicBezTo>
                  <a:pt x="16667" y="0"/>
                  <a:pt x="16667" y="0"/>
                  <a:pt x="1666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06" name="TextBox 45"/>
          <p:cNvSpPr txBox="1"/>
          <p:nvPr/>
        </p:nvSpPr>
        <p:spPr>
          <a:xfrm>
            <a:off x="7683500" y="2235200"/>
            <a:ext cx="762000" cy="304800"/>
          </a:xfrm>
          <a:prstGeom prst="rect">
            <a:avLst/>
          </a:prstGeom>
        </p:spPr>
        <p:txBody>
          <a:bodyPr wrap="square" lIns="0" tIns="0" rIns="0" bIns="0" anchor="ctr">
            <a:noAutofit/>
          </a:bodyPr>
          <a:lstStyle/>
          <a:p>
            <a:pPr>
              <a:lnSpc>
                <a:spcPct val="135000"/>
              </a:lnSpc>
            </a:pPr>
            <a:r>
              <a:rPr sz="480" spc="0">
                <a:solidFill>
                  <a:srgbClr val="67676E"/>
                </a:solidFill>
                <a:latin typeface="Telegraf"/>
              </a:rPr>
              <a:t>E-commerce</a:t>
            </a:r>
            <a:endParaRPr sz="480" spc="0">
              <a:solidFill>
                <a:srgbClr val="67676E"/>
              </a:solidFill>
              <a:latin typeface="Telegraf"/>
            </a:endParaRPr>
          </a:p>
        </p:txBody>
      </p:sp>
      <p:sp>
        <p:nvSpPr>
          <p:cNvPr id="807" name="Rectangle 46"/>
          <p:cNvSpPr/>
          <p:nvPr/>
        </p:nvSpPr>
        <p:spPr>
          <a:xfrm>
            <a:off x="8585200" y="2235200"/>
            <a:ext cx="635000" cy="304800"/>
          </a:xfrm>
          <a:custGeom>
            <a:avLst/>
            <a:gdLst/>
            <a:ahLst/>
            <a:cxnLst/>
            <a:rect l="l" t="t" r="r" b="b"/>
            <a:pathLst>
              <a:path w="100000" h="48000">
                <a:moveTo>
                  <a:pt x="76000" y="0"/>
                </a:moveTo>
                <a:cubicBezTo>
                  <a:pt x="76000" y="0"/>
                  <a:pt x="76000" y="0"/>
                  <a:pt x="76000" y="0"/>
                </a:cubicBezTo>
                <a:cubicBezTo>
                  <a:pt x="89254" y="0"/>
                  <a:pt x="100000" y="10746"/>
                  <a:pt x="100000" y="24000"/>
                </a:cubicBezTo>
                <a:cubicBezTo>
                  <a:pt x="100000" y="24000"/>
                  <a:pt x="100000" y="24000"/>
                  <a:pt x="100000" y="24000"/>
                </a:cubicBezTo>
                <a:lnTo>
                  <a:pt x="100000" y="24000"/>
                </a:lnTo>
                <a:cubicBezTo>
                  <a:pt x="100000" y="24000"/>
                  <a:pt x="100000" y="24000"/>
                  <a:pt x="100000" y="24000"/>
                </a:cubicBezTo>
                <a:cubicBezTo>
                  <a:pt x="100000" y="37254"/>
                  <a:pt x="89254" y="48000"/>
                  <a:pt x="76000" y="48000"/>
                </a:cubicBezTo>
                <a:cubicBezTo>
                  <a:pt x="76000" y="48000"/>
                  <a:pt x="76000" y="48000"/>
                  <a:pt x="76000" y="48000"/>
                </a:cubicBezTo>
                <a:lnTo>
                  <a:pt x="24000" y="48000"/>
                </a:lnTo>
                <a:cubicBezTo>
                  <a:pt x="24000" y="48000"/>
                  <a:pt x="24000" y="48000"/>
                  <a:pt x="24000" y="48000"/>
                </a:cubicBezTo>
                <a:cubicBezTo>
                  <a:pt x="10746" y="48000"/>
                  <a:pt x="0" y="37254"/>
                  <a:pt x="0" y="24000"/>
                </a:cubicBezTo>
                <a:cubicBezTo>
                  <a:pt x="0" y="24000"/>
                  <a:pt x="0" y="24000"/>
                  <a:pt x="0" y="24000"/>
                </a:cubicBezTo>
                <a:lnTo>
                  <a:pt x="0" y="24000"/>
                </a:lnTo>
                <a:cubicBezTo>
                  <a:pt x="0" y="24000"/>
                  <a:pt x="0" y="24000"/>
                  <a:pt x="0" y="24000"/>
                </a:cubicBezTo>
                <a:cubicBezTo>
                  <a:pt x="0" y="10746"/>
                  <a:pt x="10746" y="0"/>
                  <a:pt x="24000" y="0"/>
                </a:cubicBezTo>
                <a:cubicBezTo>
                  <a:pt x="24000" y="0"/>
                  <a:pt x="24000" y="0"/>
                  <a:pt x="24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08" name="TextBox 47"/>
          <p:cNvSpPr txBox="1"/>
          <p:nvPr/>
        </p:nvSpPr>
        <p:spPr>
          <a:xfrm>
            <a:off x="8674100" y="2235200"/>
            <a:ext cx="482600" cy="304800"/>
          </a:xfrm>
          <a:prstGeom prst="rect">
            <a:avLst/>
          </a:prstGeom>
        </p:spPr>
        <p:txBody>
          <a:bodyPr wrap="square" lIns="0" tIns="0" rIns="0" bIns="0" anchor="ctr">
            <a:noAutofit/>
          </a:bodyPr>
          <a:lstStyle/>
          <a:p>
            <a:pPr>
              <a:lnSpc>
                <a:spcPct val="135000"/>
              </a:lnSpc>
            </a:pPr>
            <a:r>
              <a:rPr sz="480" spc="0">
                <a:solidFill>
                  <a:srgbClr val="67676E"/>
                </a:solidFill>
                <a:latin typeface="Telegraf"/>
              </a:rPr>
              <a:t>Clinic</a:t>
            </a:r>
            <a:endParaRPr sz="480" spc="0">
              <a:solidFill>
                <a:srgbClr val="67676E"/>
              </a:solidFill>
              <a:latin typeface="Telegraf"/>
            </a:endParaRPr>
          </a:p>
        </p:txBody>
      </p:sp>
      <p:sp>
        <p:nvSpPr>
          <p:cNvPr id="809" name="Rectangle 48"/>
          <p:cNvSpPr/>
          <p:nvPr/>
        </p:nvSpPr>
        <p:spPr>
          <a:xfrm>
            <a:off x="9296400" y="2235200"/>
            <a:ext cx="711200" cy="304800"/>
          </a:xfrm>
          <a:custGeom>
            <a:avLst/>
            <a:gdLst/>
            <a:ahLst/>
            <a:cxnLst/>
            <a:rect l="l" t="t" r="r" b="b"/>
            <a:pathLst>
              <a:path w="100000" h="42857">
                <a:moveTo>
                  <a:pt x="78571" y="0"/>
                </a:moveTo>
                <a:cubicBezTo>
                  <a:pt x="78571" y="0"/>
                  <a:pt x="78571" y="0"/>
                  <a:pt x="78571" y="0"/>
                </a:cubicBezTo>
                <a:cubicBezTo>
                  <a:pt x="90405" y="0"/>
                  <a:pt x="100000" y="9595"/>
                  <a:pt x="100000" y="21429"/>
                </a:cubicBezTo>
                <a:cubicBezTo>
                  <a:pt x="100000" y="21429"/>
                  <a:pt x="100000" y="21429"/>
                  <a:pt x="100000" y="21429"/>
                </a:cubicBezTo>
                <a:lnTo>
                  <a:pt x="100000" y="21429"/>
                </a:lnTo>
                <a:cubicBezTo>
                  <a:pt x="100000" y="21429"/>
                  <a:pt x="100000" y="21429"/>
                  <a:pt x="100000" y="21429"/>
                </a:cubicBezTo>
                <a:cubicBezTo>
                  <a:pt x="100000" y="33263"/>
                  <a:pt x="90405" y="42857"/>
                  <a:pt x="78571" y="42857"/>
                </a:cubicBezTo>
                <a:cubicBezTo>
                  <a:pt x="78571" y="42857"/>
                  <a:pt x="78571" y="42857"/>
                  <a:pt x="78571" y="42857"/>
                </a:cubicBezTo>
                <a:lnTo>
                  <a:pt x="21429" y="42857"/>
                </a:lnTo>
                <a:cubicBezTo>
                  <a:pt x="21429" y="42857"/>
                  <a:pt x="21429" y="42857"/>
                  <a:pt x="21429" y="42857"/>
                </a:cubicBezTo>
                <a:cubicBezTo>
                  <a:pt x="9595" y="42857"/>
                  <a:pt x="0" y="33263"/>
                  <a:pt x="0" y="21429"/>
                </a:cubicBezTo>
                <a:cubicBezTo>
                  <a:pt x="0" y="21429"/>
                  <a:pt x="0" y="21429"/>
                  <a:pt x="0" y="21429"/>
                </a:cubicBezTo>
                <a:lnTo>
                  <a:pt x="0" y="21429"/>
                </a:lnTo>
                <a:cubicBezTo>
                  <a:pt x="0" y="21429"/>
                  <a:pt x="0" y="21429"/>
                  <a:pt x="0" y="21429"/>
                </a:cubicBezTo>
                <a:cubicBezTo>
                  <a:pt x="0" y="9595"/>
                  <a:pt x="9595" y="0"/>
                  <a:pt x="21429" y="0"/>
                </a:cubicBezTo>
                <a:cubicBezTo>
                  <a:pt x="21429" y="0"/>
                  <a:pt x="21429" y="0"/>
                  <a:pt x="2142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10" name="TextBox 49"/>
          <p:cNvSpPr txBox="1"/>
          <p:nvPr/>
        </p:nvSpPr>
        <p:spPr>
          <a:xfrm>
            <a:off x="9385300" y="2235200"/>
            <a:ext cx="558800" cy="304800"/>
          </a:xfrm>
          <a:prstGeom prst="rect">
            <a:avLst/>
          </a:prstGeom>
        </p:spPr>
        <p:txBody>
          <a:bodyPr wrap="square" lIns="0" tIns="0" rIns="0" bIns="0" anchor="ctr">
            <a:noAutofit/>
          </a:bodyPr>
          <a:lstStyle/>
          <a:p>
            <a:pPr>
              <a:lnSpc>
                <a:spcPct val="135000"/>
              </a:lnSpc>
            </a:pPr>
            <a:r>
              <a:rPr sz="480" spc="0">
                <a:solidFill>
                  <a:srgbClr val="67676E"/>
                </a:solidFill>
                <a:latin typeface="Telegraf"/>
              </a:rPr>
              <a:t>Services</a:t>
            </a:r>
            <a:endParaRPr sz="480" spc="0">
              <a:solidFill>
                <a:srgbClr val="67676E"/>
              </a:solidFill>
              <a:latin typeface="Telegraf"/>
            </a:endParaRPr>
          </a:p>
        </p:txBody>
      </p:sp>
      <p:sp>
        <p:nvSpPr>
          <p:cNvPr id="811" name="TextBox 50"/>
          <p:cNvSpPr txBox="1"/>
          <p:nvPr/>
        </p:nvSpPr>
        <p:spPr>
          <a:xfrm>
            <a:off x="3632200" y="2832100"/>
            <a:ext cx="6375400" cy="101600"/>
          </a:xfrm>
          <a:prstGeom prst="rect">
            <a:avLst/>
          </a:prstGeom>
        </p:spPr>
        <p:txBody>
          <a:bodyPr wrap="square" lIns="0" tIns="0" rIns="0" bIns="0">
            <a:noAutofit/>
          </a:bodyPr>
          <a:lstStyle/>
          <a:p>
            <a:r>
              <a:rPr sz="490" b="1" spc="100">
                <a:solidFill>
                  <a:srgbClr val="A2A2A8"/>
                </a:solidFill>
                <a:latin typeface="Telegraf"/>
              </a:rPr>
              <a:t>WHAT DO YOU DO?</a:t>
            </a:r>
            <a:endParaRPr sz="490" b="1" spc="100">
              <a:solidFill>
                <a:srgbClr val="A2A2A8"/>
              </a:solidFill>
              <a:latin typeface="Telegraf"/>
            </a:endParaRPr>
          </a:p>
        </p:txBody>
      </p:sp>
      <p:sp>
        <p:nvSpPr>
          <p:cNvPr id="812" name="Rectangle 51"/>
          <p:cNvSpPr/>
          <p:nvPr/>
        </p:nvSpPr>
        <p:spPr>
          <a:xfrm>
            <a:off x="3632200" y="2946400"/>
            <a:ext cx="6375400" cy="558800"/>
          </a:xfrm>
          <a:custGeom>
            <a:avLst/>
            <a:gdLst/>
            <a:ahLst/>
            <a:cxnLst/>
            <a:rect l="l" t="t" r="r" b="b"/>
            <a:pathLst>
              <a:path w="100000" h="8765">
                <a:moveTo>
                  <a:pt x="97211" y="0"/>
                </a:moveTo>
                <a:cubicBezTo>
                  <a:pt x="98526" y="0"/>
                  <a:pt x="99183" y="0"/>
                  <a:pt x="99592" y="408"/>
                </a:cubicBezTo>
                <a:cubicBezTo>
                  <a:pt x="99592" y="408"/>
                  <a:pt x="99592" y="408"/>
                  <a:pt x="99592" y="408"/>
                </a:cubicBezTo>
                <a:cubicBezTo>
                  <a:pt x="100000" y="817"/>
                  <a:pt x="100000" y="1474"/>
                  <a:pt x="100000" y="2789"/>
                </a:cubicBezTo>
                <a:lnTo>
                  <a:pt x="100000" y="5976"/>
                </a:lnTo>
                <a:cubicBezTo>
                  <a:pt x="100000" y="7291"/>
                  <a:pt x="100000" y="7948"/>
                  <a:pt x="99592" y="8357"/>
                </a:cubicBezTo>
                <a:cubicBezTo>
                  <a:pt x="99592" y="8357"/>
                  <a:pt x="99592" y="8357"/>
                  <a:pt x="99592" y="8357"/>
                </a:cubicBezTo>
                <a:cubicBezTo>
                  <a:pt x="99183" y="8765"/>
                  <a:pt x="98526" y="8765"/>
                  <a:pt x="97211" y="8765"/>
                </a:cubicBezTo>
                <a:lnTo>
                  <a:pt x="2789" y="8765"/>
                </a:lnTo>
                <a:cubicBezTo>
                  <a:pt x="1474" y="8765"/>
                  <a:pt x="817" y="8765"/>
                  <a:pt x="408" y="8357"/>
                </a:cubicBezTo>
                <a:cubicBezTo>
                  <a:pt x="408" y="8357"/>
                  <a:pt x="408" y="8357"/>
                  <a:pt x="408" y="8357"/>
                </a:cubicBezTo>
                <a:cubicBezTo>
                  <a:pt x="0" y="7948"/>
                  <a:pt x="0" y="7291"/>
                  <a:pt x="0" y="5976"/>
                </a:cubicBezTo>
                <a:lnTo>
                  <a:pt x="0" y="2789"/>
                </a:lnTo>
                <a:cubicBezTo>
                  <a:pt x="0" y="1474"/>
                  <a:pt x="0" y="817"/>
                  <a:pt x="408" y="408"/>
                </a:cubicBezTo>
                <a:cubicBezTo>
                  <a:pt x="408" y="408"/>
                  <a:pt x="408" y="408"/>
                  <a:pt x="408" y="408"/>
                </a:cubicBezTo>
                <a:cubicBezTo>
                  <a:pt x="817" y="0"/>
                  <a:pt x="1474" y="0"/>
                  <a:pt x="2789"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13" name="TextBox 52"/>
          <p:cNvSpPr txBox="1"/>
          <p:nvPr/>
        </p:nvSpPr>
        <p:spPr>
          <a:xfrm>
            <a:off x="3733800" y="3009900"/>
            <a:ext cx="6172200" cy="457200"/>
          </a:xfrm>
          <a:prstGeom prst="rect">
            <a:avLst/>
          </a:prstGeom>
        </p:spPr>
        <p:txBody>
          <a:bodyPr wrap="square" lIns="0" tIns="0" rIns="0" bIns="0">
            <a:noAutofit/>
          </a:bodyPr>
          <a:lstStyle/>
          <a:p>
            <a:pPr>
              <a:lnSpc>
                <a:spcPct val="145000"/>
              </a:lnSpc>
            </a:pPr>
            <a:r>
              <a:rPr sz="580" spc="0">
                <a:solidFill>
                  <a:srgbClr val="0A0A0A"/>
                </a:solidFill>
                <a:latin typeface="Telegraf"/>
              </a:rPr>
              <a:t>Inventory &amp; GST billing software for retail shops — Starter and Pro plans.</a:t>
            </a:r>
            <a:endParaRPr sz="580" spc="0">
              <a:solidFill>
                <a:srgbClr val="0A0A0A"/>
              </a:solidFill>
              <a:latin typeface="Telegraf"/>
            </a:endParaRPr>
          </a:p>
        </p:txBody>
      </p:sp>
      <p:sp>
        <p:nvSpPr>
          <p:cNvPr id="814" name="TextBox 53"/>
          <p:cNvSpPr txBox="1"/>
          <p:nvPr/>
        </p:nvSpPr>
        <p:spPr>
          <a:xfrm>
            <a:off x="3632200" y="3708400"/>
            <a:ext cx="2540000" cy="114300"/>
          </a:xfrm>
          <a:prstGeom prst="rect">
            <a:avLst/>
          </a:prstGeom>
        </p:spPr>
        <p:txBody>
          <a:bodyPr wrap="square" lIns="0" tIns="0" rIns="0" bIns="0">
            <a:noAutofit/>
          </a:bodyPr>
          <a:lstStyle/>
          <a:p>
            <a:r>
              <a:rPr sz="460" b="1" spc="100">
                <a:solidFill>
                  <a:srgbClr val="A2A2A8"/>
                </a:solidFill>
                <a:latin typeface="Telegraf"/>
              </a:rPr>
              <a:t>AGENT TONE  ·  SHAPES EVERY REPLY</a:t>
            </a:r>
            <a:endParaRPr sz="460" b="1" spc="100">
              <a:solidFill>
                <a:srgbClr val="A2A2A8"/>
              </a:solidFill>
              <a:latin typeface="Telegraf"/>
            </a:endParaRPr>
          </a:p>
        </p:txBody>
      </p:sp>
      <p:sp>
        <p:nvSpPr>
          <p:cNvPr id="815" name="Rectangle 54"/>
          <p:cNvSpPr/>
          <p:nvPr/>
        </p:nvSpPr>
        <p:spPr>
          <a:xfrm>
            <a:off x="3632200" y="3860800"/>
            <a:ext cx="1168400" cy="304800"/>
          </a:xfrm>
          <a:custGeom>
            <a:avLst/>
            <a:gdLst/>
            <a:ahLst/>
            <a:cxnLst/>
            <a:rect l="l" t="t" r="r" b="b"/>
            <a:pathLst>
              <a:path w="100000" h="26087">
                <a:moveTo>
                  <a:pt x="86957" y="0"/>
                </a:moveTo>
                <a:cubicBezTo>
                  <a:pt x="86957" y="0"/>
                  <a:pt x="86957" y="0"/>
                  <a:pt x="86957" y="0"/>
                </a:cubicBezTo>
                <a:cubicBezTo>
                  <a:pt x="94160" y="0"/>
                  <a:pt x="100000" y="5840"/>
                  <a:pt x="100000" y="13043"/>
                </a:cubicBezTo>
                <a:cubicBezTo>
                  <a:pt x="100000" y="13043"/>
                  <a:pt x="100000" y="13043"/>
                  <a:pt x="100000" y="13043"/>
                </a:cubicBezTo>
                <a:lnTo>
                  <a:pt x="100000" y="13043"/>
                </a:lnTo>
                <a:cubicBezTo>
                  <a:pt x="100000" y="13043"/>
                  <a:pt x="100000" y="13043"/>
                  <a:pt x="100000" y="13043"/>
                </a:cubicBezTo>
                <a:cubicBezTo>
                  <a:pt x="100000" y="20247"/>
                  <a:pt x="94160" y="26087"/>
                  <a:pt x="86957" y="26087"/>
                </a:cubicBezTo>
                <a:cubicBezTo>
                  <a:pt x="86957" y="26087"/>
                  <a:pt x="86957" y="26087"/>
                  <a:pt x="86957" y="26087"/>
                </a:cubicBezTo>
                <a:lnTo>
                  <a:pt x="13043" y="26087"/>
                </a:lnTo>
                <a:cubicBezTo>
                  <a:pt x="13043" y="26087"/>
                  <a:pt x="13043" y="26087"/>
                  <a:pt x="13043" y="26087"/>
                </a:cubicBezTo>
                <a:cubicBezTo>
                  <a:pt x="5840" y="26087"/>
                  <a:pt x="0" y="20247"/>
                  <a:pt x="0" y="13043"/>
                </a:cubicBezTo>
                <a:cubicBezTo>
                  <a:pt x="0" y="13043"/>
                  <a:pt x="0" y="13043"/>
                  <a:pt x="0" y="13043"/>
                </a:cubicBezTo>
                <a:lnTo>
                  <a:pt x="0" y="13043"/>
                </a:lnTo>
                <a:cubicBezTo>
                  <a:pt x="0" y="13043"/>
                  <a:pt x="0" y="13043"/>
                  <a:pt x="0" y="13043"/>
                </a:cubicBezTo>
                <a:cubicBezTo>
                  <a:pt x="0" y="5840"/>
                  <a:pt x="5840" y="0"/>
                  <a:pt x="13043" y="0"/>
                </a:cubicBezTo>
                <a:cubicBezTo>
                  <a:pt x="13043" y="0"/>
                  <a:pt x="13043" y="0"/>
                  <a:pt x="13043"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16" name="TextBox 55"/>
          <p:cNvSpPr txBox="1"/>
          <p:nvPr/>
        </p:nvSpPr>
        <p:spPr>
          <a:xfrm>
            <a:off x="3721100" y="3860800"/>
            <a:ext cx="1016000" cy="304800"/>
          </a:xfrm>
          <a:prstGeom prst="rect">
            <a:avLst/>
          </a:prstGeom>
        </p:spPr>
        <p:txBody>
          <a:bodyPr wrap="square" lIns="0" tIns="0" rIns="0" bIns="0" anchor="ctr">
            <a:noAutofit/>
          </a:bodyPr>
          <a:lstStyle/>
          <a:p>
            <a:pPr>
              <a:lnSpc>
                <a:spcPct val="135000"/>
              </a:lnSpc>
            </a:pPr>
            <a:r>
              <a:rPr sz="480" b="1" spc="0">
                <a:solidFill>
                  <a:srgbClr val="FFFFFF"/>
                </a:solidFill>
                <a:latin typeface="Telegraf"/>
              </a:rPr>
              <a:t>Warm &amp; concise</a:t>
            </a:r>
            <a:endParaRPr sz="480" b="1" spc="0">
              <a:solidFill>
                <a:srgbClr val="FFFFFF"/>
              </a:solidFill>
              <a:latin typeface="Telegraf"/>
            </a:endParaRPr>
          </a:p>
        </p:txBody>
      </p:sp>
      <p:sp>
        <p:nvSpPr>
          <p:cNvPr id="817" name="Rectangle 56"/>
          <p:cNvSpPr/>
          <p:nvPr/>
        </p:nvSpPr>
        <p:spPr>
          <a:xfrm>
            <a:off x="4876800" y="3860800"/>
            <a:ext cx="965200" cy="304800"/>
          </a:xfrm>
          <a:custGeom>
            <a:avLst/>
            <a:gdLst/>
            <a:ahLst/>
            <a:cxnLst/>
            <a:rect l="l" t="t" r="r" b="b"/>
            <a:pathLst>
              <a:path w="100000" h="31579">
                <a:moveTo>
                  <a:pt x="84211" y="0"/>
                </a:moveTo>
                <a:cubicBezTo>
                  <a:pt x="84211" y="0"/>
                  <a:pt x="84211" y="0"/>
                  <a:pt x="84211" y="0"/>
                </a:cubicBezTo>
                <a:cubicBezTo>
                  <a:pt x="92930" y="0"/>
                  <a:pt x="100000" y="7070"/>
                  <a:pt x="100000" y="15789"/>
                </a:cubicBezTo>
                <a:cubicBezTo>
                  <a:pt x="100000" y="15789"/>
                  <a:pt x="100000" y="15789"/>
                  <a:pt x="100000" y="15789"/>
                </a:cubicBezTo>
                <a:lnTo>
                  <a:pt x="100000" y="15789"/>
                </a:lnTo>
                <a:cubicBezTo>
                  <a:pt x="100000" y="15789"/>
                  <a:pt x="100000" y="15789"/>
                  <a:pt x="100000" y="15789"/>
                </a:cubicBezTo>
                <a:cubicBezTo>
                  <a:pt x="100000" y="24509"/>
                  <a:pt x="92930" y="31579"/>
                  <a:pt x="84211" y="31579"/>
                </a:cubicBezTo>
                <a:cubicBezTo>
                  <a:pt x="84211" y="31579"/>
                  <a:pt x="84211" y="31579"/>
                  <a:pt x="84211" y="31579"/>
                </a:cubicBezTo>
                <a:lnTo>
                  <a:pt x="15789" y="31579"/>
                </a:lnTo>
                <a:cubicBezTo>
                  <a:pt x="15789" y="31579"/>
                  <a:pt x="15789" y="31579"/>
                  <a:pt x="15789" y="31579"/>
                </a:cubicBezTo>
                <a:cubicBezTo>
                  <a:pt x="7070" y="31579"/>
                  <a:pt x="0" y="24509"/>
                  <a:pt x="0" y="15789"/>
                </a:cubicBezTo>
                <a:cubicBezTo>
                  <a:pt x="0" y="15789"/>
                  <a:pt x="0" y="15789"/>
                  <a:pt x="0" y="15789"/>
                </a:cubicBezTo>
                <a:lnTo>
                  <a:pt x="0" y="15789"/>
                </a:lnTo>
                <a:cubicBezTo>
                  <a:pt x="0" y="15789"/>
                  <a:pt x="0" y="15789"/>
                  <a:pt x="0" y="15789"/>
                </a:cubicBezTo>
                <a:cubicBezTo>
                  <a:pt x="0" y="7070"/>
                  <a:pt x="7070" y="0"/>
                  <a:pt x="15789" y="0"/>
                </a:cubicBezTo>
                <a:cubicBezTo>
                  <a:pt x="15789" y="0"/>
                  <a:pt x="15789" y="0"/>
                  <a:pt x="1578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18" name="TextBox 57"/>
          <p:cNvSpPr txBox="1"/>
          <p:nvPr/>
        </p:nvSpPr>
        <p:spPr>
          <a:xfrm>
            <a:off x="4965700" y="3860800"/>
            <a:ext cx="812800" cy="304800"/>
          </a:xfrm>
          <a:prstGeom prst="rect">
            <a:avLst/>
          </a:prstGeom>
        </p:spPr>
        <p:txBody>
          <a:bodyPr wrap="square" lIns="0" tIns="0" rIns="0" bIns="0" anchor="ctr">
            <a:noAutofit/>
          </a:bodyPr>
          <a:lstStyle/>
          <a:p>
            <a:pPr>
              <a:lnSpc>
                <a:spcPct val="135000"/>
              </a:lnSpc>
            </a:pPr>
            <a:r>
              <a:rPr sz="480" spc="0">
                <a:solidFill>
                  <a:srgbClr val="67676E"/>
                </a:solidFill>
                <a:latin typeface="Telegraf"/>
              </a:rPr>
              <a:t>Professional</a:t>
            </a:r>
            <a:endParaRPr sz="480" spc="0">
              <a:solidFill>
                <a:srgbClr val="67676E"/>
              </a:solidFill>
              <a:latin typeface="Telegraf"/>
            </a:endParaRPr>
          </a:p>
        </p:txBody>
      </p:sp>
      <p:sp>
        <p:nvSpPr>
          <p:cNvPr id="819" name="Rectangle 58"/>
          <p:cNvSpPr/>
          <p:nvPr/>
        </p:nvSpPr>
        <p:spPr>
          <a:xfrm>
            <a:off x="5918200" y="3860800"/>
            <a:ext cx="685800" cy="304800"/>
          </a:xfrm>
          <a:custGeom>
            <a:avLst/>
            <a:gdLst/>
            <a:ahLst/>
            <a:cxnLst/>
            <a:rect l="l" t="t" r="r" b="b"/>
            <a:pathLst>
              <a:path w="100000" h="44444">
                <a:moveTo>
                  <a:pt x="77778" y="0"/>
                </a:moveTo>
                <a:cubicBezTo>
                  <a:pt x="77778" y="0"/>
                  <a:pt x="77778" y="0"/>
                  <a:pt x="77778" y="0"/>
                </a:cubicBezTo>
                <a:cubicBezTo>
                  <a:pt x="90050" y="0"/>
                  <a:pt x="100000" y="9950"/>
                  <a:pt x="100000" y="22222"/>
                </a:cubicBezTo>
                <a:cubicBezTo>
                  <a:pt x="100000" y="22222"/>
                  <a:pt x="100000" y="22222"/>
                  <a:pt x="100000" y="22222"/>
                </a:cubicBezTo>
                <a:lnTo>
                  <a:pt x="100000" y="22222"/>
                </a:lnTo>
                <a:cubicBezTo>
                  <a:pt x="100000" y="22222"/>
                  <a:pt x="100000" y="22222"/>
                  <a:pt x="100000" y="22222"/>
                </a:cubicBezTo>
                <a:cubicBezTo>
                  <a:pt x="100000" y="34494"/>
                  <a:pt x="90050" y="44444"/>
                  <a:pt x="77778" y="44444"/>
                </a:cubicBezTo>
                <a:cubicBezTo>
                  <a:pt x="77778" y="44444"/>
                  <a:pt x="77778" y="44444"/>
                  <a:pt x="77778" y="44444"/>
                </a:cubicBezTo>
                <a:lnTo>
                  <a:pt x="22222" y="44444"/>
                </a:lnTo>
                <a:cubicBezTo>
                  <a:pt x="22222" y="44444"/>
                  <a:pt x="22222" y="44444"/>
                  <a:pt x="22222" y="44444"/>
                </a:cubicBezTo>
                <a:cubicBezTo>
                  <a:pt x="9950" y="44444"/>
                  <a:pt x="0" y="34494"/>
                  <a:pt x="0" y="22222"/>
                </a:cubicBezTo>
                <a:cubicBezTo>
                  <a:pt x="0" y="22222"/>
                  <a:pt x="0" y="22222"/>
                  <a:pt x="0" y="22222"/>
                </a:cubicBezTo>
                <a:lnTo>
                  <a:pt x="0" y="22222"/>
                </a:lnTo>
                <a:cubicBezTo>
                  <a:pt x="0" y="22222"/>
                  <a:pt x="0" y="22222"/>
                  <a:pt x="0" y="22222"/>
                </a:cubicBezTo>
                <a:cubicBezTo>
                  <a:pt x="0" y="9950"/>
                  <a:pt x="9950" y="0"/>
                  <a:pt x="22222" y="0"/>
                </a:cubicBezTo>
                <a:cubicBezTo>
                  <a:pt x="22222" y="0"/>
                  <a:pt x="22222" y="0"/>
                  <a:pt x="22222"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20" name="TextBox 59"/>
          <p:cNvSpPr txBox="1"/>
          <p:nvPr/>
        </p:nvSpPr>
        <p:spPr>
          <a:xfrm>
            <a:off x="6007100" y="3860800"/>
            <a:ext cx="533400" cy="304800"/>
          </a:xfrm>
          <a:prstGeom prst="rect">
            <a:avLst/>
          </a:prstGeom>
        </p:spPr>
        <p:txBody>
          <a:bodyPr wrap="square" lIns="0" tIns="0" rIns="0" bIns="0" anchor="ctr">
            <a:noAutofit/>
          </a:bodyPr>
          <a:lstStyle/>
          <a:p>
            <a:pPr>
              <a:lnSpc>
                <a:spcPct val="135000"/>
              </a:lnSpc>
            </a:pPr>
            <a:r>
              <a:rPr sz="480" spc="0">
                <a:solidFill>
                  <a:srgbClr val="67676E"/>
                </a:solidFill>
                <a:latin typeface="Telegraf"/>
              </a:rPr>
              <a:t>Playful</a:t>
            </a:r>
            <a:endParaRPr sz="480" spc="0">
              <a:solidFill>
                <a:srgbClr val="67676E"/>
              </a:solidFill>
              <a:latin typeface="Telegraf"/>
            </a:endParaRPr>
          </a:p>
        </p:txBody>
      </p:sp>
      <p:sp>
        <p:nvSpPr>
          <p:cNvPr id="821" name="Rectangle 60"/>
          <p:cNvSpPr/>
          <p:nvPr/>
        </p:nvSpPr>
        <p:spPr>
          <a:xfrm>
            <a:off x="6680200" y="3860800"/>
            <a:ext cx="660400" cy="304800"/>
          </a:xfrm>
          <a:custGeom>
            <a:avLst/>
            <a:gdLst/>
            <a:ahLst/>
            <a:cxnLst/>
            <a:rect l="l" t="t" r="r" b="b"/>
            <a:pathLst>
              <a:path w="100000" h="46154">
                <a:moveTo>
                  <a:pt x="76923" y="0"/>
                </a:moveTo>
                <a:cubicBezTo>
                  <a:pt x="76923" y="0"/>
                  <a:pt x="76923" y="0"/>
                  <a:pt x="76923" y="0"/>
                </a:cubicBezTo>
                <a:cubicBezTo>
                  <a:pt x="89667" y="0"/>
                  <a:pt x="100000" y="10333"/>
                  <a:pt x="100000" y="23077"/>
                </a:cubicBezTo>
                <a:cubicBezTo>
                  <a:pt x="100000" y="23077"/>
                  <a:pt x="100000" y="23077"/>
                  <a:pt x="100000" y="23077"/>
                </a:cubicBezTo>
                <a:lnTo>
                  <a:pt x="100000" y="23077"/>
                </a:lnTo>
                <a:cubicBezTo>
                  <a:pt x="100000" y="23077"/>
                  <a:pt x="100000" y="23077"/>
                  <a:pt x="100000" y="23077"/>
                </a:cubicBezTo>
                <a:cubicBezTo>
                  <a:pt x="100000" y="35821"/>
                  <a:pt x="89667" y="46154"/>
                  <a:pt x="76923" y="46154"/>
                </a:cubicBezTo>
                <a:cubicBezTo>
                  <a:pt x="76923" y="46154"/>
                  <a:pt x="76923" y="46154"/>
                  <a:pt x="76923" y="46154"/>
                </a:cubicBezTo>
                <a:lnTo>
                  <a:pt x="23077" y="46154"/>
                </a:lnTo>
                <a:cubicBezTo>
                  <a:pt x="23077" y="46154"/>
                  <a:pt x="23077" y="46154"/>
                  <a:pt x="23077" y="46154"/>
                </a:cubicBezTo>
                <a:cubicBezTo>
                  <a:pt x="10333" y="46154"/>
                  <a:pt x="0" y="35821"/>
                  <a:pt x="0" y="23077"/>
                </a:cubicBezTo>
                <a:cubicBezTo>
                  <a:pt x="0" y="23077"/>
                  <a:pt x="0" y="23077"/>
                  <a:pt x="0" y="23077"/>
                </a:cubicBezTo>
                <a:lnTo>
                  <a:pt x="0" y="23077"/>
                </a:lnTo>
                <a:cubicBezTo>
                  <a:pt x="0" y="23077"/>
                  <a:pt x="0" y="23077"/>
                  <a:pt x="0" y="23077"/>
                </a:cubicBezTo>
                <a:cubicBezTo>
                  <a:pt x="0" y="10333"/>
                  <a:pt x="10333" y="0"/>
                  <a:pt x="23077" y="0"/>
                </a:cubicBezTo>
                <a:cubicBezTo>
                  <a:pt x="23077" y="0"/>
                  <a:pt x="23077" y="0"/>
                  <a:pt x="2307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22" name="TextBox 61"/>
          <p:cNvSpPr txBox="1"/>
          <p:nvPr/>
        </p:nvSpPr>
        <p:spPr>
          <a:xfrm>
            <a:off x="6769100" y="3860800"/>
            <a:ext cx="508000" cy="304800"/>
          </a:xfrm>
          <a:prstGeom prst="rect">
            <a:avLst/>
          </a:prstGeom>
        </p:spPr>
        <p:txBody>
          <a:bodyPr wrap="square" lIns="0" tIns="0" rIns="0" bIns="0" anchor="ctr">
            <a:noAutofit/>
          </a:bodyPr>
          <a:lstStyle/>
          <a:p>
            <a:pPr>
              <a:lnSpc>
                <a:spcPct val="135000"/>
              </a:lnSpc>
            </a:pPr>
            <a:r>
              <a:rPr sz="480" spc="0">
                <a:solidFill>
                  <a:srgbClr val="67676E"/>
                </a:solidFill>
                <a:latin typeface="Telegraf"/>
              </a:rPr>
              <a:t>Formal</a:t>
            </a:r>
            <a:endParaRPr sz="480" spc="0">
              <a:solidFill>
                <a:srgbClr val="67676E"/>
              </a:solidFill>
              <a:latin typeface="Telegraf"/>
            </a:endParaRPr>
          </a:p>
        </p:txBody>
      </p:sp>
      <p:sp>
        <p:nvSpPr>
          <p:cNvPr id="823" name="Rectangle 62"/>
          <p:cNvSpPr/>
          <p:nvPr/>
        </p:nvSpPr>
        <p:spPr>
          <a:xfrm>
            <a:off x="3632200" y="4368800"/>
            <a:ext cx="6375400" cy="1066800"/>
          </a:xfrm>
          <a:custGeom>
            <a:avLst/>
            <a:gdLst/>
            <a:ahLst/>
            <a:cxnLst/>
            <a:rect l="l" t="t" r="r" b="b"/>
            <a:pathLst>
              <a:path w="100000" h="16733">
                <a:moveTo>
                  <a:pt x="95219" y="0"/>
                </a:moveTo>
                <a:cubicBezTo>
                  <a:pt x="97473" y="0"/>
                  <a:pt x="98600" y="0"/>
                  <a:pt x="99300" y="700"/>
                </a:cubicBezTo>
                <a:cubicBezTo>
                  <a:pt x="99300" y="700"/>
                  <a:pt x="99300" y="700"/>
                  <a:pt x="99300" y="700"/>
                </a:cubicBezTo>
                <a:cubicBezTo>
                  <a:pt x="100000" y="1400"/>
                  <a:pt x="100000" y="2527"/>
                  <a:pt x="100000" y="4781"/>
                </a:cubicBezTo>
                <a:lnTo>
                  <a:pt x="100000" y="11952"/>
                </a:lnTo>
                <a:cubicBezTo>
                  <a:pt x="100000" y="14206"/>
                  <a:pt x="100000" y="15333"/>
                  <a:pt x="99300" y="16033"/>
                </a:cubicBezTo>
                <a:cubicBezTo>
                  <a:pt x="99300" y="16033"/>
                  <a:pt x="99300" y="16033"/>
                  <a:pt x="99300" y="16033"/>
                </a:cubicBezTo>
                <a:cubicBezTo>
                  <a:pt x="98600" y="16733"/>
                  <a:pt x="97473" y="16733"/>
                  <a:pt x="95219" y="16733"/>
                </a:cubicBezTo>
                <a:lnTo>
                  <a:pt x="4781" y="16733"/>
                </a:lnTo>
                <a:cubicBezTo>
                  <a:pt x="2527" y="16733"/>
                  <a:pt x="1400" y="16733"/>
                  <a:pt x="700" y="16033"/>
                </a:cubicBezTo>
                <a:cubicBezTo>
                  <a:pt x="700" y="16033"/>
                  <a:pt x="700" y="16033"/>
                  <a:pt x="700" y="16033"/>
                </a:cubicBezTo>
                <a:cubicBezTo>
                  <a:pt x="0" y="15333"/>
                  <a:pt x="0" y="14206"/>
                  <a:pt x="0" y="11952"/>
                </a:cubicBezTo>
                <a:lnTo>
                  <a:pt x="0" y="4781"/>
                </a:lnTo>
                <a:cubicBezTo>
                  <a:pt x="0" y="2527"/>
                  <a:pt x="0" y="1400"/>
                  <a:pt x="700" y="700"/>
                </a:cubicBezTo>
                <a:cubicBezTo>
                  <a:pt x="700" y="700"/>
                  <a:pt x="700" y="700"/>
                  <a:pt x="700" y="700"/>
                </a:cubicBezTo>
                <a:cubicBezTo>
                  <a:pt x="1400" y="0"/>
                  <a:pt x="2527" y="0"/>
                  <a:pt x="4781"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24" name="TextBox 63"/>
          <p:cNvSpPr txBox="1"/>
          <p:nvPr/>
        </p:nvSpPr>
        <p:spPr>
          <a:xfrm>
            <a:off x="3835400" y="4521200"/>
            <a:ext cx="3810000" cy="114300"/>
          </a:xfrm>
          <a:prstGeom prst="rect">
            <a:avLst/>
          </a:prstGeom>
        </p:spPr>
        <p:txBody>
          <a:bodyPr wrap="square" lIns="0" tIns="0" rIns="0" bIns="0">
            <a:noAutofit/>
          </a:bodyPr>
          <a:lstStyle/>
          <a:p>
            <a:r>
              <a:rPr sz="460" b="1" spc="100">
                <a:solidFill>
                  <a:srgbClr val="A2A2A8"/>
                </a:solidFill>
                <a:latin typeface="Telegraf"/>
              </a:rPr>
              <a:t>PREVIEW  ·  A CUSTOMER ASKS ABOUT PRO PRICING</a:t>
            </a:r>
            <a:endParaRPr sz="460" b="1" spc="100">
              <a:solidFill>
                <a:srgbClr val="A2A2A8"/>
              </a:solidFill>
              <a:latin typeface="Telegraf"/>
            </a:endParaRPr>
          </a:p>
        </p:txBody>
      </p:sp>
      <p:sp>
        <p:nvSpPr>
          <p:cNvPr id="825" name="Rectangle 64"/>
          <p:cNvSpPr/>
          <p:nvPr/>
        </p:nvSpPr>
        <p:spPr>
          <a:xfrm>
            <a:off x="3835400" y="4699000"/>
            <a:ext cx="4191000" cy="533400"/>
          </a:xfrm>
          <a:custGeom>
            <a:avLst/>
            <a:gdLst/>
            <a:ahLst/>
            <a:cxnLst/>
            <a:rect l="l" t="t" r="r" b="b"/>
            <a:pathLst>
              <a:path w="100000" h="12727">
                <a:moveTo>
                  <a:pt x="93939" y="0"/>
                </a:moveTo>
                <a:cubicBezTo>
                  <a:pt x="96796" y="0"/>
                  <a:pt x="98225" y="0"/>
                  <a:pt x="99112" y="888"/>
                </a:cubicBezTo>
                <a:cubicBezTo>
                  <a:pt x="99112" y="888"/>
                  <a:pt x="99112" y="888"/>
                  <a:pt x="99112" y="888"/>
                </a:cubicBezTo>
                <a:cubicBezTo>
                  <a:pt x="100000" y="1775"/>
                  <a:pt x="100000" y="3204"/>
                  <a:pt x="100000" y="6061"/>
                </a:cubicBezTo>
                <a:lnTo>
                  <a:pt x="100000" y="6667"/>
                </a:lnTo>
                <a:cubicBezTo>
                  <a:pt x="100000" y="9524"/>
                  <a:pt x="100000" y="10952"/>
                  <a:pt x="99112" y="11840"/>
                </a:cubicBezTo>
                <a:cubicBezTo>
                  <a:pt x="99112" y="11840"/>
                  <a:pt x="99112" y="11840"/>
                  <a:pt x="99112" y="11840"/>
                </a:cubicBezTo>
                <a:cubicBezTo>
                  <a:pt x="98225" y="12727"/>
                  <a:pt x="96796" y="12727"/>
                  <a:pt x="93939" y="12727"/>
                </a:cubicBezTo>
                <a:lnTo>
                  <a:pt x="6061" y="12727"/>
                </a:lnTo>
                <a:cubicBezTo>
                  <a:pt x="3204" y="12727"/>
                  <a:pt x="1775" y="12727"/>
                  <a:pt x="888" y="11840"/>
                </a:cubicBezTo>
                <a:cubicBezTo>
                  <a:pt x="888" y="11840"/>
                  <a:pt x="888" y="11840"/>
                  <a:pt x="888" y="11840"/>
                </a:cubicBezTo>
                <a:cubicBezTo>
                  <a:pt x="0" y="10952"/>
                  <a:pt x="0" y="9524"/>
                  <a:pt x="0" y="6667"/>
                </a:cubicBezTo>
                <a:lnTo>
                  <a:pt x="0" y="6061"/>
                </a:lnTo>
                <a:cubicBezTo>
                  <a:pt x="0" y="3204"/>
                  <a:pt x="0" y="1775"/>
                  <a:pt x="888" y="888"/>
                </a:cubicBezTo>
                <a:cubicBezTo>
                  <a:pt x="888" y="888"/>
                  <a:pt x="888" y="888"/>
                  <a:pt x="888" y="888"/>
                </a:cubicBezTo>
                <a:cubicBezTo>
                  <a:pt x="1775" y="0"/>
                  <a:pt x="3204" y="0"/>
                  <a:pt x="6061" y="0"/>
                </a:cubicBezTo>
                <a:close/>
              </a:path>
            </a:pathLst>
          </a:custGeom>
          <a:solidFill>
            <a:srgbClr val="FFFFFF"/>
          </a:solidFill>
          <a:ln w="11430">
            <a:solidFill>
              <a:srgbClr val="EFEFE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26" name="TextBox 65"/>
          <p:cNvSpPr txBox="1"/>
          <p:nvPr/>
        </p:nvSpPr>
        <p:spPr>
          <a:xfrm>
            <a:off x="4013200" y="4800600"/>
            <a:ext cx="3810000" cy="381000"/>
          </a:xfrm>
          <a:prstGeom prst="rect">
            <a:avLst/>
          </a:prstGeom>
        </p:spPr>
        <p:txBody>
          <a:bodyPr wrap="square" lIns="0" tIns="0" rIns="0" bIns="0">
            <a:noAutofit/>
          </a:bodyPr>
          <a:lstStyle/>
          <a:p>
            <a:pPr>
              <a:lnSpc>
                <a:spcPct val="145000"/>
              </a:lnSpc>
            </a:pPr>
            <a:r>
              <a:rPr sz="520" spc="0">
                <a:solidFill>
                  <a:srgbClr val="0A0A0A"/>
                </a:solidFill>
                <a:latin typeface="Telegraf"/>
              </a:rPr>
              <a:t>Hi! CloudPulse Pro is ₹1,499/month for 5 users — WhatsApp invoicing and the GST API are included.</a:t>
            </a:r>
            <a:endParaRPr sz="520" spc="0">
              <a:solidFill>
                <a:srgbClr val="0A0A0A"/>
              </a:solidFill>
              <a:latin typeface="Telegraf"/>
            </a:endParaRPr>
          </a:p>
        </p:txBody>
      </p:sp>
      <p:sp>
        <p:nvSpPr>
          <p:cNvPr id="827" name="TextBox 66"/>
          <p:cNvSpPr txBox="1"/>
          <p:nvPr/>
        </p:nvSpPr>
        <p:spPr>
          <a:xfrm>
            <a:off x="8255000" y="4699000"/>
            <a:ext cx="1574800" cy="508000"/>
          </a:xfrm>
          <a:prstGeom prst="rect">
            <a:avLst/>
          </a:prstGeom>
        </p:spPr>
        <p:txBody>
          <a:bodyPr wrap="square" lIns="0" tIns="0" rIns="0" bIns="0">
            <a:noAutofit/>
          </a:bodyPr>
          <a:lstStyle/>
          <a:p>
            <a:pPr>
              <a:lnSpc>
                <a:spcPct val="145000"/>
              </a:lnSpc>
            </a:pPr>
            <a:r>
              <a:rPr sz="460" spc="0">
                <a:solidFill>
                  <a:srgbClr val="A2A2A8"/>
                </a:solidFill>
                <a:latin typeface="Telegraf"/>
              </a:rPr>
              <a:t>Warm · two sentences · cites chk_cp_02 · 94 conf</a:t>
            </a:r>
            <a:endParaRPr sz="460" spc="0">
              <a:solidFill>
                <a:srgbClr val="A2A2A8"/>
              </a:solidFill>
              <a:latin typeface="Telegraf"/>
            </a:endParaRPr>
          </a:p>
        </p:txBody>
      </p:sp>
      <p:sp>
        <p:nvSpPr>
          <p:cNvPr id="828" name="Oval 67"/>
          <p:cNvSpPr/>
          <p:nvPr/>
        </p:nvSpPr>
        <p:spPr>
          <a:xfrm>
            <a:off x="3444240" y="2148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29" name="Oval 68"/>
          <p:cNvSpPr/>
          <p:nvPr/>
        </p:nvSpPr>
        <p:spPr>
          <a:xfrm>
            <a:off x="3468370" y="2172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0" name="TextBox 69"/>
          <p:cNvSpPr txBox="1"/>
          <p:nvPr/>
        </p:nvSpPr>
        <p:spPr>
          <a:xfrm>
            <a:off x="3468370" y="2172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831" name="Oval 70"/>
          <p:cNvSpPr/>
          <p:nvPr/>
        </p:nvSpPr>
        <p:spPr>
          <a:xfrm>
            <a:off x="3444240" y="37744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2" name="Oval 71"/>
          <p:cNvSpPr/>
          <p:nvPr/>
        </p:nvSpPr>
        <p:spPr>
          <a:xfrm>
            <a:off x="3468370" y="37985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3" name="TextBox 72"/>
          <p:cNvSpPr txBox="1"/>
          <p:nvPr/>
        </p:nvSpPr>
        <p:spPr>
          <a:xfrm>
            <a:off x="3468370" y="37985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834" name="Oval 73"/>
          <p:cNvSpPr/>
          <p:nvPr/>
        </p:nvSpPr>
        <p:spPr>
          <a:xfrm>
            <a:off x="3444240" y="42824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5" name="Oval 74"/>
          <p:cNvSpPr/>
          <p:nvPr/>
        </p:nvSpPr>
        <p:spPr>
          <a:xfrm>
            <a:off x="3468370" y="43065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6" name="TextBox 75"/>
          <p:cNvSpPr txBox="1"/>
          <p:nvPr/>
        </p:nvSpPr>
        <p:spPr>
          <a:xfrm>
            <a:off x="3468370" y="43065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837" name="Oval 76"/>
          <p:cNvSpPr/>
          <p:nvPr/>
        </p:nvSpPr>
        <p:spPr>
          <a:xfrm>
            <a:off x="116840" y="1132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8" name="Oval 77"/>
          <p:cNvSpPr/>
          <p:nvPr/>
        </p:nvSpPr>
        <p:spPr>
          <a:xfrm>
            <a:off x="140970" y="1156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39" name="TextBox 78"/>
          <p:cNvSpPr txBox="1"/>
          <p:nvPr/>
        </p:nvSpPr>
        <p:spPr>
          <a:xfrm>
            <a:off x="140970" y="1156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840" name="Rectangle 79"/>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41" name="TextBox 80"/>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07  —  ONBOARDING 1/4</a:t>
            </a:r>
            <a:endParaRPr sz="490" b="1" spc="120">
              <a:solidFill>
                <a:srgbClr val="8FE0CE"/>
              </a:solidFill>
              <a:latin typeface="Telegraf"/>
            </a:endParaRPr>
          </a:p>
        </p:txBody>
      </p:sp>
      <p:sp>
        <p:nvSpPr>
          <p:cNvPr id="842" name="TextBox 81"/>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Who you</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answer for.</a:t>
            </a:r>
            <a:endParaRPr sz="1650" spc="-50">
              <a:solidFill>
                <a:srgbClr val="FFFFFF"/>
              </a:solidFill>
              <a:latin typeface="PP Editorial New Ultralight"/>
            </a:endParaRPr>
          </a:p>
        </p:txBody>
      </p:sp>
      <p:sp>
        <p:nvSpPr>
          <p:cNvPr id="843" name="Rectangle 82"/>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44" name="TextBox 83"/>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845" name="TextBox 84"/>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Four steps</a:t>
            </a:r>
            <a:endParaRPr sz="590" b="1" spc="0">
              <a:solidFill>
                <a:srgbClr val="FFFFFF"/>
              </a:solidFill>
              <a:latin typeface="Telegraf"/>
            </a:endParaRPr>
          </a:p>
        </p:txBody>
      </p:sp>
      <p:sp>
        <p:nvSpPr>
          <p:cNvPr id="846" name="TextBox 85"/>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One rail, always visible: a form that hides its length feels endless.</a:t>
            </a:r>
            <a:endParaRPr sz="550" spc="0">
              <a:solidFill>
                <a:srgbClr val="A8A8A8"/>
              </a:solidFill>
              <a:latin typeface="Telegraf"/>
            </a:endParaRPr>
          </a:p>
        </p:txBody>
      </p:sp>
      <p:sp>
        <p:nvSpPr>
          <p:cNvPr id="847" name="TextBox 86"/>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848" name="TextBox 87"/>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Type chips</a:t>
            </a:r>
            <a:endParaRPr sz="590" b="1" spc="0">
              <a:solidFill>
                <a:srgbClr val="FFFFFF"/>
              </a:solidFill>
              <a:latin typeface="Telegraf"/>
            </a:endParaRPr>
          </a:p>
        </p:txBody>
      </p:sp>
      <p:sp>
        <p:nvSpPr>
          <p:cNvPr id="849" name="TextBox 88"/>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Sets the seeded vocabulary — SaaS, e-commerce, clinic, services.</a:t>
            </a:r>
            <a:endParaRPr sz="550" spc="0">
              <a:solidFill>
                <a:srgbClr val="A8A8A8"/>
              </a:solidFill>
              <a:latin typeface="Telegraf"/>
            </a:endParaRPr>
          </a:p>
        </p:txBody>
      </p:sp>
      <p:sp>
        <p:nvSpPr>
          <p:cNvPr id="850" name="TextBox 89"/>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851" name="TextBox 90"/>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Tone</a:t>
            </a:r>
            <a:endParaRPr sz="590" b="1" spc="0">
              <a:solidFill>
                <a:srgbClr val="FFFFFF"/>
              </a:solidFill>
              <a:latin typeface="Telegraf"/>
            </a:endParaRPr>
          </a:p>
        </p:txBody>
      </p:sp>
      <p:sp>
        <p:nvSpPr>
          <p:cNvPr id="852" name="TextBox 91"/>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 live preview of the same answer in the chosen voice, not a dropdown.</a:t>
            </a:r>
            <a:endParaRPr sz="550" spc="0">
              <a:solidFill>
                <a:srgbClr val="A8A8A8"/>
              </a:solidFill>
              <a:latin typeface="Telegraf"/>
            </a:endParaRPr>
          </a:p>
        </p:txBody>
      </p:sp>
      <p:sp>
        <p:nvSpPr>
          <p:cNvPr id="853" name="TextBox 92"/>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854" name="TextBox 93"/>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Persist</a:t>
            </a:r>
            <a:endParaRPr sz="590" b="1" spc="0">
              <a:solidFill>
                <a:srgbClr val="FFFFFF"/>
              </a:solidFill>
              <a:latin typeface="Telegraf"/>
            </a:endParaRPr>
          </a:p>
        </p:txBody>
      </p:sp>
      <p:sp>
        <p:nvSpPr>
          <p:cNvPr id="855" name="TextBox 94"/>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Autosave every field; AT-02 proves it survives a reload.</a:t>
            </a:r>
            <a:endParaRPr sz="550" spc="0">
              <a:solidFill>
                <a:srgbClr val="A8A8A8"/>
              </a:solidFill>
              <a:latin typeface="Telegraf"/>
            </a:endParaRPr>
          </a:p>
        </p:txBody>
      </p:sp>
      <p:sp>
        <p:nvSpPr>
          <p:cNvPr id="856" name="TextBox 95"/>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857" name="TextBox 96"/>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/onboarding  →  step 1</a:t>
            </a:r>
            <a:endParaRPr sz="560" spc="0">
              <a:solidFill>
                <a:srgbClr val="FFFFFF"/>
              </a:solidFill>
              <a:latin typeface="Telegraf"/>
            </a:endParaRPr>
          </a:p>
        </p:txBody>
      </p:sp>
      <p:sp>
        <p:nvSpPr>
          <p:cNvPr id="858" name="TextBox 97"/>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859" name="TextBox 98"/>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components/onboarding/OnboardingWizard.tsx; Wordmark on shared site nav</a:t>
            </a:r>
            <a:endParaRPr sz="530" spc="0">
              <a:solidFill>
                <a:srgbClr val="CFCFCF"/>
              </a:solidFill>
              <a:latin typeface="Telegraf"/>
            </a:endParaRPr>
          </a:p>
        </p:txBody>
      </p:sp>
      <p:sp>
        <p:nvSpPr>
          <p:cNvPr id="860" name="Rectangle 99"/>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61" name="TextBox 100"/>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3" name="TextBox 1"/>
          <p:cNvSpPr txBox="1"/>
          <p:nvPr/>
        </p:nvSpPr>
        <p:spPr>
          <a:xfrm>
            <a:off x="304800" y="177800"/>
            <a:ext cx="2540000" cy="254000"/>
          </a:xfrm>
          <a:prstGeom prst="rect">
            <a:avLst/>
          </a:prstGeom>
        </p:spPr>
        <p:txBody>
          <a:bodyPr wrap="square" lIns="0" tIns="0" rIns="0" bIns="0">
            <a:noAutofit/>
          </a:bodyPr>
          <a:lstStyle/>
          <a:p>
            <a:pPr>
              <a:lnSpc>
                <a:spcPct val="102000"/>
              </a:lnSpc>
            </a:pPr>
            <a:r>
              <a:rPr sz="1250" spc="-30">
                <a:solidFill>
                  <a:srgbClr val="0A0A0A"/>
                </a:solidFill>
                <a:latin typeface="PP Editorial New Ultralight"/>
              </a:rPr>
              <a:t>AfterSales.</a:t>
            </a:r>
            <a:endParaRPr sz="1250" spc="-30">
              <a:solidFill>
                <a:srgbClr val="0A0A0A"/>
              </a:solidFill>
              <a:latin typeface="PP Editorial New Ultralight"/>
            </a:endParaRPr>
          </a:p>
        </p:txBody>
      </p:sp>
      <p:sp>
        <p:nvSpPr>
          <p:cNvPr id="864" name="TextBox 2"/>
          <p:cNvSpPr txBox="1"/>
          <p:nvPr/>
        </p:nvSpPr>
        <p:spPr>
          <a:xfrm>
            <a:off x="3810000" y="228600"/>
            <a:ext cx="3048000" cy="127000"/>
          </a:xfrm>
          <a:prstGeom prst="rect">
            <a:avLst/>
          </a:prstGeom>
        </p:spPr>
        <p:txBody>
          <a:bodyPr wrap="square" lIns="0" tIns="0" rIns="0" bIns="0">
            <a:noAutofit/>
          </a:bodyPr>
          <a:lstStyle/>
          <a:p>
            <a:r>
              <a:rPr sz="460" b="1" spc="110">
                <a:solidFill>
                  <a:srgbClr val="A2A2A8"/>
                </a:solidFill>
                <a:latin typeface="Telegraf"/>
              </a:rPr>
              <a:t>ONBOARDING  ·  CLOUDPULSE CRM</a:t>
            </a:r>
            <a:endParaRPr sz="460" b="1" spc="110">
              <a:solidFill>
                <a:srgbClr val="A2A2A8"/>
              </a:solidFill>
              <a:latin typeface="Telegraf"/>
            </a:endParaRPr>
          </a:p>
        </p:txBody>
      </p:sp>
      <p:sp>
        <p:nvSpPr>
          <p:cNvPr id="865" name="TextBox 3"/>
          <p:cNvSpPr txBox="1"/>
          <p:nvPr/>
        </p:nvSpPr>
        <p:spPr>
          <a:xfrm>
            <a:off x="8763000" y="190500"/>
            <a:ext cx="812800" cy="177800"/>
          </a:xfrm>
          <a:prstGeom prst="rect">
            <a:avLst/>
          </a:prstGeom>
        </p:spPr>
        <p:txBody>
          <a:bodyPr wrap="square" lIns="0" tIns="0" rIns="0" bIns="0">
            <a:noAutofit/>
          </a:bodyPr>
          <a:lstStyle/>
          <a:p>
            <a:pPr algn="r">
              <a:lnSpc>
                <a:spcPct val="135000"/>
              </a:lnSpc>
            </a:pPr>
            <a:r>
              <a:rPr sz="520" spc="0">
                <a:solidFill>
                  <a:srgbClr val="67676E"/>
                </a:solidFill>
                <a:latin typeface="Telegraf"/>
              </a:rPr>
              <a:t>Save &amp; exit</a:t>
            </a:r>
            <a:endParaRPr sz="520" spc="0">
              <a:solidFill>
                <a:srgbClr val="67676E"/>
              </a:solidFill>
              <a:latin typeface="Telegraf"/>
            </a:endParaRPr>
          </a:p>
        </p:txBody>
      </p:sp>
      <p:sp>
        <p:nvSpPr>
          <p:cNvPr id="866" name="Oval 4"/>
          <p:cNvSpPr/>
          <p:nvPr/>
        </p:nvSpPr>
        <p:spPr>
          <a:xfrm>
            <a:off x="9734550" y="1460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67" name="TextBox 5"/>
          <p:cNvSpPr txBox="1"/>
          <p:nvPr/>
        </p:nvSpPr>
        <p:spPr>
          <a:xfrm>
            <a:off x="9734550" y="1460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868" name="Rectangle 6"/>
          <p:cNvSpPr/>
          <p:nvPr/>
        </p:nvSpPr>
        <p:spPr>
          <a:xfrm>
            <a:off x="0" y="558800"/>
            <a:ext cx="10312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69" name="TextBox 7"/>
          <p:cNvSpPr txBox="1"/>
          <p:nvPr/>
        </p:nvSpPr>
        <p:spPr>
          <a:xfrm>
            <a:off x="304800" y="914400"/>
            <a:ext cx="2540000" cy="114300"/>
          </a:xfrm>
          <a:prstGeom prst="rect">
            <a:avLst/>
          </a:prstGeom>
        </p:spPr>
        <p:txBody>
          <a:bodyPr wrap="square" lIns="0" tIns="0" rIns="0" bIns="0">
            <a:noAutofit/>
          </a:bodyPr>
          <a:lstStyle/>
          <a:p>
            <a:r>
              <a:rPr sz="460" b="1" spc="120">
                <a:solidFill>
                  <a:srgbClr val="A2A2A8"/>
                </a:solidFill>
                <a:latin typeface="Telegraf"/>
              </a:rPr>
              <a:t>SET UP YOUR AGENT</a:t>
            </a:r>
            <a:endParaRPr sz="460" b="1" spc="120">
              <a:solidFill>
                <a:srgbClr val="A2A2A8"/>
              </a:solidFill>
              <a:latin typeface="Telegraf"/>
            </a:endParaRPr>
          </a:p>
        </p:txBody>
      </p:sp>
      <p:sp>
        <p:nvSpPr>
          <p:cNvPr id="870" name="Rectangle 8"/>
          <p:cNvSpPr/>
          <p:nvPr/>
        </p:nvSpPr>
        <p:spPr>
          <a:xfrm>
            <a:off x="406400" y="14478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71" name="Oval 9"/>
          <p:cNvSpPr/>
          <p:nvPr/>
        </p:nvSpPr>
        <p:spPr>
          <a:xfrm>
            <a:off x="312420" y="1252220"/>
            <a:ext cx="187960" cy="1879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72" name="Freeform 872"/>
          <p:cNvSpPr/>
          <p:nvPr/>
        </p:nvSpPr>
        <p:spPr>
          <a:xfrm>
            <a:off x="368300" y="1317625"/>
            <a:ext cx="76200" cy="55245"/>
          </a:xfrm>
          <a:custGeom>
            <a:avLst/>
            <a:gdLst/>
            <a:ahLst/>
            <a:cxnLst/>
            <a:rect l="l" t="t" r="r" b="b"/>
            <a:pathLst>
              <a:path w="100000" h="72500" fill="none">
                <a:moveTo>
                  <a:pt x="0" y="37500"/>
                </a:moveTo>
                <a:lnTo>
                  <a:pt x="37500" y="72500"/>
                </a:lnTo>
                <a:lnTo>
                  <a:pt x="100000" y="0"/>
                </a:lnTo>
              </a:path>
            </a:pathLst>
          </a:custGeom>
          <a:noFill/>
          <a:ln w="1397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873" name="TextBox 11"/>
          <p:cNvSpPr txBox="1"/>
          <p:nvPr/>
        </p:nvSpPr>
        <p:spPr>
          <a:xfrm>
            <a:off x="635000" y="1257300"/>
            <a:ext cx="2133600" cy="127000"/>
          </a:xfrm>
          <a:prstGeom prst="rect">
            <a:avLst/>
          </a:prstGeom>
        </p:spPr>
        <p:txBody>
          <a:bodyPr wrap="square" lIns="0" tIns="0" rIns="0" bIns="0">
            <a:noAutofit/>
          </a:bodyPr>
          <a:lstStyle/>
          <a:p>
            <a:pPr>
              <a:lnSpc>
                <a:spcPct val="135000"/>
              </a:lnSpc>
            </a:pPr>
            <a:r>
              <a:rPr sz="600" spc="0">
                <a:solidFill>
                  <a:srgbClr val="0A0A0A"/>
                </a:solidFill>
                <a:latin typeface="Telegraf"/>
              </a:rPr>
              <a:t>Identity &amp; tone</a:t>
            </a:r>
            <a:endParaRPr sz="600" spc="0">
              <a:solidFill>
                <a:srgbClr val="0A0A0A"/>
              </a:solidFill>
              <a:latin typeface="Telegraf"/>
            </a:endParaRPr>
          </a:p>
        </p:txBody>
      </p:sp>
      <p:sp>
        <p:nvSpPr>
          <p:cNvPr id="874" name="TextBox 12"/>
          <p:cNvSpPr txBox="1"/>
          <p:nvPr/>
        </p:nvSpPr>
        <p:spPr>
          <a:xfrm>
            <a:off x="635000" y="13970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name, type, voice</a:t>
            </a:r>
            <a:endParaRPr sz="480" spc="0">
              <a:solidFill>
                <a:srgbClr val="A2A2A8"/>
              </a:solidFill>
              <a:latin typeface="Telegraf"/>
            </a:endParaRPr>
          </a:p>
        </p:txBody>
      </p:sp>
      <p:sp>
        <p:nvSpPr>
          <p:cNvPr id="875" name="Rectangle 13"/>
          <p:cNvSpPr/>
          <p:nvPr/>
        </p:nvSpPr>
        <p:spPr>
          <a:xfrm>
            <a:off x="406400" y="20574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76" name="Oval 14"/>
          <p:cNvSpPr/>
          <p:nvPr/>
        </p:nvSpPr>
        <p:spPr>
          <a:xfrm>
            <a:off x="312420" y="1861820"/>
            <a:ext cx="187960" cy="1879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77" name="TextBox 15"/>
          <p:cNvSpPr txBox="1"/>
          <p:nvPr/>
        </p:nvSpPr>
        <p:spPr>
          <a:xfrm>
            <a:off x="317500" y="1861820"/>
            <a:ext cx="177800" cy="177800"/>
          </a:xfrm>
          <a:prstGeom prst="rect">
            <a:avLst/>
          </a:prstGeom>
        </p:spPr>
        <p:txBody>
          <a:bodyPr wrap="square" lIns="0" tIns="0" rIns="0" bIns="0">
            <a:noAutofit/>
          </a:bodyPr>
          <a:lstStyle/>
          <a:p>
            <a:pPr algn="ctr">
              <a:lnSpc>
                <a:spcPct val="135000"/>
              </a:lnSpc>
            </a:pPr>
            <a:r>
              <a:rPr sz="460" b="1" spc="0">
                <a:solidFill>
                  <a:srgbClr val="FFFFFF"/>
                </a:solidFill>
                <a:latin typeface="Telegraf"/>
              </a:rPr>
              <a:t>02</a:t>
            </a:r>
            <a:endParaRPr sz="460" b="1" spc="0">
              <a:solidFill>
                <a:srgbClr val="FFFFFF"/>
              </a:solidFill>
              <a:latin typeface="Telegraf"/>
            </a:endParaRPr>
          </a:p>
        </p:txBody>
      </p:sp>
      <p:sp>
        <p:nvSpPr>
          <p:cNvPr id="878" name="TextBox 16"/>
          <p:cNvSpPr txBox="1"/>
          <p:nvPr/>
        </p:nvSpPr>
        <p:spPr>
          <a:xfrm>
            <a:off x="635000" y="1866900"/>
            <a:ext cx="2133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Catalog &amp; FAQs</a:t>
            </a:r>
            <a:endParaRPr sz="600" b="1" spc="0">
              <a:solidFill>
                <a:srgbClr val="0A0A0A"/>
              </a:solidFill>
              <a:latin typeface="Telegraf"/>
            </a:endParaRPr>
          </a:p>
        </p:txBody>
      </p:sp>
      <p:sp>
        <p:nvSpPr>
          <p:cNvPr id="879" name="TextBox 17"/>
          <p:cNvSpPr txBox="1"/>
          <p:nvPr/>
        </p:nvSpPr>
        <p:spPr>
          <a:xfrm>
            <a:off x="635000" y="20066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prices, hours, policies</a:t>
            </a:r>
            <a:endParaRPr sz="480" spc="0">
              <a:solidFill>
                <a:srgbClr val="A2A2A8"/>
              </a:solidFill>
              <a:latin typeface="Telegraf"/>
            </a:endParaRPr>
          </a:p>
        </p:txBody>
      </p:sp>
      <p:sp>
        <p:nvSpPr>
          <p:cNvPr id="880" name="Rectangle 18"/>
          <p:cNvSpPr/>
          <p:nvPr/>
        </p:nvSpPr>
        <p:spPr>
          <a:xfrm>
            <a:off x="406400" y="26670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81" name="Oval 19"/>
          <p:cNvSpPr/>
          <p:nvPr/>
        </p:nvSpPr>
        <p:spPr>
          <a:xfrm>
            <a:off x="317500" y="2476500"/>
            <a:ext cx="177800" cy="177800"/>
          </a:xfrm>
          <a:prstGeom prst="ellipse">
            <a:avLst/>
          </a:pr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82" name="TextBox 20"/>
          <p:cNvSpPr txBox="1"/>
          <p:nvPr/>
        </p:nvSpPr>
        <p:spPr>
          <a:xfrm>
            <a:off x="317500" y="2481580"/>
            <a:ext cx="177800" cy="152400"/>
          </a:xfrm>
          <a:prstGeom prst="rect">
            <a:avLst/>
          </a:prstGeom>
        </p:spPr>
        <p:txBody>
          <a:bodyPr wrap="square" lIns="0" tIns="0" rIns="0" bIns="0">
            <a:noAutofit/>
          </a:bodyPr>
          <a:lstStyle/>
          <a:p>
            <a:pPr algn="ctr">
              <a:lnSpc>
                <a:spcPct val="135000"/>
              </a:lnSpc>
            </a:pPr>
            <a:r>
              <a:rPr sz="440" b="1" spc="0">
                <a:solidFill>
                  <a:srgbClr val="A2A2A8"/>
                </a:solidFill>
                <a:latin typeface="Telegraf"/>
              </a:rPr>
              <a:t>03</a:t>
            </a:r>
            <a:endParaRPr sz="440" b="1" spc="0">
              <a:solidFill>
                <a:srgbClr val="A2A2A8"/>
              </a:solidFill>
              <a:latin typeface="Telegraf"/>
            </a:endParaRPr>
          </a:p>
        </p:txBody>
      </p:sp>
      <p:sp>
        <p:nvSpPr>
          <p:cNvPr id="883" name="TextBox 21"/>
          <p:cNvSpPr txBox="1"/>
          <p:nvPr/>
        </p:nvSpPr>
        <p:spPr>
          <a:xfrm>
            <a:off x="635000" y="2476500"/>
            <a:ext cx="2133600" cy="127000"/>
          </a:xfrm>
          <a:prstGeom prst="rect">
            <a:avLst/>
          </a:prstGeom>
        </p:spPr>
        <p:txBody>
          <a:bodyPr wrap="square" lIns="0" tIns="0" rIns="0" bIns="0">
            <a:noAutofit/>
          </a:bodyPr>
          <a:lstStyle/>
          <a:p>
            <a:pPr>
              <a:lnSpc>
                <a:spcPct val="135000"/>
              </a:lnSpc>
            </a:pPr>
            <a:r>
              <a:rPr sz="600" spc="0">
                <a:solidFill>
                  <a:srgbClr val="A2A2A8"/>
                </a:solidFill>
                <a:latin typeface="Telegraf"/>
              </a:rPr>
              <a:t>Escalation</a:t>
            </a:r>
            <a:endParaRPr sz="600" spc="0">
              <a:solidFill>
                <a:srgbClr val="A2A2A8"/>
              </a:solidFill>
              <a:latin typeface="Telegraf"/>
            </a:endParaRPr>
          </a:p>
        </p:txBody>
      </p:sp>
      <p:sp>
        <p:nvSpPr>
          <p:cNvPr id="884" name="TextBox 22"/>
          <p:cNvSpPr txBox="1"/>
          <p:nvPr/>
        </p:nvSpPr>
        <p:spPr>
          <a:xfrm>
            <a:off x="635000" y="26162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when a human steps in</a:t>
            </a:r>
            <a:endParaRPr sz="480" spc="0">
              <a:solidFill>
                <a:srgbClr val="A2A2A8"/>
              </a:solidFill>
              <a:latin typeface="Telegraf"/>
            </a:endParaRPr>
          </a:p>
        </p:txBody>
      </p:sp>
      <p:sp>
        <p:nvSpPr>
          <p:cNvPr id="885" name="Oval 23"/>
          <p:cNvSpPr/>
          <p:nvPr/>
        </p:nvSpPr>
        <p:spPr>
          <a:xfrm>
            <a:off x="317500" y="3086100"/>
            <a:ext cx="177800" cy="177800"/>
          </a:xfrm>
          <a:prstGeom prst="ellipse">
            <a:avLst/>
          </a:pr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86" name="TextBox 24"/>
          <p:cNvSpPr txBox="1"/>
          <p:nvPr/>
        </p:nvSpPr>
        <p:spPr>
          <a:xfrm>
            <a:off x="317500" y="3091180"/>
            <a:ext cx="177800" cy="152400"/>
          </a:xfrm>
          <a:prstGeom prst="rect">
            <a:avLst/>
          </a:prstGeom>
        </p:spPr>
        <p:txBody>
          <a:bodyPr wrap="square" lIns="0" tIns="0" rIns="0" bIns="0">
            <a:noAutofit/>
          </a:bodyPr>
          <a:lstStyle/>
          <a:p>
            <a:pPr algn="ctr">
              <a:lnSpc>
                <a:spcPct val="135000"/>
              </a:lnSpc>
            </a:pPr>
            <a:r>
              <a:rPr sz="440" b="1" spc="0">
                <a:solidFill>
                  <a:srgbClr val="A2A2A8"/>
                </a:solidFill>
                <a:latin typeface="Telegraf"/>
              </a:rPr>
              <a:t>04</a:t>
            </a:r>
            <a:endParaRPr sz="440" b="1" spc="0">
              <a:solidFill>
                <a:srgbClr val="A2A2A8"/>
              </a:solidFill>
              <a:latin typeface="Telegraf"/>
            </a:endParaRPr>
          </a:p>
        </p:txBody>
      </p:sp>
      <p:sp>
        <p:nvSpPr>
          <p:cNvPr id="887" name="TextBox 25"/>
          <p:cNvSpPr txBox="1"/>
          <p:nvPr/>
        </p:nvSpPr>
        <p:spPr>
          <a:xfrm>
            <a:off x="635000" y="3086100"/>
            <a:ext cx="2133600" cy="127000"/>
          </a:xfrm>
          <a:prstGeom prst="rect">
            <a:avLst/>
          </a:prstGeom>
        </p:spPr>
        <p:txBody>
          <a:bodyPr wrap="square" lIns="0" tIns="0" rIns="0" bIns="0">
            <a:noAutofit/>
          </a:bodyPr>
          <a:lstStyle/>
          <a:p>
            <a:pPr>
              <a:lnSpc>
                <a:spcPct val="135000"/>
              </a:lnSpc>
            </a:pPr>
            <a:r>
              <a:rPr sz="600" spc="0">
                <a:solidFill>
                  <a:srgbClr val="A2A2A8"/>
                </a:solidFill>
                <a:latin typeface="Telegraf"/>
              </a:rPr>
              <a:t>Channels</a:t>
            </a:r>
            <a:endParaRPr sz="600" spc="0">
              <a:solidFill>
                <a:srgbClr val="A2A2A8"/>
              </a:solidFill>
              <a:latin typeface="Telegraf"/>
            </a:endParaRPr>
          </a:p>
        </p:txBody>
      </p:sp>
      <p:sp>
        <p:nvSpPr>
          <p:cNvPr id="888" name="TextBox 26"/>
          <p:cNvSpPr txBox="1"/>
          <p:nvPr/>
        </p:nvSpPr>
        <p:spPr>
          <a:xfrm>
            <a:off x="635000" y="32258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where messages arrive</a:t>
            </a:r>
            <a:endParaRPr sz="480" spc="0">
              <a:solidFill>
                <a:srgbClr val="A2A2A8"/>
              </a:solidFill>
              <a:latin typeface="Telegraf"/>
            </a:endParaRPr>
          </a:p>
        </p:txBody>
      </p:sp>
      <p:sp>
        <p:nvSpPr>
          <p:cNvPr id="889" name="TextBox 27"/>
          <p:cNvSpPr txBox="1"/>
          <p:nvPr/>
        </p:nvSpPr>
        <p:spPr>
          <a:xfrm>
            <a:off x="304800" y="5918200"/>
            <a:ext cx="2667000" cy="508000"/>
          </a:xfrm>
          <a:prstGeom prst="rect">
            <a:avLst/>
          </a:prstGeom>
        </p:spPr>
        <p:txBody>
          <a:bodyPr wrap="square" lIns="0" tIns="0" rIns="0" bIns="0">
            <a:noAutofit/>
          </a:bodyPr>
          <a:lstStyle/>
          <a:p>
            <a:pPr>
              <a:lnSpc>
                <a:spcPct val="150000"/>
              </a:lnSpc>
            </a:pPr>
            <a:r>
              <a:rPr sz="500" spc="0">
                <a:solidFill>
                  <a:srgbClr val="A2A2A8"/>
                </a:solidFill>
                <a:latin typeface="Telegraf"/>
              </a:rPr>
              <a:t>Saved as you type. The brain compiles into chunks on the last step — nothing is sent before that.</a:t>
            </a:r>
            <a:endParaRPr sz="500" spc="0">
              <a:solidFill>
                <a:srgbClr val="A2A2A8"/>
              </a:solidFill>
              <a:latin typeface="Telegraf"/>
            </a:endParaRPr>
          </a:p>
        </p:txBody>
      </p:sp>
      <p:sp>
        <p:nvSpPr>
          <p:cNvPr id="890" name="TextBox 28"/>
          <p:cNvSpPr txBox="1"/>
          <p:nvPr/>
        </p:nvSpPr>
        <p:spPr>
          <a:xfrm>
            <a:off x="3632200" y="863600"/>
            <a:ext cx="3048000" cy="114300"/>
          </a:xfrm>
          <a:prstGeom prst="rect">
            <a:avLst/>
          </a:prstGeom>
        </p:spPr>
        <p:txBody>
          <a:bodyPr wrap="square" lIns="0" tIns="0" rIns="0" bIns="0">
            <a:noAutofit/>
          </a:bodyPr>
          <a:lstStyle/>
          <a:p>
            <a:r>
              <a:rPr sz="480" b="1" spc="125">
                <a:solidFill>
                  <a:srgbClr val="0E6B5F"/>
                </a:solidFill>
                <a:latin typeface="Telegraf"/>
              </a:rPr>
              <a:t>STEP 2 OF 4</a:t>
            </a:r>
            <a:endParaRPr sz="480" b="1" spc="125">
              <a:solidFill>
                <a:srgbClr val="0E6B5F"/>
              </a:solidFill>
              <a:latin typeface="Telegraf"/>
            </a:endParaRPr>
          </a:p>
        </p:txBody>
      </p:sp>
      <p:sp>
        <p:nvSpPr>
          <p:cNvPr id="891" name="TextBox 29"/>
          <p:cNvSpPr txBox="1"/>
          <p:nvPr/>
        </p:nvSpPr>
        <p:spPr>
          <a:xfrm>
            <a:off x="3619500" y="1016000"/>
            <a:ext cx="6350000" cy="711200"/>
          </a:xfrm>
          <a:prstGeom prst="rect">
            <a:avLst/>
          </a:prstGeom>
        </p:spPr>
        <p:txBody>
          <a:bodyPr wrap="square" lIns="0" tIns="0" rIns="0" bIns="0">
            <a:noAutofit/>
          </a:bodyPr>
          <a:lstStyle/>
          <a:p>
            <a:pPr>
              <a:lnSpc>
                <a:spcPct val="102000"/>
              </a:lnSpc>
            </a:pPr>
            <a:r>
              <a:rPr sz="2500" spc="-110">
                <a:solidFill>
                  <a:srgbClr val="0A0A0A"/>
                </a:solidFill>
                <a:latin typeface="PP Editorial New Ultralight"/>
              </a:rPr>
              <a:t>What do you sell,</a:t>
            </a:r>
            <a:endParaRPr sz="2500" spc="-110">
              <a:solidFill>
                <a:srgbClr val="0A0A0A"/>
              </a:solidFill>
              <a:latin typeface="PP Editorial New Ultralight"/>
            </a:endParaRPr>
          </a:p>
          <a:p>
            <a:pPr>
              <a:lnSpc>
                <a:spcPct val="102000"/>
              </a:lnSpc>
            </a:pPr>
            <a:r>
              <a:rPr sz="2500" spc="-110">
                <a:solidFill>
                  <a:srgbClr val="0A0A0A"/>
                </a:solidFill>
                <a:latin typeface="PP Editorial New Ultralight"/>
              </a:rPr>
              <a:t>and what do you promise?</a:t>
            </a:r>
            <a:endParaRPr sz="2500" spc="-110">
              <a:solidFill>
                <a:srgbClr val="0A0A0A"/>
              </a:solidFill>
              <a:latin typeface="PP Editorial New Ultralight"/>
            </a:endParaRPr>
          </a:p>
        </p:txBody>
      </p:sp>
      <p:sp>
        <p:nvSpPr>
          <p:cNvPr id="892" name="TextBox 30"/>
          <p:cNvSpPr txBox="1"/>
          <p:nvPr/>
        </p:nvSpPr>
        <p:spPr>
          <a:xfrm>
            <a:off x="3644900" y="1803400"/>
            <a:ext cx="5969000" cy="304800"/>
          </a:xfrm>
          <a:prstGeom prst="rect">
            <a:avLst/>
          </a:prstGeom>
        </p:spPr>
        <p:txBody>
          <a:bodyPr wrap="square" lIns="0" tIns="0" rIns="0" bIns="0">
            <a:noAutofit/>
          </a:bodyPr>
          <a:lstStyle/>
          <a:p>
            <a:pPr>
              <a:lnSpc>
                <a:spcPct val="150000"/>
              </a:lnSpc>
            </a:pPr>
            <a:r>
              <a:rPr sz="620" spc="0">
                <a:solidFill>
                  <a:srgbClr val="67676E"/>
                </a:solidFill>
                <a:latin typeface="Telegraf"/>
              </a:rPr>
              <a:t>Prices, hours and one FAQ pair. This is the text the retriever will quote verbatim.</a:t>
            </a:r>
            <a:endParaRPr sz="620" spc="0">
              <a:solidFill>
                <a:srgbClr val="67676E"/>
              </a:solidFill>
              <a:latin typeface="Telegraf"/>
            </a:endParaRPr>
          </a:p>
        </p:txBody>
      </p:sp>
      <p:sp>
        <p:nvSpPr>
          <p:cNvPr id="893" name="Rectangle 31"/>
          <p:cNvSpPr/>
          <p:nvPr/>
        </p:nvSpPr>
        <p:spPr>
          <a:xfrm>
            <a:off x="3632200" y="5740400"/>
            <a:ext cx="6375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94" name="Rectangle 32"/>
          <p:cNvSpPr/>
          <p:nvPr/>
        </p:nvSpPr>
        <p:spPr>
          <a:xfrm>
            <a:off x="3632200" y="5892800"/>
            <a:ext cx="736600" cy="279400"/>
          </a:xfrm>
          <a:custGeom>
            <a:avLst/>
            <a:gdLst/>
            <a:ahLst/>
            <a:cxnLst/>
            <a:rect l="l" t="t" r="r" b="b"/>
            <a:pathLst>
              <a:path w="100000" h="37931">
                <a:moveTo>
                  <a:pt x="81034" y="0"/>
                </a:moveTo>
                <a:cubicBezTo>
                  <a:pt x="81034" y="0"/>
                  <a:pt x="81034" y="0"/>
                  <a:pt x="81034" y="0"/>
                </a:cubicBezTo>
                <a:cubicBezTo>
                  <a:pt x="91509" y="0"/>
                  <a:pt x="100000" y="8491"/>
                  <a:pt x="100000" y="18966"/>
                </a:cubicBezTo>
                <a:cubicBezTo>
                  <a:pt x="100000" y="18966"/>
                  <a:pt x="100000" y="18966"/>
                  <a:pt x="100000" y="18966"/>
                </a:cubicBezTo>
                <a:lnTo>
                  <a:pt x="100000" y="18966"/>
                </a:lnTo>
                <a:cubicBezTo>
                  <a:pt x="100000" y="18966"/>
                  <a:pt x="100000" y="18966"/>
                  <a:pt x="100000" y="18966"/>
                </a:cubicBezTo>
                <a:cubicBezTo>
                  <a:pt x="100000" y="29440"/>
                  <a:pt x="91509" y="37931"/>
                  <a:pt x="81034" y="37931"/>
                </a:cubicBezTo>
                <a:cubicBezTo>
                  <a:pt x="81034" y="37931"/>
                  <a:pt x="81034" y="37931"/>
                  <a:pt x="81034" y="37931"/>
                </a:cubicBezTo>
                <a:lnTo>
                  <a:pt x="18966" y="37931"/>
                </a:lnTo>
                <a:cubicBezTo>
                  <a:pt x="18966" y="37931"/>
                  <a:pt x="18966" y="37931"/>
                  <a:pt x="18966" y="37931"/>
                </a:cubicBezTo>
                <a:cubicBezTo>
                  <a:pt x="8491" y="37931"/>
                  <a:pt x="0" y="29440"/>
                  <a:pt x="0" y="18966"/>
                </a:cubicBezTo>
                <a:cubicBezTo>
                  <a:pt x="0" y="18966"/>
                  <a:pt x="0" y="18966"/>
                  <a:pt x="0" y="18966"/>
                </a:cubicBezTo>
                <a:lnTo>
                  <a:pt x="0" y="18966"/>
                </a:lnTo>
                <a:cubicBezTo>
                  <a:pt x="0" y="18966"/>
                  <a:pt x="0" y="18966"/>
                  <a:pt x="0" y="18966"/>
                </a:cubicBezTo>
                <a:cubicBezTo>
                  <a:pt x="0" y="8491"/>
                  <a:pt x="8491" y="0"/>
                  <a:pt x="18966" y="0"/>
                </a:cubicBezTo>
                <a:cubicBezTo>
                  <a:pt x="18966" y="0"/>
                  <a:pt x="18966" y="0"/>
                  <a:pt x="1896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95" name="TextBox 33"/>
          <p:cNvSpPr txBox="1"/>
          <p:nvPr/>
        </p:nvSpPr>
        <p:spPr>
          <a:xfrm>
            <a:off x="3708400" y="5892800"/>
            <a:ext cx="609600" cy="279400"/>
          </a:xfrm>
          <a:prstGeom prst="rect">
            <a:avLst/>
          </a:prstGeom>
        </p:spPr>
        <p:txBody>
          <a:bodyPr wrap="square" lIns="0" tIns="0" rIns="0" bIns="0" anchor="ctr">
            <a:noAutofit/>
          </a:bodyPr>
          <a:lstStyle/>
          <a:p>
            <a:pPr>
              <a:lnSpc>
                <a:spcPct val="135000"/>
              </a:lnSpc>
            </a:pPr>
            <a:r>
              <a:rPr sz="520" b="1" spc="10">
                <a:solidFill>
                  <a:srgbClr val="67676E"/>
                </a:solidFill>
                <a:latin typeface="Telegraf"/>
              </a:rPr>
              <a:t>← Back</a:t>
            </a:r>
            <a:endParaRPr sz="520" b="1" spc="10">
              <a:solidFill>
                <a:srgbClr val="67676E"/>
              </a:solidFill>
              <a:latin typeface="Telegraf"/>
            </a:endParaRPr>
          </a:p>
        </p:txBody>
      </p:sp>
      <p:sp>
        <p:nvSpPr>
          <p:cNvPr id="896" name="TextBox 34"/>
          <p:cNvSpPr txBox="1"/>
          <p:nvPr/>
        </p:nvSpPr>
        <p:spPr>
          <a:xfrm>
            <a:off x="5461000" y="5969000"/>
            <a:ext cx="1143000" cy="127000"/>
          </a:xfrm>
          <a:prstGeom prst="rect">
            <a:avLst/>
          </a:prstGeom>
        </p:spPr>
        <p:txBody>
          <a:bodyPr wrap="square" lIns="0" tIns="0" rIns="0" bIns="0">
            <a:noAutofit/>
          </a:bodyPr>
          <a:lstStyle/>
          <a:p>
            <a:pPr algn="ctr"/>
            <a:r>
              <a:rPr sz="480" b="1" spc="120">
                <a:solidFill>
                  <a:srgbClr val="A2A2A8"/>
                </a:solidFill>
                <a:latin typeface="Telegraf"/>
              </a:rPr>
              <a:t>2 / 4</a:t>
            </a:r>
            <a:endParaRPr sz="480" b="1" spc="120">
              <a:solidFill>
                <a:srgbClr val="A2A2A8"/>
              </a:solidFill>
              <a:latin typeface="Telegraf"/>
            </a:endParaRPr>
          </a:p>
        </p:txBody>
      </p:sp>
      <p:sp>
        <p:nvSpPr>
          <p:cNvPr id="897" name="Rectangle 35"/>
          <p:cNvSpPr/>
          <p:nvPr/>
        </p:nvSpPr>
        <p:spPr>
          <a:xfrm>
            <a:off x="8280400" y="5867400"/>
            <a:ext cx="1727200" cy="330200"/>
          </a:xfrm>
          <a:custGeom>
            <a:avLst/>
            <a:gdLst/>
            <a:ahLst/>
            <a:cxnLst/>
            <a:rect l="l" t="t" r="r" b="b"/>
            <a:pathLst>
              <a:path w="100000" h="19118">
                <a:moveTo>
                  <a:pt x="90441" y="0"/>
                </a:moveTo>
                <a:cubicBezTo>
                  <a:pt x="90441" y="0"/>
                  <a:pt x="90441" y="0"/>
                  <a:pt x="90441" y="0"/>
                </a:cubicBezTo>
                <a:cubicBezTo>
                  <a:pt x="95721" y="0"/>
                  <a:pt x="100000" y="4279"/>
                  <a:pt x="100000" y="9559"/>
                </a:cubicBezTo>
                <a:cubicBezTo>
                  <a:pt x="100000" y="9559"/>
                  <a:pt x="100000" y="9559"/>
                  <a:pt x="100000" y="9559"/>
                </a:cubicBezTo>
                <a:lnTo>
                  <a:pt x="100000" y="9559"/>
                </a:lnTo>
                <a:cubicBezTo>
                  <a:pt x="100000" y="9559"/>
                  <a:pt x="100000" y="9559"/>
                  <a:pt x="100000" y="9559"/>
                </a:cubicBezTo>
                <a:cubicBezTo>
                  <a:pt x="100000" y="14838"/>
                  <a:pt x="95721" y="19118"/>
                  <a:pt x="90441" y="19118"/>
                </a:cubicBezTo>
                <a:cubicBezTo>
                  <a:pt x="90441" y="19118"/>
                  <a:pt x="90441" y="19118"/>
                  <a:pt x="90441" y="19118"/>
                </a:cubicBezTo>
                <a:lnTo>
                  <a:pt x="9559" y="19118"/>
                </a:lnTo>
                <a:cubicBezTo>
                  <a:pt x="9559" y="19118"/>
                  <a:pt x="9559" y="19118"/>
                  <a:pt x="9559" y="19118"/>
                </a:cubicBezTo>
                <a:cubicBezTo>
                  <a:pt x="4279" y="19118"/>
                  <a:pt x="0" y="14838"/>
                  <a:pt x="0" y="9559"/>
                </a:cubicBezTo>
                <a:cubicBezTo>
                  <a:pt x="0" y="9559"/>
                  <a:pt x="0" y="9559"/>
                  <a:pt x="0" y="9559"/>
                </a:cubicBezTo>
                <a:lnTo>
                  <a:pt x="0" y="9559"/>
                </a:lnTo>
                <a:cubicBezTo>
                  <a:pt x="0" y="9559"/>
                  <a:pt x="0" y="9559"/>
                  <a:pt x="0" y="9559"/>
                </a:cubicBezTo>
                <a:cubicBezTo>
                  <a:pt x="0" y="4279"/>
                  <a:pt x="4279" y="0"/>
                  <a:pt x="9559" y="0"/>
                </a:cubicBezTo>
                <a:cubicBezTo>
                  <a:pt x="9559" y="0"/>
                  <a:pt x="9559" y="0"/>
                  <a:pt x="9559"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898" name="TextBox 36"/>
          <p:cNvSpPr txBox="1"/>
          <p:nvPr/>
        </p:nvSpPr>
        <p:spPr>
          <a:xfrm>
            <a:off x="8356600" y="5867400"/>
            <a:ext cx="1600200" cy="3302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Continue →</a:t>
            </a:r>
            <a:endParaRPr sz="580" b="1" spc="10">
              <a:solidFill>
                <a:srgbClr val="FFFFFF"/>
              </a:solidFill>
              <a:latin typeface="Telegraf"/>
            </a:endParaRPr>
          </a:p>
        </p:txBody>
      </p:sp>
      <p:sp>
        <p:nvSpPr>
          <p:cNvPr id="899" name="TextBox 37"/>
          <p:cNvSpPr txBox="1"/>
          <p:nvPr/>
        </p:nvSpPr>
        <p:spPr>
          <a:xfrm>
            <a:off x="3632200" y="2120900"/>
            <a:ext cx="2032000" cy="114300"/>
          </a:xfrm>
          <a:prstGeom prst="rect">
            <a:avLst/>
          </a:prstGeom>
        </p:spPr>
        <p:txBody>
          <a:bodyPr wrap="square" lIns="0" tIns="0" rIns="0" bIns="0">
            <a:noAutofit/>
          </a:bodyPr>
          <a:lstStyle/>
          <a:p>
            <a:r>
              <a:rPr sz="460" b="1" spc="100">
                <a:solidFill>
                  <a:srgbClr val="A2A2A8"/>
                </a:solidFill>
                <a:latin typeface="Telegraf"/>
              </a:rPr>
              <a:t>PRODUCTS &amp; PRICES</a:t>
            </a:r>
            <a:endParaRPr sz="460" b="1" spc="100">
              <a:solidFill>
                <a:srgbClr val="A2A2A8"/>
              </a:solidFill>
              <a:latin typeface="Telegraf"/>
            </a:endParaRPr>
          </a:p>
        </p:txBody>
      </p:sp>
      <p:sp>
        <p:nvSpPr>
          <p:cNvPr id="900" name="TextBox 38"/>
          <p:cNvSpPr txBox="1"/>
          <p:nvPr/>
        </p:nvSpPr>
        <p:spPr>
          <a:xfrm>
            <a:off x="7112000" y="2120900"/>
            <a:ext cx="762000" cy="114300"/>
          </a:xfrm>
          <a:prstGeom prst="rect">
            <a:avLst/>
          </a:prstGeom>
        </p:spPr>
        <p:txBody>
          <a:bodyPr wrap="square" lIns="0" tIns="0" rIns="0" bIns="0">
            <a:noAutofit/>
          </a:bodyPr>
          <a:lstStyle/>
          <a:p>
            <a:r>
              <a:rPr sz="460" b="1" spc="100">
                <a:solidFill>
                  <a:srgbClr val="A2A2A8"/>
                </a:solidFill>
                <a:latin typeface="Telegraf"/>
              </a:rPr>
              <a:t>PRICE</a:t>
            </a:r>
            <a:endParaRPr sz="460" b="1" spc="100">
              <a:solidFill>
                <a:srgbClr val="A2A2A8"/>
              </a:solidFill>
              <a:latin typeface="Telegraf"/>
            </a:endParaRPr>
          </a:p>
        </p:txBody>
      </p:sp>
      <p:sp>
        <p:nvSpPr>
          <p:cNvPr id="901" name="Rectangle 39"/>
          <p:cNvSpPr/>
          <p:nvPr/>
        </p:nvSpPr>
        <p:spPr>
          <a:xfrm>
            <a:off x="3632200" y="2286000"/>
            <a:ext cx="4241800" cy="330200"/>
          </a:xfrm>
          <a:custGeom>
            <a:avLst/>
            <a:gdLst/>
            <a:ahLst/>
            <a:cxnLst/>
            <a:rect l="l" t="t" r="r" b="b"/>
            <a:pathLst>
              <a:path w="100000" h="7784">
                <a:moveTo>
                  <a:pt x="96108" y="0"/>
                </a:moveTo>
                <a:cubicBezTo>
                  <a:pt x="97794" y="0"/>
                  <a:pt x="98637" y="0"/>
                  <a:pt x="99211" y="457"/>
                </a:cubicBezTo>
                <a:cubicBezTo>
                  <a:pt x="99334" y="555"/>
                  <a:pt x="99445" y="666"/>
                  <a:pt x="99543" y="789"/>
                </a:cubicBezTo>
                <a:cubicBezTo>
                  <a:pt x="100000" y="1363"/>
                  <a:pt x="100000" y="2206"/>
                  <a:pt x="100000" y="3892"/>
                </a:cubicBezTo>
                <a:lnTo>
                  <a:pt x="100000" y="3892"/>
                </a:lnTo>
                <a:cubicBezTo>
                  <a:pt x="100000" y="5579"/>
                  <a:pt x="100000" y="6422"/>
                  <a:pt x="99543" y="6995"/>
                </a:cubicBezTo>
                <a:cubicBezTo>
                  <a:pt x="99445" y="7118"/>
                  <a:pt x="99334" y="7229"/>
                  <a:pt x="99211" y="7327"/>
                </a:cubicBezTo>
                <a:cubicBezTo>
                  <a:pt x="98637" y="7784"/>
                  <a:pt x="97794" y="7784"/>
                  <a:pt x="96108" y="7784"/>
                </a:cubicBezTo>
                <a:lnTo>
                  <a:pt x="3892" y="7784"/>
                </a:lnTo>
                <a:cubicBezTo>
                  <a:pt x="2206" y="7784"/>
                  <a:pt x="1363" y="7784"/>
                  <a:pt x="789" y="7327"/>
                </a:cubicBezTo>
                <a:cubicBezTo>
                  <a:pt x="666" y="7229"/>
                  <a:pt x="555" y="7118"/>
                  <a:pt x="457" y="6995"/>
                </a:cubicBezTo>
                <a:cubicBezTo>
                  <a:pt x="0" y="6422"/>
                  <a:pt x="0" y="5579"/>
                  <a:pt x="0" y="3892"/>
                </a:cubicBezTo>
                <a:lnTo>
                  <a:pt x="0" y="3892"/>
                </a:lnTo>
                <a:cubicBezTo>
                  <a:pt x="0" y="2206"/>
                  <a:pt x="0" y="1363"/>
                  <a:pt x="457" y="789"/>
                </a:cubicBezTo>
                <a:cubicBezTo>
                  <a:pt x="555" y="666"/>
                  <a:pt x="666" y="555"/>
                  <a:pt x="789" y="457"/>
                </a:cubicBezTo>
                <a:cubicBezTo>
                  <a:pt x="1363" y="0"/>
                  <a:pt x="2206" y="0"/>
                  <a:pt x="3892"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02" name="Oval 40"/>
          <p:cNvSpPr/>
          <p:nvPr/>
        </p:nvSpPr>
        <p:spPr>
          <a:xfrm>
            <a:off x="3786505" y="241744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03" name="Oval 41"/>
          <p:cNvSpPr/>
          <p:nvPr/>
        </p:nvSpPr>
        <p:spPr>
          <a:xfrm>
            <a:off x="3786505" y="244030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04" name="Oval 42"/>
          <p:cNvSpPr/>
          <p:nvPr/>
        </p:nvSpPr>
        <p:spPr>
          <a:xfrm>
            <a:off x="3786505" y="246316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05" name="TextBox 43"/>
          <p:cNvSpPr txBox="1"/>
          <p:nvPr/>
        </p:nvSpPr>
        <p:spPr>
          <a:xfrm>
            <a:off x="3911600" y="2286000"/>
            <a:ext cx="2260600" cy="330200"/>
          </a:xfrm>
          <a:prstGeom prst="rect">
            <a:avLst/>
          </a:prstGeom>
        </p:spPr>
        <p:txBody>
          <a:bodyPr wrap="square" lIns="0" tIns="0" rIns="0" bIns="0" anchor="ctr">
            <a:noAutofit/>
          </a:bodyPr>
          <a:lstStyle/>
          <a:p>
            <a:pPr>
              <a:lnSpc>
                <a:spcPct val="135000"/>
              </a:lnSpc>
            </a:pPr>
            <a:r>
              <a:rPr sz="540" spc="0">
                <a:solidFill>
                  <a:srgbClr val="0A0A0A"/>
                </a:solidFill>
                <a:latin typeface="Telegraf"/>
              </a:rPr>
              <a:t>Starter plan  ·  1 user</a:t>
            </a:r>
            <a:endParaRPr sz="540" spc="0">
              <a:solidFill>
                <a:srgbClr val="0A0A0A"/>
              </a:solidFill>
              <a:latin typeface="Telegraf"/>
            </a:endParaRPr>
          </a:p>
        </p:txBody>
      </p:sp>
      <p:sp>
        <p:nvSpPr>
          <p:cNvPr id="906" name="TextBox 44"/>
          <p:cNvSpPr txBox="1"/>
          <p:nvPr/>
        </p:nvSpPr>
        <p:spPr>
          <a:xfrm>
            <a:off x="6273800" y="2286000"/>
            <a:ext cx="1473200" cy="330200"/>
          </a:xfrm>
          <a:prstGeom prst="rect">
            <a:avLst/>
          </a:prstGeom>
        </p:spPr>
        <p:txBody>
          <a:bodyPr wrap="square" lIns="0" tIns="0" rIns="0" bIns="0" anchor="ctr">
            <a:noAutofit/>
          </a:bodyPr>
          <a:lstStyle/>
          <a:p>
            <a:pPr algn="r">
              <a:lnSpc>
                <a:spcPct val="135000"/>
              </a:lnSpc>
            </a:pPr>
            <a:r>
              <a:rPr sz="540" b="1" spc="0">
                <a:solidFill>
                  <a:srgbClr val="0A0A0A"/>
                </a:solidFill>
                <a:latin typeface="Telegraf"/>
              </a:rPr>
              <a:t>₹499 / mo</a:t>
            </a:r>
            <a:endParaRPr sz="540" b="1" spc="0">
              <a:solidFill>
                <a:srgbClr val="0A0A0A"/>
              </a:solidFill>
              <a:latin typeface="Telegraf"/>
            </a:endParaRPr>
          </a:p>
        </p:txBody>
      </p:sp>
      <p:sp>
        <p:nvSpPr>
          <p:cNvPr id="907" name="Rectangle 45"/>
          <p:cNvSpPr/>
          <p:nvPr/>
        </p:nvSpPr>
        <p:spPr>
          <a:xfrm>
            <a:off x="3632200" y="2692400"/>
            <a:ext cx="4241800" cy="330200"/>
          </a:xfrm>
          <a:custGeom>
            <a:avLst/>
            <a:gdLst/>
            <a:ahLst/>
            <a:cxnLst/>
            <a:rect l="l" t="t" r="r" b="b"/>
            <a:pathLst>
              <a:path w="100000" h="7784">
                <a:moveTo>
                  <a:pt x="96108" y="0"/>
                </a:moveTo>
                <a:cubicBezTo>
                  <a:pt x="97794" y="0"/>
                  <a:pt x="98637" y="0"/>
                  <a:pt x="99211" y="457"/>
                </a:cubicBezTo>
                <a:cubicBezTo>
                  <a:pt x="99334" y="555"/>
                  <a:pt x="99445" y="666"/>
                  <a:pt x="99543" y="789"/>
                </a:cubicBezTo>
                <a:cubicBezTo>
                  <a:pt x="100000" y="1363"/>
                  <a:pt x="100000" y="2206"/>
                  <a:pt x="100000" y="3892"/>
                </a:cubicBezTo>
                <a:lnTo>
                  <a:pt x="100000" y="3892"/>
                </a:lnTo>
                <a:cubicBezTo>
                  <a:pt x="100000" y="5579"/>
                  <a:pt x="100000" y="6422"/>
                  <a:pt x="99543" y="6995"/>
                </a:cubicBezTo>
                <a:cubicBezTo>
                  <a:pt x="99445" y="7118"/>
                  <a:pt x="99334" y="7229"/>
                  <a:pt x="99211" y="7327"/>
                </a:cubicBezTo>
                <a:cubicBezTo>
                  <a:pt x="98637" y="7784"/>
                  <a:pt x="97794" y="7784"/>
                  <a:pt x="96108" y="7784"/>
                </a:cubicBezTo>
                <a:lnTo>
                  <a:pt x="3892" y="7784"/>
                </a:lnTo>
                <a:cubicBezTo>
                  <a:pt x="2206" y="7784"/>
                  <a:pt x="1363" y="7784"/>
                  <a:pt x="789" y="7327"/>
                </a:cubicBezTo>
                <a:cubicBezTo>
                  <a:pt x="666" y="7229"/>
                  <a:pt x="555" y="7118"/>
                  <a:pt x="457" y="6995"/>
                </a:cubicBezTo>
                <a:cubicBezTo>
                  <a:pt x="0" y="6422"/>
                  <a:pt x="0" y="5579"/>
                  <a:pt x="0" y="3892"/>
                </a:cubicBezTo>
                <a:lnTo>
                  <a:pt x="0" y="3892"/>
                </a:lnTo>
                <a:cubicBezTo>
                  <a:pt x="0" y="2206"/>
                  <a:pt x="0" y="1363"/>
                  <a:pt x="457" y="789"/>
                </a:cubicBezTo>
                <a:cubicBezTo>
                  <a:pt x="555" y="666"/>
                  <a:pt x="666" y="555"/>
                  <a:pt x="789" y="457"/>
                </a:cubicBezTo>
                <a:cubicBezTo>
                  <a:pt x="1363" y="0"/>
                  <a:pt x="2206" y="0"/>
                  <a:pt x="3892" y="0"/>
                </a:cubicBezTo>
                <a:close/>
              </a:path>
            </a:pathLst>
          </a:custGeom>
          <a:solidFill>
            <a:srgbClr val="FFFFFF"/>
          </a:solidFill>
          <a:ln w="1270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08" name="Oval 46"/>
          <p:cNvSpPr/>
          <p:nvPr/>
        </p:nvSpPr>
        <p:spPr>
          <a:xfrm>
            <a:off x="3786505" y="282384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09" name="Oval 47"/>
          <p:cNvSpPr/>
          <p:nvPr/>
        </p:nvSpPr>
        <p:spPr>
          <a:xfrm>
            <a:off x="3786505" y="284670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10" name="Oval 48"/>
          <p:cNvSpPr/>
          <p:nvPr/>
        </p:nvSpPr>
        <p:spPr>
          <a:xfrm>
            <a:off x="3786505" y="286956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11" name="TextBox 49"/>
          <p:cNvSpPr txBox="1"/>
          <p:nvPr/>
        </p:nvSpPr>
        <p:spPr>
          <a:xfrm>
            <a:off x="3911600" y="2692400"/>
            <a:ext cx="2260600" cy="330200"/>
          </a:xfrm>
          <a:prstGeom prst="rect">
            <a:avLst/>
          </a:prstGeom>
        </p:spPr>
        <p:txBody>
          <a:bodyPr wrap="square" lIns="0" tIns="0" rIns="0" bIns="0" anchor="ctr">
            <a:noAutofit/>
          </a:bodyPr>
          <a:lstStyle/>
          <a:p>
            <a:pPr>
              <a:lnSpc>
                <a:spcPct val="135000"/>
              </a:lnSpc>
            </a:pPr>
            <a:r>
              <a:rPr sz="540" spc="0">
                <a:solidFill>
                  <a:srgbClr val="0A0A0A"/>
                </a:solidFill>
                <a:latin typeface="Telegraf"/>
              </a:rPr>
              <a:t>Pro plan  ·  5 users, WhatsApp invoicing</a:t>
            </a:r>
            <a:endParaRPr sz="540" spc="0">
              <a:solidFill>
                <a:srgbClr val="0A0A0A"/>
              </a:solidFill>
              <a:latin typeface="Telegraf"/>
            </a:endParaRPr>
          </a:p>
        </p:txBody>
      </p:sp>
      <p:sp>
        <p:nvSpPr>
          <p:cNvPr id="912" name="TextBox 50"/>
          <p:cNvSpPr txBox="1"/>
          <p:nvPr/>
        </p:nvSpPr>
        <p:spPr>
          <a:xfrm>
            <a:off x="6273800" y="2692400"/>
            <a:ext cx="1473200" cy="330200"/>
          </a:xfrm>
          <a:prstGeom prst="rect">
            <a:avLst/>
          </a:prstGeom>
        </p:spPr>
        <p:txBody>
          <a:bodyPr wrap="square" lIns="0" tIns="0" rIns="0" bIns="0" anchor="ctr">
            <a:noAutofit/>
          </a:bodyPr>
          <a:lstStyle/>
          <a:p>
            <a:pPr algn="r">
              <a:lnSpc>
                <a:spcPct val="135000"/>
              </a:lnSpc>
            </a:pPr>
            <a:r>
              <a:rPr sz="540" b="1" spc="0">
                <a:solidFill>
                  <a:srgbClr val="0A0A0A"/>
                </a:solidFill>
                <a:latin typeface="Telegraf"/>
              </a:rPr>
              <a:t>₹1,499 / mo</a:t>
            </a:r>
            <a:endParaRPr sz="540" b="1" spc="0">
              <a:solidFill>
                <a:srgbClr val="0A0A0A"/>
              </a:solidFill>
              <a:latin typeface="Telegraf"/>
            </a:endParaRPr>
          </a:p>
        </p:txBody>
      </p:sp>
      <p:sp>
        <p:nvSpPr>
          <p:cNvPr id="913" name="Rectangle 51"/>
          <p:cNvSpPr/>
          <p:nvPr/>
        </p:nvSpPr>
        <p:spPr>
          <a:xfrm>
            <a:off x="3632200" y="3098800"/>
            <a:ext cx="4241800" cy="330200"/>
          </a:xfrm>
          <a:custGeom>
            <a:avLst/>
            <a:gdLst/>
            <a:ahLst/>
            <a:cxnLst/>
            <a:rect l="l" t="t" r="r" b="b"/>
            <a:pathLst>
              <a:path w="100000" h="7784">
                <a:moveTo>
                  <a:pt x="96108" y="0"/>
                </a:moveTo>
                <a:cubicBezTo>
                  <a:pt x="97794" y="0"/>
                  <a:pt x="98637" y="0"/>
                  <a:pt x="99211" y="457"/>
                </a:cubicBezTo>
                <a:cubicBezTo>
                  <a:pt x="99334" y="555"/>
                  <a:pt x="99445" y="666"/>
                  <a:pt x="99543" y="789"/>
                </a:cubicBezTo>
                <a:cubicBezTo>
                  <a:pt x="100000" y="1363"/>
                  <a:pt x="100000" y="2206"/>
                  <a:pt x="100000" y="3892"/>
                </a:cubicBezTo>
                <a:lnTo>
                  <a:pt x="100000" y="3892"/>
                </a:lnTo>
                <a:cubicBezTo>
                  <a:pt x="100000" y="5579"/>
                  <a:pt x="100000" y="6422"/>
                  <a:pt x="99543" y="6995"/>
                </a:cubicBezTo>
                <a:cubicBezTo>
                  <a:pt x="99445" y="7118"/>
                  <a:pt x="99334" y="7229"/>
                  <a:pt x="99211" y="7327"/>
                </a:cubicBezTo>
                <a:cubicBezTo>
                  <a:pt x="98637" y="7784"/>
                  <a:pt x="97794" y="7784"/>
                  <a:pt x="96108" y="7784"/>
                </a:cubicBezTo>
                <a:lnTo>
                  <a:pt x="3892" y="7784"/>
                </a:lnTo>
                <a:cubicBezTo>
                  <a:pt x="2206" y="7784"/>
                  <a:pt x="1363" y="7784"/>
                  <a:pt x="789" y="7327"/>
                </a:cubicBezTo>
                <a:cubicBezTo>
                  <a:pt x="666" y="7229"/>
                  <a:pt x="555" y="7118"/>
                  <a:pt x="457" y="6995"/>
                </a:cubicBezTo>
                <a:cubicBezTo>
                  <a:pt x="0" y="6422"/>
                  <a:pt x="0" y="5579"/>
                  <a:pt x="0" y="3892"/>
                </a:cubicBezTo>
                <a:lnTo>
                  <a:pt x="0" y="3892"/>
                </a:lnTo>
                <a:cubicBezTo>
                  <a:pt x="0" y="2206"/>
                  <a:pt x="0" y="1363"/>
                  <a:pt x="457" y="789"/>
                </a:cubicBezTo>
                <a:cubicBezTo>
                  <a:pt x="555" y="666"/>
                  <a:pt x="666" y="555"/>
                  <a:pt x="789" y="457"/>
                </a:cubicBezTo>
                <a:cubicBezTo>
                  <a:pt x="1363" y="0"/>
                  <a:pt x="2206" y="0"/>
                  <a:pt x="3892"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14" name="Oval 52"/>
          <p:cNvSpPr/>
          <p:nvPr/>
        </p:nvSpPr>
        <p:spPr>
          <a:xfrm>
            <a:off x="3786505" y="323024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15" name="Oval 53"/>
          <p:cNvSpPr/>
          <p:nvPr/>
        </p:nvSpPr>
        <p:spPr>
          <a:xfrm>
            <a:off x="3786505" y="325310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16" name="Oval 54"/>
          <p:cNvSpPr/>
          <p:nvPr/>
        </p:nvSpPr>
        <p:spPr>
          <a:xfrm>
            <a:off x="3786505" y="3275965"/>
            <a:ext cx="21590" cy="2159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17" name="TextBox 55"/>
          <p:cNvSpPr txBox="1"/>
          <p:nvPr/>
        </p:nvSpPr>
        <p:spPr>
          <a:xfrm>
            <a:off x="3911600" y="3098800"/>
            <a:ext cx="2260600" cy="330200"/>
          </a:xfrm>
          <a:prstGeom prst="rect">
            <a:avLst/>
          </a:prstGeom>
        </p:spPr>
        <p:txBody>
          <a:bodyPr wrap="square" lIns="0" tIns="0" rIns="0" bIns="0" anchor="ctr">
            <a:noAutofit/>
          </a:bodyPr>
          <a:lstStyle/>
          <a:p>
            <a:pPr>
              <a:lnSpc>
                <a:spcPct val="135000"/>
              </a:lnSpc>
            </a:pPr>
            <a:r>
              <a:rPr sz="540" spc="0">
                <a:solidFill>
                  <a:srgbClr val="0A0A0A"/>
                </a:solidFill>
                <a:latin typeface="Telegraf"/>
              </a:rPr>
              <a:t>Integration add-on  ·  GST API</a:t>
            </a:r>
            <a:endParaRPr sz="540" spc="0">
              <a:solidFill>
                <a:srgbClr val="0A0A0A"/>
              </a:solidFill>
              <a:latin typeface="Telegraf"/>
            </a:endParaRPr>
          </a:p>
        </p:txBody>
      </p:sp>
      <p:sp>
        <p:nvSpPr>
          <p:cNvPr id="918" name="TextBox 56"/>
          <p:cNvSpPr txBox="1"/>
          <p:nvPr/>
        </p:nvSpPr>
        <p:spPr>
          <a:xfrm>
            <a:off x="6273800" y="3098800"/>
            <a:ext cx="1473200" cy="330200"/>
          </a:xfrm>
          <a:prstGeom prst="rect">
            <a:avLst/>
          </a:prstGeom>
        </p:spPr>
        <p:txBody>
          <a:bodyPr wrap="square" lIns="0" tIns="0" rIns="0" bIns="0" anchor="ctr">
            <a:noAutofit/>
          </a:bodyPr>
          <a:lstStyle/>
          <a:p>
            <a:pPr algn="r">
              <a:lnSpc>
                <a:spcPct val="135000"/>
              </a:lnSpc>
            </a:pPr>
            <a:r>
              <a:rPr sz="540" b="1" spc="0">
                <a:solidFill>
                  <a:srgbClr val="0A0A0A"/>
                </a:solidFill>
                <a:latin typeface="Telegraf"/>
              </a:rPr>
              <a:t>₹299 / mo</a:t>
            </a:r>
            <a:endParaRPr sz="540" b="1" spc="0">
              <a:solidFill>
                <a:srgbClr val="0A0A0A"/>
              </a:solidFill>
              <a:latin typeface="Telegraf"/>
            </a:endParaRPr>
          </a:p>
        </p:txBody>
      </p:sp>
      <p:sp>
        <p:nvSpPr>
          <p:cNvPr id="919" name="TextBox 57"/>
          <p:cNvSpPr txBox="1"/>
          <p:nvPr/>
        </p:nvSpPr>
        <p:spPr>
          <a:xfrm>
            <a:off x="3632200" y="3556000"/>
            <a:ext cx="2540000" cy="152400"/>
          </a:xfrm>
          <a:prstGeom prst="rect">
            <a:avLst/>
          </a:prstGeom>
        </p:spPr>
        <p:txBody>
          <a:bodyPr wrap="square" lIns="0" tIns="0" rIns="0" bIns="0">
            <a:noAutofit/>
          </a:bodyPr>
          <a:lstStyle/>
          <a:p>
            <a:pPr>
              <a:lnSpc>
                <a:spcPct val="135000"/>
              </a:lnSpc>
            </a:pPr>
            <a:r>
              <a:rPr sz="520" spc="0">
                <a:solidFill>
                  <a:srgbClr val="0E6B5F"/>
                </a:solidFill>
                <a:latin typeface="Telegraf"/>
              </a:rPr>
              <a:t>+ Add another product</a:t>
            </a:r>
            <a:endParaRPr sz="520" spc="0">
              <a:solidFill>
                <a:srgbClr val="0E6B5F"/>
              </a:solidFill>
              <a:latin typeface="Telegraf"/>
            </a:endParaRPr>
          </a:p>
        </p:txBody>
      </p:sp>
      <p:sp>
        <p:nvSpPr>
          <p:cNvPr id="920" name="TextBox 58"/>
          <p:cNvSpPr txBox="1"/>
          <p:nvPr/>
        </p:nvSpPr>
        <p:spPr>
          <a:xfrm>
            <a:off x="3632200" y="3898900"/>
            <a:ext cx="3175000" cy="101600"/>
          </a:xfrm>
          <a:prstGeom prst="rect">
            <a:avLst/>
          </a:prstGeom>
        </p:spPr>
        <p:txBody>
          <a:bodyPr wrap="square" lIns="0" tIns="0" rIns="0" bIns="0">
            <a:noAutofit/>
          </a:bodyPr>
          <a:lstStyle/>
          <a:p>
            <a:r>
              <a:rPr sz="490" b="1" spc="100">
                <a:solidFill>
                  <a:srgbClr val="A2A2A8"/>
                </a:solidFill>
                <a:latin typeface="Telegraf"/>
              </a:rPr>
              <a:t>HOURS</a:t>
            </a:r>
            <a:endParaRPr sz="490" b="1" spc="100">
              <a:solidFill>
                <a:srgbClr val="A2A2A8"/>
              </a:solidFill>
              <a:latin typeface="Telegraf"/>
            </a:endParaRPr>
          </a:p>
        </p:txBody>
      </p:sp>
      <p:sp>
        <p:nvSpPr>
          <p:cNvPr id="921" name="Rectangle 59"/>
          <p:cNvSpPr/>
          <p:nvPr/>
        </p:nvSpPr>
        <p:spPr>
          <a:xfrm>
            <a:off x="3632200" y="4013200"/>
            <a:ext cx="3175000" cy="304800"/>
          </a:xfrm>
          <a:custGeom>
            <a:avLst/>
            <a:gdLst/>
            <a:ahLst/>
            <a:cxnLst/>
            <a:rect l="l" t="t" r="r" b="b"/>
            <a:pathLst>
              <a:path w="100000" h="9600">
                <a:moveTo>
                  <a:pt x="95200" y="0"/>
                </a:moveTo>
                <a:cubicBezTo>
                  <a:pt x="97071" y="0"/>
                  <a:pt x="98007" y="0"/>
                  <a:pt x="98690" y="429"/>
                </a:cubicBezTo>
                <a:cubicBezTo>
                  <a:pt x="99046" y="653"/>
                  <a:pt x="99347" y="954"/>
                  <a:pt x="99571" y="1310"/>
                </a:cubicBezTo>
                <a:cubicBezTo>
                  <a:pt x="100000" y="1993"/>
                  <a:pt x="100000" y="2929"/>
                  <a:pt x="100000" y="4800"/>
                </a:cubicBezTo>
                <a:lnTo>
                  <a:pt x="100000" y="4800"/>
                </a:lnTo>
                <a:cubicBezTo>
                  <a:pt x="100000" y="6671"/>
                  <a:pt x="100000" y="7607"/>
                  <a:pt x="99571" y="8290"/>
                </a:cubicBezTo>
                <a:cubicBezTo>
                  <a:pt x="99347" y="8646"/>
                  <a:pt x="99046" y="8947"/>
                  <a:pt x="98690" y="9171"/>
                </a:cubicBezTo>
                <a:cubicBezTo>
                  <a:pt x="98007" y="9600"/>
                  <a:pt x="97071" y="9600"/>
                  <a:pt x="95200" y="9600"/>
                </a:cubicBezTo>
                <a:lnTo>
                  <a:pt x="4800" y="9600"/>
                </a:lnTo>
                <a:cubicBezTo>
                  <a:pt x="2929" y="9600"/>
                  <a:pt x="1993" y="9600"/>
                  <a:pt x="1310" y="9171"/>
                </a:cubicBezTo>
                <a:cubicBezTo>
                  <a:pt x="954" y="8947"/>
                  <a:pt x="653" y="8646"/>
                  <a:pt x="429" y="8290"/>
                </a:cubicBezTo>
                <a:cubicBezTo>
                  <a:pt x="0" y="7607"/>
                  <a:pt x="0" y="6671"/>
                  <a:pt x="0" y="4800"/>
                </a:cubicBezTo>
                <a:lnTo>
                  <a:pt x="0" y="4800"/>
                </a:lnTo>
                <a:cubicBezTo>
                  <a:pt x="0" y="2929"/>
                  <a:pt x="0" y="1993"/>
                  <a:pt x="429" y="1310"/>
                </a:cubicBezTo>
                <a:cubicBezTo>
                  <a:pt x="653" y="954"/>
                  <a:pt x="954" y="653"/>
                  <a:pt x="1310" y="429"/>
                </a:cubicBezTo>
                <a:cubicBezTo>
                  <a:pt x="1993" y="0"/>
                  <a:pt x="2929" y="0"/>
                  <a:pt x="4800"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22" name="TextBox 60"/>
          <p:cNvSpPr txBox="1"/>
          <p:nvPr/>
        </p:nvSpPr>
        <p:spPr>
          <a:xfrm>
            <a:off x="3733800" y="4013200"/>
            <a:ext cx="2997200" cy="304800"/>
          </a:xfrm>
          <a:prstGeom prst="rect">
            <a:avLst/>
          </a:prstGeom>
        </p:spPr>
        <p:txBody>
          <a:bodyPr wrap="square" lIns="0" tIns="0" rIns="0" bIns="0" anchor="ctr">
            <a:noAutofit/>
          </a:bodyPr>
          <a:lstStyle/>
          <a:p>
            <a:pPr>
              <a:lnSpc>
                <a:spcPct val="140000"/>
              </a:lnSpc>
            </a:pPr>
            <a:r>
              <a:rPr sz="540" spc="0">
                <a:solidFill>
                  <a:srgbClr val="0A0A0A"/>
                </a:solidFill>
                <a:latin typeface="Telegraf"/>
              </a:rPr>
              <a:t>Mon–Sat · 9:00–19:00 IST</a:t>
            </a:r>
            <a:endParaRPr sz="540" spc="0">
              <a:solidFill>
                <a:srgbClr val="0A0A0A"/>
              </a:solidFill>
              <a:latin typeface="Telegraf"/>
            </a:endParaRPr>
          </a:p>
        </p:txBody>
      </p:sp>
      <p:sp>
        <p:nvSpPr>
          <p:cNvPr id="923" name="TextBox 61"/>
          <p:cNvSpPr txBox="1"/>
          <p:nvPr/>
        </p:nvSpPr>
        <p:spPr>
          <a:xfrm>
            <a:off x="3632200" y="4559300"/>
            <a:ext cx="3175000" cy="101600"/>
          </a:xfrm>
          <a:prstGeom prst="rect">
            <a:avLst/>
          </a:prstGeom>
        </p:spPr>
        <p:txBody>
          <a:bodyPr wrap="square" lIns="0" tIns="0" rIns="0" bIns="0">
            <a:noAutofit/>
          </a:bodyPr>
          <a:lstStyle/>
          <a:p>
            <a:r>
              <a:rPr sz="490" b="1" spc="100">
                <a:solidFill>
                  <a:srgbClr val="A2A2A8"/>
                </a:solidFill>
                <a:latin typeface="Telegraf"/>
              </a:rPr>
              <a:t>RETURN POLICY</a:t>
            </a:r>
            <a:endParaRPr sz="490" b="1" spc="100">
              <a:solidFill>
                <a:srgbClr val="A2A2A8"/>
              </a:solidFill>
              <a:latin typeface="Telegraf"/>
            </a:endParaRPr>
          </a:p>
        </p:txBody>
      </p:sp>
      <p:sp>
        <p:nvSpPr>
          <p:cNvPr id="924" name="Rectangle 62"/>
          <p:cNvSpPr/>
          <p:nvPr/>
        </p:nvSpPr>
        <p:spPr>
          <a:xfrm>
            <a:off x="3632200" y="4673600"/>
            <a:ext cx="3175000" cy="558800"/>
          </a:xfrm>
          <a:custGeom>
            <a:avLst/>
            <a:gdLst/>
            <a:ahLst/>
            <a:cxnLst/>
            <a:rect l="l" t="t" r="r" b="b"/>
            <a:pathLst>
              <a:path w="100000" h="17600">
                <a:moveTo>
                  <a:pt x="94400" y="0"/>
                </a:moveTo>
                <a:cubicBezTo>
                  <a:pt x="97040" y="0"/>
                  <a:pt x="98360" y="0"/>
                  <a:pt x="99180" y="820"/>
                </a:cubicBezTo>
                <a:cubicBezTo>
                  <a:pt x="99180" y="820"/>
                  <a:pt x="99180" y="820"/>
                  <a:pt x="99180" y="820"/>
                </a:cubicBezTo>
                <a:cubicBezTo>
                  <a:pt x="100000" y="1640"/>
                  <a:pt x="100000" y="2960"/>
                  <a:pt x="100000" y="5600"/>
                </a:cubicBezTo>
                <a:lnTo>
                  <a:pt x="100000" y="12000"/>
                </a:lnTo>
                <a:cubicBezTo>
                  <a:pt x="100000" y="14640"/>
                  <a:pt x="100000" y="15960"/>
                  <a:pt x="99180" y="16780"/>
                </a:cubicBezTo>
                <a:cubicBezTo>
                  <a:pt x="99180" y="16780"/>
                  <a:pt x="99180" y="16780"/>
                  <a:pt x="99180" y="16780"/>
                </a:cubicBezTo>
                <a:cubicBezTo>
                  <a:pt x="98360" y="17600"/>
                  <a:pt x="97040" y="17600"/>
                  <a:pt x="94400" y="17600"/>
                </a:cubicBezTo>
                <a:lnTo>
                  <a:pt x="5600" y="17600"/>
                </a:lnTo>
                <a:cubicBezTo>
                  <a:pt x="2960" y="17600"/>
                  <a:pt x="1640" y="17600"/>
                  <a:pt x="820" y="16780"/>
                </a:cubicBezTo>
                <a:cubicBezTo>
                  <a:pt x="820" y="16780"/>
                  <a:pt x="820" y="16780"/>
                  <a:pt x="820" y="16780"/>
                </a:cubicBezTo>
                <a:cubicBezTo>
                  <a:pt x="0" y="15960"/>
                  <a:pt x="0" y="14640"/>
                  <a:pt x="0" y="12000"/>
                </a:cubicBezTo>
                <a:lnTo>
                  <a:pt x="0" y="5600"/>
                </a:lnTo>
                <a:cubicBezTo>
                  <a:pt x="0" y="2960"/>
                  <a:pt x="0" y="1640"/>
                  <a:pt x="820" y="820"/>
                </a:cubicBezTo>
                <a:cubicBezTo>
                  <a:pt x="820" y="820"/>
                  <a:pt x="820" y="820"/>
                  <a:pt x="820" y="820"/>
                </a:cubicBezTo>
                <a:cubicBezTo>
                  <a:pt x="1640" y="0"/>
                  <a:pt x="2960" y="0"/>
                  <a:pt x="5600"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25" name="TextBox 63"/>
          <p:cNvSpPr txBox="1"/>
          <p:nvPr/>
        </p:nvSpPr>
        <p:spPr>
          <a:xfrm>
            <a:off x="3733800" y="4737100"/>
            <a:ext cx="2971800" cy="457200"/>
          </a:xfrm>
          <a:prstGeom prst="rect">
            <a:avLst/>
          </a:prstGeom>
        </p:spPr>
        <p:txBody>
          <a:bodyPr wrap="square" lIns="0" tIns="0" rIns="0" bIns="0">
            <a:noAutofit/>
          </a:bodyPr>
          <a:lstStyle/>
          <a:p>
            <a:pPr>
              <a:lnSpc>
                <a:spcPct val="145000"/>
              </a:lnSpc>
            </a:pPr>
            <a:r>
              <a:rPr sz="520" spc="0">
                <a:solidFill>
                  <a:srgbClr val="0A0A0A"/>
                </a:solidFill>
                <a:latin typeface="Telegraf"/>
              </a:rPr>
              <a:t>7-day full refund if fewer than 10 invoices were generated.</a:t>
            </a:r>
            <a:endParaRPr sz="520" spc="0">
              <a:solidFill>
                <a:srgbClr val="0A0A0A"/>
              </a:solidFill>
              <a:latin typeface="Telegraf"/>
            </a:endParaRPr>
          </a:p>
        </p:txBody>
      </p:sp>
      <p:sp>
        <p:nvSpPr>
          <p:cNvPr id="926" name="TextBox 64"/>
          <p:cNvSpPr txBox="1"/>
          <p:nvPr/>
        </p:nvSpPr>
        <p:spPr>
          <a:xfrm>
            <a:off x="3632200" y="5384800"/>
            <a:ext cx="2540000" cy="114300"/>
          </a:xfrm>
          <a:prstGeom prst="rect">
            <a:avLst/>
          </a:prstGeom>
        </p:spPr>
        <p:txBody>
          <a:bodyPr wrap="square" lIns="0" tIns="0" rIns="0" bIns="0">
            <a:noAutofit/>
          </a:bodyPr>
          <a:lstStyle/>
          <a:p>
            <a:r>
              <a:rPr sz="460" b="1" spc="100">
                <a:solidFill>
                  <a:srgbClr val="A2A2A8"/>
                </a:solidFill>
                <a:latin typeface="Telegraf"/>
              </a:rPr>
              <a:t>ONE FAQ PAIR</a:t>
            </a:r>
            <a:endParaRPr sz="460" b="1" spc="100">
              <a:solidFill>
                <a:srgbClr val="A2A2A8"/>
              </a:solidFill>
              <a:latin typeface="Telegraf"/>
            </a:endParaRPr>
          </a:p>
        </p:txBody>
      </p:sp>
      <p:sp>
        <p:nvSpPr>
          <p:cNvPr id="927" name="TextBox 65"/>
          <p:cNvSpPr txBox="1"/>
          <p:nvPr/>
        </p:nvSpPr>
        <p:spPr>
          <a:xfrm>
            <a:off x="3632200" y="5511800"/>
            <a:ext cx="3175000" cy="177800"/>
          </a:xfrm>
          <a:prstGeom prst="rect">
            <a:avLst/>
          </a:prstGeom>
        </p:spPr>
        <p:txBody>
          <a:bodyPr wrap="square" lIns="0" tIns="0" rIns="0" bIns="0">
            <a:noAutofit/>
          </a:bodyPr>
          <a:lstStyle/>
          <a:p>
            <a:pPr>
              <a:lnSpc>
                <a:spcPct val="135000"/>
              </a:lnSpc>
            </a:pPr>
            <a:r>
              <a:rPr sz="490" spc="0">
                <a:solidFill>
                  <a:srgbClr val="67676E"/>
                </a:solidFill>
                <a:latin typeface="Telegraf"/>
              </a:rPr>
              <a:t>Q: How do I export GSTR-1?   A: Reports › GST › Export JSON</a:t>
            </a:r>
            <a:endParaRPr sz="490" spc="0">
              <a:solidFill>
                <a:srgbClr val="67676E"/>
              </a:solidFill>
              <a:latin typeface="Telegraf"/>
            </a:endParaRPr>
          </a:p>
        </p:txBody>
      </p:sp>
      <p:sp>
        <p:nvSpPr>
          <p:cNvPr id="928" name="Rectangle 66"/>
          <p:cNvSpPr/>
          <p:nvPr/>
        </p:nvSpPr>
        <p:spPr>
          <a:xfrm>
            <a:off x="7061200" y="2235200"/>
            <a:ext cx="2946400" cy="812800"/>
          </a:xfrm>
          <a:custGeom>
            <a:avLst/>
            <a:gdLst/>
            <a:ahLst/>
            <a:cxnLst/>
            <a:rect l="l" t="t" r="r" b="b"/>
            <a:pathLst>
              <a:path w="100000" h="27586">
                <a:moveTo>
                  <a:pt x="91379" y="0"/>
                </a:moveTo>
                <a:cubicBezTo>
                  <a:pt x="95443" y="0"/>
                  <a:pt x="97475" y="0"/>
                  <a:pt x="98738" y="1263"/>
                </a:cubicBezTo>
                <a:cubicBezTo>
                  <a:pt x="98738" y="1263"/>
                  <a:pt x="98738" y="1263"/>
                  <a:pt x="98738" y="1263"/>
                </a:cubicBezTo>
                <a:cubicBezTo>
                  <a:pt x="100000" y="2525"/>
                  <a:pt x="100000" y="4557"/>
                  <a:pt x="100000" y="8621"/>
                </a:cubicBezTo>
                <a:lnTo>
                  <a:pt x="100000" y="18966"/>
                </a:lnTo>
                <a:cubicBezTo>
                  <a:pt x="100000" y="23029"/>
                  <a:pt x="100000" y="25061"/>
                  <a:pt x="98738" y="26324"/>
                </a:cubicBezTo>
                <a:cubicBezTo>
                  <a:pt x="98738" y="26324"/>
                  <a:pt x="98738" y="26324"/>
                  <a:pt x="98738" y="26324"/>
                </a:cubicBezTo>
                <a:cubicBezTo>
                  <a:pt x="97475" y="27586"/>
                  <a:pt x="95443" y="27586"/>
                  <a:pt x="91379" y="27586"/>
                </a:cubicBezTo>
                <a:lnTo>
                  <a:pt x="8621" y="27586"/>
                </a:lnTo>
                <a:cubicBezTo>
                  <a:pt x="4557" y="27586"/>
                  <a:pt x="2525" y="27586"/>
                  <a:pt x="1263" y="26324"/>
                </a:cubicBezTo>
                <a:cubicBezTo>
                  <a:pt x="1263" y="26324"/>
                  <a:pt x="1263" y="26324"/>
                  <a:pt x="1263" y="26324"/>
                </a:cubicBezTo>
                <a:cubicBezTo>
                  <a:pt x="0" y="25061"/>
                  <a:pt x="0" y="23029"/>
                  <a:pt x="0" y="18966"/>
                </a:cubicBezTo>
                <a:lnTo>
                  <a:pt x="0" y="8621"/>
                </a:lnTo>
                <a:cubicBezTo>
                  <a:pt x="0" y="4557"/>
                  <a:pt x="0" y="2525"/>
                  <a:pt x="1263" y="1263"/>
                </a:cubicBezTo>
                <a:cubicBezTo>
                  <a:pt x="1263" y="1263"/>
                  <a:pt x="1263" y="1263"/>
                  <a:pt x="1263" y="1263"/>
                </a:cubicBezTo>
                <a:cubicBezTo>
                  <a:pt x="2525" y="0"/>
                  <a:pt x="4557" y="0"/>
                  <a:pt x="8621" y="0"/>
                </a:cubicBezTo>
                <a:close/>
              </a:path>
            </a:pathLst>
          </a:custGeom>
          <a:solidFill>
            <a:srgbClr val="FBFBF9"/>
          </a:solidFill>
          <a:ln w="12700">
            <a:solidFill>
              <a:srgbClr val="E4E4DD"/>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29" name="Oval 67"/>
          <p:cNvSpPr/>
          <p:nvPr/>
        </p:nvSpPr>
        <p:spPr>
          <a:xfrm>
            <a:off x="7327900" y="2451100"/>
            <a:ext cx="228600" cy="2286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30" name="Rectangle 68"/>
          <p:cNvSpPr/>
          <p:nvPr/>
        </p:nvSpPr>
        <p:spPr>
          <a:xfrm>
            <a:off x="7403084" y="2565400"/>
            <a:ext cx="78232" cy="1143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31" name="Rectangle 69"/>
          <p:cNvSpPr/>
          <p:nvPr/>
        </p:nvSpPr>
        <p:spPr>
          <a:xfrm>
            <a:off x="7442200" y="2526284"/>
            <a:ext cx="11430" cy="78232"/>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32" name="TextBox 70"/>
          <p:cNvSpPr txBox="1"/>
          <p:nvPr/>
        </p:nvSpPr>
        <p:spPr>
          <a:xfrm>
            <a:off x="7620000" y="2413000"/>
            <a:ext cx="2286000" cy="152400"/>
          </a:xfrm>
          <a:prstGeom prst="rect">
            <a:avLst/>
          </a:prstGeom>
        </p:spPr>
        <p:txBody>
          <a:bodyPr wrap="square" lIns="0" tIns="0" rIns="0" bIns="0">
            <a:noAutofit/>
          </a:bodyPr>
          <a:lstStyle/>
          <a:p>
            <a:pPr>
              <a:lnSpc>
                <a:spcPct val="135000"/>
              </a:lnSpc>
            </a:pPr>
            <a:r>
              <a:rPr sz="560" b="1" spc="0">
                <a:solidFill>
                  <a:srgbClr val="0A0A0A"/>
                </a:solidFill>
                <a:latin typeface="Telegraf"/>
              </a:rPr>
              <a:t>Drop business_brain.md</a:t>
            </a:r>
            <a:endParaRPr sz="560" b="1" spc="0">
              <a:solidFill>
                <a:srgbClr val="0A0A0A"/>
              </a:solidFill>
              <a:latin typeface="Telegraf"/>
            </a:endParaRPr>
          </a:p>
        </p:txBody>
      </p:sp>
      <p:sp>
        <p:nvSpPr>
          <p:cNvPr id="933" name="TextBox 71"/>
          <p:cNvSpPr txBox="1"/>
          <p:nvPr/>
        </p:nvSpPr>
        <p:spPr>
          <a:xfrm>
            <a:off x="7620000" y="2578100"/>
            <a:ext cx="2286000" cy="152400"/>
          </a:xfrm>
          <a:prstGeom prst="rect">
            <a:avLst/>
          </a:prstGeom>
        </p:spPr>
        <p:txBody>
          <a:bodyPr wrap="square" lIns="0" tIns="0" rIns="0" bIns="0">
            <a:noAutofit/>
          </a:bodyPr>
          <a:lstStyle/>
          <a:p>
            <a:pPr>
              <a:lnSpc>
                <a:spcPct val="135000"/>
              </a:lnSpc>
            </a:pPr>
            <a:r>
              <a:rPr sz="480" spc="0">
                <a:solidFill>
                  <a:srgbClr val="A2A2A8"/>
                </a:solidFill>
                <a:latin typeface="Telegraf"/>
              </a:rPr>
              <a:t>or paste; we chunk it, not you</a:t>
            </a:r>
            <a:endParaRPr sz="480" spc="0">
              <a:solidFill>
                <a:srgbClr val="A2A2A8"/>
              </a:solidFill>
              <a:latin typeface="Telegraf"/>
            </a:endParaRPr>
          </a:p>
        </p:txBody>
      </p:sp>
      <p:sp>
        <p:nvSpPr>
          <p:cNvPr id="934" name="Rectangle 72"/>
          <p:cNvSpPr/>
          <p:nvPr/>
        </p:nvSpPr>
        <p:spPr>
          <a:xfrm>
            <a:off x="8890000" y="2743200"/>
            <a:ext cx="965200" cy="228600"/>
          </a:xfrm>
          <a:custGeom>
            <a:avLst/>
            <a:gdLst/>
            <a:ahLst/>
            <a:cxnLst/>
            <a:rect l="l" t="t" r="r" b="b"/>
            <a:pathLst>
              <a:path w="100000" h="23684">
                <a:moveTo>
                  <a:pt x="88158" y="0"/>
                </a:moveTo>
                <a:cubicBezTo>
                  <a:pt x="88158" y="0"/>
                  <a:pt x="88158" y="0"/>
                  <a:pt x="88158" y="0"/>
                </a:cubicBezTo>
                <a:cubicBezTo>
                  <a:pt x="94699" y="0"/>
                  <a:pt x="100000" y="5301"/>
                  <a:pt x="100000" y="11842"/>
                </a:cubicBezTo>
                <a:cubicBezTo>
                  <a:pt x="100000" y="11842"/>
                  <a:pt x="100000" y="11842"/>
                  <a:pt x="100000" y="11842"/>
                </a:cubicBezTo>
                <a:lnTo>
                  <a:pt x="100000" y="11842"/>
                </a:lnTo>
                <a:cubicBezTo>
                  <a:pt x="100000" y="11842"/>
                  <a:pt x="100000" y="11842"/>
                  <a:pt x="100000" y="11842"/>
                </a:cubicBezTo>
                <a:cubicBezTo>
                  <a:pt x="100000" y="18383"/>
                  <a:pt x="94699" y="23684"/>
                  <a:pt x="88158" y="23684"/>
                </a:cubicBezTo>
                <a:cubicBezTo>
                  <a:pt x="88158" y="23684"/>
                  <a:pt x="88158" y="23684"/>
                  <a:pt x="88158" y="23684"/>
                </a:cubicBezTo>
                <a:lnTo>
                  <a:pt x="11842" y="23684"/>
                </a:lnTo>
                <a:cubicBezTo>
                  <a:pt x="11842" y="23684"/>
                  <a:pt x="11842" y="23684"/>
                  <a:pt x="11842" y="23684"/>
                </a:cubicBezTo>
                <a:cubicBezTo>
                  <a:pt x="5301" y="23684"/>
                  <a:pt x="0" y="18383"/>
                  <a:pt x="0" y="11842"/>
                </a:cubicBezTo>
                <a:cubicBezTo>
                  <a:pt x="0" y="11842"/>
                  <a:pt x="0" y="11842"/>
                  <a:pt x="0" y="11842"/>
                </a:cubicBezTo>
                <a:lnTo>
                  <a:pt x="0" y="11842"/>
                </a:lnTo>
                <a:cubicBezTo>
                  <a:pt x="0" y="11842"/>
                  <a:pt x="0" y="11842"/>
                  <a:pt x="0" y="11842"/>
                </a:cubicBezTo>
                <a:cubicBezTo>
                  <a:pt x="0" y="5301"/>
                  <a:pt x="5301" y="0"/>
                  <a:pt x="11842" y="0"/>
                </a:cubicBezTo>
                <a:cubicBezTo>
                  <a:pt x="11842" y="0"/>
                  <a:pt x="11842" y="0"/>
                  <a:pt x="11842"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35" name="TextBox 73"/>
          <p:cNvSpPr txBox="1"/>
          <p:nvPr/>
        </p:nvSpPr>
        <p:spPr>
          <a:xfrm>
            <a:off x="8966200" y="2743200"/>
            <a:ext cx="838200" cy="228600"/>
          </a:xfrm>
          <a:prstGeom prst="rect">
            <a:avLst/>
          </a:prstGeom>
        </p:spPr>
        <p:txBody>
          <a:bodyPr wrap="square" lIns="0" tIns="0" rIns="0" bIns="0" anchor="ctr">
            <a:noAutofit/>
          </a:bodyPr>
          <a:lstStyle/>
          <a:p>
            <a:pPr>
              <a:lnSpc>
                <a:spcPct val="135000"/>
              </a:lnSpc>
            </a:pPr>
            <a:r>
              <a:rPr sz="460" b="1" spc="10">
                <a:solidFill>
                  <a:srgbClr val="67676E"/>
                </a:solidFill>
                <a:latin typeface="Telegraf"/>
              </a:rPr>
              <a:t>Browse files</a:t>
            </a:r>
            <a:endParaRPr sz="460" b="1" spc="10">
              <a:solidFill>
                <a:srgbClr val="67676E"/>
              </a:solidFill>
              <a:latin typeface="Telegraf"/>
            </a:endParaRPr>
          </a:p>
        </p:txBody>
      </p:sp>
      <p:sp>
        <p:nvSpPr>
          <p:cNvPr id="936" name="TextBox 74"/>
          <p:cNvSpPr txBox="1"/>
          <p:nvPr/>
        </p:nvSpPr>
        <p:spPr>
          <a:xfrm>
            <a:off x="7061200" y="3225800"/>
            <a:ext cx="2540000" cy="114300"/>
          </a:xfrm>
          <a:prstGeom prst="rect">
            <a:avLst/>
          </a:prstGeom>
        </p:spPr>
        <p:txBody>
          <a:bodyPr wrap="square" lIns="0" tIns="0" rIns="0" bIns="0">
            <a:noAutofit/>
          </a:bodyPr>
          <a:lstStyle/>
          <a:p>
            <a:r>
              <a:rPr sz="460" b="1" spc="100">
                <a:solidFill>
                  <a:srgbClr val="A2A2A8"/>
                </a:solidFill>
                <a:latin typeface="Telegraf"/>
              </a:rPr>
              <a:t>PARSED  ·  6 SECTIONS</a:t>
            </a:r>
            <a:endParaRPr sz="460" b="1" spc="100">
              <a:solidFill>
                <a:srgbClr val="A2A2A8"/>
              </a:solidFill>
              <a:latin typeface="Telegraf"/>
            </a:endParaRPr>
          </a:p>
        </p:txBody>
      </p:sp>
      <p:sp>
        <p:nvSpPr>
          <p:cNvPr id="937" name="Oval 75"/>
          <p:cNvSpPr/>
          <p:nvPr/>
        </p:nvSpPr>
        <p:spPr>
          <a:xfrm>
            <a:off x="7091680" y="34467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38" name="TextBox 76"/>
          <p:cNvSpPr txBox="1"/>
          <p:nvPr/>
        </p:nvSpPr>
        <p:spPr>
          <a:xfrm>
            <a:off x="7213600" y="3403600"/>
            <a:ext cx="1905000" cy="127000"/>
          </a:xfrm>
          <a:prstGeom prst="rect">
            <a:avLst/>
          </a:prstGeom>
        </p:spPr>
        <p:txBody>
          <a:bodyPr wrap="square" lIns="0" tIns="0" rIns="0" bIns="0">
            <a:noAutofit/>
          </a:bodyPr>
          <a:lstStyle/>
          <a:p>
            <a:pPr>
              <a:lnSpc>
                <a:spcPct val="135000"/>
              </a:lnSpc>
            </a:pPr>
            <a:r>
              <a:rPr sz="520" spc="0">
                <a:solidFill>
                  <a:srgbClr val="0A0A0A"/>
                </a:solidFill>
                <a:latin typeface="Telegraf"/>
              </a:rPr>
              <a:t>Products &amp; pricing</a:t>
            </a:r>
            <a:endParaRPr sz="520" spc="0">
              <a:solidFill>
                <a:srgbClr val="0A0A0A"/>
              </a:solidFill>
              <a:latin typeface="Telegraf"/>
            </a:endParaRPr>
          </a:p>
        </p:txBody>
      </p:sp>
      <p:sp>
        <p:nvSpPr>
          <p:cNvPr id="939" name="TextBox 77"/>
          <p:cNvSpPr txBox="1"/>
          <p:nvPr/>
        </p:nvSpPr>
        <p:spPr>
          <a:xfrm>
            <a:off x="9118600" y="3403600"/>
            <a:ext cx="889000" cy="127000"/>
          </a:xfrm>
          <a:prstGeom prst="rect">
            <a:avLst/>
          </a:prstGeom>
        </p:spPr>
        <p:txBody>
          <a:bodyPr wrap="square" lIns="0" tIns="0" rIns="0" bIns="0">
            <a:noAutofit/>
          </a:bodyPr>
          <a:lstStyle/>
          <a:p>
            <a:pPr algn="r">
              <a:lnSpc>
                <a:spcPct val="135000"/>
              </a:lnSpc>
            </a:pPr>
            <a:r>
              <a:rPr sz="480" spc="0">
                <a:solidFill>
                  <a:srgbClr val="A2A2A8"/>
                </a:solidFill>
                <a:latin typeface="Telegraf"/>
              </a:rPr>
              <a:t>210w</a:t>
            </a:r>
            <a:endParaRPr sz="480" spc="0">
              <a:solidFill>
                <a:srgbClr val="A2A2A8"/>
              </a:solidFill>
              <a:latin typeface="Telegraf"/>
            </a:endParaRPr>
          </a:p>
        </p:txBody>
      </p:sp>
      <p:sp>
        <p:nvSpPr>
          <p:cNvPr id="940" name="Rectangle 78"/>
          <p:cNvSpPr/>
          <p:nvPr/>
        </p:nvSpPr>
        <p:spPr>
          <a:xfrm>
            <a:off x="7061200" y="3581400"/>
            <a:ext cx="294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41" name="Oval 79"/>
          <p:cNvSpPr/>
          <p:nvPr/>
        </p:nvSpPr>
        <p:spPr>
          <a:xfrm>
            <a:off x="7091680" y="37134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42" name="TextBox 80"/>
          <p:cNvSpPr txBox="1"/>
          <p:nvPr/>
        </p:nvSpPr>
        <p:spPr>
          <a:xfrm>
            <a:off x="7213600" y="3670300"/>
            <a:ext cx="1905000" cy="127000"/>
          </a:xfrm>
          <a:prstGeom prst="rect">
            <a:avLst/>
          </a:prstGeom>
        </p:spPr>
        <p:txBody>
          <a:bodyPr wrap="square" lIns="0" tIns="0" rIns="0" bIns="0">
            <a:noAutofit/>
          </a:bodyPr>
          <a:lstStyle/>
          <a:p>
            <a:pPr>
              <a:lnSpc>
                <a:spcPct val="135000"/>
              </a:lnSpc>
            </a:pPr>
            <a:r>
              <a:rPr sz="520" spc="0">
                <a:solidFill>
                  <a:srgbClr val="0A0A0A"/>
                </a:solidFill>
                <a:latin typeface="Telegraf"/>
              </a:rPr>
              <a:t>Hours &amp; holidays</a:t>
            </a:r>
            <a:endParaRPr sz="520" spc="0">
              <a:solidFill>
                <a:srgbClr val="0A0A0A"/>
              </a:solidFill>
              <a:latin typeface="Telegraf"/>
            </a:endParaRPr>
          </a:p>
        </p:txBody>
      </p:sp>
      <p:sp>
        <p:nvSpPr>
          <p:cNvPr id="943" name="TextBox 81"/>
          <p:cNvSpPr txBox="1"/>
          <p:nvPr/>
        </p:nvSpPr>
        <p:spPr>
          <a:xfrm>
            <a:off x="9118600" y="3670300"/>
            <a:ext cx="889000" cy="127000"/>
          </a:xfrm>
          <a:prstGeom prst="rect">
            <a:avLst/>
          </a:prstGeom>
        </p:spPr>
        <p:txBody>
          <a:bodyPr wrap="square" lIns="0" tIns="0" rIns="0" bIns="0">
            <a:noAutofit/>
          </a:bodyPr>
          <a:lstStyle/>
          <a:p>
            <a:pPr algn="r">
              <a:lnSpc>
                <a:spcPct val="135000"/>
              </a:lnSpc>
            </a:pPr>
            <a:r>
              <a:rPr sz="480" spc="0">
                <a:solidFill>
                  <a:srgbClr val="A2A2A8"/>
                </a:solidFill>
                <a:latin typeface="Telegraf"/>
              </a:rPr>
              <a:t>90w</a:t>
            </a:r>
            <a:endParaRPr sz="480" spc="0">
              <a:solidFill>
                <a:srgbClr val="A2A2A8"/>
              </a:solidFill>
              <a:latin typeface="Telegraf"/>
            </a:endParaRPr>
          </a:p>
        </p:txBody>
      </p:sp>
      <p:sp>
        <p:nvSpPr>
          <p:cNvPr id="944" name="Rectangle 82"/>
          <p:cNvSpPr/>
          <p:nvPr/>
        </p:nvSpPr>
        <p:spPr>
          <a:xfrm>
            <a:off x="7061200" y="3848100"/>
            <a:ext cx="294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45" name="Oval 83"/>
          <p:cNvSpPr/>
          <p:nvPr/>
        </p:nvSpPr>
        <p:spPr>
          <a:xfrm>
            <a:off x="7091680" y="39801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46" name="TextBox 84"/>
          <p:cNvSpPr txBox="1"/>
          <p:nvPr/>
        </p:nvSpPr>
        <p:spPr>
          <a:xfrm>
            <a:off x="7213600" y="3937000"/>
            <a:ext cx="1905000" cy="127000"/>
          </a:xfrm>
          <a:prstGeom prst="rect">
            <a:avLst/>
          </a:prstGeom>
        </p:spPr>
        <p:txBody>
          <a:bodyPr wrap="square" lIns="0" tIns="0" rIns="0" bIns="0">
            <a:noAutofit/>
          </a:bodyPr>
          <a:lstStyle/>
          <a:p>
            <a:pPr>
              <a:lnSpc>
                <a:spcPct val="135000"/>
              </a:lnSpc>
            </a:pPr>
            <a:r>
              <a:rPr sz="520" spc="0">
                <a:solidFill>
                  <a:srgbClr val="0A0A0A"/>
                </a:solidFill>
                <a:latin typeface="Telegraf"/>
              </a:rPr>
              <a:t>Return policy</a:t>
            </a:r>
            <a:endParaRPr sz="520" spc="0">
              <a:solidFill>
                <a:srgbClr val="0A0A0A"/>
              </a:solidFill>
              <a:latin typeface="Telegraf"/>
            </a:endParaRPr>
          </a:p>
        </p:txBody>
      </p:sp>
      <p:sp>
        <p:nvSpPr>
          <p:cNvPr id="947" name="TextBox 85"/>
          <p:cNvSpPr txBox="1"/>
          <p:nvPr/>
        </p:nvSpPr>
        <p:spPr>
          <a:xfrm>
            <a:off x="9118600" y="3937000"/>
            <a:ext cx="889000" cy="127000"/>
          </a:xfrm>
          <a:prstGeom prst="rect">
            <a:avLst/>
          </a:prstGeom>
        </p:spPr>
        <p:txBody>
          <a:bodyPr wrap="square" lIns="0" tIns="0" rIns="0" bIns="0">
            <a:noAutofit/>
          </a:bodyPr>
          <a:lstStyle/>
          <a:p>
            <a:pPr algn="r">
              <a:lnSpc>
                <a:spcPct val="135000"/>
              </a:lnSpc>
            </a:pPr>
            <a:r>
              <a:rPr sz="480" spc="0">
                <a:solidFill>
                  <a:srgbClr val="A2A2A8"/>
                </a:solidFill>
                <a:latin typeface="Telegraf"/>
              </a:rPr>
              <a:t>180w</a:t>
            </a:r>
            <a:endParaRPr sz="480" spc="0">
              <a:solidFill>
                <a:srgbClr val="A2A2A8"/>
              </a:solidFill>
              <a:latin typeface="Telegraf"/>
            </a:endParaRPr>
          </a:p>
        </p:txBody>
      </p:sp>
      <p:sp>
        <p:nvSpPr>
          <p:cNvPr id="948" name="Rectangle 86"/>
          <p:cNvSpPr/>
          <p:nvPr/>
        </p:nvSpPr>
        <p:spPr>
          <a:xfrm>
            <a:off x="7061200" y="4114800"/>
            <a:ext cx="294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49" name="Oval 87"/>
          <p:cNvSpPr/>
          <p:nvPr/>
        </p:nvSpPr>
        <p:spPr>
          <a:xfrm>
            <a:off x="7091680" y="42468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50" name="TextBox 88"/>
          <p:cNvSpPr txBox="1"/>
          <p:nvPr/>
        </p:nvSpPr>
        <p:spPr>
          <a:xfrm>
            <a:off x="7213600" y="4203700"/>
            <a:ext cx="1905000" cy="127000"/>
          </a:xfrm>
          <a:prstGeom prst="rect">
            <a:avLst/>
          </a:prstGeom>
        </p:spPr>
        <p:txBody>
          <a:bodyPr wrap="square" lIns="0" tIns="0" rIns="0" bIns="0">
            <a:noAutofit/>
          </a:bodyPr>
          <a:lstStyle/>
          <a:p>
            <a:pPr>
              <a:lnSpc>
                <a:spcPct val="135000"/>
              </a:lnSpc>
            </a:pPr>
            <a:r>
              <a:rPr sz="520" spc="0">
                <a:solidFill>
                  <a:srgbClr val="0A0A0A"/>
                </a:solidFill>
                <a:latin typeface="Telegraf"/>
              </a:rPr>
              <a:t>Technical FAQ</a:t>
            </a:r>
            <a:endParaRPr sz="520" spc="0">
              <a:solidFill>
                <a:srgbClr val="0A0A0A"/>
              </a:solidFill>
              <a:latin typeface="Telegraf"/>
            </a:endParaRPr>
          </a:p>
        </p:txBody>
      </p:sp>
      <p:sp>
        <p:nvSpPr>
          <p:cNvPr id="951" name="TextBox 89"/>
          <p:cNvSpPr txBox="1"/>
          <p:nvPr/>
        </p:nvSpPr>
        <p:spPr>
          <a:xfrm>
            <a:off x="9118600" y="4203700"/>
            <a:ext cx="889000" cy="127000"/>
          </a:xfrm>
          <a:prstGeom prst="rect">
            <a:avLst/>
          </a:prstGeom>
        </p:spPr>
        <p:txBody>
          <a:bodyPr wrap="square" lIns="0" tIns="0" rIns="0" bIns="0">
            <a:noAutofit/>
          </a:bodyPr>
          <a:lstStyle/>
          <a:p>
            <a:pPr algn="r">
              <a:lnSpc>
                <a:spcPct val="135000"/>
              </a:lnSpc>
            </a:pPr>
            <a:r>
              <a:rPr sz="480" spc="0">
                <a:solidFill>
                  <a:srgbClr val="A2A2A8"/>
                </a:solidFill>
                <a:latin typeface="Telegraf"/>
              </a:rPr>
              <a:t>240w</a:t>
            </a:r>
            <a:endParaRPr sz="480" spc="0">
              <a:solidFill>
                <a:srgbClr val="A2A2A8"/>
              </a:solidFill>
              <a:latin typeface="Telegraf"/>
            </a:endParaRPr>
          </a:p>
        </p:txBody>
      </p:sp>
      <p:sp>
        <p:nvSpPr>
          <p:cNvPr id="952" name="Rectangle 90"/>
          <p:cNvSpPr/>
          <p:nvPr/>
        </p:nvSpPr>
        <p:spPr>
          <a:xfrm>
            <a:off x="7061200" y="4381500"/>
            <a:ext cx="294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53" name="Oval 91"/>
          <p:cNvSpPr/>
          <p:nvPr/>
        </p:nvSpPr>
        <p:spPr>
          <a:xfrm>
            <a:off x="7091680" y="45135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54" name="TextBox 92"/>
          <p:cNvSpPr txBox="1"/>
          <p:nvPr/>
        </p:nvSpPr>
        <p:spPr>
          <a:xfrm>
            <a:off x="7213600" y="4470400"/>
            <a:ext cx="1905000" cy="127000"/>
          </a:xfrm>
          <a:prstGeom prst="rect">
            <a:avLst/>
          </a:prstGeom>
        </p:spPr>
        <p:txBody>
          <a:bodyPr wrap="square" lIns="0" tIns="0" rIns="0" bIns="0">
            <a:noAutofit/>
          </a:bodyPr>
          <a:lstStyle/>
          <a:p>
            <a:pPr>
              <a:lnSpc>
                <a:spcPct val="135000"/>
              </a:lnSpc>
            </a:pPr>
            <a:r>
              <a:rPr sz="520" spc="0">
                <a:solidFill>
                  <a:srgbClr val="0A0A0A"/>
                </a:solidFill>
                <a:latin typeface="Telegraf"/>
              </a:rPr>
              <a:t>GST export steps</a:t>
            </a:r>
            <a:endParaRPr sz="520" spc="0">
              <a:solidFill>
                <a:srgbClr val="0A0A0A"/>
              </a:solidFill>
              <a:latin typeface="Telegraf"/>
            </a:endParaRPr>
          </a:p>
        </p:txBody>
      </p:sp>
      <p:sp>
        <p:nvSpPr>
          <p:cNvPr id="955" name="TextBox 93"/>
          <p:cNvSpPr txBox="1"/>
          <p:nvPr/>
        </p:nvSpPr>
        <p:spPr>
          <a:xfrm>
            <a:off x="9118600" y="4470400"/>
            <a:ext cx="889000" cy="127000"/>
          </a:xfrm>
          <a:prstGeom prst="rect">
            <a:avLst/>
          </a:prstGeom>
        </p:spPr>
        <p:txBody>
          <a:bodyPr wrap="square" lIns="0" tIns="0" rIns="0" bIns="0">
            <a:noAutofit/>
          </a:bodyPr>
          <a:lstStyle/>
          <a:p>
            <a:pPr algn="r">
              <a:lnSpc>
                <a:spcPct val="135000"/>
              </a:lnSpc>
            </a:pPr>
            <a:r>
              <a:rPr sz="480" spc="0">
                <a:solidFill>
                  <a:srgbClr val="A2A2A8"/>
                </a:solidFill>
                <a:latin typeface="Telegraf"/>
              </a:rPr>
              <a:t>160w</a:t>
            </a:r>
            <a:endParaRPr sz="480" spc="0">
              <a:solidFill>
                <a:srgbClr val="A2A2A8"/>
              </a:solidFill>
              <a:latin typeface="Telegraf"/>
            </a:endParaRPr>
          </a:p>
        </p:txBody>
      </p:sp>
      <p:sp>
        <p:nvSpPr>
          <p:cNvPr id="956" name="Rectangle 94"/>
          <p:cNvSpPr/>
          <p:nvPr/>
        </p:nvSpPr>
        <p:spPr>
          <a:xfrm>
            <a:off x="7061200" y="4648200"/>
            <a:ext cx="294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57" name="Oval 95"/>
          <p:cNvSpPr/>
          <p:nvPr/>
        </p:nvSpPr>
        <p:spPr>
          <a:xfrm>
            <a:off x="7091680" y="47802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58" name="TextBox 96"/>
          <p:cNvSpPr txBox="1"/>
          <p:nvPr/>
        </p:nvSpPr>
        <p:spPr>
          <a:xfrm>
            <a:off x="7213600" y="4737100"/>
            <a:ext cx="1905000" cy="127000"/>
          </a:xfrm>
          <a:prstGeom prst="rect">
            <a:avLst/>
          </a:prstGeom>
        </p:spPr>
        <p:txBody>
          <a:bodyPr wrap="square" lIns="0" tIns="0" rIns="0" bIns="0">
            <a:noAutofit/>
          </a:bodyPr>
          <a:lstStyle/>
          <a:p>
            <a:pPr>
              <a:lnSpc>
                <a:spcPct val="135000"/>
              </a:lnSpc>
            </a:pPr>
            <a:r>
              <a:rPr sz="520" spc="0">
                <a:solidFill>
                  <a:srgbClr val="0A0A0A"/>
                </a:solidFill>
                <a:latin typeface="Telegraf"/>
              </a:rPr>
              <a:t>Support &amp; escalation</a:t>
            </a:r>
            <a:endParaRPr sz="520" spc="0">
              <a:solidFill>
                <a:srgbClr val="0A0A0A"/>
              </a:solidFill>
              <a:latin typeface="Telegraf"/>
            </a:endParaRPr>
          </a:p>
        </p:txBody>
      </p:sp>
      <p:sp>
        <p:nvSpPr>
          <p:cNvPr id="959" name="TextBox 97"/>
          <p:cNvSpPr txBox="1"/>
          <p:nvPr/>
        </p:nvSpPr>
        <p:spPr>
          <a:xfrm>
            <a:off x="9118600" y="4737100"/>
            <a:ext cx="889000" cy="127000"/>
          </a:xfrm>
          <a:prstGeom prst="rect">
            <a:avLst/>
          </a:prstGeom>
        </p:spPr>
        <p:txBody>
          <a:bodyPr wrap="square" lIns="0" tIns="0" rIns="0" bIns="0">
            <a:noAutofit/>
          </a:bodyPr>
          <a:lstStyle/>
          <a:p>
            <a:pPr algn="r">
              <a:lnSpc>
                <a:spcPct val="135000"/>
              </a:lnSpc>
            </a:pPr>
            <a:r>
              <a:rPr sz="480" spc="0">
                <a:solidFill>
                  <a:srgbClr val="A2A2A8"/>
                </a:solidFill>
                <a:latin typeface="Telegraf"/>
              </a:rPr>
              <a:t>120w</a:t>
            </a:r>
            <a:endParaRPr sz="480" spc="0">
              <a:solidFill>
                <a:srgbClr val="A2A2A8"/>
              </a:solidFill>
              <a:latin typeface="Telegraf"/>
            </a:endParaRPr>
          </a:p>
        </p:txBody>
      </p:sp>
      <p:sp>
        <p:nvSpPr>
          <p:cNvPr id="960" name="Rectangle 98"/>
          <p:cNvSpPr/>
          <p:nvPr/>
        </p:nvSpPr>
        <p:spPr>
          <a:xfrm>
            <a:off x="7061200" y="4914900"/>
            <a:ext cx="2946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1" name="Rectangle 99"/>
          <p:cNvSpPr/>
          <p:nvPr/>
        </p:nvSpPr>
        <p:spPr>
          <a:xfrm>
            <a:off x="7061200" y="5130800"/>
            <a:ext cx="1905000" cy="50800"/>
          </a:xfrm>
          <a:custGeom>
            <a:avLst/>
            <a:gdLst/>
            <a:ahLst/>
            <a:cxnLst/>
            <a:rect l="l" t="t" r="r" b="b"/>
            <a:pathLst>
              <a:path w="100000" h="2667">
                <a:moveTo>
                  <a:pt x="98667" y="0"/>
                </a:moveTo>
                <a:cubicBezTo>
                  <a:pt x="98667" y="0"/>
                  <a:pt x="98667" y="0"/>
                  <a:pt x="98667" y="0"/>
                </a:cubicBezTo>
                <a:cubicBezTo>
                  <a:pt x="99403" y="0"/>
                  <a:pt x="100000" y="597"/>
                  <a:pt x="100000" y="1333"/>
                </a:cubicBezTo>
                <a:cubicBezTo>
                  <a:pt x="100000" y="1333"/>
                  <a:pt x="100000" y="1333"/>
                  <a:pt x="100000" y="1333"/>
                </a:cubicBezTo>
                <a:lnTo>
                  <a:pt x="100000" y="1333"/>
                </a:lnTo>
                <a:cubicBezTo>
                  <a:pt x="100000" y="1333"/>
                  <a:pt x="100000" y="1333"/>
                  <a:pt x="100000" y="1333"/>
                </a:cubicBezTo>
                <a:cubicBezTo>
                  <a:pt x="100000" y="2070"/>
                  <a:pt x="99403" y="2667"/>
                  <a:pt x="98667" y="2667"/>
                </a:cubicBezTo>
                <a:cubicBezTo>
                  <a:pt x="98667" y="2667"/>
                  <a:pt x="98667" y="2667"/>
                  <a:pt x="98667" y="2667"/>
                </a:cubicBezTo>
                <a:lnTo>
                  <a:pt x="1333" y="2667"/>
                </a:lnTo>
                <a:cubicBezTo>
                  <a:pt x="1333" y="2667"/>
                  <a:pt x="1333" y="2667"/>
                  <a:pt x="1333" y="2667"/>
                </a:cubicBezTo>
                <a:cubicBezTo>
                  <a:pt x="597" y="2667"/>
                  <a:pt x="0" y="2070"/>
                  <a:pt x="0" y="1333"/>
                </a:cubicBezTo>
                <a:cubicBezTo>
                  <a:pt x="0" y="1333"/>
                  <a:pt x="0" y="1333"/>
                  <a:pt x="0" y="1333"/>
                </a:cubicBezTo>
                <a:lnTo>
                  <a:pt x="0" y="1333"/>
                </a:lnTo>
                <a:cubicBezTo>
                  <a:pt x="0" y="1333"/>
                  <a:pt x="0" y="1333"/>
                  <a:pt x="0" y="1333"/>
                </a:cubicBezTo>
                <a:cubicBezTo>
                  <a:pt x="0" y="597"/>
                  <a:pt x="597" y="0"/>
                  <a:pt x="1333" y="0"/>
                </a:cubicBezTo>
                <a:cubicBezTo>
                  <a:pt x="1333" y="0"/>
                  <a:pt x="1333" y="0"/>
                  <a:pt x="1333"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2" name="Rectangle 100"/>
          <p:cNvSpPr/>
          <p:nvPr/>
        </p:nvSpPr>
        <p:spPr>
          <a:xfrm>
            <a:off x="7061200" y="5130800"/>
            <a:ext cx="1905000" cy="50800"/>
          </a:xfrm>
          <a:custGeom>
            <a:avLst/>
            <a:gdLst/>
            <a:ahLst/>
            <a:cxnLst/>
            <a:rect l="l" t="t" r="r" b="b"/>
            <a:pathLst>
              <a:path w="100000" h="2667">
                <a:moveTo>
                  <a:pt x="98667" y="0"/>
                </a:moveTo>
                <a:cubicBezTo>
                  <a:pt x="98667" y="0"/>
                  <a:pt x="98667" y="0"/>
                  <a:pt x="98667" y="0"/>
                </a:cubicBezTo>
                <a:cubicBezTo>
                  <a:pt x="99403" y="0"/>
                  <a:pt x="100000" y="597"/>
                  <a:pt x="100000" y="1333"/>
                </a:cubicBezTo>
                <a:cubicBezTo>
                  <a:pt x="100000" y="1333"/>
                  <a:pt x="100000" y="1333"/>
                  <a:pt x="100000" y="1333"/>
                </a:cubicBezTo>
                <a:lnTo>
                  <a:pt x="100000" y="1333"/>
                </a:lnTo>
                <a:cubicBezTo>
                  <a:pt x="100000" y="1333"/>
                  <a:pt x="100000" y="1333"/>
                  <a:pt x="100000" y="1333"/>
                </a:cubicBezTo>
                <a:cubicBezTo>
                  <a:pt x="100000" y="2070"/>
                  <a:pt x="99403" y="2667"/>
                  <a:pt x="98667" y="2667"/>
                </a:cubicBezTo>
                <a:cubicBezTo>
                  <a:pt x="98667" y="2667"/>
                  <a:pt x="98667" y="2667"/>
                  <a:pt x="98667" y="2667"/>
                </a:cubicBezTo>
                <a:lnTo>
                  <a:pt x="1333" y="2667"/>
                </a:lnTo>
                <a:cubicBezTo>
                  <a:pt x="1333" y="2667"/>
                  <a:pt x="1333" y="2667"/>
                  <a:pt x="1333" y="2667"/>
                </a:cubicBezTo>
                <a:cubicBezTo>
                  <a:pt x="597" y="2667"/>
                  <a:pt x="0" y="2070"/>
                  <a:pt x="0" y="1333"/>
                </a:cubicBezTo>
                <a:cubicBezTo>
                  <a:pt x="0" y="1333"/>
                  <a:pt x="0" y="1333"/>
                  <a:pt x="0" y="1333"/>
                </a:cubicBezTo>
                <a:lnTo>
                  <a:pt x="0" y="1333"/>
                </a:lnTo>
                <a:cubicBezTo>
                  <a:pt x="0" y="1333"/>
                  <a:pt x="0" y="1333"/>
                  <a:pt x="0" y="1333"/>
                </a:cubicBezTo>
                <a:cubicBezTo>
                  <a:pt x="0" y="597"/>
                  <a:pt x="597" y="0"/>
                  <a:pt x="1333" y="0"/>
                </a:cubicBezTo>
                <a:cubicBezTo>
                  <a:pt x="1333" y="0"/>
                  <a:pt x="1333" y="0"/>
                  <a:pt x="1333"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3" name="TextBox 101"/>
          <p:cNvSpPr txBox="1"/>
          <p:nvPr/>
        </p:nvSpPr>
        <p:spPr>
          <a:xfrm>
            <a:off x="9042400" y="5080000"/>
            <a:ext cx="965200" cy="127000"/>
          </a:xfrm>
          <a:prstGeom prst="rect">
            <a:avLst/>
          </a:prstGeom>
        </p:spPr>
        <p:txBody>
          <a:bodyPr wrap="square" lIns="0" tIns="0" rIns="0" bIns="0">
            <a:noAutofit/>
          </a:bodyPr>
          <a:lstStyle/>
          <a:p>
            <a:pPr algn="r">
              <a:lnSpc>
                <a:spcPct val="135000"/>
              </a:lnSpc>
            </a:pPr>
            <a:r>
              <a:rPr sz="480" spc="0">
                <a:solidFill>
                  <a:srgbClr val="0E6B5F"/>
                </a:solidFill>
                <a:latin typeface="Telegraf"/>
              </a:rPr>
              <a:t>4 of 4 facts</a:t>
            </a:r>
            <a:endParaRPr sz="480" spc="0">
              <a:solidFill>
                <a:srgbClr val="0E6B5F"/>
              </a:solidFill>
              <a:latin typeface="Telegraf"/>
            </a:endParaRPr>
          </a:p>
        </p:txBody>
      </p:sp>
      <p:sp>
        <p:nvSpPr>
          <p:cNvPr id="964" name="Oval 102"/>
          <p:cNvSpPr/>
          <p:nvPr/>
        </p:nvSpPr>
        <p:spPr>
          <a:xfrm>
            <a:off x="3444240" y="2199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5" name="Oval 103"/>
          <p:cNvSpPr/>
          <p:nvPr/>
        </p:nvSpPr>
        <p:spPr>
          <a:xfrm>
            <a:off x="3468370" y="2223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6" name="TextBox 104"/>
          <p:cNvSpPr txBox="1"/>
          <p:nvPr/>
        </p:nvSpPr>
        <p:spPr>
          <a:xfrm>
            <a:off x="3468370" y="2223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967" name="Oval 105"/>
          <p:cNvSpPr/>
          <p:nvPr/>
        </p:nvSpPr>
        <p:spPr>
          <a:xfrm>
            <a:off x="6873240" y="2148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8" name="Oval 106"/>
          <p:cNvSpPr/>
          <p:nvPr/>
        </p:nvSpPr>
        <p:spPr>
          <a:xfrm>
            <a:off x="6897370" y="2172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69" name="TextBox 107"/>
          <p:cNvSpPr txBox="1"/>
          <p:nvPr/>
        </p:nvSpPr>
        <p:spPr>
          <a:xfrm>
            <a:off x="6897370" y="2172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970" name="Oval 108"/>
          <p:cNvSpPr/>
          <p:nvPr/>
        </p:nvSpPr>
        <p:spPr>
          <a:xfrm>
            <a:off x="6873240" y="3037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71" name="Oval 109"/>
          <p:cNvSpPr/>
          <p:nvPr/>
        </p:nvSpPr>
        <p:spPr>
          <a:xfrm>
            <a:off x="6897370" y="3061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72" name="TextBox 110"/>
          <p:cNvSpPr txBox="1"/>
          <p:nvPr/>
        </p:nvSpPr>
        <p:spPr>
          <a:xfrm>
            <a:off x="6897370" y="3061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973" name="Oval 111"/>
          <p:cNvSpPr/>
          <p:nvPr/>
        </p:nvSpPr>
        <p:spPr>
          <a:xfrm>
            <a:off x="6873240" y="4942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74" name="Oval 112"/>
          <p:cNvSpPr/>
          <p:nvPr/>
        </p:nvSpPr>
        <p:spPr>
          <a:xfrm>
            <a:off x="6897370" y="4966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75" name="TextBox 113"/>
          <p:cNvSpPr txBox="1"/>
          <p:nvPr/>
        </p:nvSpPr>
        <p:spPr>
          <a:xfrm>
            <a:off x="6897370" y="4966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976" name="Rectangle 114"/>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77" name="TextBox 115"/>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08  —  ONBOARDING 2/4</a:t>
            </a:r>
            <a:endParaRPr sz="490" b="1" spc="120">
              <a:solidFill>
                <a:srgbClr val="8FE0CE"/>
              </a:solidFill>
              <a:latin typeface="Telegraf"/>
            </a:endParaRPr>
          </a:p>
        </p:txBody>
      </p:sp>
      <p:sp>
        <p:nvSpPr>
          <p:cNvPr id="978" name="TextBox 116"/>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The facts the</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agent may quote.</a:t>
            </a:r>
            <a:endParaRPr sz="1650" spc="-50">
              <a:solidFill>
                <a:srgbClr val="FFFFFF"/>
              </a:solidFill>
              <a:latin typeface="PP Editorial New Ultralight"/>
            </a:endParaRPr>
          </a:p>
        </p:txBody>
      </p:sp>
      <p:sp>
        <p:nvSpPr>
          <p:cNvPr id="979" name="Rectangle 117"/>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80" name="TextBox 118"/>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981" name="TextBox 119"/>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Price rows</a:t>
            </a:r>
            <a:endParaRPr sz="590" b="1" spc="0">
              <a:solidFill>
                <a:srgbClr val="FFFFFF"/>
              </a:solidFill>
              <a:latin typeface="Telegraf"/>
            </a:endParaRPr>
          </a:p>
        </p:txBody>
      </p:sp>
      <p:sp>
        <p:nvSpPr>
          <p:cNvPr id="982" name="TextBox 120"/>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Row edits, not a textarea: every fact gets an id the answer can cite.</a:t>
            </a:r>
            <a:endParaRPr sz="550" spc="0">
              <a:solidFill>
                <a:srgbClr val="A8A8A8"/>
              </a:solidFill>
              <a:latin typeface="Telegraf"/>
            </a:endParaRPr>
          </a:p>
        </p:txBody>
      </p:sp>
      <p:sp>
        <p:nvSpPr>
          <p:cNvPr id="983" name="TextBox 121"/>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984" name="TextBox 122"/>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Upload</a:t>
            </a:r>
            <a:endParaRPr sz="590" b="1" spc="0">
              <a:solidFill>
                <a:srgbClr val="FFFFFF"/>
              </a:solidFill>
              <a:latin typeface="Telegraf"/>
            </a:endParaRPr>
          </a:p>
        </p:txBody>
      </p:sp>
      <p:sp>
        <p:nvSpPr>
          <p:cNvPr id="985" name="TextBox 123"/>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 dashed target, no spinner — the parse is synchronous and visible.</a:t>
            </a:r>
            <a:endParaRPr sz="550" spc="0">
              <a:solidFill>
                <a:srgbClr val="A8A8A8"/>
              </a:solidFill>
              <a:latin typeface="Telegraf"/>
            </a:endParaRPr>
          </a:p>
        </p:txBody>
      </p:sp>
      <p:sp>
        <p:nvSpPr>
          <p:cNvPr id="986" name="TextBox 124"/>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987" name="TextBox 125"/>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Parsed list</a:t>
            </a:r>
            <a:endParaRPr sz="590" b="1" spc="0">
              <a:solidFill>
                <a:srgbClr val="FFFFFF"/>
              </a:solidFill>
              <a:latin typeface="Telegraf"/>
            </a:endParaRPr>
          </a:p>
        </p:txBody>
      </p:sp>
      <p:sp>
        <p:nvSpPr>
          <p:cNvPr id="988" name="TextBox 126"/>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Section + word count, so the owner sees exactly what was indexed.</a:t>
            </a:r>
            <a:endParaRPr sz="550" spc="0">
              <a:solidFill>
                <a:srgbClr val="A8A8A8"/>
              </a:solidFill>
              <a:latin typeface="Telegraf"/>
            </a:endParaRPr>
          </a:p>
        </p:txBody>
      </p:sp>
      <p:sp>
        <p:nvSpPr>
          <p:cNvPr id="989" name="TextBox 127"/>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990" name="TextBox 128"/>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Readiness</a:t>
            </a:r>
            <a:endParaRPr sz="590" b="1" spc="0">
              <a:solidFill>
                <a:srgbClr val="FFFFFF"/>
              </a:solidFill>
              <a:latin typeface="Telegraf"/>
            </a:endParaRPr>
          </a:p>
        </p:txBody>
      </p:sp>
      <p:sp>
        <p:nvSpPr>
          <p:cNvPr id="991" name="TextBox 129"/>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meter is the pre-flight for step 4's compile button.</a:t>
            </a:r>
            <a:endParaRPr sz="550" spc="0">
              <a:solidFill>
                <a:srgbClr val="A8A8A8"/>
              </a:solidFill>
              <a:latin typeface="Telegraf"/>
            </a:endParaRPr>
          </a:p>
        </p:txBody>
      </p:sp>
      <p:sp>
        <p:nvSpPr>
          <p:cNvPr id="992" name="TextBox 130"/>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993" name="TextBox 131"/>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/onboarding  →  step 2</a:t>
            </a:r>
            <a:endParaRPr sz="560" spc="0">
              <a:solidFill>
                <a:srgbClr val="FFFFFF"/>
              </a:solidFill>
              <a:latin typeface="Telegraf"/>
            </a:endParaRPr>
          </a:p>
        </p:txBody>
      </p:sp>
      <p:sp>
        <p:nvSpPr>
          <p:cNvPr id="994" name="TextBox 132"/>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995" name="TextBox 133"/>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components/onboarding/CatalogStep.tsx; lib/rag.ts · compileMarkdown()</a:t>
            </a:r>
            <a:endParaRPr sz="530" spc="0">
              <a:solidFill>
                <a:srgbClr val="CFCFCF"/>
              </a:solidFill>
              <a:latin typeface="Telegraf"/>
            </a:endParaRPr>
          </a:p>
        </p:txBody>
      </p:sp>
      <p:sp>
        <p:nvSpPr>
          <p:cNvPr id="996" name="Rectangle 134"/>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997" name="TextBox 135"/>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9" name="TextBox 1"/>
          <p:cNvSpPr txBox="1"/>
          <p:nvPr/>
        </p:nvSpPr>
        <p:spPr>
          <a:xfrm>
            <a:off x="304800" y="177800"/>
            <a:ext cx="2540000" cy="254000"/>
          </a:xfrm>
          <a:prstGeom prst="rect">
            <a:avLst/>
          </a:prstGeom>
        </p:spPr>
        <p:txBody>
          <a:bodyPr wrap="square" lIns="0" tIns="0" rIns="0" bIns="0">
            <a:noAutofit/>
          </a:bodyPr>
          <a:lstStyle/>
          <a:p>
            <a:pPr>
              <a:lnSpc>
                <a:spcPct val="102000"/>
              </a:lnSpc>
            </a:pPr>
            <a:r>
              <a:rPr sz="1250" spc="-30">
                <a:solidFill>
                  <a:srgbClr val="0A0A0A"/>
                </a:solidFill>
                <a:latin typeface="PP Editorial New Ultralight"/>
              </a:rPr>
              <a:t>AfterSales.</a:t>
            </a:r>
            <a:endParaRPr sz="1250" spc="-30">
              <a:solidFill>
                <a:srgbClr val="0A0A0A"/>
              </a:solidFill>
              <a:latin typeface="PP Editorial New Ultralight"/>
            </a:endParaRPr>
          </a:p>
        </p:txBody>
      </p:sp>
      <p:sp>
        <p:nvSpPr>
          <p:cNvPr id="1000" name="TextBox 2"/>
          <p:cNvSpPr txBox="1"/>
          <p:nvPr/>
        </p:nvSpPr>
        <p:spPr>
          <a:xfrm>
            <a:off x="3810000" y="228600"/>
            <a:ext cx="3048000" cy="127000"/>
          </a:xfrm>
          <a:prstGeom prst="rect">
            <a:avLst/>
          </a:prstGeom>
        </p:spPr>
        <p:txBody>
          <a:bodyPr wrap="square" lIns="0" tIns="0" rIns="0" bIns="0">
            <a:noAutofit/>
          </a:bodyPr>
          <a:lstStyle/>
          <a:p>
            <a:r>
              <a:rPr sz="460" b="1" spc="110">
                <a:solidFill>
                  <a:srgbClr val="A2A2A8"/>
                </a:solidFill>
                <a:latin typeface="Telegraf"/>
              </a:rPr>
              <a:t>ONBOARDING  ·  CLOUDPULSE CRM</a:t>
            </a:r>
            <a:endParaRPr sz="460" b="1" spc="110">
              <a:solidFill>
                <a:srgbClr val="A2A2A8"/>
              </a:solidFill>
              <a:latin typeface="Telegraf"/>
            </a:endParaRPr>
          </a:p>
        </p:txBody>
      </p:sp>
      <p:sp>
        <p:nvSpPr>
          <p:cNvPr id="1001" name="TextBox 3"/>
          <p:cNvSpPr txBox="1"/>
          <p:nvPr/>
        </p:nvSpPr>
        <p:spPr>
          <a:xfrm>
            <a:off x="8763000" y="190500"/>
            <a:ext cx="812800" cy="177800"/>
          </a:xfrm>
          <a:prstGeom prst="rect">
            <a:avLst/>
          </a:prstGeom>
        </p:spPr>
        <p:txBody>
          <a:bodyPr wrap="square" lIns="0" tIns="0" rIns="0" bIns="0">
            <a:noAutofit/>
          </a:bodyPr>
          <a:lstStyle/>
          <a:p>
            <a:pPr algn="r">
              <a:lnSpc>
                <a:spcPct val="135000"/>
              </a:lnSpc>
            </a:pPr>
            <a:r>
              <a:rPr sz="520" spc="0">
                <a:solidFill>
                  <a:srgbClr val="67676E"/>
                </a:solidFill>
                <a:latin typeface="Telegraf"/>
              </a:rPr>
              <a:t>Save &amp; exit</a:t>
            </a:r>
            <a:endParaRPr sz="520" spc="0">
              <a:solidFill>
                <a:srgbClr val="67676E"/>
              </a:solidFill>
              <a:latin typeface="Telegraf"/>
            </a:endParaRPr>
          </a:p>
        </p:txBody>
      </p:sp>
      <p:sp>
        <p:nvSpPr>
          <p:cNvPr id="1002" name="Oval 4"/>
          <p:cNvSpPr/>
          <p:nvPr/>
        </p:nvSpPr>
        <p:spPr>
          <a:xfrm>
            <a:off x="9734550" y="1460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03" name="TextBox 5"/>
          <p:cNvSpPr txBox="1"/>
          <p:nvPr/>
        </p:nvSpPr>
        <p:spPr>
          <a:xfrm>
            <a:off x="9734550" y="1460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1004" name="Rectangle 6"/>
          <p:cNvSpPr/>
          <p:nvPr/>
        </p:nvSpPr>
        <p:spPr>
          <a:xfrm>
            <a:off x="0" y="558800"/>
            <a:ext cx="10312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05" name="TextBox 7"/>
          <p:cNvSpPr txBox="1"/>
          <p:nvPr/>
        </p:nvSpPr>
        <p:spPr>
          <a:xfrm>
            <a:off x="304800" y="914400"/>
            <a:ext cx="2540000" cy="114300"/>
          </a:xfrm>
          <a:prstGeom prst="rect">
            <a:avLst/>
          </a:prstGeom>
        </p:spPr>
        <p:txBody>
          <a:bodyPr wrap="square" lIns="0" tIns="0" rIns="0" bIns="0">
            <a:noAutofit/>
          </a:bodyPr>
          <a:lstStyle/>
          <a:p>
            <a:r>
              <a:rPr sz="460" b="1" spc="120">
                <a:solidFill>
                  <a:srgbClr val="A2A2A8"/>
                </a:solidFill>
                <a:latin typeface="Telegraf"/>
              </a:rPr>
              <a:t>SET UP YOUR AGENT</a:t>
            </a:r>
            <a:endParaRPr sz="460" b="1" spc="120">
              <a:solidFill>
                <a:srgbClr val="A2A2A8"/>
              </a:solidFill>
              <a:latin typeface="Telegraf"/>
            </a:endParaRPr>
          </a:p>
        </p:txBody>
      </p:sp>
      <p:sp>
        <p:nvSpPr>
          <p:cNvPr id="1006" name="Rectangle 8"/>
          <p:cNvSpPr/>
          <p:nvPr/>
        </p:nvSpPr>
        <p:spPr>
          <a:xfrm>
            <a:off x="406400" y="14478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07" name="Oval 9"/>
          <p:cNvSpPr/>
          <p:nvPr/>
        </p:nvSpPr>
        <p:spPr>
          <a:xfrm>
            <a:off x="312420" y="1252220"/>
            <a:ext cx="187960" cy="1879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08" name="Freeform 1008"/>
          <p:cNvSpPr/>
          <p:nvPr/>
        </p:nvSpPr>
        <p:spPr>
          <a:xfrm>
            <a:off x="368300" y="1317625"/>
            <a:ext cx="76200" cy="55245"/>
          </a:xfrm>
          <a:custGeom>
            <a:avLst/>
            <a:gdLst/>
            <a:ahLst/>
            <a:cxnLst/>
            <a:rect l="l" t="t" r="r" b="b"/>
            <a:pathLst>
              <a:path w="100000" h="72500" fill="none">
                <a:moveTo>
                  <a:pt x="0" y="37500"/>
                </a:moveTo>
                <a:lnTo>
                  <a:pt x="37500" y="72500"/>
                </a:lnTo>
                <a:lnTo>
                  <a:pt x="100000" y="0"/>
                </a:lnTo>
              </a:path>
            </a:pathLst>
          </a:custGeom>
          <a:noFill/>
          <a:ln w="1397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009" name="TextBox 11"/>
          <p:cNvSpPr txBox="1"/>
          <p:nvPr/>
        </p:nvSpPr>
        <p:spPr>
          <a:xfrm>
            <a:off x="635000" y="1257300"/>
            <a:ext cx="2133600" cy="127000"/>
          </a:xfrm>
          <a:prstGeom prst="rect">
            <a:avLst/>
          </a:prstGeom>
        </p:spPr>
        <p:txBody>
          <a:bodyPr wrap="square" lIns="0" tIns="0" rIns="0" bIns="0">
            <a:noAutofit/>
          </a:bodyPr>
          <a:lstStyle/>
          <a:p>
            <a:pPr>
              <a:lnSpc>
                <a:spcPct val="135000"/>
              </a:lnSpc>
            </a:pPr>
            <a:r>
              <a:rPr sz="600" spc="0">
                <a:solidFill>
                  <a:srgbClr val="0A0A0A"/>
                </a:solidFill>
                <a:latin typeface="Telegraf"/>
              </a:rPr>
              <a:t>Identity &amp; tone</a:t>
            </a:r>
            <a:endParaRPr sz="600" spc="0">
              <a:solidFill>
                <a:srgbClr val="0A0A0A"/>
              </a:solidFill>
              <a:latin typeface="Telegraf"/>
            </a:endParaRPr>
          </a:p>
        </p:txBody>
      </p:sp>
      <p:sp>
        <p:nvSpPr>
          <p:cNvPr id="1010" name="TextBox 12"/>
          <p:cNvSpPr txBox="1"/>
          <p:nvPr/>
        </p:nvSpPr>
        <p:spPr>
          <a:xfrm>
            <a:off x="635000" y="13970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name, type, voice</a:t>
            </a:r>
            <a:endParaRPr sz="480" spc="0">
              <a:solidFill>
                <a:srgbClr val="A2A2A8"/>
              </a:solidFill>
              <a:latin typeface="Telegraf"/>
            </a:endParaRPr>
          </a:p>
        </p:txBody>
      </p:sp>
      <p:sp>
        <p:nvSpPr>
          <p:cNvPr id="1011" name="Rectangle 13"/>
          <p:cNvSpPr/>
          <p:nvPr/>
        </p:nvSpPr>
        <p:spPr>
          <a:xfrm>
            <a:off x="406400" y="20574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12" name="Oval 14"/>
          <p:cNvSpPr/>
          <p:nvPr/>
        </p:nvSpPr>
        <p:spPr>
          <a:xfrm>
            <a:off x="312420" y="1861820"/>
            <a:ext cx="187960" cy="1879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13" name="Freeform 1013"/>
          <p:cNvSpPr/>
          <p:nvPr/>
        </p:nvSpPr>
        <p:spPr>
          <a:xfrm>
            <a:off x="368300" y="1927225"/>
            <a:ext cx="76200" cy="55245"/>
          </a:xfrm>
          <a:custGeom>
            <a:avLst/>
            <a:gdLst/>
            <a:ahLst/>
            <a:cxnLst/>
            <a:rect l="l" t="t" r="r" b="b"/>
            <a:pathLst>
              <a:path w="100000" h="72500" fill="none">
                <a:moveTo>
                  <a:pt x="0" y="37500"/>
                </a:moveTo>
                <a:lnTo>
                  <a:pt x="37500" y="72500"/>
                </a:lnTo>
                <a:lnTo>
                  <a:pt x="100000" y="0"/>
                </a:lnTo>
              </a:path>
            </a:pathLst>
          </a:custGeom>
          <a:noFill/>
          <a:ln w="1397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014" name="TextBox 16"/>
          <p:cNvSpPr txBox="1"/>
          <p:nvPr/>
        </p:nvSpPr>
        <p:spPr>
          <a:xfrm>
            <a:off x="635000" y="1866900"/>
            <a:ext cx="2133600" cy="127000"/>
          </a:xfrm>
          <a:prstGeom prst="rect">
            <a:avLst/>
          </a:prstGeom>
        </p:spPr>
        <p:txBody>
          <a:bodyPr wrap="square" lIns="0" tIns="0" rIns="0" bIns="0">
            <a:noAutofit/>
          </a:bodyPr>
          <a:lstStyle/>
          <a:p>
            <a:pPr>
              <a:lnSpc>
                <a:spcPct val="135000"/>
              </a:lnSpc>
            </a:pPr>
            <a:r>
              <a:rPr sz="600" spc="0">
                <a:solidFill>
                  <a:srgbClr val="0A0A0A"/>
                </a:solidFill>
                <a:latin typeface="Telegraf"/>
              </a:rPr>
              <a:t>Catalog &amp; FAQs</a:t>
            </a:r>
            <a:endParaRPr sz="600" spc="0">
              <a:solidFill>
                <a:srgbClr val="0A0A0A"/>
              </a:solidFill>
              <a:latin typeface="Telegraf"/>
            </a:endParaRPr>
          </a:p>
        </p:txBody>
      </p:sp>
      <p:sp>
        <p:nvSpPr>
          <p:cNvPr id="1015" name="TextBox 17"/>
          <p:cNvSpPr txBox="1"/>
          <p:nvPr/>
        </p:nvSpPr>
        <p:spPr>
          <a:xfrm>
            <a:off x="635000" y="20066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prices, hours, policies</a:t>
            </a:r>
            <a:endParaRPr sz="480" spc="0">
              <a:solidFill>
                <a:srgbClr val="A2A2A8"/>
              </a:solidFill>
              <a:latin typeface="Telegraf"/>
            </a:endParaRPr>
          </a:p>
        </p:txBody>
      </p:sp>
      <p:sp>
        <p:nvSpPr>
          <p:cNvPr id="1016" name="Rectangle 18"/>
          <p:cNvSpPr/>
          <p:nvPr/>
        </p:nvSpPr>
        <p:spPr>
          <a:xfrm>
            <a:off x="406400" y="26670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17" name="Oval 19"/>
          <p:cNvSpPr/>
          <p:nvPr/>
        </p:nvSpPr>
        <p:spPr>
          <a:xfrm>
            <a:off x="312420" y="2471420"/>
            <a:ext cx="187960" cy="1879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18" name="TextBox 20"/>
          <p:cNvSpPr txBox="1"/>
          <p:nvPr/>
        </p:nvSpPr>
        <p:spPr>
          <a:xfrm>
            <a:off x="317500" y="2471420"/>
            <a:ext cx="177800" cy="177800"/>
          </a:xfrm>
          <a:prstGeom prst="rect">
            <a:avLst/>
          </a:prstGeom>
        </p:spPr>
        <p:txBody>
          <a:bodyPr wrap="square" lIns="0" tIns="0" rIns="0" bIns="0">
            <a:noAutofit/>
          </a:bodyPr>
          <a:lstStyle/>
          <a:p>
            <a:pPr algn="ctr">
              <a:lnSpc>
                <a:spcPct val="135000"/>
              </a:lnSpc>
            </a:pPr>
            <a:r>
              <a:rPr sz="460" b="1" spc="0">
                <a:solidFill>
                  <a:srgbClr val="FFFFFF"/>
                </a:solidFill>
                <a:latin typeface="Telegraf"/>
              </a:rPr>
              <a:t>03</a:t>
            </a:r>
            <a:endParaRPr sz="460" b="1" spc="0">
              <a:solidFill>
                <a:srgbClr val="FFFFFF"/>
              </a:solidFill>
              <a:latin typeface="Telegraf"/>
            </a:endParaRPr>
          </a:p>
        </p:txBody>
      </p:sp>
      <p:sp>
        <p:nvSpPr>
          <p:cNvPr id="1019" name="TextBox 21"/>
          <p:cNvSpPr txBox="1"/>
          <p:nvPr/>
        </p:nvSpPr>
        <p:spPr>
          <a:xfrm>
            <a:off x="635000" y="2476500"/>
            <a:ext cx="2133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Escalation</a:t>
            </a:r>
            <a:endParaRPr sz="600" b="1" spc="0">
              <a:solidFill>
                <a:srgbClr val="0A0A0A"/>
              </a:solidFill>
              <a:latin typeface="Telegraf"/>
            </a:endParaRPr>
          </a:p>
        </p:txBody>
      </p:sp>
      <p:sp>
        <p:nvSpPr>
          <p:cNvPr id="1020" name="TextBox 22"/>
          <p:cNvSpPr txBox="1"/>
          <p:nvPr/>
        </p:nvSpPr>
        <p:spPr>
          <a:xfrm>
            <a:off x="635000" y="26162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when a human steps in</a:t>
            </a:r>
            <a:endParaRPr sz="480" spc="0">
              <a:solidFill>
                <a:srgbClr val="A2A2A8"/>
              </a:solidFill>
              <a:latin typeface="Telegraf"/>
            </a:endParaRPr>
          </a:p>
        </p:txBody>
      </p:sp>
      <p:sp>
        <p:nvSpPr>
          <p:cNvPr id="1021" name="Oval 23"/>
          <p:cNvSpPr/>
          <p:nvPr/>
        </p:nvSpPr>
        <p:spPr>
          <a:xfrm>
            <a:off x="317500" y="3086100"/>
            <a:ext cx="177800" cy="177800"/>
          </a:xfrm>
          <a:prstGeom prst="ellipse">
            <a:avLst/>
          </a:pr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22" name="TextBox 24"/>
          <p:cNvSpPr txBox="1"/>
          <p:nvPr/>
        </p:nvSpPr>
        <p:spPr>
          <a:xfrm>
            <a:off x="317500" y="3091180"/>
            <a:ext cx="177800" cy="152400"/>
          </a:xfrm>
          <a:prstGeom prst="rect">
            <a:avLst/>
          </a:prstGeom>
        </p:spPr>
        <p:txBody>
          <a:bodyPr wrap="square" lIns="0" tIns="0" rIns="0" bIns="0">
            <a:noAutofit/>
          </a:bodyPr>
          <a:lstStyle/>
          <a:p>
            <a:pPr algn="ctr">
              <a:lnSpc>
                <a:spcPct val="135000"/>
              </a:lnSpc>
            </a:pPr>
            <a:r>
              <a:rPr sz="440" b="1" spc="0">
                <a:solidFill>
                  <a:srgbClr val="A2A2A8"/>
                </a:solidFill>
                <a:latin typeface="Telegraf"/>
              </a:rPr>
              <a:t>04</a:t>
            </a:r>
            <a:endParaRPr sz="440" b="1" spc="0">
              <a:solidFill>
                <a:srgbClr val="A2A2A8"/>
              </a:solidFill>
              <a:latin typeface="Telegraf"/>
            </a:endParaRPr>
          </a:p>
        </p:txBody>
      </p:sp>
      <p:sp>
        <p:nvSpPr>
          <p:cNvPr id="1023" name="TextBox 25"/>
          <p:cNvSpPr txBox="1"/>
          <p:nvPr/>
        </p:nvSpPr>
        <p:spPr>
          <a:xfrm>
            <a:off x="635000" y="3086100"/>
            <a:ext cx="2133600" cy="127000"/>
          </a:xfrm>
          <a:prstGeom prst="rect">
            <a:avLst/>
          </a:prstGeom>
        </p:spPr>
        <p:txBody>
          <a:bodyPr wrap="square" lIns="0" tIns="0" rIns="0" bIns="0">
            <a:noAutofit/>
          </a:bodyPr>
          <a:lstStyle/>
          <a:p>
            <a:pPr>
              <a:lnSpc>
                <a:spcPct val="135000"/>
              </a:lnSpc>
            </a:pPr>
            <a:r>
              <a:rPr sz="600" spc="0">
                <a:solidFill>
                  <a:srgbClr val="A2A2A8"/>
                </a:solidFill>
                <a:latin typeface="Telegraf"/>
              </a:rPr>
              <a:t>Channels</a:t>
            </a:r>
            <a:endParaRPr sz="600" spc="0">
              <a:solidFill>
                <a:srgbClr val="A2A2A8"/>
              </a:solidFill>
              <a:latin typeface="Telegraf"/>
            </a:endParaRPr>
          </a:p>
        </p:txBody>
      </p:sp>
      <p:sp>
        <p:nvSpPr>
          <p:cNvPr id="1024" name="TextBox 26"/>
          <p:cNvSpPr txBox="1"/>
          <p:nvPr/>
        </p:nvSpPr>
        <p:spPr>
          <a:xfrm>
            <a:off x="635000" y="32258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where messages arrive</a:t>
            </a:r>
            <a:endParaRPr sz="480" spc="0">
              <a:solidFill>
                <a:srgbClr val="A2A2A8"/>
              </a:solidFill>
              <a:latin typeface="Telegraf"/>
            </a:endParaRPr>
          </a:p>
        </p:txBody>
      </p:sp>
      <p:sp>
        <p:nvSpPr>
          <p:cNvPr id="1025" name="TextBox 27"/>
          <p:cNvSpPr txBox="1"/>
          <p:nvPr/>
        </p:nvSpPr>
        <p:spPr>
          <a:xfrm>
            <a:off x="304800" y="5918200"/>
            <a:ext cx="2667000" cy="508000"/>
          </a:xfrm>
          <a:prstGeom prst="rect">
            <a:avLst/>
          </a:prstGeom>
        </p:spPr>
        <p:txBody>
          <a:bodyPr wrap="square" lIns="0" tIns="0" rIns="0" bIns="0">
            <a:noAutofit/>
          </a:bodyPr>
          <a:lstStyle/>
          <a:p>
            <a:pPr>
              <a:lnSpc>
                <a:spcPct val="150000"/>
              </a:lnSpc>
            </a:pPr>
            <a:r>
              <a:rPr sz="500" spc="0">
                <a:solidFill>
                  <a:srgbClr val="A2A2A8"/>
                </a:solidFill>
                <a:latin typeface="Telegraf"/>
              </a:rPr>
              <a:t>Saved as you type. The brain compiles into chunks on the last step — nothing is sent before that.</a:t>
            </a:r>
            <a:endParaRPr sz="500" spc="0">
              <a:solidFill>
                <a:srgbClr val="A2A2A8"/>
              </a:solidFill>
              <a:latin typeface="Telegraf"/>
            </a:endParaRPr>
          </a:p>
        </p:txBody>
      </p:sp>
      <p:sp>
        <p:nvSpPr>
          <p:cNvPr id="1026" name="TextBox 28"/>
          <p:cNvSpPr txBox="1"/>
          <p:nvPr/>
        </p:nvSpPr>
        <p:spPr>
          <a:xfrm>
            <a:off x="3632200" y="863600"/>
            <a:ext cx="3048000" cy="114300"/>
          </a:xfrm>
          <a:prstGeom prst="rect">
            <a:avLst/>
          </a:prstGeom>
        </p:spPr>
        <p:txBody>
          <a:bodyPr wrap="square" lIns="0" tIns="0" rIns="0" bIns="0">
            <a:noAutofit/>
          </a:bodyPr>
          <a:lstStyle/>
          <a:p>
            <a:r>
              <a:rPr sz="480" b="1" spc="125">
                <a:solidFill>
                  <a:srgbClr val="0E6B5F"/>
                </a:solidFill>
                <a:latin typeface="Telegraf"/>
              </a:rPr>
              <a:t>STEP 3 OF 4</a:t>
            </a:r>
            <a:endParaRPr sz="480" b="1" spc="125">
              <a:solidFill>
                <a:srgbClr val="0E6B5F"/>
              </a:solidFill>
              <a:latin typeface="Telegraf"/>
            </a:endParaRPr>
          </a:p>
        </p:txBody>
      </p:sp>
      <p:sp>
        <p:nvSpPr>
          <p:cNvPr id="1027" name="TextBox 29"/>
          <p:cNvSpPr txBox="1"/>
          <p:nvPr/>
        </p:nvSpPr>
        <p:spPr>
          <a:xfrm>
            <a:off x="3619500" y="1016000"/>
            <a:ext cx="6350000" cy="711200"/>
          </a:xfrm>
          <a:prstGeom prst="rect">
            <a:avLst/>
          </a:prstGeom>
        </p:spPr>
        <p:txBody>
          <a:bodyPr wrap="square" lIns="0" tIns="0" rIns="0" bIns="0">
            <a:noAutofit/>
          </a:bodyPr>
          <a:lstStyle/>
          <a:p>
            <a:pPr>
              <a:lnSpc>
                <a:spcPct val="102000"/>
              </a:lnSpc>
            </a:pPr>
            <a:r>
              <a:rPr sz="2500" spc="-110">
                <a:solidFill>
                  <a:srgbClr val="0A0A0A"/>
                </a:solidFill>
                <a:latin typeface="PP Editorial New Ultralight"/>
              </a:rPr>
              <a:t>When does a</a:t>
            </a:r>
            <a:endParaRPr sz="2500" spc="-110">
              <a:solidFill>
                <a:srgbClr val="0A0A0A"/>
              </a:solidFill>
              <a:latin typeface="PP Editorial New Ultralight"/>
            </a:endParaRPr>
          </a:p>
          <a:p>
            <a:pPr>
              <a:lnSpc>
                <a:spcPct val="102000"/>
              </a:lnSpc>
            </a:pPr>
            <a:r>
              <a:rPr sz="2500" spc="-110">
                <a:solidFill>
                  <a:srgbClr val="0A0A0A"/>
                </a:solidFill>
                <a:latin typeface="PP Editorial New Ultralight"/>
              </a:rPr>
              <a:t>human step in?</a:t>
            </a:r>
            <a:endParaRPr sz="2500" spc="-110">
              <a:solidFill>
                <a:srgbClr val="0A0A0A"/>
              </a:solidFill>
              <a:latin typeface="PP Editorial New Ultralight"/>
            </a:endParaRPr>
          </a:p>
        </p:txBody>
      </p:sp>
      <p:sp>
        <p:nvSpPr>
          <p:cNvPr id="1028" name="TextBox 30"/>
          <p:cNvSpPr txBox="1"/>
          <p:nvPr/>
        </p:nvSpPr>
        <p:spPr>
          <a:xfrm>
            <a:off x="3644900" y="1803400"/>
            <a:ext cx="5969000" cy="304800"/>
          </a:xfrm>
          <a:prstGeom prst="rect">
            <a:avLst/>
          </a:prstGeom>
        </p:spPr>
        <p:txBody>
          <a:bodyPr wrap="square" lIns="0" tIns="0" rIns="0" bIns="0">
            <a:noAutofit/>
          </a:bodyPr>
          <a:lstStyle/>
          <a:p>
            <a:pPr>
              <a:lnSpc>
                <a:spcPct val="150000"/>
              </a:lnSpc>
            </a:pPr>
            <a:r>
              <a:rPr sz="620" spc="0">
                <a:solidFill>
                  <a:srgbClr val="67676E"/>
                </a:solidFill>
                <a:latin typeface="Telegraf"/>
              </a:rPr>
              <a:t>Four rules escalate. One holds a draft. Only one can auto-send — and never below 50.</a:t>
            </a:r>
            <a:endParaRPr sz="620" spc="0">
              <a:solidFill>
                <a:srgbClr val="67676E"/>
              </a:solidFill>
              <a:latin typeface="Telegraf"/>
            </a:endParaRPr>
          </a:p>
        </p:txBody>
      </p:sp>
      <p:sp>
        <p:nvSpPr>
          <p:cNvPr id="1029" name="Rectangle 31"/>
          <p:cNvSpPr/>
          <p:nvPr/>
        </p:nvSpPr>
        <p:spPr>
          <a:xfrm>
            <a:off x="3632200" y="5740400"/>
            <a:ext cx="6375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30" name="Rectangle 32"/>
          <p:cNvSpPr/>
          <p:nvPr/>
        </p:nvSpPr>
        <p:spPr>
          <a:xfrm>
            <a:off x="3632200" y="5892800"/>
            <a:ext cx="736600" cy="279400"/>
          </a:xfrm>
          <a:custGeom>
            <a:avLst/>
            <a:gdLst/>
            <a:ahLst/>
            <a:cxnLst/>
            <a:rect l="l" t="t" r="r" b="b"/>
            <a:pathLst>
              <a:path w="100000" h="37931">
                <a:moveTo>
                  <a:pt x="81034" y="0"/>
                </a:moveTo>
                <a:cubicBezTo>
                  <a:pt x="81034" y="0"/>
                  <a:pt x="81034" y="0"/>
                  <a:pt x="81034" y="0"/>
                </a:cubicBezTo>
                <a:cubicBezTo>
                  <a:pt x="91509" y="0"/>
                  <a:pt x="100000" y="8491"/>
                  <a:pt x="100000" y="18966"/>
                </a:cubicBezTo>
                <a:cubicBezTo>
                  <a:pt x="100000" y="18966"/>
                  <a:pt x="100000" y="18966"/>
                  <a:pt x="100000" y="18966"/>
                </a:cubicBezTo>
                <a:lnTo>
                  <a:pt x="100000" y="18966"/>
                </a:lnTo>
                <a:cubicBezTo>
                  <a:pt x="100000" y="18966"/>
                  <a:pt x="100000" y="18966"/>
                  <a:pt x="100000" y="18966"/>
                </a:cubicBezTo>
                <a:cubicBezTo>
                  <a:pt x="100000" y="29440"/>
                  <a:pt x="91509" y="37931"/>
                  <a:pt x="81034" y="37931"/>
                </a:cubicBezTo>
                <a:cubicBezTo>
                  <a:pt x="81034" y="37931"/>
                  <a:pt x="81034" y="37931"/>
                  <a:pt x="81034" y="37931"/>
                </a:cubicBezTo>
                <a:lnTo>
                  <a:pt x="18966" y="37931"/>
                </a:lnTo>
                <a:cubicBezTo>
                  <a:pt x="18966" y="37931"/>
                  <a:pt x="18966" y="37931"/>
                  <a:pt x="18966" y="37931"/>
                </a:cubicBezTo>
                <a:cubicBezTo>
                  <a:pt x="8491" y="37931"/>
                  <a:pt x="0" y="29440"/>
                  <a:pt x="0" y="18966"/>
                </a:cubicBezTo>
                <a:cubicBezTo>
                  <a:pt x="0" y="18966"/>
                  <a:pt x="0" y="18966"/>
                  <a:pt x="0" y="18966"/>
                </a:cubicBezTo>
                <a:lnTo>
                  <a:pt x="0" y="18966"/>
                </a:lnTo>
                <a:cubicBezTo>
                  <a:pt x="0" y="18966"/>
                  <a:pt x="0" y="18966"/>
                  <a:pt x="0" y="18966"/>
                </a:cubicBezTo>
                <a:cubicBezTo>
                  <a:pt x="0" y="8491"/>
                  <a:pt x="8491" y="0"/>
                  <a:pt x="18966" y="0"/>
                </a:cubicBezTo>
                <a:cubicBezTo>
                  <a:pt x="18966" y="0"/>
                  <a:pt x="18966" y="0"/>
                  <a:pt x="1896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31" name="TextBox 33"/>
          <p:cNvSpPr txBox="1"/>
          <p:nvPr/>
        </p:nvSpPr>
        <p:spPr>
          <a:xfrm>
            <a:off x="3708400" y="5892800"/>
            <a:ext cx="609600" cy="279400"/>
          </a:xfrm>
          <a:prstGeom prst="rect">
            <a:avLst/>
          </a:prstGeom>
        </p:spPr>
        <p:txBody>
          <a:bodyPr wrap="square" lIns="0" tIns="0" rIns="0" bIns="0" anchor="ctr">
            <a:noAutofit/>
          </a:bodyPr>
          <a:lstStyle/>
          <a:p>
            <a:pPr>
              <a:lnSpc>
                <a:spcPct val="135000"/>
              </a:lnSpc>
            </a:pPr>
            <a:r>
              <a:rPr sz="520" b="1" spc="10">
                <a:solidFill>
                  <a:srgbClr val="67676E"/>
                </a:solidFill>
                <a:latin typeface="Telegraf"/>
              </a:rPr>
              <a:t>← Back</a:t>
            </a:r>
            <a:endParaRPr sz="520" b="1" spc="10">
              <a:solidFill>
                <a:srgbClr val="67676E"/>
              </a:solidFill>
              <a:latin typeface="Telegraf"/>
            </a:endParaRPr>
          </a:p>
        </p:txBody>
      </p:sp>
      <p:sp>
        <p:nvSpPr>
          <p:cNvPr id="1032" name="TextBox 34"/>
          <p:cNvSpPr txBox="1"/>
          <p:nvPr/>
        </p:nvSpPr>
        <p:spPr>
          <a:xfrm>
            <a:off x="5461000" y="5969000"/>
            <a:ext cx="1143000" cy="127000"/>
          </a:xfrm>
          <a:prstGeom prst="rect">
            <a:avLst/>
          </a:prstGeom>
        </p:spPr>
        <p:txBody>
          <a:bodyPr wrap="square" lIns="0" tIns="0" rIns="0" bIns="0">
            <a:noAutofit/>
          </a:bodyPr>
          <a:lstStyle/>
          <a:p>
            <a:pPr algn="ctr"/>
            <a:r>
              <a:rPr sz="480" b="1" spc="120">
                <a:solidFill>
                  <a:srgbClr val="A2A2A8"/>
                </a:solidFill>
                <a:latin typeface="Telegraf"/>
              </a:rPr>
              <a:t>3 / 4</a:t>
            </a:r>
            <a:endParaRPr sz="480" b="1" spc="120">
              <a:solidFill>
                <a:srgbClr val="A2A2A8"/>
              </a:solidFill>
              <a:latin typeface="Telegraf"/>
            </a:endParaRPr>
          </a:p>
        </p:txBody>
      </p:sp>
      <p:sp>
        <p:nvSpPr>
          <p:cNvPr id="1033" name="Rectangle 35"/>
          <p:cNvSpPr/>
          <p:nvPr/>
        </p:nvSpPr>
        <p:spPr>
          <a:xfrm>
            <a:off x="8280400" y="5867400"/>
            <a:ext cx="1727200" cy="330200"/>
          </a:xfrm>
          <a:custGeom>
            <a:avLst/>
            <a:gdLst/>
            <a:ahLst/>
            <a:cxnLst/>
            <a:rect l="l" t="t" r="r" b="b"/>
            <a:pathLst>
              <a:path w="100000" h="19118">
                <a:moveTo>
                  <a:pt x="90441" y="0"/>
                </a:moveTo>
                <a:cubicBezTo>
                  <a:pt x="90441" y="0"/>
                  <a:pt x="90441" y="0"/>
                  <a:pt x="90441" y="0"/>
                </a:cubicBezTo>
                <a:cubicBezTo>
                  <a:pt x="95721" y="0"/>
                  <a:pt x="100000" y="4279"/>
                  <a:pt x="100000" y="9559"/>
                </a:cubicBezTo>
                <a:cubicBezTo>
                  <a:pt x="100000" y="9559"/>
                  <a:pt x="100000" y="9559"/>
                  <a:pt x="100000" y="9559"/>
                </a:cubicBezTo>
                <a:lnTo>
                  <a:pt x="100000" y="9559"/>
                </a:lnTo>
                <a:cubicBezTo>
                  <a:pt x="100000" y="9559"/>
                  <a:pt x="100000" y="9559"/>
                  <a:pt x="100000" y="9559"/>
                </a:cubicBezTo>
                <a:cubicBezTo>
                  <a:pt x="100000" y="14838"/>
                  <a:pt x="95721" y="19118"/>
                  <a:pt x="90441" y="19118"/>
                </a:cubicBezTo>
                <a:cubicBezTo>
                  <a:pt x="90441" y="19118"/>
                  <a:pt x="90441" y="19118"/>
                  <a:pt x="90441" y="19118"/>
                </a:cubicBezTo>
                <a:lnTo>
                  <a:pt x="9559" y="19118"/>
                </a:lnTo>
                <a:cubicBezTo>
                  <a:pt x="9559" y="19118"/>
                  <a:pt x="9559" y="19118"/>
                  <a:pt x="9559" y="19118"/>
                </a:cubicBezTo>
                <a:cubicBezTo>
                  <a:pt x="4279" y="19118"/>
                  <a:pt x="0" y="14838"/>
                  <a:pt x="0" y="9559"/>
                </a:cubicBezTo>
                <a:cubicBezTo>
                  <a:pt x="0" y="9559"/>
                  <a:pt x="0" y="9559"/>
                  <a:pt x="0" y="9559"/>
                </a:cubicBezTo>
                <a:lnTo>
                  <a:pt x="0" y="9559"/>
                </a:lnTo>
                <a:cubicBezTo>
                  <a:pt x="0" y="9559"/>
                  <a:pt x="0" y="9559"/>
                  <a:pt x="0" y="9559"/>
                </a:cubicBezTo>
                <a:cubicBezTo>
                  <a:pt x="0" y="4279"/>
                  <a:pt x="4279" y="0"/>
                  <a:pt x="9559" y="0"/>
                </a:cubicBezTo>
                <a:cubicBezTo>
                  <a:pt x="9559" y="0"/>
                  <a:pt x="9559" y="0"/>
                  <a:pt x="9559"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34" name="TextBox 36"/>
          <p:cNvSpPr txBox="1"/>
          <p:nvPr/>
        </p:nvSpPr>
        <p:spPr>
          <a:xfrm>
            <a:off x="8356600" y="5867400"/>
            <a:ext cx="1600200" cy="3302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Continue →</a:t>
            </a:r>
            <a:endParaRPr sz="580" b="1" spc="10">
              <a:solidFill>
                <a:srgbClr val="FFFFFF"/>
              </a:solidFill>
              <a:latin typeface="Telegraf"/>
            </a:endParaRPr>
          </a:p>
        </p:txBody>
      </p:sp>
      <p:sp>
        <p:nvSpPr>
          <p:cNvPr id="1035" name="TextBox 37"/>
          <p:cNvSpPr txBox="1"/>
          <p:nvPr/>
        </p:nvSpPr>
        <p:spPr>
          <a:xfrm>
            <a:off x="3632200" y="2120900"/>
            <a:ext cx="3200400" cy="101600"/>
          </a:xfrm>
          <a:prstGeom prst="rect">
            <a:avLst/>
          </a:prstGeom>
        </p:spPr>
        <p:txBody>
          <a:bodyPr wrap="square" lIns="0" tIns="0" rIns="0" bIns="0">
            <a:noAutofit/>
          </a:bodyPr>
          <a:lstStyle/>
          <a:p>
            <a:r>
              <a:rPr sz="490" b="1" spc="100">
                <a:solidFill>
                  <a:srgbClr val="A2A2A8"/>
                </a:solidFill>
                <a:latin typeface="Telegraf"/>
              </a:rPr>
              <a:t>ESCALATION EMAIL</a:t>
            </a:r>
            <a:endParaRPr sz="490" b="1" spc="100">
              <a:solidFill>
                <a:srgbClr val="A2A2A8"/>
              </a:solidFill>
              <a:latin typeface="Telegraf"/>
            </a:endParaRPr>
          </a:p>
        </p:txBody>
      </p:sp>
      <p:sp>
        <p:nvSpPr>
          <p:cNvPr id="1036" name="Rectangle 38"/>
          <p:cNvSpPr/>
          <p:nvPr/>
        </p:nvSpPr>
        <p:spPr>
          <a:xfrm>
            <a:off x="3632200" y="2235200"/>
            <a:ext cx="3200400" cy="304800"/>
          </a:xfrm>
          <a:custGeom>
            <a:avLst/>
            <a:gdLst/>
            <a:ahLst/>
            <a:cxnLst/>
            <a:rect l="l" t="t" r="r" b="b"/>
            <a:pathLst>
              <a:path w="100000" h="9524">
                <a:moveTo>
                  <a:pt x="95238" y="0"/>
                </a:moveTo>
                <a:cubicBezTo>
                  <a:pt x="97094" y="0"/>
                  <a:pt x="98023" y="0"/>
                  <a:pt x="98700" y="426"/>
                </a:cubicBezTo>
                <a:cubicBezTo>
                  <a:pt x="99054" y="648"/>
                  <a:pt x="99352" y="946"/>
                  <a:pt x="99574" y="1300"/>
                </a:cubicBezTo>
                <a:cubicBezTo>
                  <a:pt x="100000" y="1977"/>
                  <a:pt x="100000" y="2906"/>
                  <a:pt x="100000" y="4762"/>
                </a:cubicBezTo>
                <a:lnTo>
                  <a:pt x="100000" y="4762"/>
                </a:lnTo>
                <a:cubicBezTo>
                  <a:pt x="100000" y="6618"/>
                  <a:pt x="100000" y="7546"/>
                  <a:pt x="99574" y="8224"/>
                </a:cubicBezTo>
                <a:cubicBezTo>
                  <a:pt x="99352" y="8577"/>
                  <a:pt x="99054" y="8876"/>
                  <a:pt x="98700" y="9098"/>
                </a:cubicBezTo>
                <a:cubicBezTo>
                  <a:pt x="98023" y="9524"/>
                  <a:pt x="97094" y="9524"/>
                  <a:pt x="95238" y="9524"/>
                </a:cubicBezTo>
                <a:lnTo>
                  <a:pt x="4762" y="9524"/>
                </a:lnTo>
                <a:cubicBezTo>
                  <a:pt x="2906" y="9524"/>
                  <a:pt x="1977" y="9524"/>
                  <a:pt x="1300" y="9098"/>
                </a:cubicBezTo>
                <a:cubicBezTo>
                  <a:pt x="946" y="8876"/>
                  <a:pt x="648" y="8577"/>
                  <a:pt x="426" y="8224"/>
                </a:cubicBezTo>
                <a:cubicBezTo>
                  <a:pt x="0" y="7546"/>
                  <a:pt x="0" y="6618"/>
                  <a:pt x="0" y="4762"/>
                </a:cubicBezTo>
                <a:lnTo>
                  <a:pt x="0" y="4762"/>
                </a:lnTo>
                <a:cubicBezTo>
                  <a:pt x="0" y="2906"/>
                  <a:pt x="0" y="1977"/>
                  <a:pt x="426" y="1300"/>
                </a:cubicBezTo>
                <a:cubicBezTo>
                  <a:pt x="648" y="946"/>
                  <a:pt x="946" y="648"/>
                  <a:pt x="1300" y="426"/>
                </a:cubicBezTo>
                <a:cubicBezTo>
                  <a:pt x="1977" y="0"/>
                  <a:pt x="2906" y="0"/>
                  <a:pt x="4762"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37" name="TextBox 39"/>
          <p:cNvSpPr txBox="1"/>
          <p:nvPr/>
        </p:nvSpPr>
        <p:spPr>
          <a:xfrm>
            <a:off x="3733800" y="2235200"/>
            <a:ext cx="3022600" cy="304800"/>
          </a:xfrm>
          <a:prstGeom prst="rect">
            <a:avLst/>
          </a:prstGeom>
        </p:spPr>
        <p:txBody>
          <a:bodyPr wrap="square" lIns="0" tIns="0" rIns="0" bIns="0" anchor="ctr">
            <a:noAutofit/>
          </a:bodyPr>
          <a:lstStyle/>
          <a:p>
            <a:pPr>
              <a:lnSpc>
                <a:spcPct val="140000"/>
              </a:lnSpc>
            </a:pPr>
            <a:r>
              <a:rPr sz="540" spc="0">
                <a:solidFill>
                  <a:srgbClr val="0A0A0A"/>
                </a:solidFill>
                <a:latin typeface="Telegraf"/>
              </a:rPr>
              <a:t>founder@cloudpulse.in</a:t>
            </a:r>
            <a:endParaRPr sz="540" spc="0">
              <a:solidFill>
                <a:srgbClr val="0A0A0A"/>
              </a:solidFill>
              <a:latin typeface="Telegraf"/>
            </a:endParaRPr>
          </a:p>
        </p:txBody>
      </p:sp>
      <p:sp>
        <p:nvSpPr>
          <p:cNvPr id="1038" name="TextBox 40"/>
          <p:cNvSpPr txBox="1"/>
          <p:nvPr/>
        </p:nvSpPr>
        <p:spPr>
          <a:xfrm>
            <a:off x="3632200" y="2730500"/>
            <a:ext cx="3200400" cy="101600"/>
          </a:xfrm>
          <a:prstGeom prst="rect">
            <a:avLst/>
          </a:prstGeom>
        </p:spPr>
        <p:txBody>
          <a:bodyPr wrap="square" lIns="0" tIns="0" rIns="0" bIns="0">
            <a:noAutofit/>
          </a:bodyPr>
          <a:lstStyle/>
          <a:p>
            <a:r>
              <a:rPr sz="490" b="1" spc="100">
                <a:solidFill>
                  <a:srgbClr val="A2A2A8"/>
                </a:solidFill>
                <a:latin typeface="Telegraf"/>
              </a:rPr>
              <a:t>ESCALATION PHONE</a:t>
            </a:r>
            <a:endParaRPr sz="490" b="1" spc="100">
              <a:solidFill>
                <a:srgbClr val="A2A2A8"/>
              </a:solidFill>
              <a:latin typeface="Telegraf"/>
            </a:endParaRPr>
          </a:p>
        </p:txBody>
      </p:sp>
      <p:sp>
        <p:nvSpPr>
          <p:cNvPr id="1039" name="Rectangle 41"/>
          <p:cNvSpPr/>
          <p:nvPr/>
        </p:nvSpPr>
        <p:spPr>
          <a:xfrm>
            <a:off x="3632200" y="2844800"/>
            <a:ext cx="3200400" cy="304800"/>
          </a:xfrm>
          <a:custGeom>
            <a:avLst/>
            <a:gdLst/>
            <a:ahLst/>
            <a:cxnLst/>
            <a:rect l="l" t="t" r="r" b="b"/>
            <a:pathLst>
              <a:path w="100000" h="9524">
                <a:moveTo>
                  <a:pt x="95238" y="0"/>
                </a:moveTo>
                <a:cubicBezTo>
                  <a:pt x="97094" y="0"/>
                  <a:pt x="98023" y="0"/>
                  <a:pt x="98700" y="426"/>
                </a:cubicBezTo>
                <a:cubicBezTo>
                  <a:pt x="99054" y="648"/>
                  <a:pt x="99352" y="946"/>
                  <a:pt x="99574" y="1300"/>
                </a:cubicBezTo>
                <a:cubicBezTo>
                  <a:pt x="100000" y="1977"/>
                  <a:pt x="100000" y="2906"/>
                  <a:pt x="100000" y="4762"/>
                </a:cubicBezTo>
                <a:lnTo>
                  <a:pt x="100000" y="4762"/>
                </a:lnTo>
                <a:cubicBezTo>
                  <a:pt x="100000" y="6618"/>
                  <a:pt x="100000" y="7546"/>
                  <a:pt x="99574" y="8224"/>
                </a:cubicBezTo>
                <a:cubicBezTo>
                  <a:pt x="99352" y="8577"/>
                  <a:pt x="99054" y="8876"/>
                  <a:pt x="98700" y="9098"/>
                </a:cubicBezTo>
                <a:cubicBezTo>
                  <a:pt x="98023" y="9524"/>
                  <a:pt x="97094" y="9524"/>
                  <a:pt x="95238" y="9524"/>
                </a:cubicBezTo>
                <a:lnTo>
                  <a:pt x="4762" y="9524"/>
                </a:lnTo>
                <a:cubicBezTo>
                  <a:pt x="2906" y="9524"/>
                  <a:pt x="1977" y="9524"/>
                  <a:pt x="1300" y="9098"/>
                </a:cubicBezTo>
                <a:cubicBezTo>
                  <a:pt x="946" y="8876"/>
                  <a:pt x="648" y="8577"/>
                  <a:pt x="426" y="8224"/>
                </a:cubicBezTo>
                <a:cubicBezTo>
                  <a:pt x="0" y="7546"/>
                  <a:pt x="0" y="6618"/>
                  <a:pt x="0" y="4762"/>
                </a:cubicBezTo>
                <a:lnTo>
                  <a:pt x="0" y="4762"/>
                </a:lnTo>
                <a:cubicBezTo>
                  <a:pt x="0" y="2906"/>
                  <a:pt x="0" y="1977"/>
                  <a:pt x="426" y="1300"/>
                </a:cubicBezTo>
                <a:cubicBezTo>
                  <a:pt x="648" y="946"/>
                  <a:pt x="946" y="648"/>
                  <a:pt x="1300" y="426"/>
                </a:cubicBezTo>
                <a:cubicBezTo>
                  <a:pt x="1977" y="0"/>
                  <a:pt x="2906" y="0"/>
                  <a:pt x="4762"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40" name="TextBox 42"/>
          <p:cNvSpPr txBox="1"/>
          <p:nvPr/>
        </p:nvSpPr>
        <p:spPr>
          <a:xfrm>
            <a:off x="3733800" y="2844800"/>
            <a:ext cx="3022600" cy="304800"/>
          </a:xfrm>
          <a:prstGeom prst="rect">
            <a:avLst/>
          </a:prstGeom>
        </p:spPr>
        <p:txBody>
          <a:bodyPr wrap="square" lIns="0" tIns="0" rIns="0" bIns="0" anchor="ctr">
            <a:noAutofit/>
          </a:bodyPr>
          <a:lstStyle/>
          <a:p>
            <a:pPr>
              <a:lnSpc>
                <a:spcPct val="140000"/>
              </a:lnSpc>
            </a:pPr>
            <a:r>
              <a:rPr sz="540" spc="0">
                <a:solidFill>
                  <a:srgbClr val="0A0A0A"/>
                </a:solidFill>
                <a:latin typeface="Telegraf"/>
              </a:rPr>
              <a:t>+91 98765 43210</a:t>
            </a:r>
            <a:endParaRPr sz="540" spc="0">
              <a:solidFill>
                <a:srgbClr val="0A0A0A"/>
              </a:solidFill>
              <a:latin typeface="Telegraf"/>
            </a:endParaRPr>
          </a:p>
        </p:txBody>
      </p:sp>
      <p:sp>
        <p:nvSpPr>
          <p:cNvPr id="1041" name="Rectangle 43"/>
          <p:cNvSpPr/>
          <p:nvPr/>
        </p:nvSpPr>
        <p:spPr>
          <a:xfrm>
            <a:off x="3632200" y="3403600"/>
            <a:ext cx="3200400" cy="965200"/>
          </a:xfrm>
          <a:custGeom>
            <a:avLst/>
            <a:gdLst/>
            <a:ahLst/>
            <a:cxnLst/>
            <a:rect l="l" t="t" r="r" b="b"/>
            <a:pathLst>
              <a:path w="100000" h="30159">
                <a:moveTo>
                  <a:pt x="92063" y="0"/>
                </a:moveTo>
                <a:cubicBezTo>
                  <a:pt x="95805" y="0"/>
                  <a:pt x="97675" y="0"/>
                  <a:pt x="98838" y="1162"/>
                </a:cubicBezTo>
                <a:cubicBezTo>
                  <a:pt x="98838" y="1162"/>
                  <a:pt x="98838" y="1162"/>
                  <a:pt x="98838" y="1162"/>
                </a:cubicBezTo>
                <a:cubicBezTo>
                  <a:pt x="100000" y="2325"/>
                  <a:pt x="100000" y="4195"/>
                  <a:pt x="100000" y="7937"/>
                </a:cubicBezTo>
                <a:lnTo>
                  <a:pt x="100000" y="22222"/>
                </a:lnTo>
                <a:cubicBezTo>
                  <a:pt x="100000" y="25963"/>
                  <a:pt x="100000" y="27834"/>
                  <a:pt x="98838" y="28996"/>
                </a:cubicBezTo>
                <a:cubicBezTo>
                  <a:pt x="98838" y="28996"/>
                  <a:pt x="98838" y="28996"/>
                  <a:pt x="98838" y="28996"/>
                </a:cubicBezTo>
                <a:cubicBezTo>
                  <a:pt x="97675" y="30159"/>
                  <a:pt x="95805" y="30159"/>
                  <a:pt x="92063" y="30159"/>
                </a:cubicBezTo>
                <a:lnTo>
                  <a:pt x="7937" y="30159"/>
                </a:lnTo>
                <a:cubicBezTo>
                  <a:pt x="4195" y="30159"/>
                  <a:pt x="2325" y="30159"/>
                  <a:pt x="1162" y="28996"/>
                </a:cubicBezTo>
                <a:cubicBezTo>
                  <a:pt x="1162" y="28996"/>
                  <a:pt x="1162" y="28996"/>
                  <a:pt x="1162" y="28996"/>
                </a:cubicBezTo>
                <a:cubicBezTo>
                  <a:pt x="0" y="27834"/>
                  <a:pt x="0" y="25963"/>
                  <a:pt x="0" y="22222"/>
                </a:cubicBezTo>
                <a:lnTo>
                  <a:pt x="0" y="7937"/>
                </a:lnTo>
                <a:cubicBezTo>
                  <a:pt x="0" y="4195"/>
                  <a:pt x="0" y="2325"/>
                  <a:pt x="1162" y="1162"/>
                </a:cubicBezTo>
                <a:cubicBezTo>
                  <a:pt x="1162" y="1162"/>
                  <a:pt x="1162" y="1162"/>
                  <a:pt x="1162" y="1162"/>
                </a:cubicBezTo>
                <a:cubicBezTo>
                  <a:pt x="2325" y="0"/>
                  <a:pt x="4195" y="0"/>
                  <a:pt x="7937"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42" name="TextBox 44"/>
          <p:cNvSpPr txBox="1"/>
          <p:nvPr/>
        </p:nvSpPr>
        <p:spPr>
          <a:xfrm>
            <a:off x="3810000" y="3530600"/>
            <a:ext cx="2032000" cy="114300"/>
          </a:xfrm>
          <a:prstGeom prst="rect">
            <a:avLst/>
          </a:prstGeom>
        </p:spPr>
        <p:txBody>
          <a:bodyPr wrap="square" lIns="0" tIns="0" rIns="0" bIns="0">
            <a:noAutofit/>
          </a:bodyPr>
          <a:lstStyle/>
          <a:p>
            <a:r>
              <a:rPr sz="460" b="1" spc="100">
                <a:solidFill>
                  <a:srgbClr val="A2A2A8"/>
                </a:solidFill>
                <a:latin typeface="Telegraf"/>
              </a:rPr>
              <a:t>CONFIDENCE FLOOR</a:t>
            </a:r>
            <a:endParaRPr sz="460" b="1" spc="100">
              <a:solidFill>
                <a:srgbClr val="A2A2A8"/>
              </a:solidFill>
              <a:latin typeface="Telegraf"/>
            </a:endParaRPr>
          </a:p>
        </p:txBody>
      </p:sp>
      <p:sp>
        <p:nvSpPr>
          <p:cNvPr id="1043" name="TextBox 45"/>
          <p:cNvSpPr txBox="1"/>
          <p:nvPr/>
        </p:nvSpPr>
        <p:spPr>
          <a:xfrm>
            <a:off x="3810000" y="3657600"/>
            <a:ext cx="584200" cy="381000"/>
          </a:xfrm>
          <a:prstGeom prst="rect">
            <a:avLst/>
          </a:prstGeom>
        </p:spPr>
        <p:txBody>
          <a:bodyPr wrap="square" lIns="0" tIns="0" rIns="0" bIns="0">
            <a:noAutofit/>
          </a:bodyPr>
          <a:lstStyle/>
          <a:p>
            <a:pPr>
              <a:lnSpc>
                <a:spcPct val="102000"/>
              </a:lnSpc>
            </a:pPr>
            <a:r>
              <a:rPr sz="2400" spc="-100">
                <a:solidFill>
                  <a:srgbClr val="0A0A0A"/>
                </a:solidFill>
                <a:latin typeface="PP Editorial New Ultralight"/>
              </a:rPr>
              <a:t>50</a:t>
            </a:r>
            <a:endParaRPr sz="2400" spc="-100">
              <a:solidFill>
                <a:srgbClr val="0A0A0A"/>
              </a:solidFill>
              <a:latin typeface="PP Editorial New Ultralight"/>
            </a:endParaRPr>
          </a:p>
        </p:txBody>
      </p:sp>
      <p:sp>
        <p:nvSpPr>
          <p:cNvPr id="1044" name="TextBox 46"/>
          <p:cNvSpPr txBox="1"/>
          <p:nvPr/>
        </p:nvSpPr>
        <p:spPr>
          <a:xfrm>
            <a:off x="4368800" y="3759200"/>
            <a:ext cx="2286000" cy="254000"/>
          </a:xfrm>
          <a:prstGeom prst="rect">
            <a:avLst/>
          </a:prstGeom>
        </p:spPr>
        <p:txBody>
          <a:bodyPr wrap="square" lIns="0" tIns="0" rIns="0" bIns="0">
            <a:noAutofit/>
          </a:bodyPr>
          <a:lstStyle/>
          <a:p>
            <a:pPr>
              <a:lnSpc>
                <a:spcPct val="140000"/>
              </a:lnSpc>
            </a:pPr>
            <a:r>
              <a:rPr sz="480" spc="0">
                <a:solidFill>
                  <a:srgbClr val="67676E"/>
                </a:solidFill>
                <a:latin typeface="Telegraf"/>
              </a:rPr>
              <a:t>below this, R2 escalates</a:t>
            </a:r>
            <a:endParaRPr sz="480" spc="0">
              <a:solidFill>
                <a:srgbClr val="67676E"/>
              </a:solidFill>
              <a:latin typeface="Telegraf"/>
            </a:endParaRPr>
          </a:p>
          <a:p>
            <a:pPr>
              <a:lnSpc>
                <a:spcPct val="140000"/>
              </a:lnSpc>
            </a:pPr>
            <a:r>
              <a:rPr sz="480" spc="0">
                <a:solidFill>
                  <a:srgbClr val="67676E"/>
                </a:solidFill>
                <a:latin typeface="Telegraf"/>
              </a:rPr>
              <a:t>and nothing is sent</a:t>
            </a:r>
            <a:endParaRPr sz="480" spc="0">
              <a:solidFill>
                <a:srgbClr val="67676E"/>
              </a:solidFill>
              <a:latin typeface="Telegraf"/>
            </a:endParaRPr>
          </a:p>
        </p:txBody>
      </p:sp>
      <p:sp>
        <p:nvSpPr>
          <p:cNvPr id="1045" name="Rectangle 47"/>
          <p:cNvSpPr/>
          <p:nvPr/>
        </p:nvSpPr>
        <p:spPr>
          <a:xfrm>
            <a:off x="3810000" y="4140200"/>
            <a:ext cx="2844800" cy="33020"/>
          </a:xfrm>
          <a:custGeom>
            <a:avLst/>
            <a:gdLst/>
            <a:ahLst/>
            <a:cxnLst/>
            <a:rect l="l" t="t" r="r" b="b"/>
            <a:pathLst>
              <a:path w="100000" h="1161">
                <a:moveTo>
                  <a:pt x="99420" y="0"/>
                </a:moveTo>
                <a:cubicBezTo>
                  <a:pt x="99420" y="0"/>
                  <a:pt x="99420" y="0"/>
                  <a:pt x="99420" y="0"/>
                </a:cubicBezTo>
                <a:cubicBezTo>
                  <a:pt x="99740" y="0"/>
                  <a:pt x="100000" y="260"/>
                  <a:pt x="100000" y="580"/>
                </a:cubicBezTo>
                <a:cubicBezTo>
                  <a:pt x="100000" y="580"/>
                  <a:pt x="100000" y="580"/>
                  <a:pt x="100000" y="580"/>
                </a:cubicBezTo>
                <a:lnTo>
                  <a:pt x="100000" y="580"/>
                </a:lnTo>
                <a:cubicBezTo>
                  <a:pt x="100000" y="580"/>
                  <a:pt x="100000" y="580"/>
                  <a:pt x="100000" y="580"/>
                </a:cubicBezTo>
                <a:cubicBezTo>
                  <a:pt x="100000" y="901"/>
                  <a:pt x="99740" y="1161"/>
                  <a:pt x="99420" y="1161"/>
                </a:cubicBezTo>
                <a:cubicBezTo>
                  <a:pt x="99420" y="1161"/>
                  <a:pt x="99420" y="1161"/>
                  <a:pt x="99420" y="1161"/>
                </a:cubicBezTo>
                <a:lnTo>
                  <a:pt x="580" y="1161"/>
                </a:lnTo>
                <a:cubicBezTo>
                  <a:pt x="580" y="1161"/>
                  <a:pt x="580" y="1161"/>
                  <a:pt x="580" y="1161"/>
                </a:cubicBezTo>
                <a:cubicBezTo>
                  <a:pt x="260" y="1161"/>
                  <a:pt x="0" y="901"/>
                  <a:pt x="0" y="580"/>
                </a:cubicBezTo>
                <a:cubicBezTo>
                  <a:pt x="0" y="580"/>
                  <a:pt x="0" y="580"/>
                  <a:pt x="0" y="580"/>
                </a:cubicBezTo>
                <a:lnTo>
                  <a:pt x="0" y="580"/>
                </a:lnTo>
                <a:cubicBezTo>
                  <a:pt x="0" y="580"/>
                  <a:pt x="0" y="580"/>
                  <a:pt x="0" y="580"/>
                </a:cubicBezTo>
                <a:cubicBezTo>
                  <a:pt x="0" y="260"/>
                  <a:pt x="260" y="0"/>
                  <a:pt x="580" y="0"/>
                </a:cubicBezTo>
                <a:cubicBezTo>
                  <a:pt x="580" y="0"/>
                  <a:pt x="580" y="0"/>
                  <a:pt x="580" y="0"/>
                </a:cubicBezTo>
                <a:close/>
              </a:path>
            </a:pathLst>
          </a:cu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46" name="Rectangle 48"/>
          <p:cNvSpPr/>
          <p:nvPr/>
        </p:nvSpPr>
        <p:spPr>
          <a:xfrm>
            <a:off x="3810000" y="4140200"/>
            <a:ext cx="1422400" cy="33020"/>
          </a:xfrm>
          <a:custGeom>
            <a:avLst/>
            <a:gdLst/>
            <a:ahLst/>
            <a:cxnLst/>
            <a:rect l="l" t="t" r="r" b="b"/>
            <a:pathLst>
              <a:path w="100000" h="2321">
                <a:moveTo>
                  <a:pt x="98839" y="0"/>
                </a:moveTo>
                <a:cubicBezTo>
                  <a:pt x="98839" y="0"/>
                  <a:pt x="98839" y="0"/>
                  <a:pt x="98839" y="0"/>
                </a:cubicBezTo>
                <a:cubicBezTo>
                  <a:pt x="99480" y="0"/>
                  <a:pt x="100000" y="520"/>
                  <a:pt x="100000" y="1161"/>
                </a:cubicBezTo>
                <a:cubicBezTo>
                  <a:pt x="100000" y="1161"/>
                  <a:pt x="100000" y="1161"/>
                  <a:pt x="100000" y="1161"/>
                </a:cubicBezTo>
                <a:lnTo>
                  <a:pt x="100000" y="1161"/>
                </a:lnTo>
                <a:cubicBezTo>
                  <a:pt x="100000" y="1161"/>
                  <a:pt x="100000" y="1161"/>
                  <a:pt x="100000" y="1161"/>
                </a:cubicBezTo>
                <a:cubicBezTo>
                  <a:pt x="100000" y="1802"/>
                  <a:pt x="99480" y="2321"/>
                  <a:pt x="98839" y="2321"/>
                </a:cubicBezTo>
                <a:cubicBezTo>
                  <a:pt x="98839" y="2321"/>
                  <a:pt x="98839" y="2321"/>
                  <a:pt x="98839" y="2321"/>
                </a:cubicBezTo>
                <a:lnTo>
                  <a:pt x="1161" y="2321"/>
                </a:lnTo>
                <a:cubicBezTo>
                  <a:pt x="1161" y="2321"/>
                  <a:pt x="1161" y="2321"/>
                  <a:pt x="1161" y="2321"/>
                </a:cubicBezTo>
                <a:cubicBezTo>
                  <a:pt x="520" y="2321"/>
                  <a:pt x="0" y="1802"/>
                  <a:pt x="0" y="1161"/>
                </a:cubicBezTo>
                <a:cubicBezTo>
                  <a:pt x="0" y="1161"/>
                  <a:pt x="0" y="1161"/>
                  <a:pt x="0" y="1161"/>
                </a:cubicBezTo>
                <a:lnTo>
                  <a:pt x="0" y="1161"/>
                </a:lnTo>
                <a:cubicBezTo>
                  <a:pt x="0" y="1161"/>
                  <a:pt x="0" y="1161"/>
                  <a:pt x="0" y="1161"/>
                </a:cubicBezTo>
                <a:cubicBezTo>
                  <a:pt x="0" y="520"/>
                  <a:pt x="520" y="0"/>
                  <a:pt x="1161" y="0"/>
                </a:cubicBezTo>
                <a:cubicBezTo>
                  <a:pt x="1161" y="0"/>
                  <a:pt x="1161" y="0"/>
                  <a:pt x="1161"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47" name="Oval 49"/>
          <p:cNvSpPr/>
          <p:nvPr/>
        </p:nvSpPr>
        <p:spPr>
          <a:xfrm>
            <a:off x="5179060" y="4103370"/>
            <a:ext cx="106680" cy="10668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48" name="Oval 50"/>
          <p:cNvSpPr/>
          <p:nvPr/>
        </p:nvSpPr>
        <p:spPr>
          <a:xfrm>
            <a:off x="5194300" y="4118610"/>
            <a:ext cx="76200" cy="7620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49" name="TextBox 51"/>
          <p:cNvSpPr txBox="1"/>
          <p:nvPr/>
        </p:nvSpPr>
        <p:spPr>
          <a:xfrm>
            <a:off x="5435600" y="4089400"/>
            <a:ext cx="1219200" cy="127000"/>
          </a:xfrm>
          <a:prstGeom prst="rect">
            <a:avLst/>
          </a:prstGeom>
        </p:spPr>
        <p:txBody>
          <a:bodyPr wrap="square" lIns="0" tIns="0" rIns="0" bIns="0">
            <a:noAutofit/>
          </a:bodyPr>
          <a:lstStyle/>
          <a:p>
            <a:pPr>
              <a:lnSpc>
                <a:spcPct val="135000"/>
              </a:lnSpc>
            </a:pPr>
            <a:r>
              <a:rPr sz="460" spc="0">
                <a:solidFill>
                  <a:srgbClr val="0E6B5F"/>
                </a:solidFill>
                <a:latin typeface="Telegraf"/>
              </a:rPr>
              <a:t>hard minimum</a:t>
            </a:r>
            <a:endParaRPr sz="460" spc="0">
              <a:solidFill>
                <a:srgbClr val="0E6B5F"/>
              </a:solidFill>
              <a:latin typeface="Telegraf"/>
            </a:endParaRPr>
          </a:p>
        </p:txBody>
      </p:sp>
      <p:sp>
        <p:nvSpPr>
          <p:cNvPr id="1050" name="Rectangle 52"/>
          <p:cNvSpPr/>
          <p:nvPr/>
        </p:nvSpPr>
        <p:spPr>
          <a:xfrm>
            <a:off x="3632200" y="4495800"/>
            <a:ext cx="3200400" cy="787400"/>
          </a:xfrm>
          <a:custGeom>
            <a:avLst/>
            <a:gdLst/>
            <a:ahLst/>
            <a:cxnLst/>
            <a:rect l="l" t="t" r="r" b="b"/>
            <a:pathLst>
              <a:path w="100000" h="24603">
                <a:moveTo>
                  <a:pt x="92063" y="0"/>
                </a:moveTo>
                <a:cubicBezTo>
                  <a:pt x="95805" y="0"/>
                  <a:pt x="97675" y="0"/>
                  <a:pt x="98838" y="1162"/>
                </a:cubicBezTo>
                <a:cubicBezTo>
                  <a:pt x="98838" y="1162"/>
                  <a:pt x="98838" y="1162"/>
                  <a:pt x="98838" y="1162"/>
                </a:cubicBezTo>
                <a:cubicBezTo>
                  <a:pt x="100000" y="2325"/>
                  <a:pt x="100000" y="4195"/>
                  <a:pt x="100000" y="7937"/>
                </a:cubicBezTo>
                <a:lnTo>
                  <a:pt x="100000" y="16667"/>
                </a:lnTo>
                <a:cubicBezTo>
                  <a:pt x="100000" y="20408"/>
                  <a:pt x="100000" y="22279"/>
                  <a:pt x="98838" y="23441"/>
                </a:cubicBezTo>
                <a:cubicBezTo>
                  <a:pt x="98838" y="23441"/>
                  <a:pt x="98838" y="23441"/>
                  <a:pt x="98838" y="23441"/>
                </a:cubicBezTo>
                <a:cubicBezTo>
                  <a:pt x="97675" y="24603"/>
                  <a:pt x="95805" y="24603"/>
                  <a:pt x="92063" y="24603"/>
                </a:cubicBezTo>
                <a:lnTo>
                  <a:pt x="7937" y="24603"/>
                </a:lnTo>
                <a:cubicBezTo>
                  <a:pt x="4195" y="24603"/>
                  <a:pt x="2325" y="24603"/>
                  <a:pt x="1162" y="23441"/>
                </a:cubicBezTo>
                <a:cubicBezTo>
                  <a:pt x="1162" y="23441"/>
                  <a:pt x="1162" y="23441"/>
                  <a:pt x="1162" y="23441"/>
                </a:cubicBezTo>
                <a:cubicBezTo>
                  <a:pt x="0" y="22279"/>
                  <a:pt x="0" y="20408"/>
                  <a:pt x="0" y="16667"/>
                </a:cubicBezTo>
                <a:lnTo>
                  <a:pt x="0" y="7937"/>
                </a:lnTo>
                <a:cubicBezTo>
                  <a:pt x="0" y="4195"/>
                  <a:pt x="0" y="2325"/>
                  <a:pt x="1162" y="1162"/>
                </a:cubicBezTo>
                <a:cubicBezTo>
                  <a:pt x="1162" y="1162"/>
                  <a:pt x="1162" y="1162"/>
                  <a:pt x="1162" y="1162"/>
                </a:cubicBezTo>
                <a:cubicBezTo>
                  <a:pt x="2325" y="0"/>
                  <a:pt x="4195" y="0"/>
                  <a:pt x="793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51" name="TextBox 53"/>
          <p:cNvSpPr txBox="1"/>
          <p:nvPr/>
        </p:nvSpPr>
        <p:spPr>
          <a:xfrm>
            <a:off x="3810000" y="4622800"/>
            <a:ext cx="2032000" cy="114300"/>
          </a:xfrm>
          <a:prstGeom prst="rect">
            <a:avLst/>
          </a:prstGeom>
        </p:spPr>
        <p:txBody>
          <a:bodyPr wrap="square" lIns="0" tIns="0" rIns="0" bIns="0">
            <a:noAutofit/>
          </a:bodyPr>
          <a:lstStyle/>
          <a:p>
            <a:r>
              <a:rPr sz="460" b="1" spc="100">
                <a:solidFill>
                  <a:srgbClr val="A2A2A8"/>
                </a:solidFill>
                <a:latin typeface="Telegraf"/>
              </a:rPr>
              <a:t>ESCALATE AT URGENCY</a:t>
            </a:r>
            <a:endParaRPr sz="460" b="1" spc="100">
              <a:solidFill>
                <a:srgbClr val="A2A2A8"/>
              </a:solidFill>
              <a:latin typeface="Telegraf"/>
            </a:endParaRPr>
          </a:p>
        </p:txBody>
      </p:sp>
      <p:sp>
        <p:nvSpPr>
          <p:cNvPr id="1052" name="TextBox 54"/>
          <p:cNvSpPr txBox="1"/>
          <p:nvPr/>
        </p:nvSpPr>
        <p:spPr>
          <a:xfrm>
            <a:off x="3810000" y="4775200"/>
            <a:ext cx="762000" cy="228600"/>
          </a:xfrm>
          <a:prstGeom prst="rect">
            <a:avLst/>
          </a:prstGeom>
        </p:spPr>
        <p:txBody>
          <a:bodyPr wrap="square" lIns="0" tIns="0" rIns="0" bIns="0">
            <a:noAutofit/>
          </a:bodyPr>
          <a:lstStyle/>
          <a:p>
            <a:pPr>
              <a:lnSpc>
                <a:spcPct val="135000"/>
              </a:lnSpc>
            </a:pPr>
            <a:r>
              <a:rPr sz="1050" b="1" spc="0">
                <a:solidFill>
                  <a:srgbClr val="0A0A0A"/>
                </a:solidFill>
                <a:latin typeface="Telegraf"/>
              </a:rPr>
              <a:t>80</a:t>
            </a:r>
            <a:endParaRPr sz="1050" b="1" spc="0">
              <a:solidFill>
                <a:srgbClr val="0A0A0A"/>
              </a:solidFill>
              <a:latin typeface="Telegraf"/>
            </a:endParaRPr>
          </a:p>
        </p:txBody>
      </p:sp>
      <p:sp>
        <p:nvSpPr>
          <p:cNvPr id="1053" name="TextBox 55"/>
          <p:cNvSpPr txBox="1"/>
          <p:nvPr/>
        </p:nvSpPr>
        <p:spPr>
          <a:xfrm>
            <a:off x="4089400" y="4851400"/>
            <a:ext cx="2286000" cy="152400"/>
          </a:xfrm>
          <a:prstGeom prst="rect">
            <a:avLst/>
          </a:prstGeom>
        </p:spPr>
        <p:txBody>
          <a:bodyPr wrap="square" lIns="0" tIns="0" rIns="0" bIns="0">
            <a:noAutofit/>
          </a:bodyPr>
          <a:lstStyle/>
          <a:p>
            <a:pPr>
              <a:lnSpc>
                <a:spcPct val="135000"/>
              </a:lnSpc>
            </a:pPr>
            <a:r>
              <a:rPr sz="480" spc="0">
                <a:solidFill>
                  <a:srgbClr val="67676E"/>
                </a:solidFill>
                <a:latin typeface="Telegraf"/>
              </a:rPr>
              <a:t>R4 fires; the draft is discarded</a:t>
            </a:r>
            <a:endParaRPr sz="480" spc="0">
              <a:solidFill>
                <a:srgbClr val="67676E"/>
              </a:solidFill>
              <a:latin typeface="Telegraf"/>
            </a:endParaRPr>
          </a:p>
        </p:txBody>
      </p:sp>
      <p:sp>
        <p:nvSpPr>
          <p:cNvPr id="1054" name="Rectangle 56"/>
          <p:cNvSpPr/>
          <p:nvPr/>
        </p:nvSpPr>
        <p:spPr>
          <a:xfrm>
            <a:off x="3810000" y="5080000"/>
            <a:ext cx="2844800" cy="33020"/>
          </a:xfrm>
          <a:custGeom>
            <a:avLst/>
            <a:gdLst/>
            <a:ahLst/>
            <a:cxnLst/>
            <a:rect l="l" t="t" r="r" b="b"/>
            <a:pathLst>
              <a:path w="100000" h="1161">
                <a:moveTo>
                  <a:pt x="99420" y="0"/>
                </a:moveTo>
                <a:cubicBezTo>
                  <a:pt x="99420" y="0"/>
                  <a:pt x="99420" y="0"/>
                  <a:pt x="99420" y="0"/>
                </a:cubicBezTo>
                <a:cubicBezTo>
                  <a:pt x="99740" y="0"/>
                  <a:pt x="100000" y="260"/>
                  <a:pt x="100000" y="580"/>
                </a:cubicBezTo>
                <a:cubicBezTo>
                  <a:pt x="100000" y="580"/>
                  <a:pt x="100000" y="580"/>
                  <a:pt x="100000" y="580"/>
                </a:cubicBezTo>
                <a:lnTo>
                  <a:pt x="100000" y="580"/>
                </a:lnTo>
                <a:cubicBezTo>
                  <a:pt x="100000" y="580"/>
                  <a:pt x="100000" y="580"/>
                  <a:pt x="100000" y="580"/>
                </a:cubicBezTo>
                <a:cubicBezTo>
                  <a:pt x="100000" y="901"/>
                  <a:pt x="99740" y="1161"/>
                  <a:pt x="99420" y="1161"/>
                </a:cubicBezTo>
                <a:cubicBezTo>
                  <a:pt x="99420" y="1161"/>
                  <a:pt x="99420" y="1161"/>
                  <a:pt x="99420" y="1161"/>
                </a:cubicBezTo>
                <a:lnTo>
                  <a:pt x="580" y="1161"/>
                </a:lnTo>
                <a:cubicBezTo>
                  <a:pt x="580" y="1161"/>
                  <a:pt x="580" y="1161"/>
                  <a:pt x="580" y="1161"/>
                </a:cubicBezTo>
                <a:cubicBezTo>
                  <a:pt x="260" y="1161"/>
                  <a:pt x="0" y="901"/>
                  <a:pt x="0" y="580"/>
                </a:cubicBezTo>
                <a:cubicBezTo>
                  <a:pt x="0" y="580"/>
                  <a:pt x="0" y="580"/>
                  <a:pt x="0" y="580"/>
                </a:cubicBezTo>
                <a:lnTo>
                  <a:pt x="0" y="580"/>
                </a:lnTo>
                <a:cubicBezTo>
                  <a:pt x="0" y="580"/>
                  <a:pt x="0" y="580"/>
                  <a:pt x="0" y="580"/>
                </a:cubicBezTo>
                <a:cubicBezTo>
                  <a:pt x="0" y="260"/>
                  <a:pt x="260" y="0"/>
                  <a:pt x="580" y="0"/>
                </a:cubicBezTo>
                <a:cubicBezTo>
                  <a:pt x="580" y="0"/>
                  <a:pt x="580" y="0"/>
                  <a:pt x="580" y="0"/>
                </a:cubicBezTo>
                <a:close/>
              </a:path>
            </a:pathLst>
          </a:cu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55" name="Rectangle 57"/>
          <p:cNvSpPr/>
          <p:nvPr/>
        </p:nvSpPr>
        <p:spPr>
          <a:xfrm>
            <a:off x="3810000" y="5080000"/>
            <a:ext cx="2273300" cy="33020"/>
          </a:xfrm>
          <a:custGeom>
            <a:avLst/>
            <a:gdLst/>
            <a:ahLst/>
            <a:cxnLst/>
            <a:rect l="l" t="t" r="r" b="b"/>
            <a:pathLst>
              <a:path w="100000" h="1453">
                <a:moveTo>
                  <a:pt x="99274" y="0"/>
                </a:moveTo>
                <a:cubicBezTo>
                  <a:pt x="99274" y="0"/>
                  <a:pt x="99274" y="0"/>
                  <a:pt x="99274" y="0"/>
                </a:cubicBezTo>
                <a:cubicBezTo>
                  <a:pt x="99675" y="0"/>
                  <a:pt x="100000" y="325"/>
                  <a:pt x="100000" y="726"/>
                </a:cubicBezTo>
                <a:cubicBezTo>
                  <a:pt x="100000" y="726"/>
                  <a:pt x="100000" y="726"/>
                  <a:pt x="100000" y="726"/>
                </a:cubicBezTo>
                <a:lnTo>
                  <a:pt x="100000" y="726"/>
                </a:lnTo>
                <a:cubicBezTo>
                  <a:pt x="100000" y="726"/>
                  <a:pt x="100000" y="726"/>
                  <a:pt x="100000" y="726"/>
                </a:cubicBezTo>
                <a:cubicBezTo>
                  <a:pt x="100000" y="1127"/>
                  <a:pt x="99675" y="1453"/>
                  <a:pt x="99274" y="1453"/>
                </a:cubicBezTo>
                <a:cubicBezTo>
                  <a:pt x="99274" y="1453"/>
                  <a:pt x="99274" y="1453"/>
                  <a:pt x="99274" y="1453"/>
                </a:cubicBezTo>
                <a:lnTo>
                  <a:pt x="726" y="1453"/>
                </a:lnTo>
                <a:cubicBezTo>
                  <a:pt x="726" y="1453"/>
                  <a:pt x="726" y="1453"/>
                  <a:pt x="726" y="1453"/>
                </a:cubicBezTo>
                <a:cubicBezTo>
                  <a:pt x="325" y="1453"/>
                  <a:pt x="0" y="1127"/>
                  <a:pt x="0" y="726"/>
                </a:cubicBezTo>
                <a:cubicBezTo>
                  <a:pt x="0" y="726"/>
                  <a:pt x="0" y="726"/>
                  <a:pt x="0" y="726"/>
                </a:cubicBezTo>
                <a:lnTo>
                  <a:pt x="0" y="726"/>
                </a:lnTo>
                <a:cubicBezTo>
                  <a:pt x="0" y="726"/>
                  <a:pt x="0" y="726"/>
                  <a:pt x="0" y="726"/>
                </a:cubicBezTo>
                <a:cubicBezTo>
                  <a:pt x="0" y="325"/>
                  <a:pt x="325" y="0"/>
                  <a:pt x="726" y="0"/>
                </a:cubicBezTo>
                <a:cubicBezTo>
                  <a:pt x="726" y="0"/>
                  <a:pt x="726" y="0"/>
                  <a:pt x="726" y="0"/>
                </a:cubicBez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56" name="Oval 58"/>
          <p:cNvSpPr/>
          <p:nvPr/>
        </p:nvSpPr>
        <p:spPr>
          <a:xfrm>
            <a:off x="6029960" y="5043170"/>
            <a:ext cx="106680" cy="10668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57" name="Oval 59"/>
          <p:cNvSpPr/>
          <p:nvPr/>
        </p:nvSpPr>
        <p:spPr>
          <a:xfrm>
            <a:off x="6045200" y="5058410"/>
            <a:ext cx="76200" cy="7620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58" name="TextBox 60"/>
          <p:cNvSpPr txBox="1"/>
          <p:nvPr/>
        </p:nvSpPr>
        <p:spPr>
          <a:xfrm>
            <a:off x="3632200" y="5435600"/>
            <a:ext cx="2159000" cy="152400"/>
          </a:xfrm>
          <a:prstGeom prst="rect">
            <a:avLst/>
          </a:prstGeom>
        </p:spPr>
        <p:txBody>
          <a:bodyPr wrap="square" lIns="0" tIns="0" rIns="0" bIns="0">
            <a:noAutofit/>
          </a:bodyPr>
          <a:lstStyle/>
          <a:p>
            <a:pPr>
              <a:lnSpc>
                <a:spcPct val="135000"/>
              </a:lnSpc>
            </a:pPr>
            <a:r>
              <a:rPr sz="540" spc="0">
                <a:solidFill>
                  <a:srgbClr val="0A0A0A"/>
                </a:solidFill>
                <a:latin typeface="Telegraf"/>
              </a:rPr>
              <a:t>Auto-send grounded answers</a:t>
            </a:r>
            <a:endParaRPr sz="540" spc="0">
              <a:solidFill>
                <a:srgbClr val="0A0A0A"/>
              </a:solidFill>
              <a:latin typeface="Telegraf"/>
            </a:endParaRPr>
          </a:p>
        </p:txBody>
      </p:sp>
      <p:sp>
        <p:nvSpPr>
          <p:cNvPr id="1059" name="Rectangle 61"/>
          <p:cNvSpPr/>
          <p:nvPr/>
        </p:nvSpPr>
        <p:spPr>
          <a:xfrm>
            <a:off x="6184900" y="5435600"/>
            <a:ext cx="304800" cy="152400"/>
          </a:xfrm>
          <a:custGeom>
            <a:avLst/>
            <a:gdLst/>
            <a:ahLst/>
            <a:cxnLst/>
            <a:rect l="l" t="t" r="r" b="b"/>
            <a:pathLst>
              <a:path w="100000" h="50000">
                <a:moveTo>
                  <a:pt x="75000" y="0"/>
                </a:moveTo>
                <a:cubicBezTo>
                  <a:pt x="75000" y="0"/>
                  <a:pt x="75000" y="0"/>
                  <a:pt x="75000" y="0"/>
                </a:cubicBezTo>
                <a:cubicBezTo>
                  <a:pt x="88808" y="0"/>
                  <a:pt x="100000" y="11192"/>
                  <a:pt x="100000" y="25000"/>
                </a:cubicBezTo>
                <a:cubicBezTo>
                  <a:pt x="100000" y="25000"/>
                  <a:pt x="100000" y="25000"/>
                  <a:pt x="100000" y="25000"/>
                </a:cubicBezTo>
                <a:lnTo>
                  <a:pt x="100000" y="25000"/>
                </a:lnTo>
                <a:cubicBezTo>
                  <a:pt x="100000" y="25000"/>
                  <a:pt x="100000" y="25000"/>
                  <a:pt x="100000" y="25000"/>
                </a:cubicBezTo>
                <a:cubicBezTo>
                  <a:pt x="100000" y="38808"/>
                  <a:pt x="88808" y="50000"/>
                  <a:pt x="75000" y="50000"/>
                </a:cubicBezTo>
                <a:cubicBezTo>
                  <a:pt x="75000" y="50000"/>
                  <a:pt x="75000" y="50000"/>
                  <a:pt x="75000" y="50000"/>
                </a:cubicBezTo>
                <a:lnTo>
                  <a:pt x="25000" y="50000"/>
                </a:lnTo>
                <a:cubicBezTo>
                  <a:pt x="25000" y="50000"/>
                  <a:pt x="25000" y="50000"/>
                  <a:pt x="25000" y="50000"/>
                </a:cubicBezTo>
                <a:cubicBezTo>
                  <a:pt x="11192" y="50000"/>
                  <a:pt x="0" y="38808"/>
                  <a:pt x="0" y="25000"/>
                </a:cubicBezTo>
                <a:cubicBezTo>
                  <a:pt x="0" y="25000"/>
                  <a:pt x="0" y="25000"/>
                  <a:pt x="0" y="25000"/>
                </a:cubicBezTo>
                <a:lnTo>
                  <a:pt x="0" y="25000"/>
                </a:lnTo>
                <a:cubicBezTo>
                  <a:pt x="0" y="25000"/>
                  <a:pt x="0" y="25000"/>
                  <a:pt x="0" y="25000"/>
                </a:cubicBezTo>
                <a:cubicBezTo>
                  <a:pt x="0" y="11192"/>
                  <a:pt x="11192" y="0"/>
                  <a:pt x="25000" y="0"/>
                </a:cubicBezTo>
                <a:cubicBezTo>
                  <a:pt x="25000" y="0"/>
                  <a:pt x="25000" y="0"/>
                  <a:pt x="2500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60" name="Oval 62"/>
          <p:cNvSpPr/>
          <p:nvPr/>
        </p:nvSpPr>
        <p:spPr>
          <a:xfrm>
            <a:off x="6356350" y="5454650"/>
            <a:ext cx="114300" cy="11430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61" name="TextBox 63"/>
          <p:cNvSpPr txBox="1"/>
          <p:nvPr/>
        </p:nvSpPr>
        <p:spPr>
          <a:xfrm>
            <a:off x="3632200" y="5588000"/>
            <a:ext cx="3048000" cy="127000"/>
          </a:xfrm>
          <a:prstGeom prst="rect">
            <a:avLst/>
          </a:prstGeom>
        </p:spPr>
        <p:txBody>
          <a:bodyPr wrap="square" lIns="0" tIns="0" rIns="0" bIns="0">
            <a:noAutofit/>
          </a:bodyPr>
          <a:lstStyle/>
          <a:p>
            <a:pPr>
              <a:lnSpc>
                <a:spcPct val="135000"/>
              </a:lnSpc>
            </a:pPr>
            <a:r>
              <a:rPr sz="460" spc="0">
                <a:solidFill>
                  <a:srgbClr val="A2A2A8"/>
                </a:solidFill>
                <a:latin typeface="Telegraf"/>
              </a:rPr>
              <a:t>Off means every answer becomes a draft (R5).</a:t>
            </a:r>
            <a:endParaRPr sz="460" spc="0">
              <a:solidFill>
                <a:srgbClr val="A2A2A8"/>
              </a:solidFill>
              <a:latin typeface="Telegraf"/>
            </a:endParaRPr>
          </a:p>
        </p:txBody>
      </p:sp>
      <p:sp>
        <p:nvSpPr>
          <p:cNvPr id="1062" name="TextBox 64"/>
          <p:cNvSpPr txBox="1"/>
          <p:nvPr/>
        </p:nvSpPr>
        <p:spPr>
          <a:xfrm>
            <a:off x="7061200" y="2120900"/>
            <a:ext cx="2540000" cy="114300"/>
          </a:xfrm>
          <a:prstGeom prst="rect">
            <a:avLst/>
          </a:prstGeom>
        </p:spPr>
        <p:txBody>
          <a:bodyPr wrap="square" lIns="0" tIns="0" rIns="0" bIns="0">
            <a:noAutofit/>
          </a:bodyPr>
          <a:lstStyle/>
          <a:p>
            <a:r>
              <a:rPr sz="460" b="1" spc="100">
                <a:solidFill>
                  <a:srgbClr val="A2A2A8"/>
                </a:solidFill>
                <a:latin typeface="Telegraf"/>
              </a:rPr>
              <a:t>ARMED RULES</a:t>
            </a:r>
            <a:endParaRPr sz="460" b="1" spc="100">
              <a:solidFill>
                <a:srgbClr val="A2A2A8"/>
              </a:solidFill>
              <a:latin typeface="Telegraf"/>
            </a:endParaRPr>
          </a:p>
        </p:txBody>
      </p:sp>
      <p:sp>
        <p:nvSpPr>
          <p:cNvPr id="1063" name="TextBox 65"/>
          <p:cNvSpPr txBox="1"/>
          <p:nvPr/>
        </p:nvSpPr>
        <p:spPr>
          <a:xfrm>
            <a:off x="7112000" y="2286000"/>
            <a:ext cx="279400" cy="127000"/>
          </a:xfrm>
          <a:prstGeom prst="rect">
            <a:avLst/>
          </a:prstGeom>
        </p:spPr>
        <p:txBody>
          <a:bodyPr wrap="square" lIns="0" tIns="0" rIns="0" bIns="0">
            <a:noAutofit/>
          </a:bodyPr>
          <a:lstStyle/>
          <a:p>
            <a:pPr>
              <a:lnSpc>
                <a:spcPct val="135000"/>
              </a:lnSpc>
            </a:pPr>
            <a:r>
              <a:rPr sz="480" b="1" spc="0">
                <a:solidFill>
                  <a:srgbClr val="0E6B5F"/>
                </a:solidFill>
                <a:latin typeface="Telegraf"/>
              </a:rPr>
              <a:t>R1</a:t>
            </a:r>
            <a:endParaRPr sz="480" b="1" spc="0">
              <a:solidFill>
                <a:srgbClr val="0E6B5F"/>
              </a:solidFill>
              <a:latin typeface="Telegraf"/>
            </a:endParaRPr>
          </a:p>
        </p:txBody>
      </p:sp>
      <p:sp>
        <p:nvSpPr>
          <p:cNvPr id="1064" name="TextBox 66"/>
          <p:cNvSpPr txBox="1"/>
          <p:nvPr/>
        </p:nvSpPr>
        <p:spPr>
          <a:xfrm>
            <a:off x="7442200" y="2286000"/>
            <a:ext cx="1752600" cy="127000"/>
          </a:xfrm>
          <a:prstGeom prst="rect">
            <a:avLst/>
          </a:prstGeom>
        </p:spPr>
        <p:txBody>
          <a:bodyPr wrap="square" lIns="0" tIns="0" rIns="0" bIns="0">
            <a:noAutofit/>
          </a:bodyPr>
          <a:lstStyle/>
          <a:p>
            <a:pPr>
              <a:lnSpc>
                <a:spcPct val="135000"/>
              </a:lnSpc>
            </a:pPr>
            <a:r>
              <a:rPr sz="480" spc="0">
                <a:solidFill>
                  <a:srgbClr val="0A0A0A"/>
                </a:solidFill>
                <a:latin typeface="Telegraf"/>
              </a:rPr>
              <a:t>asks for a human</a:t>
            </a:r>
            <a:endParaRPr sz="480" spc="0">
              <a:solidFill>
                <a:srgbClr val="0A0A0A"/>
              </a:solidFill>
              <a:latin typeface="Telegraf"/>
            </a:endParaRPr>
          </a:p>
        </p:txBody>
      </p:sp>
      <p:sp>
        <p:nvSpPr>
          <p:cNvPr id="1065" name="Oval 67"/>
          <p:cNvSpPr/>
          <p:nvPr/>
        </p:nvSpPr>
        <p:spPr>
          <a:xfrm>
            <a:off x="9784080" y="23164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66" name="Rectangle 68"/>
          <p:cNvSpPr/>
          <p:nvPr/>
        </p:nvSpPr>
        <p:spPr>
          <a:xfrm>
            <a:off x="7010400" y="2489200"/>
            <a:ext cx="3048000" cy="228600"/>
          </a:xfrm>
          <a:custGeom>
            <a:avLst/>
            <a:gdLst/>
            <a:ahLst/>
            <a:cxnLst/>
            <a:rect l="l" t="t" r="r" b="b"/>
            <a:pathLst>
              <a:path w="100000" h="7500">
                <a:moveTo>
                  <a:pt x="96250" y="0"/>
                </a:moveTo>
                <a:cubicBezTo>
                  <a:pt x="97813" y="0"/>
                  <a:pt x="98594" y="0"/>
                  <a:pt x="99141" y="398"/>
                </a:cubicBezTo>
                <a:cubicBezTo>
                  <a:pt x="99318" y="526"/>
                  <a:pt x="99474" y="682"/>
                  <a:pt x="99602" y="859"/>
                </a:cubicBezTo>
                <a:cubicBezTo>
                  <a:pt x="100000" y="1406"/>
                  <a:pt x="100000" y="2188"/>
                  <a:pt x="100000" y="3750"/>
                </a:cubicBezTo>
                <a:lnTo>
                  <a:pt x="100000" y="3750"/>
                </a:lnTo>
                <a:cubicBezTo>
                  <a:pt x="100000" y="5313"/>
                  <a:pt x="100000" y="6094"/>
                  <a:pt x="99602" y="6641"/>
                </a:cubicBezTo>
                <a:cubicBezTo>
                  <a:pt x="99474" y="6818"/>
                  <a:pt x="99318" y="6974"/>
                  <a:pt x="99141" y="7102"/>
                </a:cubicBezTo>
                <a:cubicBezTo>
                  <a:pt x="98594" y="7500"/>
                  <a:pt x="97813" y="7500"/>
                  <a:pt x="96250" y="7500"/>
                </a:cubicBezTo>
                <a:lnTo>
                  <a:pt x="3750" y="7500"/>
                </a:lnTo>
                <a:cubicBezTo>
                  <a:pt x="2188" y="7500"/>
                  <a:pt x="1406" y="7500"/>
                  <a:pt x="859" y="7102"/>
                </a:cubicBezTo>
                <a:cubicBezTo>
                  <a:pt x="682" y="6974"/>
                  <a:pt x="526" y="6818"/>
                  <a:pt x="398" y="6641"/>
                </a:cubicBezTo>
                <a:cubicBezTo>
                  <a:pt x="0" y="6094"/>
                  <a:pt x="0" y="5313"/>
                  <a:pt x="0" y="3750"/>
                </a:cubicBezTo>
                <a:lnTo>
                  <a:pt x="0" y="3750"/>
                </a:lnTo>
                <a:cubicBezTo>
                  <a:pt x="0" y="2188"/>
                  <a:pt x="0" y="1406"/>
                  <a:pt x="398" y="859"/>
                </a:cubicBezTo>
                <a:cubicBezTo>
                  <a:pt x="526" y="682"/>
                  <a:pt x="682" y="526"/>
                  <a:pt x="859" y="398"/>
                </a:cubicBezTo>
                <a:cubicBezTo>
                  <a:pt x="1406" y="0"/>
                  <a:pt x="2188" y="0"/>
                  <a:pt x="3750"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67" name="TextBox 69"/>
          <p:cNvSpPr txBox="1"/>
          <p:nvPr/>
        </p:nvSpPr>
        <p:spPr>
          <a:xfrm>
            <a:off x="7112000" y="2527300"/>
            <a:ext cx="279400" cy="127000"/>
          </a:xfrm>
          <a:prstGeom prst="rect">
            <a:avLst/>
          </a:prstGeom>
        </p:spPr>
        <p:txBody>
          <a:bodyPr wrap="square" lIns="0" tIns="0" rIns="0" bIns="0">
            <a:noAutofit/>
          </a:bodyPr>
          <a:lstStyle/>
          <a:p>
            <a:pPr>
              <a:lnSpc>
                <a:spcPct val="135000"/>
              </a:lnSpc>
            </a:pPr>
            <a:r>
              <a:rPr sz="480" b="1" spc="0">
                <a:solidFill>
                  <a:srgbClr val="0E6B5F"/>
                </a:solidFill>
                <a:latin typeface="Telegraf"/>
              </a:rPr>
              <a:t>R2</a:t>
            </a:r>
            <a:endParaRPr sz="480" b="1" spc="0">
              <a:solidFill>
                <a:srgbClr val="0E6B5F"/>
              </a:solidFill>
              <a:latin typeface="Telegraf"/>
            </a:endParaRPr>
          </a:p>
        </p:txBody>
      </p:sp>
      <p:sp>
        <p:nvSpPr>
          <p:cNvPr id="1068" name="TextBox 70"/>
          <p:cNvSpPr txBox="1"/>
          <p:nvPr/>
        </p:nvSpPr>
        <p:spPr>
          <a:xfrm>
            <a:off x="7442200" y="2527300"/>
            <a:ext cx="1752600" cy="127000"/>
          </a:xfrm>
          <a:prstGeom prst="rect">
            <a:avLst/>
          </a:prstGeom>
        </p:spPr>
        <p:txBody>
          <a:bodyPr wrap="square" lIns="0" tIns="0" rIns="0" bIns="0">
            <a:noAutofit/>
          </a:bodyPr>
          <a:lstStyle/>
          <a:p>
            <a:pPr>
              <a:lnSpc>
                <a:spcPct val="135000"/>
              </a:lnSpc>
            </a:pPr>
            <a:r>
              <a:rPr sz="480" spc="0">
                <a:solidFill>
                  <a:srgbClr val="0A0A0A"/>
                </a:solidFill>
                <a:latin typeface="Telegraf"/>
              </a:rPr>
              <a:t>confidence &lt; 50 or no chunk</a:t>
            </a:r>
            <a:endParaRPr sz="480" spc="0">
              <a:solidFill>
                <a:srgbClr val="0A0A0A"/>
              </a:solidFill>
              <a:latin typeface="Telegraf"/>
            </a:endParaRPr>
          </a:p>
        </p:txBody>
      </p:sp>
      <p:sp>
        <p:nvSpPr>
          <p:cNvPr id="1069" name="Oval 71"/>
          <p:cNvSpPr/>
          <p:nvPr/>
        </p:nvSpPr>
        <p:spPr>
          <a:xfrm>
            <a:off x="9784080" y="25577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70" name="TextBox 72"/>
          <p:cNvSpPr txBox="1"/>
          <p:nvPr/>
        </p:nvSpPr>
        <p:spPr>
          <a:xfrm>
            <a:off x="7112000" y="2768600"/>
            <a:ext cx="279400" cy="127000"/>
          </a:xfrm>
          <a:prstGeom prst="rect">
            <a:avLst/>
          </a:prstGeom>
        </p:spPr>
        <p:txBody>
          <a:bodyPr wrap="square" lIns="0" tIns="0" rIns="0" bIns="0">
            <a:noAutofit/>
          </a:bodyPr>
          <a:lstStyle/>
          <a:p>
            <a:pPr>
              <a:lnSpc>
                <a:spcPct val="135000"/>
              </a:lnSpc>
            </a:pPr>
            <a:r>
              <a:rPr sz="480" b="1" spc="0">
                <a:solidFill>
                  <a:srgbClr val="0E6B5F"/>
                </a:solidFill>
                <a:latin typeface="Telegraf"/>
              </a:rPr>
              <a:t>R3</a:t>
            </a:r>
            <a:endParaRPr sz="480" b="1" spc="0">
              <a:solidFill>
                <a:srgbClr val="0E6B5F"/>
              </a:solidFill>
              <a:latin typeface="Telegraf"/>
            </a:endParaRPr>
          </a:p>
        </p:txBody>
      </p:sp>
      <p:sp>
        <p:nvSpPr>
          <p:cNvPr id="1071" name="TextBox 73"/>
          <p:cNvSpPr txBox="1"/>
          <p:nvPr/>
        </p:nvSpPr>
        <p:spPr>
          <a:xfrm>
            <a:off x="7442200" y="2768600"/>
            <a:ext cx="1752600" cy="127000"/>
          </a:xfrm>
          <a:prstGeom prst="rect">
            <a:avLst/>
          </a:prstGeom>
        </p:spPr>
        <p:txBody>
          <a:bodyPr wrap="square" lIns="0" tIns="0" rIns="0" bIns="0">
            <a:noAutofit/>
          </a:bodyPr>
          <a:lstStyle/>
          <a:p>
            <a:pPr>
              <a:lnSpc>
                <a:spcPct val="135000"/>
              </a:lnSpc>
            </a:pPr>
            <a:r>
              <a:rPr sz="480" spc="0">
                <a:solidFill>
                  <a:srgbClr val="0A0A0A"/>
                </a:solidFill>
                <a:latin typeface="Telegraf"/>
              </a:rPr>
              <a:t>distress or judgment</a:t>
            </a:r>
            <a:endParaRPr sz="480" spc="0">
              <a:solidFill>
                <a:srgbClr val="0A0A0A"/>
              </a:solidFill>
              <a:latin typeface="Telegraf"/>
            </a:endParaRPr>
          </a:p>
        </p:txBody>
      </p:sp>
      <p:sp>
        <p:nvSpPr>
          <p:cNvPr id="1072" name="Oval 74"/>
          <p:cNvSpPr/>
          <p:nvPr/>
        </p:nvSpPr>
        <p:spPr>
          <a:xfrm>
            <a:off x="9784080" y="27990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73" name="TextBox 75"/>
          <p:cNvSpPr txBox="1"/>
          <p:nvPr/>
        </p:nvSpPr>
        <p:spPr>
          <a:xfrm>
            <a:off x="7112000" y="3009900"/>
            <a:ext cx="279400" cy="127000"/>
          </a:xfrm>
          <a:prstGeom prst="rect">
            <a:avLst/>
          </a:prstGeom>
        </p:spPr>
        <p:txBody>
          <a:bodyPr wrap="square" lIns="0" tIns="0" rIns="0" bIns="0">
            <a:noAutofit/>
          </a:bodyPr>
          <a:lstStyle/>
          <a:p>
            <a:pPr>
              <a:lnSpc>
                <a:spcPct val="135000"/>
              </a:lnSpc>
            </a:pPr>
            <a:r>
              <a:rPr sz="480" b="1" spc="0">
                <a:solidFill>
                  <a:srgbClr val="0E6B5F"/>
                </a:solidFill>
                <a:latin typeface="Telegraf"/>
              </a:rPr>
              <a:t>R4</a:t>
            </a:r>
            <a:endParaRPr sz="480" b="1" spc="0">
              <a:solidFill>
                <a:srgbClr val="0E6B5F"/>
              </a:solidFill>
              <a:latin typeface="Telegraf"/>
            </a:endParaRPr>
          </a:p>
        </p:txBody>
      </p:sp>
      <p:sp>
        <p:nvSpPr>
          <p:cNvPr id="1074" name="TextBox 76"/>
          <p:cNvSpPr txBox="1"/>
          <p:nvPr/>
        </p:nvSpPr>
        <p:spPr>
          <a:xfrm>
            <a:off x="7442200" y="3009900"/>
            <a:ext cx="1752600" cy="127000"/>
          </a:xfrm>
          <a:prstGeom prst="rect">
            <a:avLst/>
          </a:prstGeom>
        </p:spPr>
        <p:txBody>
          <a:bodyPr wrap="square" lIns="0" tIns="0" rIns="0" bIns="0">
            <a:noAutofit/>
          </a:bodyPr>
          <a:lstStyle/>
          <a:p>
            <a:pPr>
              <a:lnSpc>
                <a:spcPct val="135000"/>
              </a:lnSpc>
            </a:pPr>
            <a:r>
              <a:rPr sz="480" spc="0">
                <a:solidFill>
                  <a:srgbClr val="0A0A0A"/>
                </a:solidFill>
                <a:latin typeface="Telegraf"/>
              </a:rPr>
              <a:t>urgency ≥ 80</a:t>
            </a:r>
            <a:endParaRPr sz="480" spc="0">
              <a:solidFill>
                <a:srgbClr val="0A0A0A"/>
              </a:solidFill>
              <a:latin typeface="Telegraf"/>
            </a:endParaRPr>
          </a:p>
        </p:txBody>
      </p:sp>
      <p:sp>
        <p:nvSpPr>
          <p:cNvPr id="1075" name="Oval 77"/>
          <p:cNvSpPr/>
          <p:nvPr/>
        </p:nvSpPr>
        <p:spPr>
          <a:xfrm>
            <a:off x="9784080" y="30403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76" name="TextBox 78"/>
          <p:cNvSpPr txBox="1"/>
          <p:nvPr/>
        </p:nvSpPr>
        <p:spPr>
          <a:xfrm>
            <a:off x="7112000" y="3251200"/>
            <a:ext cx="279400" cy="127000"/>
          </a:xfrm>
          <a:prstGeom prst="rect">
            <a:avLst/>
          </a:prstGeom>
        </p:spPr>
        <p:txBody>
          <a:bodyPr wrap="square" lIns="0" tIns="0" rIns="0" bIns="0">
            <a:noAutofit/>
          </a:bodyPr>
          <a:lstStyle/>
          <a:p>
            <a:pPr>
              <a:lnSpc>
                <a:spcPct val="135000"/>
              </a:lnSpc>
            </a:pPr>
            <a:r>
              <a:rPr sz="480" b="1" spc="0">
                <a:solidFill>
                  <a:srgbClr val="A2A2A8"/>
                </a:solidFill>
                <a:latin typeface="Telegraf"/>
              </a:rPr>
              <a:t>R5</a:t>
            </a:r>
            <a:endParaRPr sz="480" b="1" spc="0">
              <a:solidFill>
                <a:srgbClr val="A2A2A8"/>
              </a:solidFill>
              <a:latin typeface="Telegraf"/>
            </a:endParaRPr>
          </a:p>
        </p:txBody>
      </p:sp>
      <p:sp>
        <p:nvSpPr>
          <p:cNvPr id="1077" name="TextBox 79"/>
          <p:cNvSpPr txBox="1"/>
          <p:nvPr/>
        </p:nvSpPr>
        <p:spPr>
          <a:xfrm>
            <a:off x="7442200" y="3251200"/>
            <a:ext cx="1752600" cy="127000"/>
          </a:xfrm>
          <a:prstGeom prst="rect">
            <a:avLst/>
          </a:prstGeom>
        </p:spPr>
        <p:txBody>
          <a:bodyPr wrap="square" lIns="0" tIns="0" rIns="0" bIns="0">
            <a:noAutofit/>
          </a:bodyPr>
          <a:lstStyle/>
          <a:p>
            <a:pPr>
              <a:lnSpc>
                <a:spcPct val="135000"/>
              </a:lnSpc>
            </a:pPr>
            <a:r>
              <a:rPr sz="480" spc="0">
                <a:solidFill>
                  <a:srgbClr val="A2A2A8"/>
                </a:solidFill>
                <a:latin typeface="Telegraf"/>
              </a:rPr>
              <a:t>channel is draft-only</a:t>
            </a:r>
            <a:endParaRPr sz="480" spc="0">
              <a:solidFill>
                <a:srgbClr val="A2A2A8"/>
              </a:solidFill>
              <a:latin typeface="Telegraf"/>
            </a:endParaRPr>
          </a:p>
        </p:txBody>
      </p:sp>
      <p:sp>
        <p:nvSpPr>
          <p:cNvPr id="1078" name="TextBox 80"/>
          <p:cNvSpPr txBox="1"/>
          <p:nvPr/>
        </p:nvSpPr>
        <p:spPr>
          <a:xfrm>
            <a:off x="7112000" y="3492500"/>
            <a:ext cx="279400" cy="127000"/>
          </a:xfrm>
          <a:prstGeom prst="rect">
            <a:avLst/>
          </a:prstGeom>
        </p:spPr>
        <p:txBody>
          <a:bodyPr wrap="square" lIns="0" tIns="0" rIns="0" bIns="0">
            <a:noAutofit/>
          </a:bodyPr>
          <a:lstStyle/>
          <a:p>
            <a:pPr>
              <a:lnSpc>
                <a:spcPct val="135000"/>
              </a:lnSpc>
            </a:pPr>
            <a:r>
              <a:rPr sz="480" b="1" spc="0">
                <a:solidFill>
                  <a:srgbClr val="0E6B5F"/>
                </a:solidFill>
                <a:latin typeface="Telegraf"/>
              </a:rPr>
              <a:t>R6</a:t>
            </a:r>
            <a:endParaRPr sz="480" b="1" spc="0">
              <a:solidFill>
                <a:srgbClr val="0E6B5F"/>
              </a:solidFill>
              <a:latin typeface="Telegraf"/>
            </a:endParaRPr>
          </a:p>
        </p:txBody>
      </p:sp>
      <p:sp>
        <p:nvSpPr>
          <p:cNvPr id="1079" name="TextBox 81"/>
          <p:cNvSpPr txBox="1"/>
          <p:nvPr/>
        </p:nvSpPr>
        <p:spPr>
          <a:xfrm>
            <a:off x="7442200" y="3492500"/>
            <a:ext cx="1752600" cy="127000"/>
          </a:xfrm>
          <a:prstGeom prst="rect">
            <a:avLst/>
          </a:prstGeom>
        </p:spPr>
        <p:txBody>
          <a:bodyPr wrap="square" lIns="0" tIns="0" rIns="0" bIns="0">
            <a:noAutofit/>
          </a:bodyPr>
          <a:lstStyle/>
          <a:p>
            <a:pPr>
              <a:lnSpc>
                <a:spcPct val="135000"/>
              </a:lnSpc>
            </a:pPr>
            <a:r>
              <a:rPr sz="480" spc="0">
                <a:solidFill>
                  <a:srgbClr val="0A0A0A"/>
                </a:solidFill>
                <a:latin typeface="Telegraf"/>
              </a:rPr>
              <a:t>grounded · confident</a:t>
            </a:r>
            <a:endParaRPr sz="480" spc="0">
              <a:solidFill>
                <a:srgbClr val="0A0A0A"/>
              </a:solidFill>
              <a:latin typeface="Telegraf"/>
            </a:endParaRPr>
          </a:p>
        </p:txBody>
      </p:sp>
      <p:sp>
        <p:nvSpPr>
          <p:cNvPr id="1080" name="Oval 82"/>
          <p:cNvSpPr/>
          <p:nvPr/>
        </p:nvSpPr>
        <p:spPr>
          <a:xfrm>
            <a:off x="9784080" y="3522980"/>
            <a:ext cx="40640" cy="4064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81" name="TextBox 83"/>
          <p:cNvSpPr txBox="1"/>
          <p:nvPr/>
        </p:nvSpPr>
        <p:spPr>
          <a:xfrm>
            <a:off x="7112000" y="3733800"/>
            <a:ext cx="279400" cy="127000"/>
          </a:xfrm>
          <a:prstGeom prst="rect">
            <a:avLst/>
          </a:prstGeom>
        </p:spPr>
        <p:txBody>
          <a:bodyPr wrap="square" lIns="0" tIns="0" rIns="0" bIns="0">
            <a:noAutofit/>
          </a:bodyPr>
          <a:lstStyle/>
          <a:p>
            <a:pPr>
              <a:lnSpc>
                <a:spcPct val="135000"/>
              </a:lnSpc>
            </a:pPr>
            <a:r>
              <a:rPr sz="480" b="1" spc="0">
                <a:solidFill>
                  <a:srgbClr val="A2A2A8"/>
                </a:solidFill>
                <a:latin typeface="Telegraf"/>
              </a:rPr>
              <a:t>R7</a:t>
            </a:r>
            <a:endParaRPr sz="480" b="1" spc="0">
              <a:solidFill>
                <a:srgbClr val="A2A2A8"/>
              </a:solidFill>
              <a:latin typeface="Telegraf"/>
            </a:endParaRPr>
          </a:p>
        </p:txBody>
      </p:sp>
      <p:sp>
        <p:nvSpPr>
          <p:cNvPr id="1082" name="TextBox 84"/>
          <p:cNvSpPr txBox="1"/>
          <p:nvPr/>
        </p:nvSpPr>
        <p:spPr>
          <a:xfrm>
            <a:off x="7442200" y="3733800"/>
            <a:ext cx="1752600" cy="127000"/>
          </a:xfrm>
          <a:prstGeom prst="rect">
            <a:avLst/>
          </a:prstGeom>
        </p:spPr>
        <p:txBody>
          <a:bodyPr wrap="square" lIns="0" tIns="0" rIns="0" bIns="0">
            <a:noAutofit/>
          </a:bodyPr>
          <a:lstStyle/>
          <a:p>
            <a:pPr>
              <a:lnSpc>
                <a:spcPct val="135000"/>
              </a:lnSpc>
            </a:pPr>
            <a:r>
              <a:rPr sz="480" spc="0">
                <a:solidFill>
                  <a:srgbClr val="A2A2A8"/>
                </a:solidFill>
                <a:latin typeface="Telegraf"/>
              </a:rPr>
              <a:t>classifier failed · fail safe</a:t>
            </a:r>
            <a:endParaRPr sz="480" spc="0">
              <a:solidFill>
                <a:srgbClr val="A2A2A8"/>
              </a:solidFill>
              <a:latin typeface="Telegraf"/>
            </a:endParaRPr>
          </a:p>
        </p:txBody>
      </p:sp>
      <p:sp>
        <p:nvSpPr>
          <p:cNvPr id="1083" name="Rectangle 85"/>
          <p:cNvSpPr/>
          <p:nvPr/>
        </p:nvSpPr>
        <p:spPr>
          <a:xfrm>
            <a:off x="7010400" y="4191000"/>
            <a:ext cx="3048000" cy="1346200"/>
          </a:xfrm>
          <a:custGeom>
            <a:avLst/>
            <a:gdLst/>
            <a:ahLst/>
            <a:cxnLst/>
            <a:rect l="l" t="t" r="r" b="b"/>
            <a:pathLst>
              <a:path w="100000" h="44167">
                <a:moveTo>
                  <a:pt x="91667" y="0"/>
                </a:moveTo>
                <a:cubicBezTo>
                  <a:pt x="95595" y="0"/>
                  <a:pt x="97559" y="0"/>
                  <a:pt x="98780" y="1220"/>
                </a:cubicBezTo>
                <a:cubicBezTo>
                  <a:pt x="98780" y="1220"/>
                  <a:pt x="98780" y="1220"/>
                  <a:pt x="98780" y="1220"/>
                </a:cubicBezTo>
                <a:cubicBezTo>
                  <a:pt x="100000" y="2441"/>
                  <a:pt x="100000" y="4405"/>
                  <a:pt x="100000" y="8333"/>
                </a:cubicBezTo>
                <a:lnTo>
                  <a:pt x="100000" y="35833"/>
                </a:lnTo>
                <a:cubicBezTo>
                  <a:pt x="100000" y="39762"/>
                  <a:pt x="100000" y="41726"/>
                  <a:pt x="98780" y="42946"/>
                </a:cubicBezTo>
                <a:cubicBezTo>
                  <a:pt x="98780" y="42946"/>
                  <a:pt x="98780" y="42946"/>
                  <a:pt x="98780" y="42946"/>
                </a:cubicBezTo>
                <a:cubicBezTo>
                  <a:pt x="97559" y="44167"/>
                  <a:pt x="95595" y="44167"/>
                  <a:pt x="91667" y="44167"/>
                </a:cubicBezTo>
                <a:lnTo>
                  <a:pt x="8333" y="44167"/>
                </a:lnTo>
                <a:cubicBezTo>
                  <a:pt x="4405" y="44167"/>
                  <a:pt x="2441" y="44167"/>
                  <a:pt x="1220" y="42946"/>
                </a:cubicBezTo>
                <a:cubicBezTo>
                  <a:pt x="1220" y="42946"/>
                  <a:pt x="1220" y="42946"/>
                  <a:pt x="1220" y="42946"/>
                </a:cubicBezTo>
                <a:cubicBezTo>
                  <a:pt x="0" y="41726"/>
                  <a:pt x="0" y="39762"/>
                  <a:pt x="0" y="35833"/>
                </a:cubicBezTo>
                <a:lnTo>
                  <a:pt x="0" y="8333"/>
                </a:lnTo>
                <a:cubicBezTo>
                  <a:pt x="0" y="4405"/>
                  <a:pt x="0" y="2441"/>
                  <a:pt x="1220" y="1220"/>
                </a:cubicBezTo>
                <a:cubicBezTo>
                  <a:pt x="1220" y="1220"/>
                  <a:pt x="1220" y="1220"/>
                  <a:pt x="1220" y="1220"/>
                </a:cubicBezTo>
                <a:cubicBezTo>
                  <a:pt x="2441" y="0"/>
                  <a:pt x="4405" y="0"/>
                  <a:pt x="8333"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84" name="TextBox 86"/>
          <p:cNvSpPr txBox="1"/>
          <p:nvPr/>
        </p:nvSpPr>
        <p:spPr>
          <a:xfrm>
            <a:off x="7188200" y="4318000"/>
            <a:ext cx="2540000" cy="114300"/>
          </a:xfrm>
          <a:prstGeom prst="rect">
            <a:avLst/>
          </a:prstGeom>
        </p:spPr>
        <p:txBody>
          <a:bodyPr wrap="square" lIns="0" tIns="0" rIns="0" bIns="0">
            <a:noAutofit/>
          </a:bodyPr>
          <a:lstStyle/>
          <a:p>
            <a:r>
              <a:rPr sz="460" b="1" spc="100">
                <a:solidFill>
                  <a:srgbClr val="99201C"/>
                </a:solidFill>
                <a:latin typeface="Telegraf"/>
              </a:rPr>
              <a:t>WHAT A 49 LOOKS LIKE</a:t>
            </a:r>
            <a:endParaRPr sz="460" b="1" spc="100">
              <a:solidFill>
                <a:srgbClr val="99201C"/>
              </a:solidFill>
              <a:latin typeface="Telegraf"/>
            </a:endParaRPr>
          </a:p>
        </p:txBody>
      </p:sp>
      <p:sp>
        <p:nvSpPr>
          <p:cNvPr id="1085" name="TextBox 87"/>
          <p:cNvSpPr txBox="1"/>
          <p:nvPr/>
        </p:nvSpPr>
        <p:spPr>
          <a:xfrm>
            <a:off x="7188200" y="4470400"/>
            <a:ext cx="2692400" cy="508000"/>
          </a:xfrm>
          <a:prstGeom prst="rect">
            <a:avLst/>
          </a:prstGeom>
        </p:spPr>
        <p:txBody>
          <a:bodyPr wrap="square" lIns="0" tIns="0" rIns="0" bIns="0">
            <a:noAutofit/>
          </a:bodyPr>
          <a:lstStyle/>
          <a:p>
            <a:pPr>
              <a:lnSpc>
                <a:spcPct val="145000"/>
              </a:lnSpc>
            </a:pPr>
            <a:r>
              <a:rPr sz="490" spc="0">
                <a:solidFill>
                  <a:srgbClr val="67676E"/>
                </a:solidFill>
                <a:latin typeface="Telegraf"/>
              </a:rPr>
              <a:t>Classifier returns confidence 49 with one weak chunk. The router takes R2 before it reads the reply.</a:t>
            </a:r>
            <a:endParaRPr sz="490" spc="0">
              <a:solidFill>
                <a:srgbClr val="67676E"/>
              </a:solidFill>
              <a:latin typeface="Telegraf"/>
            </a:endParaRPr>
          </a:p>
        </p:txBody>
      </p:sp>
      <p:sp>
        <p:nvSpPr>
          <p:cNvPr id="1086" name="Rectangle 88"/>
          <p:cNvSpPr/>
          <p:nvPr/>
        </p:nvSpPr>
        <p:spPr>
          <a:xfrm>
            <a:off x="7188200" y="5029200"/>
            <a:ext cx="521462" cy="152400"/>
          </a:xfrm>
          <a:custGeom>
            <a:avLst/>
            <a:gdLst/>
            <a:ahLst/>
            <a:cxnLst/>
            <a:rect l="l" t="t" r="r" b="b"/>
            <a:pathLst>
              <a:path w="100000" h="29226">
                <a:moveTo>
                  <a:pt x="85387" y="0"/>
                </a:moveTo>
                <a:cubicBezTo>
                  <a:pt x="85387" y="0"/>
                  <a:pt x="85387" y="0"/>
                  <a:pt x="85387" y="0"/>
                </a:cubicBezTo>
                <a:cubicBezTo>
                  <a:pt x="93458" y="0"/>
                  <a:pt x="100000" y="6542"/>
                  <a:pt x="100000" y="14613"/>
                </a:cubicBezTo>
                <a:cubicBezTo>
                  <a:pt x="100000" y="14613"/>
                  <a:pt x="100000" y="14613"/>
                  <a:pt x="100000" y="14613"/>
                </a:cubicBezTo>
                <a:lnTo>
                  <a:pt x="100000" y="14613"/>
                </a:lnTo>
                <a:cubicBezTo>
                  <a:pt x="100000" y="14613"/>
                  <a:pt x="100000" y="14613"/>
                  <a:pt x="100000" y="14613"/>
                </a:cubicBezTo>
                <a:cubicBezTo>
                  <a:pt x="100000" y="22684"/>
                  <a:pt x="93458" y="29226"/>
                  <a:pt x="85387" y="29226"/>
                </a:cubicBezTo>
                <a:cubicBezTo>
                  <a:pt x="85387" y="29226"/>
                  <a:pt x="85387" y="29226"/>
                  <a:pt x="85387" y="29226"/>
                </a:cubicBezTo>
                <a:lnTo>
                  <a:pt x="14613" y="29226"/>
                </a:lnTo>
                <a:cubicBezTo>
                  <a:pt x="14613" y="29226"/>
                  <a:pt x="14613" y="29226"/>
                  <a:pt x="14613" y="29226"/>
                </a:cubicBezTo>
                <a:cubicBezTo>
                  <a:pt x="6542" y="29226"/>
                  <a:pt x="0" y="22684"/>
                  <a:pt x="0" y="14613"/>
                </a:cubicBezTo>
                <a:cubicBezTo>
                  <a:pt x="0" y="14613"/>
                  <a:pt x="0" y="14613"/>
                  <a:pt x="0" y="14613"/>
                </a:cubicBezTo>
                <a:lnTo>
                  <a:pt x="0" y="14613"/>
                </a:lnTo>
                <a:cubicBezTo>
                  <a:pt x="0" y="14613"/>
                  <a:pt x="0" y="14613"/>
                  <a:pt x="0" y="14613"/>
                </a:cubicBezTo>
                <a:cubicBezTo>
                  <a:pt x="0" y="6542"/>
                  <a:pt x="6542" y="0"/>
                  <a:pt x="14613" y="0"/>
                </a:cubicBezTo>
                <a:cubicBezTo>
                  <a:pt x="14613" y="0"/>
                  <a:pt x="14613" y="0"/>
                  <a:pt x="14613"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87" name="Oval 89"/>
          <p:cNvSpPr/>
          <p:nvPr/>
        </p:nvSpPr>
        <p:spPr>
          <a:xfrm>
            <a:off x="7240270" y="5083810"/>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88" name="TextBox 90"/>
          <p:cNvSpPr txBox="1"/>
          <p:nvPr/>
        </p:nvSpPr>
        <p:spPr>
          <a:xfrm>
            <a:off x="7317740" y="5029200"/>
            <a:ext cx="369062" cy="152400"/>
          </a:xfrm>
          <a:prstGeom prst="rect">
            <a:avLst/>
          </a:prstGeom>
        </p:spPr>
        <p:txBody>
          <a:bodyPr wrap="square" lIns="0" tIns="0" rIns="0" bIns="0" anchor="ctr">
            <a:noAutofit/>
          </a:bodyPr>
          <a:lstStyle/>
          <a:p>
            <a:pPr>
              <a:lnSpc>
                <a:spcPct val="135000"/>
              </a:lnSpc>
            </a:pPr>
            <a:r>
              <a:rPr sz="480" b="1" spc="0">
                <a:solidFill>
                  <a:srgbClr val="99201C"/>
                </a:solidFill>
                <a:latin typeface="Telegraf"/>
              </a:rPr>
              <a:t>escalated</a:t>
            </a:r>
            <a:endParaRPr sz="480" b="1" spc="0">
              <a:solidFill>
                <a:srgbClr val="99201C"/>
              </a:solidFill>
              <a:latin typeface="Telegraf"/>
            </a:endParaRPr>
          </a:p>
        </p:txBody>
      </p:sp>
      <p:sp>
        <p:nvSpPr>
          <p:cNvPr id="1089" name="TextBox 91"/>
          <p:cNvSpPr txBox="1"/>
          <p:nvPr/>
        </p:nvSpPr>
        <p:spPr>
          <a:xfrm>
            <a:off x="8001000" y="5029200"/>
            <a:ext cx="1905000" cy="152400"/>
          </a:xfrm>
          <a:prstGeom prst="rect">
            <a:avLst/>
          </a:prstGeom>
        </p:spPr>
        <p:txBody>
          <a:bodyPr wrap="square" lIns="0" tIns="0" rIns="0" bIns="0">
            <a:noAutofit/>
          </a:bodyPr>
          <a:lstStyle/>
          <a:p>
            <a:pPr>
              <a:lnSpc>
                <a:spcPct val="135000"/>
              </a:lnSpc>
            </a:pPr>
            <a:r>
              <a:rPr sz="460" spc="0">
                <a:solidFill>
                  <a:srgbClr val="A2A2A8"/>
                </a:solidFill>
                <a:latin typeface="Telegraf"/>
              </a:rPr>
              <a:t>0 auto-sends · AT-06</a:t>
            </a:r>
            <a:endParaRPr sz="460" spc="0">
              <a:solidFill>
                <a:srgbClr val="A2A2A8"/>
              </a:solidFill>
              <a:latin typeface="Telegraf"/>
            </a:endParaRPr>
          </a:p>
        </p:txBody>
      </p:sp>
      <p:sp>
        <p:nvSpPr>
          <p:cNvPr id="1090" name="Oval 92"/>
          <p:cNvSpPr/>
          <p:nvPr/>
        </p:nvSpPr>
        <p:spPr>
          <a:xfrm>
            <a:off x="3444240" y="2148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91" name="Oval 93"/>
          <p:cNvSpPr/>
          <p:nvPr/>
        </p:nvSpPr>
        <p:spPr>
          <a:xfrm>
            <a:off x="3468370" y="2172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92" name="TextBox 94"/>
          <p:cNvSpPr txBox="1"/>
          <p:nvPr/>
        </p:nvSpPr>
        <p:spPr>
          <a:xfrm>
            <a:off x="3468370" y="2172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1093" name="Oval 95"/>
          <p:cNvSpPr/>
          <p:nvPr/>
        </p:nvSpPr>
        <p:spPr>
          <a:xfrm>
            <a:off x="3444240" y="3317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94" name="Oval 96"/>
          <p:cNvSpPr/>
          <p:nvPr/>
        </p:nvSpPr>
        <p:spPr>
          <a:xfrm>
            <a:off x="3468370" y="3341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95" name="TextBox 97"/>
          <p:cNvSpPr txBox="1"/>
          <p:nvPr/>
        </p:nvSpPr>
        <p:spPr>
          <a:xfrm>
            <a:off x="3468370" y="3341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1096" name="Oval 98"/>
          <p:cNvSpPr/>
          <p:nvPr/>
        </p:nvSpPr>
        <p:spPr>
          <a:xfrm>
            <a:off x="6924040" y="2098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97" name="Oval 99"/>
          <p:cNvSpPr/>
          <p:nvPr/>
        </p:nvSpPr>
        <p:spPr>
          <a:xfrm>
            <a:off x="6948170" y="2122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098" name="TextBox 100"/>
          <p:cNvSpPr txBox="1"/>
          <p:nvPr/>
        </p:nvSpPr>
        <p:spPr>
          <a:xfrm>
            <a:off x="6948170" y="2122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1099" name="Oval 101"/>
          <p:cNvSpPr/>
          <p:nvPr/>
        </p:nvSpPr>
        <p:spPr>
          <a:xfrm>
            <a:off x="3444240" y="5349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00" name="Oval 102"/>
          <p:cNvSpPr/>
          <p:nvPr/>
        </p:nvSpPr>
        <p:spPr>
          <a:xfrm>
            <a:off x="3468370" y="5373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01" name="TextBox 103"/>
          <p:cNvSpPr txBox="1"/>
          <p:nvPr/>
        </p:nvSpPr>
        <p:spPr>
          <a:xfrm>
            <a:off x="3468370" y="5373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1102" name="Rectangle 104"/>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03" name="TextBox 105"/>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09  —  ONBOARDING 3/4</a:t>
            </a:r>
            <a:endParaRPr sz="490" b="1" spc="120">
              <a:solidFill>
                <a:srgbClr val="8FE0CE"/>
              </a:solidFill>
              <a:latin typeface="Telegraf"/>
            </a:endParaRPr>
          </a:p>
        </p:txBody>
      </p:sp>
      <p:sp>
        <p:nvSpPr>
          <p:cNvPr id="1104" name="TextBox 106"/>
          <p:cNvSpPr txBox="1"/>
          <p:nvPr/>
        </p:nvSpPr>
        <p:spPr>
          <a:xfrm>
            <a:off x="10477500" y="355600"/>
            <a:ext cx="1574800" cy="711200"/>
          </a:xfrm>
          <a:prstGeom prst="rect">
            <a:avLst/>
          </a:prstGeom>
        </p:spPr>
        <p:txBody>
          <a:bodyPr wrap="square" lIns="0" tIns="0" rIns="0" bIns="0">
            <a:noAutofit/>
          </a:bodyPr>
          <a:lstStyle/>
          <a:p>
            <a:pPr>
              <a:lnSpc>
                <a:spcPct val="105000"/>
              </a:lnSpc>
            </a:pPr>
            <a:r>
              <a:rPr sz="1600" spc="-50">
                <a:solidFill>
                  <a:srgbClr val="FFFFFF"/>
                </a:solidFill>
                <a:latin typeface="PP Editorial New Ultralight"/>
              </a:rPr>
              <a:t>Where the</a:t>
            </a:r>
            <a:endParaRPr sz="1600" spc="-50">
              <a:solidFill>
                <a:srgbClr val="FFFFFF"/>
              </a:solidFill>
              <a:latin typeface="PP Editorial New Ultralight"/>
            </a:endParaRPr>
          </a:p>
          <a:p>
            <a:pPr>
              <a:lnSpc>
                <a:spcPct val="105000"/>
              </a:lnSpc>
            </a:pPr>
            <a:r>
              <a:rPr sz="1600" spc="-50">
                <a:solidFill>
                  <a:srgbClr val="FFFFFF"/>
                </a:solidFill>
                <a:latin typeface="PP Editorial New Ultralight"/>
              </a:rPr>
              <a:t>human boundary is.</a:t>
            </a:r>
            <a:endParaRPr sz="1600" spc="-50">
              <a:solidFill>
                <a:srgbClr val="FFFFFF"/>
              </a:solidFill>
              <a:latin typeface="PP Editorial New Ultralight"/>
            </a:endParaRPr>
          </a:p>
        </p:txBody>
      </p:sp>
      <p:sp>
        <p:nvSpPr>
          <p:cNvPr id="1105" name="Rectangle 107"/>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06" name="TextBox 108"/>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1107" name="TextBox 109"/>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Thresholds</a:t>
            </a:r>
            <a:endParaRPr sz="590" b="1" spc="0">
              <a:solidFill>
                <a:srgbClr val="FFFFFF"/>
              </a:solidFill>
              <a:latin typeface="Telegraf"/>
            </a:endParaRPr>
          </a:p>
        </p:txBody>
      </p:sp>
      <p:sp>
        <p:nvSpPr>
          <p:cNvPr id="1108" name="TextBox 110"/>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Two sliders, both explained by the rule they arm — not a settings dump.</a:t>
            </a:r>
            <a:endParaRPr sz="550" spc="0">
              <a:solidFill>
                <a:srgbClr val="A8A8A8"/>
              </a:solidFill>
              <a:latin typeface="Telegraf"/>
            </a:endParaRPr>
          </a:p>
        </p:txBody>
      </p:sp>
      <p:sp>
        <p:nvSpPr>
          <p:cNvPr id="1109" name="TextBox 111"/>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1110" name="TextBox 112"/>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Hard floor</a:t>
            </a:r>
            <a:endParaRPr sz="590" b="1" spc="0">
              <a:solidFill>
                <a:srgbClr val="FFFFFF"/>
              </a:solidFill>
              <a:latin typeface="Telegraf"/>
            </a:endParaRPr>
          </a:p>
        </p:txBody>
      </p:sp>
      <p:sp>
        <p:nvSpPr>
          <p:cNvPr id="1111" name="TextBox 113"/>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50 cannot be dragged: the UI says so instead of silently clamping.</a:t>
            </a:r>
            <a:endParaRPr sz="550" spc="0">
              <a:solidFill>
                <a:srgbClr val="A8A8A8"/>
              </a:solidFill>
              <a:latin typeface="Telegraf"/>
            </a:endParaRPr>
          </a:p>
        </p:txBody>
      </p:sp>
      <p:sp>
        <p:nvSpPr>
          <p:cNvPr id="1112" name="TextBox 114"/>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1113" name="TextBox 115"/>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Armed rules</a:t>
            </a:r>
            <a:endParaRPr sz="590" b="1" spc="0">
              <a:solidFill>
                <a:srgbClr val="FFFFFF"/>
              </a:solidFill>
              <a:latin typeface="Telegraf"/>
            </a:endParaRPr>
          </a:p>
        </p:txBody>
      </p:sp>
      <p:sp>
        <p:nvSpPr>
          <p:cNvPr id="1114" name="TextBox 116"/>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R1–R4 and R6 on; R5 and R7 explained as conditional, never hidden.</a:t>
            </a:r>
            <a:endParaRPr sz="550" spc="0">
              <a:solidFill>
                <a:srgbClr val="A8A8A8"/>
              </a:solidFill>
              <a:latin typeface="Telegraf"/>
            </a:endParaRPr>
          </a:p>
        </p:txBody>
      </p:sp>
      <p:sp>
        <p:nvSpPr>
          <p:cNvPr id="1115" name="TextBox 117"/>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1116" name="TextBox 118"/>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Counterfactual</a:t>
            </a:r>
            <a:endParaRPr sz="590" b="1" spc="0">
              <a:solidFill>
                <a:srgbClr val="FFFFFF"/>
              </a:solidFill>
              <a:latin typeface="Telegraf"/>
            </a:endParaRPr>
          </a:p>
        </p:txBody>
      </p:sp>
      <p:sp>
        <p:nvSpPr>
          <p:cNvPr id="1117" name="TextBox 119"/>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49 card shows the exact failure the PRD tests for.</a:t>
            </a:r>
            <a:endParaRPr sz="550" spc="0">
              <a:solidFill>
                <a:srgbClr val="A8A8A8"/>
              </a:solidFill>
              <a:latin typeface="Telegraf"/>
            </a:endParaRPr>
          </a:p>
        </p:txBody>
      </p:sp>
      <p:sp>
        <p:nvSpPr>
          <p:cNvPr id="1118" name="TextBox 120"/>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1119" name="TextBox 121"/>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/onboarding  →  step 3</a:t>
            </a:r>
            <a:endParaRPr sz="560" spc="0">
              <a:solidFill>
                <a:srgbClr val="FFFFFF"/>
              </a:solidFill>
              <a:latin typeface="Telegraf"/>
            </a:endParaRPr>
          </a:p>
        </p:txBody>
      </p:sp>
      <p:sp>
        <p:nvSpPr>
          <p:cNvPr id="1120" name="TextBox 122"/>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1121" name="TextBox 123"/>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components/onboarding/EscalationStep.tsx; lib/routing-engine.ts · evaluateRoutingRules()</a:t>
            </a:r>
            <a:endParaRPr sz="530" spc="0">
              <a:solidFill>
                <a:srgbClr val="CFCFCF"/>
              </a:solidFill>
              <a:latin typeface="Telegraf"/>
            </a:endParaRPr>
          </a:p>
        </p:txBody>
      </p:sp>
      <p:sp>
        <p:nvSpPr>
          <p:cNvPr id="1122" name="Rectangle 124"/>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23" name="TextBox 125"/>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5" name="TextBox 1"/>
          <p:cNvSpPr txBox="1"/>
          <p:nvPr/>
        </p:nvSpPr>
        <p:spPr>
          <a:xfrm>
            <a:off x="304800" y="177800"/>
            <a:ext cx="2540000" cy="254000"/>
          </a:xfrm>
          <a:prstGeom prst="rect">
            <a:avLst/>
          </a:prstGeom>
        </p:spPr>
        <p:txBody>
          <a:bodyPr wrap="square" lIns="0" tIns="0" rIns="0" bIns="0">
            <a:noAutofit/>
          </a:bodyPr>
          <a:lstStyle/>
          <a:p>
            <a:pPr>
              <a:lnSpc>
                <a:spcPct val="102000"/>
              </a:lnSpc>
            </a:pPr>
            <a:r>
              <a:rPr sz="1250" spc="-30">
                <a:solidFill>
                  <a:srgbClr val="0A0A0A"/>
                </a:solidFill>
                <a:latin typeface="PP Editorial New Ultralight"/>
              </a:rPr>
              <a:t>AfterSales.</a:t>
            </a:r>
            <a:endParaRPr sz="1250" spc="-30">
              <a:solidFill>
                <a:srgbClr val="0A0A0A"/>
              </a:solidFill>
              <a:latin typeface="PP Editorial New Ultralight"/>
            </a:endParaRPr>
          </a:p>
        </p:txBody>
      </p:sp>
      <p:sp>
        <p:nvSpPr>
          <p:cNvPr id="1126" name="TextBox 2"/>
          <p:cNvSpPr txBox="1"/>
          <p:nvPr/>
        </p:nvSpPr>
        <p:spPr>
          <a:xfrm>
            <a:off x="3810000" y="228600"/>
            <a:ext cx="3048000" cy="127000"/>
          </a:xfrm>
          <a:prstGeom prst="rect">
            <a:avLst/>
          </a:prstGeom>
        </p:spPr>
        <p:txBody>
          <a:bodyPr wrap="square" lIns="0" tIns="0" rIns="0" bIns="0">
            <a:noAutofit/>
          </a:bodyPr>
          <a:lstStyle/>
          <a:p>
            <a:r>
              <a:rPr sz="460" b="1" spc="110">
                <a:solidFill>
                  <a:srgbClr val="A2A2A8"/>
                </a:solidFill>
                <a:latin typeface="Telegraf"/>
              </a:rPr>
              <a:t>ONBOARDING  ·  CLOUDPULSE CRM</a:t>
            </a:r>
            <a:endParaRPr sz="460" b="1" spc="110">
              <a:solidFill>
                <a:srgbClr val="A2A2A8"/>
              </a:solidFill>
              <a:latin typeface="Telegraf"/>
            </a:endParaRPr>
          </a:p>
        </p:txBody>
      </p:sp>
      <p:sp>
        <p:nvSpPr>
          <p:cNvPr id="1127" name="TextBox 3"/>
          <p:cNvSpPr txBox="1"/>
          <p:nvPr/>
        </p:nvSpPr>
        <p:spPr>
          <a:xfrm>
            <a:off x="8763000" y="190500"/>
            <a:ext cx="812800" cy="177800"/>
          </a:xfrm>
          <a:prstGeom prst="rect">
            <a:avLst/>
          </a:prstGeom>
        </p:spPr>
        <p:txBody>
          <a:bodyPr wrap="square" lIns="0" tIns="0" rIns="0" bIns="0">
            <a:noAutofit/>
          </a:bodyPr>
          <a:lstStyle/>
          <a:p>
            <a:pPr algn="r">
              <a:lnSpc>
                <a:spcPct val="135000"/>
              </a:lnSpc>
            </a:pPr>
            <a:r>
              <a:rPr sz="520" spc="0">
                <a:solidFill>
                  <a:srgbClr val="67676E"/>
                </a:solidFill>
                <a:latin typeface="Telegraf"/>
              </a:rPr>
              <a:t>Save &amp; exit</a:t>
            </a:r>
            <a:endParaRPr sz="520" spc="0">
              <a:solidFill>
                <a:srgbClr val="67676E"/>
              </a:solidFill>
              <a:latin typeface="Telegraf"/>
            </a:endParaRPr>
          </a:p>
        </p:txBody>
      </p:sp>
      <p:sp>
        <p:nvSpPr>
          <p:cNvPr id="1128" name="Oval 4"/>
          <p:cNvSpPr/>
          <p:nvPr/>
        </p:nvSpPr>
        <p:spPr>
          <a:xfrm>
            <a:off x="9734550" y="1460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29" name="TextBox 5"/>
          <p:cNvSpPr txBox="1"/>
          <p:nvPr/>
        </p:nvSpPr>
        <p:spPr>
          <a:xfrm>
            <a:off x="9734550" y="1460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1130" name="Rectangle 6"/>
          <p:cNvSpPr/>
          <p:nvPr/>
        </p:nvSpPr>
        <p:spPr>
          <a:xfrm>
            <a:off x="0" y="558800"/>
            <a:ext cx="10312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31" name="TextBox 7"/>
          <p:cNvSpPr txBox="1"/>
          <p:nvPr/>
        </p:nvSpPr>
        <p:spPr>
          <a:xfrm>
            <a:off x="304800" y="914400"/>
            <a:ext cx="2540000" cy="114300"/>
          </a:xfrm>
          <a:prstGeom prst="rect">
            <a:avLst/>
          </a:prstGeom>
        </p:spPr>
        <p:txBody>
          <a:bodyPr wrap="square" lIns="0" tIns="0" rIns="0" bIns="0">
            <a:noAutofit/>
          </a:bodyPr>
          <a:lstStyle/>
          <a:p>
            <a:r>
              <a:rPr sz="460" b="1" spc="120">
                <a:solidFill>
                  <a:srgbClr val="A2A2A8"/>
                </a:solidFill>
                <a:latin typeface="Telegraf"/>
              </a:rPr>
              <a:t>SET UP YOUR AGENT</a:t>
            </a:r>
            <a:endParaRPr sz="460" b="1" spc="120">
              <a:solidFill>
                <a:srgbClr val="A2A2A8"/>
              </a:solidFill>
              <a:latin typeface="Telegraf"/>
            </a:endParaRPr>
          </a:p>
        </p:txBody>
      </p:sp>
      <p:sp>
        <p:nvSpPr>
          <p:cNvPr id="1132" name="Rectangle 8"/>
          <p:cNvSpPr/>
          <p:nvPr/>
        </p:nvSpPr>
        <p:spPr>
          <a:xfrm>
            <a:off x="406400" y="14478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33" name="Oval 9"/>
          <p:cNvSpPr/>
          <p:nvPr/>
        </p:nvSpPr>
        <p:spPr>
          <a:xfrm>
            <a:off x="312420" y="1252220"/>
            <a:ext cx="187960" cy="1879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34" name="Freeform 1134"/>
          <p:cNvSpPr/>
          <p:nvPr/>
        </p:nvSpPr>
        <p:spPr>
          <a:xfrm>
            <a:off x="368300" y="1317625"/>
            <a:ext cx="76200" cy="55245"/>
          </a:xfrm>
          <a:custGeom>
            <a:avLst/>
            <a:gdLst/>
            <a:ahLst/>
            <a:cxnLst/>
            <a:rect l="l" t="t" r="r" b="b"/>
            <a:pathLst>
              <a:path w="100000" h="72500" fill="none">
                <a:moveTo>
                  <a:pt x="0" y="37500"/>
                </a:moveTo>
                <a:lnTo>
                  <a:pt x="37500" y="72500"/>
                </a:lnTo>
                <a:lnTo>
                  <a:pt x="100000" y="0"/>
                </a:lnTo>
              </a:path>
            </a:pathLst>
          </a:custGeom>
          <a:noFill/>
          <a:ln w="1397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135" name="TextBox 11"/>
          <p:cNvSpPr txBox="1"/>
          <p:nvPr/>
        </p:nvSpPr>
        <p:spPr>
          <a:xfrm>
            <a:off x="635000" y="1257300"/>
            <a:ext cx="2133600" cy="127000"/>
          </a:xfrm>
          <a:prstGeom prst="rect">
            <a:avLst/>
          </a:prstGeom>
        </p:spPr>
        <p:txBody>
          <a:bodyPr wrap="square" lIns="0" tIns="0" rIns="0" bIns="0">
            <a:noAutofit/>
          </a:bodyPr>
          <a:lstStyle/>
          <a:p>
            <a:pPr>
              <a:lnSpc>
                <a:spcPct val="135000"/>
              </a:lnSpc>
            </a:pPr>
            <a:r>
              <a:rPr sz="600" spc="0">
                <a:solidFill>
                  <a:srgbClr val="0A0A0A"/>
                </a:solidFill>
                <a:latin typeface="Telegraf"/>
              </a:rPr>
              <a:t>Identity &amp; tone</a:t>
            </a:r>
            <a:endParaRPr sz="600" spc="0">
              <a:solidFill>
                <a:srgbClr val="0A0A0A"/>
              </a:solidFill>
              <a:latin typeface="Telegraf"/>
            </a:endParaRPr>
          </a:p>
        </p:txBody>
      </p:sp>
      <p:sp>
        <p:nvSpPr>
          <p:cNvPr id="1136" name="TextBox 12"/>
          <p:cNvSpPr txBox="1"/>
          <p:nvPr/>
        </p:nvSpPr>
        <p:spPr>
          <a:xfrm>
            <a:off x="635000" y="13970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name, type, voice</a:t>
            </a:r>
            <a:endParaRPr sz="480" spc="0">
              <a:solidFill>
                <a:srgbClr val="A2A2A8"/>
              </a:solidFill>
              <a:latin typeface="Telegraf"/>
            </a:endParaRPr>
          </a:p>
        </p:txBody>
      </p:sp>
      <p:sp>
        <p:nvSpPr>
          <p:cNvPr id="1137" name="Rectangle 13"/>
          <p:cNvSpPr/>
          <p:nvPr/>
        </p:nvSpPr>
        <p:spPr>
          <a:xfrm>
            <a:off x="406400" y="20574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38" name="Oval 14"/>
          <p:cNvSpPr/>
          <p:nvPr/>
        </p:nvSpPr>
        <p:spPr>
          <a:xfrm>
            <a:off x="312420" y="1861820"/>
            <a:ext cx="187960" cy="1879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39" name="Freeform 1139"/>
          <p:cNvSpPr/>
          <p:nvPr/>
        </p:nvSpPr>
        <p:spPr>
          <a:xfrm>
            <a:off x="368300" y="1927225"/>
            <a:ext cx="76200" cy="55245"/>
          </a:xfrm>
          <a:custGeom>
            <a:avLst/>
            <a:gdLst/>
            <a:ahLst/>
            <a:cxnLst/>
            <a:rect l="l" t="t" r="r" b="b"/>
            <a:pathLst>
              <a:path w="100000" h="72500" fill="none">
                <a:moveTo>
                  <a:pt x="0" y="37500"/>
                </a:moveTo>
                <a:lnTo>
                  <a:pt x="37500" y="72500"/>
                </a:lnTo>
                <a:lnTo>
                  <a:pt x="100000" y="0"/>
                </a:lnTo>
              </a:path>
            </a:pathLst>
          </a:custGeom>
          <a:noFill/>
          <a:ln w="1397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140" name="TextBox 16"/>
          <p:cNvSpPr txBox="1"/>
          <p:nvPr/>
        </p:nvSpPr>
        <p:spPr>
          <a:xfrm>
            <a:off x="635000" y="1866900"/>
            <a:ext cx="2133600" cy="127000"/>
          </a:xfrm>
          <a:prstGeom prst="rect">
            <a:avLst/>
          </a:prstGeom>
        </p:spPr>
        <p:txBody>
          <a:bodyPr wrap="square" lIns="0" tIns="0" rIns="0" bIns="0">
            <a:noAutofit/>
          </a:bodyPr>
          <a:lstStyle/>
          <a:p>
            <a:pPr>
              <a:lnSpc>
                <a:spcPct val="135000"/>
              </a:lnSpc>
            </a:pPr>
            <a:r>
              <a:rPr sz="600" spc="0">
                <a:solidFill>
                  <a:srgbClr val="0A0A0A"/>
                </a:solidFill>
                <a:latin typeface="Telegraf"/>
              </a:rPr>
              <a:t>Catalog &amp; FAQs</a:t>
            </a:r>
            <a:endParaRPr sz="600" spc="0">
              <a:solidFill>
                <a:srgbClr val="0A0A0A"/>
              </a:solidFill>
              <a:latin typeface="Telegraf"/>
            </a:endParaRPr>
          </a:p>
        </p:txBody>
      </p:sp>
      <p:sp>
        <p:nvSpPr>
          <p:cNvPr id="1141" name="TextBox 17"/>
          <p:cNvSpPr txBox="1"/>
          <p:nvPr/>
        </p:nvSpPr>
        <p:spPr>
          <a:xfrm>
            <a:off x="635000" y="20066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prices, hours, policies</a:t>
            </a:r>
            <a:endParaRPr sz="480" spc="0">
              <a:solidFill>
                <a:srgbClr val="A2A2A8"/>
              </a:solidFill>
              <a:latin typeface="Telegraf"/>
            </a:endParaRPr>
          </a:p>
        </p:txBody>
      </p:sp>
      <p:sp>
        <p:nvSpPr>
          <p:cNvPr id="1142" name="Rectangle 18"/>
          <p:cNvSpPr/>
          <p:nvPr/>
        </p:nvSpPr>
        <p:spPr>
          <a:xfrm>
            <a:off x="406400" y="2667000"/>
            <a:ext cx="11430" cy="4318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43" name="Oval 19"/>
          <p:cNvSpPr/>
          <p:nvPr/>
        </p:nvSpPr>
        <p:spPr>
          <a:xfrm>
            <a:off x="312420" y="2471420"/>
            <a:ext cx="187960" cy="1879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44" name="Freeform 1144"/>
          <p:cNvSpPr/>
          <p:nvPr/>
        </p:nvSpPr>
        <p:spPr>
          <a:xfrm>
            <a:off x="368300" y="2536825"/>
            <a:ext cx="76200" cy="55245"/>
          </a:xfrm>
          <a:custGeom>
            <a:avLst/>
            <a:gdLst/>
            <a:ahLst/>
            <a:cxnLst/>
            <a:rect l="l" t="t" r="r" b="b"/>
            <a:pathLst>
              <a:path w="100000" h="72500" fill="none">
                <a:moveTo>
                  <a:pt x="0" y="37500"/>
                </a:moveTo>
                <a:lnTo>
                  <a:pt x="37500" y="72500"/>
                </a:lnTo>
                <a:lnTo>
                  <a:pt x="100000" y="0"/>
                </a:lnTo>
              </a:path>
            </a:pathLst>
          </a:custGeom>
          <a:noFill/>
          <a:ln w="1397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145" name="TextBox 21"/>
          <p:cNvSpPr txBox="1"/>
          <p:nvPr/>
        </p:nvSpPr>
        <p:spPr>
          <a:xfrm>
            <a:off x="635000" y="2476500"/>
            <a:ext cx="2133600" cy="127000"/>
          </a:xfrm>
          <a:prstGeom prst="rect">
            <a:avLst/>
          </a:prstGeom>
        </p:spPr>
        <p:txBody>
          <a:bodyPr wrap="square" lIns="0" tIns="0" rIns="0" bIns="0">
            <a:noAutofit/>
          </a:bodyPr>
          <a:lstStyle/>
          <a:p>
            <a:pPr>
              <a:lnSpc>
                <a:spcPct val="135000"/>
              </a:lnSpc>
            </a:pPr>
            <a:r>
              <a:rPr sz="600" spc="0">
                <a:solidFill>
                  <a:srgbClr val="0A0A0A"/>
                </a:solidFill>
                <a:latin typeface="Telegraf"/>
              </a:rPr>
              <a:t>Escalation</a:t>
            </a:r>
            <a:endParaRPr sz="600" spc="0">
              <a:solidFill>
                <a:srgbClr val="0A0A0A"/>
              </a:solidFill>
              <a:latin typeface="Telegraf"/>
            </a:endParaRPr>
          </a:p>
        </p:txBody>
      </p:sp>
      <p:sp>
        <p:nvSpPr>
          <p:cNvPr id="1146" name="TextBox 22"/>
          <p:cNvSpPr txBox="1"/>
          <p:nvPr/>
        </p:nvSpPr>
        <p:spPr>
          <a:xfrm>
            <a:off x="635000" y="26162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when a human steps in</a:t>
            </a:r>
            <a:endParaRPr sz="480" spc="0">
              <a:solidFill>
                <a:srgbClr val="A2A2A8"/>
              </a:solidFill>
              <a:latin typeface="Telegraf"/>
            </a:endParaRPr>
          </a:p>
        </p:txBody>
      </p:sp>
      <p:sp>
        <p:nvSpPr>
          <p:cNvPr id="1147" name="Oval 23"/>
          <p:cNvSpPr/>
          <p:nvPr/>
        </p:nvSpPr>
        <p:spPr>
          <a:xfrm>
            <a:off x="312420" y="3081020"/>
            <a:ext cx="187960" cy="1879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48" name="TextBox 24"/>
          <p:cNvSpPr txBox="1"/>
          <p:nvPr/>
        </p:nvSpPr>
        <p:spPr>
          <a:xfrm>
            <a:off x="317500" y="3081020"/>
            <a:ext cx="177800" cy="177800"/>
          </a:xfrm>
          <a:prstGeom prst="rect">
            <a:avLst/>
          </a:prstGeom>
        </p:spPr>
        <p:txBody>
          <a:bodyPr wrap="square" lIns="0" tIns="0" rIns="0" bIns="0">
            <a:noAutofit/>
          </a:bodyPr>
          <a:lstStyle/>
          <a:p>
            <a:pPr algn="ctr">
              <a:lnSpc>
                <a:spcPct val="135000"/>
              </a:lnSpc>
            </a:pPr>
            <a:r>
              <a:rPr sz="460" b="1" spc="0">
                <a:solidFill>
                  <a:srgbClr val="FFFFFF"/>
                </a:solidFill>
                <a:latin typeface="Telegraf"/>
              </a:rPr>
              <a:t>04</a:t>
            </a:r>
            <a:endParaRPr sz="460" b="1" spc="0">
              <a:solidFill>
                <a:srgbClr val="FFFFFF"/>
              </a:solidFill>
              <a:latin typeface="Telegraf"/>
            </a:endParaRPr>
          </a:p>
        </p:txBody>
      </p:sp>
      <p:sp>
        <p:nvSpPr>
          <p:cNvPr id="1149" name="TextBox 25"/>
          <p:cNvSpPr txBox="1"/>
          <p:nvPr/>
        </p:nvSpPr>
        <p:spPr>
          <a:xfrm>
            <a:off x="635000" y="3086100"/>
            <a:ext cx="2133600" cy="127000"/>
          </a:xfrm>
          <a:prstGeom prst="rect">
            <a:avLst/>
          </a:prstGeom>
        </p:spPr>
        <p:txBody>
          <a:bodyPr wrap="square" lIns="0" tIns="0" rIns="0" bIns="0">
            <a:noAutofit/>
          </a:bodyPr>
          <a:lstStyle/>
          <a:p>
            <a:pPr>
              <a:lnSpc>
                <a:spcPct val="135000"/>
              </a:lnSpc>
            </a:pPr>
            <a:r>
              <a:rPr sz="600" b="1" spc="0">
                <a:solidFill>
                  <a:srgbClr val="0A0A0A"/>
                </a:solidFill>
                <a:latin typeface="Telegraf"/>
              </a:rPr>
              <a:t>Channels</a:t>
            </a:r>
            <a:endParaRPr sz="600" b="1" spc="0">
              <a:solidFill>
                <a:srgbClr val="0A0A0A"/>
              </a:solidFill>
              <a:latin typeface="Telegraf"/>
            </a:endParaRPr>
          </a:p>
        </p:txBody>
      </p:sp>
      <p:sp>
        <p:nvSpPr>
          <p:cNvPr id="1150" name="TextBox 26"/>
          <p:cNvSpPr txBox="1"/>
          <p:nvPr/>
        </p:nvSpPr>
        <p:spPr>
          <a:xfrm>
            <a:off x="635000" y="3225800"/>
            <a:ext cx="2133600" cy="127000"/>
          </a:xfrm>
          <a:prstGeom prst="rect">
            <a:avLst/>
          </a:prstGeom>
        </p:spPr>
        <p:txBody>
          <a:bodyPr wrap="square" lIns="0" tIns="0" rIns="0" bIns="0">
            <a:noAutofit/>
          </a:bodyPr>
          <a:lstStyle/>
          <a:p>
            <a:pPr>
              <a:lnSpc>
                <a:spcPct val="135000"/>
              </a:lnSpc>
            </a:pPr>
            <a:r>
              <a:rPr sz="480" spc="0">
                <a:solidFill>
                  <a:srgbClr val="A2A2A8"/>
                </a:solidFill>
                <a:latin typeface="Telegraf"/>
              </a:rPr>
              <a:t>where messages arrive</a:t>
            </a:r>
            <a:endParaRPr sz="480" spc="0">
              <a:solidFill>
                <a:srgbClr val="A2A2A8"/>
              </a:solidFill>
              <a:latin typeface="Telegraf"/>
            </a:endParaRPr>
          </a:p>
        </p:txBody>
      </p:sp>
      <p:sp>
        <p:nvSpPr>
          <p:cNvPr id="1151" name="TextBox 27"/>
          <p:cNvSpPr txBox="1"/>
          <p:nvPr/>
        </p:nvSpPr>
        <p:spPr>
          <a:xfrm>
            <a:off x="304800" y="5918200"/>
            <a:ext cx="2667000" cy="508000"/>
          </a:xfrm>
          <a:prstGeom prst="rect">
            <a:avLst/>
          </a:prstGeom>
        </p:spPr>
        <p:txBody>
          <a:bodyPr wrap="square" lIns="0" tIns="0" rIns="0" bIns="0">
            <a:noAutofit/>
          </a:bodyPr>
          <a:lstStyle/>
          <a:p>
            <a:pPr>
              <a:lnSpc>
                <a:spcPct val="150000"/>
              </a:lnSpc>
            </a:pPr>
            <a:r>
              <a:rPr sz="500" spc="0">
                <a:solidFill>
                  <a:srgbClr val="A2A2A8"/>
                </a:solidFill>
                <a:latin typeface="Telegraf"/>
              </a:rPr>
              <a:t>Saved as you type. The brain compiles into chunks on the last step — nothing is sent before that.</a:t>
            </a:r>
            <a:endParaRPr sz="500" spc="0">
              <a:solidFill>
                <a:srgbClr val="A2A2A8"/>
              </a:solidFill>
              <a:latin typeface="Telegraf"/>
            </a:endParaRPr>
          </a:p>
        </p:txBody>
      </p:sp>
      <p:sp>
        <p:nvSpPr>
          <p:cNvPr id="1152" name="TextBox 28"/>
          <p:cNvSpPr txBox="1"/>
          <p:nvPr/>
        </p:nvSpPr>
        <p:spPr>
          <a:xfrm>
            <a:off x="3632200" y="863600"/>
            <a:ext cx="3048000" cy="114300"/>
          </a:xfrm>
          <a:prstGeom prst="rect">
            <a:avLst/>
          </a:prstGeom>
        </p:spPr>
        <p:txBody>
          <a:bodyPr wrap="square" lIns="0" tIns="0" rIns="0" bIns="0">
            <a:noAutofit/>
          </a:bodyPr>
          <a:lstStyle/>
          <a:p>
            <a:r>
              <a:rPr sz="480" b="1" spc="125">
                <a:solidFill>
                  <a:srgbClr val="0E6B5F"/>
                </a:solidFill>
                <a:latin typeface="Telegraf"/>
              </a:rPr>
              <a:t>STEP 4 OF 4</a:t>
            </a:r>
            <a:endParaRPr sz="480" b="1" spc="125">
              <a:solidFill>
                <a:srgbClr val="0E6B5F"/>
              </a:solidFill>
              <a:latin typeface="Telegraf"/>
            </a:endParaRPr>
          </a:p>
        </p:txBody>
      </p:sp>
      <p:sp>
        <p:nvSpPr>
          <p:cNvPr id="1153" name="TextBox 29"/>
          <p:cNvSpPr txBox="1"/>
          <p:nvPr/>
        </p:nvSpPr>
        <p:spPr>
          <a:xfrm>
            <a:off x="3619500" y="1016000"/>
            <a:ext cx="6350000" cy="711200"/>
          </a:xfrm>
          <a:prstGeom prst="rect">
            <a:avLst/>
          </a:prstGeom>
        </p:spPr>
        <p:txBody>
          <a:bodyPr wrap="square" lIns="0" tIns="0" rIns="0" bIns="0">
            <a:noAutofit/>
          </a:bodyPr>
          <a:lstStyle/>
          <a:p>
            <a:pPr>
              <a:lnSpc>
                <a:spcPct val="102000"/>
              </a:lnSpc>
            </a:pPr>
            <a:r>
              <a:rPr sz="2500" spc="-110">
                <a:solidFill>
                  <a:srgbClr val="0A0A0A"/>
                </a:solidFill>
                <a:latin typeface="PP Editorial New Ultralight"/>
              </a:rPr>
              <a:t>Where do messages</a:t>
            </a:r>
            <a:endParaRPr sz="2500" spc="-110">
              <a:solidFill>
                <a:srgbClr val="0A0A0A"/>
              </a:solidFill>
              <a:latin typeface="PP Editorial New Ultralight"/>
            </a:endParaRPr>
          </a:p>
          <a:p>
            <a:pPr>
              <a:lnSpc>
                <a:spcPct val="102000"/>
              </a:lnSpc>
            </a:pPr>
            <a:r>
              <a:rPr sz="2500" spc="-110">
                <a:solidFill>
                  <a:srgbClr val="0A0A0A"/>
                </a:solidFill>
                <a:latin typeface="PP Editorial New Ultralight"/>
              </a:rPr>
              <a:t>arrive?</a:t>
            </a:r>
            <a:endParaRPr sz="2500" spc="-110">
              <a:solidFill>
                <a:srgbClr val="0A0A0A"/>
              </a:solidFill>
              <a:latin typeface="PP Editorial New Ultralight"/>
            </a:endParaRPr>
          </a:p>
        </p:txBody>
      </p:sp>
      <p:sp>
        <p:nvSpPr>
          <p:cNvPr id="1154" name="TextBox 30"/>
          <p:cNvSpPr txBox="1"/>
          <p:nvPr/>
        </p:nvSpPr>
        <p:spPr>
          <a:xfrm>
            <a:off x="3644900" y="1803400"/>
            <a:ext cx="5969000" cy="304800"/>
          </a:xfrm>
          <a:prstGeom prst="rect">
            <a:avLst/>
          </a:prstGeom>
        </p:spPr>
        <p:txBody>
          <a:bodyPr wrap="square" lIns="0" tIns="0" rIns="0" bIns="0">
            <a:noAutofit/>
          </a:bodyPr>
          <a:lstStyle/>
          <a:p>
            <a:pPr>
              <a:lnSpc>
                <a:spcPct val="150000"/>
              </a:lnSpc>
            </a:pPr>
            <a:r>
              <a:rPr sz="620" spc="0">
                <a:solidFill>
                  <a:srgbClr val="67676E"/>
                </a:solidFill>
                <a:latin typeface="Telegraf"/>
              </a:rPr>
              <a:t>Connect one channel to demo end-to-end. The rest declare an honest state.</a:t>
            </a:r>
            <a:endParaRPr sz="620" spc="0">
              <a:solidFill>
                <a:srgbClr val="67676E"/>
              </a:solidFill>
              <a:latin typeface="Telegraf"/>
            </a:endParaRPr>
          </a:p>
        </p:txBody>
      </p:sp>
      <p:sp>
        <p:nvSpPr>
          <p:cNvPr id="1155" name="Rectangle 31"/>
          <p:cNvSpPr/>
          <p:nvPr/>
        </p:nvSpPr>
        <p:spPr>
          <a:xfrm>
            <a:off x="3632200" y="5740400"/>
            <a:ext cx="63754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56" name="Rectangle 32"/>
          <p:cNvSpPr/>
          <p:nvPr/>
        </p:nvSpPr>
        <p:spPr>
          <a:xfrm>
            <a:off x="3632200" y="5892800"/>
            <a:ext cx="736600" cy="279400"/>
          </a:xfrm>
          <a:custGeom>
            <a:avLst/>
            <a:gdLst/>
            <a:ahLst/>
            <a:cxnLst/>
            <a:rect l="l" t="t" r="r" b="b"/>
            <a:pathLst>
              <a:path w="100000" h="37931">
                <a:moveTo>
                  <a:pt x="81034" y="0"/>
                </a:moveTo>
                <a:cubicBezTo>
                  <a:pt x="81034" y="0"/>
                  <a:pt x="81034" y="0"/>
                  <a:pt x="81034" y="0"/>
                </a:cubicBezTo>
                <a:cubicBezTo>
                  <a:pt x="91509" y="0"/>
                  <a:pt x="100000" y="8491"/>
                  <a:pt x="100000" y="18966"/>
                </a:cubicBezTo>
                <a:cubicBezTo>
                  <a:pt x="100000" y="18966"/>
                  <a:pt x="100000" y="18966"/>
                  <a:pt x="100000" y="18966"/>
                </a:cubicBezTo>
                <a:lnTo>
                  <a:pt x="100000" y="18966"/>
                </a:lnTo>
                <a:cubicBezTo>
                  <a:pt x="100000" y="18966"/>
                  <a:pt x="100000" y="18966"/>
                  <a:pt x="100000" y="18966"/>
                </a:cubicBezTo>
                <a:cubicBezTo>
                  <a:pt x="100000" y="29440"/>
                  <a:pt x="91509" y="37931"/>
                  <a:pt x="81034" y="37931"/>
                </a:cubicBezTo>
                <a:cubicBezTo>
                  <a:pt x="81034" y="37931"/>
                  <a:pt x="81034" y="37931"/>
                  <a:pt x="81034" y="37931"/>
                </a:cubicBezTo>
                <a:lnTo>
                  <a:pt x="18966" y="37931"/>
                </a:lnTo>
                <a:cubicBezTo>
                  <a:pt x="18966" y="37931"/>
                  <a:pt x="18966" y="37931"/>
                  <a:pt x="18966" y="37931"/>
                </a:cubicBezTo>
                <a:cubicBezTo>
                  <a:pt x="8491" y="37931"/>
                  <a:pt x="0" y="29440"/>
                  <a:pt x="0" y="18966"/>
                </a:cubicBezTo>
                <a:cubicBezTo>
                  <a:pt x="0" y="18966"/>
                  <a:pt x="0" y="18966"/>
                  <a:pt x="0" y="18966"/>
                </a:cubicBezTo>
                <a:lnTo>
                  <a:pt x="0" y="18966"/>
                </a:lnTo>
                <a:cubicBezTo>
                  <a:pt x="0" y="18966"/>
                  <a:pt x="0" y="18966"/>
                  <a:pt x="0" y="18966"/>
                </a:cubicBezTo>
                <a:cubicBezTo>
                  <a:pt x="0" y="8491"/>
                  <a:pt x="8491" y="0"/>
                  <a:pt x="18966" y="0"/>
                </a:cubicBezTo>
                <a:cubicBezTo>
                  <a:pt x="18966" y="0"/>
                  <a:pt x="18966" y="0"/>
                  <a:pt x="1896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57" name="TextBox 33"/>
          <p:cNvSpPr txBox="1"/>
          <p:nvPr/>
        </p:nvSpPr>
        <p:spPr>
          <a:xfrm>
            <a:off x="3708400" y="5892800"/>
            <a:ext cx="609600" cy="279400"/>
          </a:xfrm>
          <a:prstGeom prst="rect">
            <a:avLst/>
          </a:prstGeom>
        </p:spPr>
        <p:txBody>
          <a:bodyPr wrap="square" lIns="0" tIns="0" rIns="0" bIns="0" anchor="ctr">
            <a:noAutofit/>
          </a:bodyPr>
          <a:lstStyle/>
          <a:p>
            <a:pPr>
              <a:lnSpc>
                <a:spcPct val="135000"/>
              </a:lnSpc>
            </a:pPr>
            <a:r>
              <a:rPr sz="520" b="1" spc="10">
                <a:solidFill>
                  <a:srgbClr val="67676E"/>
                </a:solidFill>
                <a:latin typeface="Telegraf"/>
              </a:rPr>
              <a:t>← Back</a:t>
            </a:r>
            <a:endParaRPr sz="520" b="1" spc="10">
              <a:solidFill>
                <a:srgbClr val="67676E"/>
              </a:solidFill>
              <a:latin typeface="Telegraf"/>
            </a:endParaRPr>
          </a:p>
        </p:txBody>
      </p:sp>
      <p:sp>
        <p:nvSpPr>
          <p:cNvPr id="1158" name="TextBox 34"/>
          <p:cNvSpPr txBox="1"/>
          <p:nvPr/>
        </p:nvSpPr>
        <p:spPr>
          <a:xfrm>
            <a:off x="5461000" y="5969000"/>
            <a:ext cx="1143000" cy="127000"/>
          </a:xfrm>
          <a:prstGeom prst="rect">
            <a:avLst/>
          </a:prstGeom>
        </p:spPr>
        <p:txBody>
          <a:bodyPr wrap="square" lIns="0" tIns="0" rIns="0" bIns="0">
            <a:noAutofit/>
          </a:bodyPr>
          <a:lstStyle/>
          <a:p>
            <a:pPr algn="ctr"/>
            <a:r>
              <a:rPr sz="480" b="1" spc="120">
                <a:solidFill>
                  <a:srgbClr val="A2A2A8"/>
                </a:solidFill>
                <a:latin typeface="Telegraf"/>
              </a:rPr>
              <a:t>4 / 4</a:t>
            </a:r>
            <a:endParaRPr sz="480" b="1" spc="120">
              <a:solidFill>
                <a:srgbClr val="A2A2A8"/>
              </a:solidFill>
              <a:latin typeface="Telegraf"/>
            </a:endParaRPr>
          </a:p>
        </p:txBody>
      </p:sp>
      <p:sp>
        <p:nvSpPr>
          <p:cNvPr id="1159" name="Rectangle 35"/>
          <p:cNvSpPr/>
          <p:nvPr/>
        </p:nvSpPr>
        <p:spPr>
          <a:xfrm>
            <a:off x="8280400" y="5867400"/>
            <a:ext cx="1727200" cy="330200"/>
          </a:xfrm>
          <a:custGeom>
            <a:avLst/>
            <a:gdLst/>
            <a:ahLst/>
            <a:cxnLst/>
            <a:rect l="l" t="t" r="r" b="b"/>
            <a:pathLst>
              <a:path w="100000" h="19118">
                <a:moveTo>
                  <a:pt x="90441" y="0"/>
                </a:moveTo>
                <a:cubicBezTo>
                  <a:pt x="90441" y="0"/>
                  <a:pt x="90441" y="0"/>
                  <a:pt x="90441" y="0"/>
                </a:cubicBezTo>
                <a:cubicBezTo>
                  <a:pt x="95721" y="0"/>
                  <a:pt x="100000" y="4279"/>
                  <a:pt x="100000" y="9559"/>
                </a:cubicBezTo>
                <a:cubicBezTo>
                  <a:pt x="100000" y="9559"/>
                  <a:pt x="100000" y="9559"/>
                  <a:pt x="100000" y="9559"/>
                </a:cubicBezTo>
                <a:lnTo>
                  <a:pt x="100000" y="9559"/>
                </a:lnTo>
                <a:cubicBezTo>
                  <a:pt x="100000" y="9559"/>
                  <a:pt x="100000" y="9559"/>
                  <a:pt x="100000" y="9559"/>
                </a:cubicBezTo>
                <a:cubicBezTo>
                  <a:pt x="100000" y="14838"/>
                  <a:pt x="95721" y="19118"/>
                  <a:pt x="90441" y="19118"/>
                </a:cubicBezTo>
                <a:cubicBezTo>
                  <a:pt x="90441" y="19118"/>
                  <a:pt x="90441" y="19118"/>
                  <a:pt x="90441" y="19118"/>
                </a:cubicBezTo>
                <a:lnTo>
                  <a:pt x="9559" y="19118"/>
                </a:lnTo>
                <a:cubicBezTo>
                  <a:pt x="9559" y="19118"/>
                  <a:pt x="9559" y="19118"/>
                  <a:pt x="9559" y="19118"/>
                </a:cubicBezTo>
                <a:cubicBezTo>
                  <a:pt x="4279" y="19118"/>
                  <a:pt x="0" y="14838"/>
                  <a:pt x="0" y="9559"/>
                </a:cubicBezTo>
                <a:cubicBezTo>
                  <a:pt x="0" y="9559"/>
                  <a:pt x="0" y="9559"/>
                  <a:pt x="0" y="9559"/>
                </a:cubicBezTo>
                <a:lnTo>
                  <a:pt x="0" y="9559"/>
                </a:lnTo>
                <a:cubicBezTo>
                  <a:pt x="0" y="9559"/>
                  <a:pt x="0" y="9559"/>
                  <a:pt x="0" y="9559"/>
                </a:cubicBezTo>
                <a:cubicBezTo>
                  <a:pt x="0" y="4279"/>
                  <a:pt x="4279" y="0"/>
                  <a:pt x="9559" y="0"/>
                </a:cubicBezTo>
                <a:cubicBezTo>
                  <a:pt x="9559" y="0"/>
                  <a:pt x="9559" y="0"/>
                  <a:pt x="9559"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60" name="TextBox 36"/>
          <p:cNvSpPr txBox="1"/>
          <p:nvPr/>
        </p:nvSpPr>
        <p:spPr>
          <a:xfrm>
            <a:off x="8356600" y="5867400"/>
            <a:ext cx="1600200" cy="3302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Continue →</a:t>
            </a:r>
            <a:endParaRPr sz="580" b="1" spc="10">
              <a:solidFill>
                <a:srgbClr val="FFFFFF"/>
              </a:solidFill>
              <a:latin typeface="Telegraf"/>
            </a:endParaRPr>
          </a:p>
        </p:txBody>
      </p:sp>
      <p:sp>
        <p:nvSpPr>
          <p:cNvPr id="1161" name="Rectangle 37"/>
          <p:cNvSpPr/>
          <p:nvPr/>
        </p:nvSpPr>
        <p:spPr>
          <a:xfrm>
            <a:off x="3632200" y="2235200"/>
            <a:ext cx="2006600" cy="1346200"/>
          </a:xfrm>
          <a:custGeom>
            <a:avLst/>
            <a:gdLst/>
            <a:ahLst/>
            <a:cxnLst/>
            <a:rect l="l" t="t" r="r" b="b"/>
            <a:pathLst>
              <a:path w="100000" h="67089">
                <a:moveTo>
                  <a:pt x="87342" y="0"/>
                </a:moveTo>
                <a:cubicBezTo>
                  <a:pt x="93309" y="0"/>
                  <a:pt x="96292" y="0"/>
                  <a:pt x="98146" y="1854"/>
                </a:cubicBezTo>
                <a:cubicBezTo>
                  <a:pt x="98146" y="1854"/>
                  <a:pt x="98146" y="1854"/>
                  <a:pt x="98146" y="1854"/>
                </a:cubicBezTo>
                <a:cubicBezTo>
                  <a:pt x="100000" y="3708"/>
                  <a:pt x="100000" y="6691"/>
                  <a:pt x="100000" y="12658"/>
                </a:cubicBezTo>
                <a:lnTo>
                  <a:pt x="100000" y="54430"/>
                </a:lnTo>
                <a:cubicBezTo>
                  <a:pt x="100000" y="60397"/>
                  <a:pt x="100000" y="63381"/>
                  <a:pt x="98146" y="65235"/>
                </a:cubicBezTo>
                <a:cubicBezTo>
                  <a:pt x="98146" y="65235"/>
                  <a:pt x="98146" y="65235"/>
                  <a:pt x="98146" y="65235"/>
                </a:cubicBezTo>
                <a:cubicBezTo>
                  <a:pt x="96292" y="67089"/>
                  <a:pt x="93309" y="67089"/>
                  <a:pt x="87342" y="67089"/>
                </a:cubicBezTo>
                <a:lnTo>
                  <a:pt x="12658" y="67089"/>
                </a:lnTo>
                <a:cubicBezTo>
                  <a:pt x="6691" y="67089"/>
                  <a:pt x="3708" y="67089"/>
                  <a:pt x="1854" y="65235"/>
                </a:cubicBezTo>
                <a:cubicBezTo>
                  <a:pt x="1854" y="65235"/>
                  <a:pt x="1854" y="65235"/>
                  <a:pt x="1854" y="65235"/>
                </a:cubicBezTo>
                <a:cubicBezTo>
                  <a:pt x="0" y="63381"/>
                  <a:pt x="0" y="60397"/>
                  <a:pt x="0" y="54430"/>
                </a:cubicBezTo>
                <a:lnTo>
                  <a:pt x="0" y="12658"/>
                </a:lnTo>
                <a:cubicBezTo>
                  <a:pt x="0" y="6691"/>
                  <a:pt x="0" y="3708"/>
                  <a:pt x="1854" y="1854"/>
                </a:cubicBezTo>
                <a:cubicBezTo>
                  <a:pt x="1854" y="1854"/>
                  <a:pt x="1854" y="1854"/>
                  <a:pt x="1854" y="1854"/>
                </a:cubicBezTo>
                <a:cubicBezTo>
                  <a:pt x="3708" y="0"/>
                  <a:pt x="6691" y="0"/>
                  <a:pt x="12658"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62" name="Oval 38"/>
          <p:cNvSpPr/>
          <p:nvPr/>
        </p:nvSpPr>
        <p:spPr>
          <a:xfrm>
            <a:off x="3763010" y="2386330"/>
            <a:ext cx="144907" cy="144907"/>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63" name="Freeform 1163"/>
          <p:cNvSpPr/>
          <p:nvPr/>
        </p:nvSpPr>
        <p:spPr>
          <a:xfrm>
            <a:off x="3792093" y="2503805"/>
            <a:ext cx="66929" cy="69596"/>
          </a:xfrm>
          <a:custGeom>
            <a:avLst/>
            <a:gdLst/>
            <a:ahLst/>
            <a:cxnLst/>
            <a:rect l="l" t="t" r="r" b="b"/>
            <a:pathLst>
              <a:path w="96168" h="100000">
                <a:moveTo>
                  <a:pt x="0" y="50000"/>
                </a:moveTo>
                <a:lnTo>
                  <a:pt x="96168" y="0"/>
                </a:lnTo>
                <a:lnTo>
                  <a:pt x="96168" y="100000"/>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64" name="TextBox 40"/>
          <p:cNvSpPr txBox="1"/>
          <p:nvPr/>
        </p:nvSpPr>
        <p:spPr>
          <a:xfrm>
            <a:off x="3987800" y="2362200"/>
            <a:ext cx="1270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WhatsApp</a:t>
            </a:r>
            <a:endParaRPr sz="620" b="1" spc="0">
              <a:solidFill>
                <a:srgbClr val="0A0A0A"/>
              </a:solidFill>
              <a:latin typeface="Telegraf"/>
            </a:endParaRPr>
          </a:p>
        </p:txBody>
      </p:sp>
      <p:sp>
        <p:nvSpPr>
          <p:cNvPr id="1165" name="TextBox 41"/>
          <p:cNvSpPr txBox="1"/>
          <p:nvPr/>
        </p:nvSpPr>
        <p:spPr>
          <a:xfrm>
            <a:off x="3810000" y="2616200"/>
            <a:ext cx="1651000" cy="127000"/>
          </a:xfrm>
          <a:prstGeom prst="rect">
            <a:avLst/>
          </a:prstGeom>
        </p:spPr>
        <p:txBody>
          <a:bodyPr wrap="square" lIns="0" tIns="0" rIns="0" bIns="0">
            <a:noAutofit/>
          </a:bodyPr>
          <a:lstStyle/>
          <a:p>
            <a:pPr>
              <a:lnSpc>
                <a:spcPct val="135000"/>
              </a:lnSpc>
            </a:pPr>
            <a:r>
              <a:rPr sz="470" spc="0">
                <a:solidFill>
                  <a:srgbClr val="A2A2A8"/>
                </a:solidFill>
                <a:latin typeface="Telegraf"/>
              </a:rPr>
              <a:t>Cloud API · shared number</a:t>
            </a:r>
            <a:endParaRPr sz="470" spc="0">
              <a:solidFill>
                <a:srgbClr val="A2A2A8"/>
              </a:solidFill>
              <a:latin typeface="Telegraf"/>
            </a:endParaRPr>
          </a:p>
        </p:txBody>
      </p:sp>
      <p:sp>
        <p:nvSpPr>
          <p:cNvPr id="1166" name="Rectangle 42"/>
          <p:cNvSpPr/>
          <p:nvPr/>
        </p:nvSpPr>
        <p:spPr>
          <a:xfrm>
            <a:off x="3810000" y="2794000"/>
            <a:ext cx="338709" cy="146050"/>
          </a:xfrm>
          <a:custGeom>
            <a:avLst/>
            <a:gdLst/>
            <a:ahLst/>
            <a:cxnLst/>
            <a:rect l="l" t="t" r="r" b="b"/>
            <a:pathLst>
              <a:path w="100000" h="43120">
                <a:moveTo>
                  <a:pt x="78440" y="0"/>
                </a:moveTo>
                <a:cubicBezTo>
                  <a:pt x="78440" y="0"/>
                  <a:pt x="78440" y="0"/>
                  <a:pt x="78440" y="0"/>
                </a:cubicBezTo>
                <a:cubicBezTo>
                  <a:pt x="90349" y="0"/>
                  <a:pt x="100000" y="9651"/>
                  <a:pt x="100000" y="21560"/>
                </a:cubicBezTo>
                <a:cubicBezTo>
                  <a:pt x="100000" y="21560"/>
                  <a:pt x="100000" y="21560"/>
                  <a:pt x="100000" y="21560"/>
                </a:cubicBezTo>
                <a:lnTo>
                  <a:pt x="100000" y="21560"/>
                </a:lnTo>
                <a:cubicBezTo>
                  <a:pt x="100000" y="21560"/>
                  <a:pt x="100000" y="21560"/>
                  <a:pt x="100000" y="21560"/>
                </a:cubicBezTo>
                <a:cubicBezTo>
                  <a:pt x="100000" y="33468"/>
                  <a:pt x="90349" y="43120"/>
                  <a:pt x="78440" y="43120"/>
                </a:cubicBezTo>
                <a:cubicBezTo>
                  <a:pt x="78440" y="43120"/>
                  <a:pt x="78440" y="43120"/>
                  <a:pt x="78440" y="43120"/>
                </a:cubicBezTo>
                <a:lnTo>
                  <a:pt x="21560" y="43120"/>
                </a:lnTo>
                <a:cubicBezTo>
                  <a:pt x="21560" y="43120"/>
                  <a:pt x="21560" y="43120"/>
                  <a:pt x="21560" y="43120"/>
                </a:cubicBezTo>
                <a:cubicBezTo>
                  <a:pt x="9651" y="43120"/>
                  <a:pt x="0" y="33468"/>
                  <a:pt x="0" y="21560"/>
                </a:cubicBezTo>
                <a:cubicBezTo>
                  <a:pt x="0" y="21560"/>
                  <a:pt x="0" y="21560"/>
                  <a:pt x="0" y="21560"/>
                </a:cubicBezTo>
                <a:lnTo>
                  <a:pt x="0" y="21560"/>
                </a:lnTo>
                <a:cubicBezTo>
                  <a:pt x="0" y="21560"/>
                  <a:pt x="0" y="21560"/>
                  <a:pt x="0" y="21560"/>
                </a:cubicBezTo>
                <a:cubicBezTo>
                  <a:pt x="0" y="9651"/>
                  <a:pt x="9651" y="0"/>
                  <a:pt x="21560" y="0"/>
                </a:cubicBezTo>
                <a:cubicBezTo>
                  <a:pt x="21560" y="0"/>
                  <a:pt x="21560" y="0"/>
                  <a:pt x="21560"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67" name="Oval 43"/>
          <p:cNvSpPr/>
          <p:nvPr/>
        </p:nvSpPr>
        <p:spPr>
          <a:xfrm>
            <a:off x="3862070" y="284543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68" name="TextBox 44"/>
          <p:cNvSpPr txBox="1"/>
          <p:nvPr/>
        </p:nvSpPr>
        <p:spPr>
          <a:xfrm>
            <a:off x="3939540" y="2794000"/>
            <a:ext cx="186309" cy="146050"/>
          </a:xfrm>
          <a:prstGeom prst="rect">
            <a:avLst/>
          </a:prstGeom>
        </p:spPr>
        <p:txBody>
          <a:bodyPr wrap="square" lIns="0" tIns="0" rIns="0" bIns="0" anchor="ctr">
            <a:noAutofit/>
          </a:bodyPr>
          <a:lstStyle/>
          <a:p>
            <a:pPr>
              <a:lnSpc>
                <a:spcPct val="135000"/>
              </a:lnSpc>
            </a:pPr>
            <a:r>
              <a:rPr sz="460" b="1" spc="0">
                <a:solidFill>
                  <a:srgbClr val="8A4B08"/>
                </a:solidFill>
                <a:latin typeface="Telegraf"/>
              </a:rPr>
              <a:t>test</a:t>
            </a:r>
            <a:endParaRPr sz="460" b="1" spc="0">
              <a:solidFill>
                <a:srgbClr val="8A4B08"/>
              </a:solidFill>
              <a:latin typeface="Telegraf"/>
            </a:endParaRPr>
          </a:p>
        </p:txBody>
      </p:sp>
      <p:sp>
        <p:nvSpPr>
          <p:cNvPr id="1169" name="TextBox 45"/>
          <p:cNvSpPr txBox="1"/>
          <p:nvPr/>
        </p:nvSpPr>
        <p:spPr>
          <a:xfrm>
            <a:off x="3810000" y="3022600"/>
            <a:ext cx="762000" cy="127000"/>
          </a:xfrm>
          <a:prstGeom prst="rect">
            <a:avLst/>
          </a:prstGeom>
        </p:spPr>
        <p:txBody>
          <a:bodyPr wrap="square" lIns="0" tIns="0" rIns="0" bIns="0">
            <a:noAutofit/>
          </a:bodyPr>
          <a:lstStyle/>
          <a:p>
            <a:pPr>
              <a:lnSpc>
                <a:spcPct val="135000"/>
              </a:lnSpc>
            </a:pPr>
            <a:r>
              <a:rPr sz="460" spc="0">
                <a:solidFill>
                  <a:srgbClr val="A2A2A8"/>
                </a:solidFill>
                <a:latin typeface="Telegraf"/>
              </a:rPr>
              <a:t>auto-send</a:t>
            </a:r>
            <a:endParaRPr sz="460" spc="0">
              <a:solidFill>
                <a:srgbClr val="A2A2A8"/>
              </a:solidFill>
              <a:latin typeface="Telegraf"/>
            </a:endParaRPr>
          </a:p>
        </p:txBody>
      </p:sp>
      <p:sp>
        <p:nvSpPr>
          <p:cNvPr id="1170" name="Rectangle 46"/>
          <p:cNvSpPr/>
          <p:nvPr/>
        </p:nvSpPr>
        <p:spPr>
          <a:xfrm>
            <a:off x="4419600" y="30099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1" name="Oval 47"/>
          <p:cNvSpPr/>
          <p:nvPr/>
        </p:nvSpPr>
        <p:spPr>
          <a:xfrm>
            <a:off x="4559300" y="30289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2" name="Rectangle 48"/>
          <p:cNvSpPr/>
          <p:nvPr/>
        </p:nvSpPr>
        <p:spPr>
          <a:xfrm>
            <a:off x="3810000" y="3251200"/>
            <a:ext cx="1651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3" name="TextBox 49"/>
          <p:cNvSpPr txBox="1"/>
          <p:nvPr/>
        </p:nvSpPr>
        <p:spPr>
          <a:xfrm>
            <a:off x="3810000" y="3327400"/>
            <a:ext cx="1066800" cy="127000"/>
          </a:xfrm>
          <a:prstGeom prst="rect">
            <a:avLst/>
          </a:prstGeom>
        </p:spPr>
        <p:txBody>
          <a:bodyPr wrap="square" lIns="0" tIns="0" rIns="0" bIns="0">
            <a:noAutofit/>
          </a:bodyPr>
          <a:lstStyle/>
          <a:p>
            <a:pPr>
              <a:lnSpc>
                <a:spcPct val="135000"/>
              </a:lnSpc>
            </a:pPr>
            <a:r>
              <a:rPr sz="450" spc="0">
                <a:solidFill>
                  <a:srgbClr val="0E6B5F"/>
                </a:solidFill>
                <a:latin typeface="Telegraf"/>
              </a:rPr>
              <a:t>Simulate inbound</a:t>
            </a:r>
            <a:endParaRPr sz="450" spc="0">
              <a:solidFill>
                <a:srgbClr val="0E6B5F"/>
              </a:solidFill>
              <a:latin typeface="Telegraf"/>
            </a:endParaRPr>
          </a:p>
        </p:txBody>
      </p:sp>
      <p:sp>
        <p:nvSpPr>
          <p:cNvPr id="1174" name="TextBox 50"/>
          <p:cNvSpPr txBox="1"/>
          <p:nvPr/>
        </p:nvSpPr>
        <p:spPr>
          <a:xfrm>
            <a:off x="4902200" y="3327400"/>
            <a:ext cx="609600" cy="127000"/>
          </a:xfrm>
          <a:prstGeom prst="rect">
            <a:avLst/>
          </a:prstGeom>
        </p:spPr>
        <p:txBody>
          <a:bodyPr wrap="square" lIns="0" tIns="0" rIns="0" bIns="0">
            <a:noAutofit/>
          </a:bodyPr>
          <a:lstStyle/>
          <a:p>
            <a:pPr algn="r">
              <a:lnSpc>
                <a:spcPct val="135000"/>
              </a:lnSpc>
            </a:pPr>
            <a:r>
              <a:rPr sz="420" spc="0">
                <a:solidFill>
                  <a:srgbClr val="A2A2A8"/>
                </a:solidFill>
                <a:latin typeface="Telegraf"/>
              </a:rPr>
              <a:t>2m ago</a:t>
            </a:r>
            <a:endParaRPr sz="420" spc="0">
              <a:solidFill>
                <a:srgbClr val="A2A2A8"/>
              </a:solidFill>
              <a:latin typeface="Telegraf"/>
            </a:endParaRPr>
          </a:p>
        </p:txBody>
      </p:sp>
      <p:sp>
        <p:nvSpPr>
          <p:cNvPr id="1175" name="Rectangle 51"/>
          <p:cNvSpPr/>
          <p:nvPr/>
        </p:nvSpPr>
        <p:spPr>
          <a:xfrm>
            <a:off x="5740400" y="2235200"/>
            <a:ext cx="2006600" cy="1346200"/>
          </a:xfrm>
          <a:custGeom>
            <a:avLst/>
            <a:gdLst/>
            <a:ahLst/>
            <a:cxnLst/>
            <a:rect l="l" t="t" r="r" b="b"/>
            <a:pathLst>
              <a:path w="100000" h="67089">
                <a:moveTo>
                  <a:pt x="87342" y="0"/>
                </a:moveTo>
                <a:cubicBezTo>
                  <a:pt x="93309" y="0"/>
                  <a:pt x="96292" y="0"/>
                  <a:pt x="98146" y="1854"/>
                </a:cubicBezTo>
                <a:cubicBezTo>
                  <a:pt x="98146" y="1854"/>
                  <a:pt x="98146" y="1854"/>
                  <a:pt x="98146" y="1854"/>
                </a:cubicBezTo>
                <a:cubicBezTo>
                  <a:pt x="100000" y="3708"/>
                  <a:pt x="100000" y="6691"/>
                  <a:pt x="100000" y="12658"/>
                </a:cubicBezTo>
                <a:lnTo>
                  <a:pt x="100000" y="54430"/>
                </a:lnTo>
                <a:cubicBezTo>
                  <a:pt x="100000" y="60397"/>
                  <a:pt x="100000" y="63381"/>
                  <a:pt x="98146" y="65235"/>
                </a:cubicBezTo>
                <a:cubicBezTo>
                  <a:pt x="98146" y="65235"/>
                  <a:pt x="98146" y="65235"/>
                  <a:pt x="98146" y="65235"/>
                </a:cubicBezTo>
                <a:cubicBezTo>
                  <a:pt x="96292" y="67089"/>
                  <a:pt x="93309" y="67089"/>
                  <a:pt x="87342" y="67089"/>
                </a:cubicBezTo>
                <a:lnTo>
                  <a:pt x="12658" y="67089"/>
                </a:lnTo>
                <a:cubicBezTo>
                  <a:pt x="6691" y="67089"/>
                  <a:pt x="3708" y="67089"/>
                  <a:pt x="1854" y="65235"/>
                </a:cubicBezTo>
                <a:cubicBezTo>
                  <a:pt x="1854" y="65235"/>
                  <a:pt x="1854" y="65235"/>
                  <a:pt x="1854" y="65235"/>
                </a:cubicBezTo>
                <a:cubicBezTo>
                  <a:pt x="0" y="63381"/>
                  <a:pt x="0" y="60397"/>
                  <a:pt x="0" y="54430"/>
                </a:cubicBezTo>
                <a:lnTo>
                  <a:pt x="0" y="12658"/>
                </a:lnTo>
                <a:cubicBezTo>
                  <a:pt x="0" y="6691"/>
                  <a:pt x="0" y="3708"/>
                  <a:pt x="1854" y="1854"/>
                </a:cubicBezTo>
                <a:cubicBezTo>
                  <a:pt x="1854" y="1854"/>
                  <a:pt x="1854" y="1854"/>
                  <a:pt x="1854" y="1854"/>
                </a:cubicBezTo>
                <a:cubicBezTo>
                  <a:pt x="3708" y="0"/>
                  <a:pt x="6691" y="0"/>
                  <a:pt x="12658"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6" name="Rectangle 52"/>
          <p:cNvSpPr/>
          <p:nvPr/>
        </p:nvSpPr>
        <p:spPr>
          <a:xfrm>
            <a:off x="5864860" y="2385060"/>
            <a:ext cx="157480" cy="157480"/>
          </a:xfrm>
          <a:custGeom>
            <a:avLst/>
            <a:gdLst/>
            <a:ahLst/>
            <a:cxnLst/>
            <a:rect l="l" t="t" r="r" b="b"/>
            <a:pathLst>
              <a:path w="100000" h="100000">
                <a:moveTo>
                  <a:pt x="50000" y="0"/>
                </a:moveTo>
                <a:cubicBezTo>
                  <a:pt x="67742" y="0"/>
                  <a:pt x="76605" y="0"/>
                  <a:pt x="83355" y="3524"/>
                </a:cubicBezTo>
                <a:cubicBezTo>
                  <a:pt x="88968" y="6452"/>
                  <a:pt x="93548" y="11032"/>
                  <a:pt x="96476" y="16645"/>
                </a:cubicBezTo>
                <a:cubicBezTo>
                  <a:pt x="100000" y="23395"/>
                  <a:pt x="100000" y="32258"/>
                  <a:pt x="100000" y="50000"/>
                </a:cubicBezTo>
                <a:lnTo>
                  <a:pt x="100000" y="50000"/>
                </a:lnTo>
                <a:cubicBezTo>
                  <a:pt x="100000" y="67742"/>
                  <a:pt x="100000" y="76605"/>
                  <a:pt x="96476" y="83355"/>
                </a:cubicBezTo>
                <a:cubicBezTo>
                  <a:pt x="93548" y="88968"/>
                  <a:pt x="88968" y="93548"/>
                  <a:pt x="83355" y="96476"/>
                </a:cubicBezTo>
                <a:cubicBezTo>
                  <a:pt x="76605" y="100000"/>
                  <a:pt x="67742" y="100000"/>
                  <a:pt x="50000" y="100000"/>
                </a:cubicBezTo>
                <a:lnTo>
                  <a:pt x="50000" y="100000"/>
                </a:lnTo>
                <a:cubicBezTo>
                  <a:pt x="32258" y="100000"/>
                  <a:pt x="23395" y="100000"/>
                  <a:pt x="16645" y="96476"/>
                </a:cubicBezTo>
                <a:cubicBezTo>
                  <a:pt x="11032" y="93548"/>
                  <a:pt x="6452" y="88968"/>
                  <a:pt x="3524" y="83355"/>
                </a:cubicBezTo>
                <a:cubicBezTo>
                  <a:pt x="0" y="76605"/>
                  <a:pt x="0" y="67742"/>
                  <a:pt x="0" y="50000"/>
                </a:cubicBezTo>
                <a:lnTo>
                  <a:pt x="0" y="50000"/>
                </a:lnTo>
                <a:cubicBezTo>
                  <a:pt x="0" y="32258"/>
                  <a:pt x="0" y="23395"/>
                  <a:pt x="3524" y="16645"/>
                </a:cubicBezTo>
                <a:cubicBezTo>
                  <a:pt x="6452" y="11032"/>
                  <a:pt x="11032" y="6452"/>
                  <a:pt x="16645" y="3524"/>
                </a:cubicBezTo>
                <a:cubicBezTo>
                  <a:pt x="23395" y="0"/>
                  <a:pt x="32258" y="0"/>
                  <a:pt x="50000" y="0"/>
                </a:cubicBezTo>
                <a:close/>
              </a:path>
            </a:pathLst>
          </a:custGeom>
          <a:noFill/>
          <a:ln w="1143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7" name="Oval 53"/>
          <p:cNvSpPr/>
          <p:nvPr/>
        </p:nvSpPr>
        <p:spPr>
          <a:xfrm>
            <a:off x="5916803" y="2437003"/>
            <a:ext cx="53594" cy="53594"/>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8" name="Oval 54"/>
          <p:cNvSpPr/>
          <p:nvPr/>
        </p:nvSpPr>
        <p:spPr>
          <a:xfrm>
            <a:off x="5975477" y="2409063"/>
            <a:ext cx="22860" cy="228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79" name="TextBox 55"/>
          <p:cNvSpPr txBox="1"/>
          <p:nvPr/>
        </p:nvSpPr>
        <p:spPr>
          <a:xfrm>
            <a:off x="6096000" y="2362200"/>
            <a:ext cx="1270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Instagram</a:t>
            </a:r>
            <a:endParaRPr sz="620" b="1" spc="0">
              <a:solidFill>
                <a:srgbClr val="0A0A0A"/>
              </a:solidFill>
              <a:latin typeface="Telegraf"/>
            </a:endParaRPr>
          </a:p>
        </p:txBody>
      </p:sp>
      <p:sp>
        <p:nvSpPr>
          <p:cNvPr id="1180" name="TextBox 56"/>
          <p:cNvSpPr txBox="1"/>
          <p:nvPr/>
        </p:nvSpPr>
        <p:spPr>
          <a:xfrm>
            <a:off x="5918200" y="2616200"/>
            <a:ext cx="1651000" cy="127000"/>
          </a:xfrm>
          <a:prstGeom prst="rect">
            <a:avLst/>
          </a:prstGeom>
        </p:spPr>
        <p:txBody>
          <a:bodyPr wrap="square" lIns="0" tIns="0" rIns="0" bIns="0">
            <a:noAutofit/>
          </a:bodyPr>
          <a:lstStyle/>
          <a:p>
            <a:pPr>
              <a:lnSpc>
                <a:spcPct val="135000"/>
              </a:lnSpc>
            </a:pPr>
            <a:r>
              <a:rPr sz="470" spc="0">
                <a:solidFill>
                  <a:srgbClr val="A2A2A8"/>
                </a:solidFill>
                <a:latin typeface="Telegraf"/>
              </a:rPr>
              <a:t>DM webhook · sandbox</a:t>
            </a:r>
            <a:endParaRPr sz="470" spc="0">
              <a:solidFill>
                <a:srgbClr val="A2A2A8"/>
              </a:solidFill>
              <a:latin typeface="Telegraf"/>
            </a:endParaRPr>
          </a:p>
        </p:txBody>
      </p:sp>
      <p:sp>
        <p:nvSpPr>
          <p:cNvPr id="1181" name="Rectangle 57"/>
          <p:cNvSpPr/>
          <p:nvPr/>
        </p:nvSpPr>
        <p:spPr>
          <a:xfrm>
            <a:off x="5918200" y="2794000"/>
            <a:ext cx="542036" cy="146050"/>
          </a:xfrm>
          <a:custGeom>
            <a:avLst/>
            <a:gdLst/>
            <a:ahLst/>
            <a:cxnLst/>
            <a:rect l="l" t="t" r="r" b="b"/>
            <a:pathLst>
              <a:path w="100000" h="26945">
                <a:moveTo>
                  <a:pt x="86528" y="0"/>
                </a:moveTo>
                <a:cubicBezTo>
                  <a:pt x="86528" y="0"/>
                  <a:pt x="86528" y="0"/>
                  <a:pt x="86528" y="0"/>
                </a:cubicBezTo>
                <a:cubicBezTo>
                  <a:pt x="93969" y="0"/>
                  <a:pt x="100000" y="6031"/>
                  <a:pt x="100000" y="13472"/>
                </a:cubicBezTo>
                <a:cubicBezTo>
                  <a:pt x="100000" y="13472"/>
                  <a:pt x="100000" y="13472"/>
                  <a:pt x="100000" y="13472"/>
                </a:cubicBezTo>
                <a:lnTo>
                  <a:pt x="100000" y="13472"/>
                </a:lnTo>
                <a:cubicBezTo>
                  <a:pt x="100000" y="13472"/>
                  <a:pt x="100000" y="13472"/>
                  <a:pt x="100000" y="13472"/>
                </a:cubicBezTo>
                <a:cubicBezTo>
                  <a:pt x="100000" y="20914"/>
                  <a:pt x="93969" y="26945"/>
                  <a:pt x="86528" y="26945"/>
                </a:cubicBezTo>
                <a:cubicBezTo>
                  <a:pt x="86528" y="26945"/>
                  <a:pt x="86528" y="26945"/>
                  <a:pt x="86528" y="26945"/>
                </a:cubicBezTo>
                <a:lnTo>
                  <a:pt x="13472" y="26945"/>
                </a:lnTo>
                <a:cubicBezTo>
                  <a:pt x="13472" y="26945"/>
                  <a:pt x="13472" y="26945"/>
                  <a:pt x="13472" y="26945"/>
                </a:cubicBezTo>
                <a:cubicBezTo>
                  <a:pt x="6031" y="26945"/>
                  <a:pt x="0" y="20914"/>
                  <a:pt x="0" y="13472"/>
                </a:cubicBezTo>
                <a:cubicBezTo>
                  <a:pt x="0" y="13472"/>
                  <a:pt x="0" y="13472"/>
                  <a:pt x="0" y="13472"/>
                </a:cubicBezTo>
                <a:lnTo>
                  <a:pt x="0" y="13472"/>
                </a:lnTo>
                <a:cubicBezTo>
                  <a:pt x="0" y="13472"/>
                  <a:pt x="0" y="13472"/>
                  <a:pt x="0" y="13472"/>
                </a:cubicBezTo>
                <a:cubicBezTo>
                  <a:pt x="0" y="6031"/>
                  <a:pt x="6031" y="0"/>
                  <a:pt x="13472" y="0"/>
                </a:cubicBezTo>
                <a:cubicBezTo>
                  <a:pt x="13472" y="0"/>
                  <a:pt x="13472" y="0"/>
                  <a:pt x="13472"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82" name="Oval 58"/>
          <p:cNvSpPr/>
          <p:nvPr/>
        </p:nvSpPr>
        <p:spPr>
          <a:xfrm>
            <a:off x="5970270" y="284543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83" name="TextBox 59"/>
          <p:cNvSpPr txBox="1"/>
          <p:nvPr/>
        </p:nvSpPr>
        <p:spPr>
          <a:xfrm>
            <a:off x="6047740" y="2794000"/>
            <a:ext cx="389636" cy="146050"/>
          </a:xfrm>
          <a:prstGeom prst="rect">
            <a:avLst/>
          </a:prstGeom>
        </p:spPr>
        <p:txBody>
          <a:bodyPr wrap="square" lIns="0" tIns="0" rIns="0" bIns="0" anchor="ctr">
            <a:noAutofit/>
          </a:bodyPr>
          <a:lstStyle/>
          <a:p>
            <a:pPr>
              <a:lnSpc>
                <a:spcPct val="135000"/>
              </a:lnSpc>
            </a:pPr>
            <a:r>
              <a:rPr sz="460" b="1" spc="0">
                <a:solidFill>
                  <a:srgbClr val="8A4B08"/>
                </a:solidFill>
                <a:latin typeface="Telegraf"/>
              </a:rPr>
              <a:t>draft only</a:t>
            </a:r>
            <a:endParaRPr sz="460" b="1" spc="0">
              <a:solidFill>
                <a:srgbClr val="8A4B08"/>
              </a:solidFill>
              <a:latin typeface="Telegraf"/>
            </a:endParaRPr>
          </a:p>
        </p:txBody>
      </p:sp>
      <p:sp>
        <p:nvSpPr>
          <p:cNvPr id="1184" name="TextBox 60"/>
          <p:cNvSpPr txBox="1"/>
          <p:nvPr/>
        </p:nvSpPr>
        <p:spPr>
          <a:xfrm>
            <a:off x="5918200" y="3022600"/>
            <a:ext cx="762000" cy="127000"/>
          </a:xfrm>
          <a:prstGeom prst="rect">
            <a:avLst/>
          </a:prstGeom>
        </p:spPr>
        <p:txBody>
          <a:bodyPr wrap="square" lIns="0" tIns="0" rIns="0" bIns="0">
            <a:noAutofit/>
          </a:bodyPr>
          <a:lstStyle/>
          <a:p>
            <a:pPr>
              <a:lnSpc>
                <a:spcPct val="135000"/>
              </a:lnSpc>
            </a:pPr>
            <a:r>
              <a:rPr sz="460" spc="0">
                <a:solidFill>
                  <a:srgbClr val="A2A2A8"/>
                </a:solidFill>
                <a:latin typeface="Telegraf"/>
              </a:rPr>
              <a:t>auto-send</a:t>
            </a:r>
            <a:endParaRPr sz="460" spc="0">
              <a:solidFill>
                <a:srgbClr val="A2A2A8"/>
              </a:solidFill>
              <a:latin typeface="Telegraf"/>
            </a:endParaRPr>
          </a:p>
        </p:txBody>
      </p:sp>
      <p:sp>
        <p:nvSpPr>
          <p:cNvPr id="1185" name="Rectangle 61"/>
          <p:cNvSpPr/>
          <p:nvPr/>
        </p:nvSpPr>
        <p:spPr>
          <a:xfrm>
            <a:off x="6527800" y="30099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DCDC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86" name="Oval 62"/>
          <p:cNvSpPr/>
          <p:nvPr/>
        </p:nvSpPr>
        <p:spPr>
          <a:xfrm>
            <a:off x="6546850" y="30289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87" name="Rectangle 63"/>
          <p:cNvSpPr/>
          <p:nvPr/>
        </p:nvSpPr>
        <p:spPr>
          <a:xfrm>
            <a:off x="5918200" y="3251200"/>
            <a:ext cx="1651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88" name="TextBox 64"/>
          <p:cNvSpPr txBox="1"/>
          <p:nvPr/>
        </p:nvSpPr>
        <p:spPr>
          <a:xfrm>
            <a:off x="5918200" y="3327400"/>
            <a:ext cx="1066800" cy="127000"/>
          </a:xfrm>
          <a:prstGeom prst="rect">
            <a:avLst/>
          </a:prstGeom>
        </p:spPr>
        <p:txBody>
          <a:bodyPr wrap="square" lIns="0" tIns="0" rIns="0" bIns="0">
            <a:noAutofit/>
          </a:bodyPr>
          <a:lstStyle/>
          <a:p>
            <a:pPr>
              <a:lnSpc>
                <a:spcPct val="135000"/>
              </a:lnSpc>
            </a:pPr>
            <a:r>
              <a:rPr sz="450" spc="0">
                <a:solidFill>
                  <a:srgbClr val="0E6B5F"/>
                </a:solidFill>
                <a:latin typeface="Telegraf"/>
              </a:rPr>
              <a:t>Simulate inbound</a:t>
            </a:r>
            <a:endParaRPr sz="450" spc="0">
              <a:solidFill>
                <a:srgbClr val="0E6B5F"/>
              </a:solidFill>
              <a:latin typeface="Telegraf"/>
            </a:endParaRPr>
          </a:p>
        </p:txBody>
      </p:sp>
      <p:sp>
        <p:nvSpPr>
          <p:cNvPr id="1189" name="TextBox 65"/>
          <p:cNvSpPr txBox="1"/>
          <p:nvPr/>
        </p:nvSpPr>
        <p:spPr>
          <a:xfrm>
            <a:off x="7010400" y="3327400"/>
            <a:ext cx="609600" cy="127000"/>
          </a:xfrm>
          <a:prstGeom prst="rect">
            <a:avLst/>
          </a:prstGeom>
        </p:spPr>
        <p:txBody>
          <a:bodyPr wrap="square" lIns="0" tIns="0" rIns="0" bIns="0">
            <a:noAutofit/>
          </a:bodyPr>
          <a:lstStyle/>
          <a:p>
            <a:pPr algn="r">
              <a:lnSpc>
                <a:spcPct val="135000"/>
              </a:lnSpc>
            </a:pPr>
            <a:r>
              <a:rPr sz="420" spc="0">
                <a:solidFill>
                  <a:srgbClr val="A2A2A8"/>
                </a:solidFill>
                <a:latin typeface="Telegraf"/>
              </a:rPr>
              <a:t>no events</a:t>
            </a:r>
            <a:endParaRPr sz="420" spc="0">
              <a:solidFill>
                <a:srgbClr val="A2A2A8"/>
              </a:solidFill>
              <a:latin typeface="Telegraf"/>
            </a:endParaRPr>
          </a:p>
        </p:txBody>
      </p:sp>
      <p:sp>
        <p:nvSpPr>
          <p:cNvPr id="1190" name="Rectangle 66"/>
          <p:cNvSpPr/>
          <p:nvPr/>
        </p:nvSpPr>
        <p:spPr>
          <a:xfrm>
            <a:off x="3632200" y="3733800"/>
            <a:ext cx="2006600" cy="1346200"/>
          </a:xfrm>
          <a:custGeom>
            <a:avLst/>
            <a:gdLst/>
            <a:ahLst/>
            <a:cxnLst/>
            <a:rect l="l" t="t" r="r" b="b"/>
            <a:pathLst>
              <a:path w="100000" h="67089">
                <a:moveTo>
                  <a:pt x="87342" y="0"/>
                </a:moveTo>
                <a:cubicBezTo>
                  <a:pt x="93309" y="0"/>
                  <a:pt x="96292" y="0"/>
                  <a:pt x="98146" y="1854"/>
                </a:cubicBezTo>
                <a:cubicBezTo>
                  <a:pt x="98146" y="1854"/>
                  <a:pt x="98146" y="1854"/>
                  <a:pt x="98146" y="1854"/>
                </a:cubicBezTo>
                <a:cubicBezTo>
                  <a:pt x="100000" y="3708"/>
                  <a:pt x="100000" y="6691"/>
                  <a:pt x="100000" y="12658"/>
                </a:cubicBezTo>
                <a:lnTo>
                  <a:pt x="100000" y="54430"/>
                </a:lnTo>
                <a:cubicBezTo>
                  <a:pt x="100000" y="60397"/>
                  <a:pt x="100000" y="63381"/>
                  <a:pt x="98146" y="65235"/>
                </a:cubicBezTo>
                <a:cubicBezTo>
                  <a:pt x="98146" y="65235"/>
                  <a:pt x="98146" y="65235"/>
                  <a:pt x="98146" y="65235"/>
                </a:cubicBezTo>
                <a:cubicBezTo>
                  <a:pt x="96292" y="67089"/>
                  <a:pt x="93309" y="67089"/>
                  <a:pt x="87342" y="67089"/>
                </a:cubicBezTo>
                <a:lnTo>
                  <a:pt x="12658" y="67089"/>
                </a:lnTo>
                <a:cubicBezTo>
                  <a:pt x="6691" y="67089"/>
                  <a:pt x="3708" y="67089"/>
                  <a:pt x="1854" y="65235"/>
                </a:cubicBezTo>
                <a:cubicBezTo>
                  <a:pt x="1854" y="65235"/>
                  <a:pt x="1854" y="65235"/>
                  <a:pt x="1854" y="65235"/>
                </a:cubicBezTo>
                <a:cubicBezTo>
                  <a:pt x="0" y="63381"/>
                  <a:pt x="0" y="60397"/>
                  <a:pt x="0" y="54430"/>
                </a:cubicBezTo>
                <a:lnTo>
                  <a:pt x="0" y="12658"/>
                </a:lnTo>
                <a:cubicBezTo>
                  <a:pt x="0" y="6691"/>
                  <a:pt x="0" y="3708"/>
                  <a:pt x="1854" y="1854"/>
                </a:cubicBezTo>
                <a:cubicBezTo>
                  <a:pt x="1854" y="1854"/>
                  <a:pt x="1854" y="1854"/>
                  <a:pt x="1854" y="1854"/>
                </a:cubicBezTo>
                <a:cubicBezTo>
                  <a:pt x="3708" y="0"/>
                  <a:pt x="6691" y="0"/>
                  <a:pt x="12658"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91" name="Rectangle 67"/>
          <p:cNvSpPr/>
          <p:nvPr/>
        </p:nvSpPr>
        <p:spPr>
          <a:xfrm>
            <a:off x="3756660" y="3905758"/>
            <a:ext cx="157480" cy="113411"/>
          </a:xfrm>
          <a:custGeom>
            <a:avLst/>
            <a:gdLst/>
            <a:ahLst/>
            <a:cxnLst/>
            <a:rect l="l" t="t" r="r" b="b"/>
            <a:pathLst>
              <a:path w="100000" h="72016">
                <a:moveTo>
                  <a:pt x="87097" y="0"/>
                </a:moveTo>
                <a:cubicBezTo>
                  <a:pt x="93177" y="0"/>
                  <a:pt x="96218" y="0"/>
                  <a:pt x="98113" y="1887"/>
                </a:cubicBezTo>
                <a:cubicBezTo>
                  <a:pt x="98113" y="1887"/>
                  <a:pt x="98113" y="1887"/>
                  <a:pt x="98113" y="1887"/>
                </a:cubicBezTo>
                <a:cubicBezTo>
                  <a:pt x="100000" y="3782"/>
                  <a:pt x="100000" y="6823"/>
                  <a:pt x="100000" y="12903"/>
                </a:cubicBezTo>
                <a:lnTo>
                  <a:pt x="100000" y="59113"/>
                </a:lnTo>
                <a:cubicBezTo>
                  <a:pt x="100000" y="65194"/>
                  <a:pt x="100000" y="68234"/>
                  <a:pt x="98113" y="70129"/>
                </a:cubicBezTo>
                <a:cubicBezTo>
                  <a:pt x="98113" y="70129"/>
                  <a:pt x="98113" y="70129"/>
                  <a:pt x="98113" y="70129"/>
                </a:cubicBezTo>
                <a:cubicBezTo>
                  <a:pt x="96218" y="72016"/>
                  <a:pt x="93177" y="72016"/>
                  <a:pt x="87097" y="72016"/>
                </a:cubicBezTo>
                <a:lnTo>
                  <a:pt x="12903" y="72016"/>
                </a:lnTo>
                <a:cubicBezTo>
                  <a:pt x="6823" y="72016"/>
                  <a:pt x="3782" y="72016"/>
                  <a:pt x="1887" y="70129"/>
                </a:cubicBezTo>
                <a:cubicBezTo>
                  <a:pt x="1887" y="70129"/>
                  <a:pt x="1887" y="70129"/>
                  <a:pt x="1887" y="70129"/>
                </a:cubicBezTo>
                <a:cubicBezTo>
                  <a:pt x="0" y="68234"/>
                  <a:pt x="0" y="65194"/>
                  <a:pt x="0" y="59113"/>
                </a:cubicBezTo>
                <a:lnTo>
                  <a:pt x="0" y="12903"/>
                </a:lnTo>
                <a:cubicBezTo>
                  <a:pt x="0" y="6823"/>
                  <a:pt x="0" y="3782"/>
                  <a:pt x="1887" y="1887"/>
                </a:cubicBezTo>
                <a:cubicBezTo>
                  <a:pt x="1887" y="1887"/>
                  <a:pt x="1887" y="1887"/>
                  <a:pt x="1887" y="1887"/>
                </a:cubicBezTo>
                <a:cubicBezTo>
                  <a:pt x="3782" y="0"/>
                  <a:pt x="6823" y="0"/>
                  <a:pt x="12903" y="0"/>
                </a:cubicBezTo>
                <a:close/>
              </a:path>
            </a:pathLst>
          </a:custGeom>
          <a:noFill/>
          <a:ln w="10795">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92" name="Freeform 1192"/>
          <p:cNvSpPr/>
          <p:nvPr/>
        </p:nvSpPr>
        <p:spPr>
          <a:xfrm>
            <a:off x="3756660" y="3910457"/>
            <a:ext cx="157480" cy="75565"/>
          </a:xfrm>
          <a:custGeom>
            <a:avLst/>
            <a:gdLst/>
            <a:ahLst/>
            <a:cxnLst/>
            <a:rect l="l" t="t" r="r" b="b"/>
            <a:pathLst>
              <a:path w="100000" h="47984" fill="none">
                <a:moveTo>
                  <a:pt x="0" y="0"/>
                </a:moveTo>
                <a:lnTo>
                  <a:pt x="50000" y="47984"/>
                </a:lnTo>
                <a:lnTo>
                  <a:pt x="100000" y="0"/>
                </a:lnTo>
              </a:path>
            </a:pathLst>
          </a:custGeom>
          <a:noFill/>
          <a:ln w="10795"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1193" name="TextBox 69"/>
          <p:cNvSpPr txBox="1"/>
          <p:nvPr/>
        </p:nvSpPr>
        <p:spPr>
          <a:xfrm>
            <a:off x="3987800" y="3860800"/>
            <a:ext cx="1270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Gmail</a:t>
            </a:r>
            <a:endParaRPr sz="620" b="1" spc="0">
              <a:solidFill>
                <a:srgbClr val="0A0A0A"/>
              </a:solidFill>
              <a:latin typeface="Telegraf"/>
            </a:endParaRPr>
          </a:p>
        </p:txBody>
      </p:sp>
      <p:sp>
        <p:nvSpPr>
          <p:cNvPr id="1194" name="TextBox 70"/>
          <p:cNvSpPr txBox="1"/>
          <p:nvPr/>
        </p:nvSpPr>
        <p:spPr>
          <a:xfrm>
            <a:off x="3810000" y="4114800"/>
            <a:ext cx="1651000" cy="127000"/>
          </a:xfrm>
          <a:prstGeom prst="rect">
            <a:avLst/>
          </a:prstGeom>
        </p:spPr>
        <p:txBody>
          <a:bodyPr wrap="square" lIns="0" tIns="0" rIns="0" bIns="0">
            <a:noAutofit/>
          </a:bodyPr>
          <a:lstStyle/>
          <a:p>
            <a:pPr>
              <a:lnSpc>
                <a:spcPct val="135000"/>
              </a:lnSpc>
            </a:pPr>
            <a:r>
              <a:rPr sz="470" spc="0">
                <a:solidFill>
                  <a:srgbClr val="A2A2A8"/>
                </a:solidFill>
                <a:latin typeface="Telegraf"/>
              </a:rPr>
              <a:t>support@cloudpulse.in</a:t>
            </a:r>
            <a:endParaRPr sz="470" spc="0">
              <a:solidFill>
                <a:srgbClr val="A2A2A8"/>
              </a:solidFill>
              <a:latin typeface="Telegraf"/>
            </a:endParaRPr>
          </a:p>
        </p:txBody>
      </p:sp>
      <p:sp>
        <p:nvSpPr>
          <p:cNvPr id="1195" name="Rectangle 71"/>
          <p:cNvSpPr/>
          <p:nvPr/>
        </p:nvSpPr>
        <p:spPr>
          <a:xfrm>
            <a:off x="3810000" y="4292600"/>
            <a:ext cx="508127" cy="146050"/>
          </a:xfrm>
          <a:custGeom>
            <a:avLst/>
            <a:gdLst/>
            <a:ahLst/>
            <a:cxnLst/>
            <a:rect l="l" t="t" r="r" b="b"/>
            <a:pathLst>
              <a:path w="100000" h="28743">
                <a:moveTo>
                  <a:pt x="85629" y="0"/>
                </a:moveTo>
                <a:cubicBezTo>
                  <a:pt x="85629" y="0"/>
                  <a:pt x="85629" y="0"/>
                  <a:pt x="85629" y="0"/>
                </a:cubicBezTo>
                <a:cubicBezTo>
                  <a:pt x="93567" y="0"/>
                  <a:pt x="100000" y="6433"/>
                  <a:pt x="100000" y="14371"/>
                </a:cubicBezTo>
                <a:cubicBezTo>
                  <a:pt x="100000" y="14371"/>
                  <a:pt x="100000" y="14371"/>
                  <a:pt x="100000" y="14371"/>
                </a:cubicBezTo>
                <a:lnTo>
                  <a:pt x="100000" y="14371"/>
                </a:lnTo>
                <a:cubicBezTo>
                  <a:pt x="100000" y="14371"/>
                  <a:pt x="100000" y="14371"/>
                  <a:pt x="100000" y="14371"/>
                </a:cubicBezTo>
                <a:cubicBezTo>
                  <a:pt x="100000" y="22309"/>
                  <a:pt x="93567" y="28743"/>
                  <a:pt x="85629" y="28743"/>
                </a:cubicBezTo>
                <a:cubicBezTo>
                  <a:pt x="85629" y="28743"/>
                  <a:pt x="85629" y="28743"/>
                  <a:pt x="85629" y="28743"/>
                </a:cubicBezTo>
                <a:lnTo>
                  <a:pt x="14371" y="28743"/>
                </a:lnTo>
                <a:cubicBezTo>
                  <a:pt x="14371" y="28743"/>
                  <a:pt x="14371" y="28743"/>
                  <a:pt x="14371" y="28743"/>
                </a:cubicBezTo>
                <a:cubicBezTo>
                  <a:pt x="6433" y="28743"/>
                  <a:pt x="0" y="22309"/>
                  <a:pt x="0" y="14371"/>
                </a:cubicBezTo>
                <a:cubicBezTo>
                  <a:pt x="0" y="14371"/>
                  <a:pt x="0" y="14371"/>
                  <a:pt x="0" y="14371"/>
                </a:cubicBezTo>
                <a:lnTo>
                  <a:pt x="0" y="14371"/>
                </a:lnTo>
                <a:cubicBezTo>
                  <a:pt x="0" y="14371"/>
                  <a:pt x="0" y="14371"/>
                  <a:pt x="0" y="14371"/>
                </a:cubicBezTo>
                <a:cubicBezTo>
                  <a:pt x="0" y="6433"/>
                  <a:pt x="6433" y="0"/>
                  <a:pt x="14371" y="0"/>
                </a:cubicBezTo>
                <a:cubicBezTo>
                  <a:pt x="14371" y="0"/>
                  <a:pt x="14371" y="0"/>
                  <a:pt x="14371"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96" name="Oval 72"/>
          <p:cNvSpPr/>
          <p:nvPr/>
        </p:nvSpPr>
        <p:spPr>
          <a:xfrm>
            <a:off x="3862070" y="43440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197" name="TextBox 73"/>
          <p:cNvSpPr txBox="1"/>
          <p:nvPr/>
        </p:nvSpPr>
        <p:spPr>
          <a:xfrm>
            <a:off x="3939540" y="4292600"/>
            <a:ext cx="355727" cy="146050"/>
          </a:xfrm>
          <a:prstGeom prst="rect">
            <a:avLst/>
          </a:prstGeom>
        </p:spPr>
        <p:txBody>
          <a:bodyPr wrap="square" lIns="0" tIns="0" rIns="0" bIns="0" anchor="ctr">
            <a:noAutofit/>
          </a:bodyPr>
          <a:lstStyle/>
          <a:p>
            <a:pPr>
              <a:lnSpc>
                <a:spcPct val="135000"/>
              </a:lnSpc>
            </a:pPr>
            <a:r>
              <a:rPr sz="460" b="1" spc="0">
                <a:solidFill>
                  <a:srgbClr val="0B5C44"/>
                </a:solidFill>
                <a:latin typeface="Telegraf"/>
              </a:rPr>
              <a:t>connected</a:t>
            </a:r>
            <a:endParaRPr sz="460" b="1" spc="0">
              <a:solidFill>
                <a:srgbClr val="0B5C44"/>
              </a:solidFill>
              <a:latin typeface="Telegraf"/>
            </a:endParaRPr>
          </a:p>
        </p:txBody>
      </p:sp>
      <p:sp>
        <p:nvSpPr>
          <p:cNvPr id="1198" name="TextBox 74"/>
          <p:cNvSpPr txBox="1"/>
          <p:nvPr/>
        </p:nvSpPr>
        <p:spPr>
          <a:xfrm>
            <a:off x="3810000" y="4521200"/>
            <a:ext cx="762000" cy="127000"/>
          </a:xfrm>
          <a:prstGeom prst="rect">
            <a:avLst/>
          </a:prstGeom>
        </p:spPr>
        <p:txBody>
          <a:bodyPr wrap="square" lIns="0" tIns="0" rIns="0" bIns="0">
            <a:noAutofit/>
          </a:bodyPr>
          <a:lstStyle/>
          <a:p>
            <a:pPr>
              <a:lnSpc>
                <a:spcPct val="135000"/>
              </a:lnSpc>
            </a:pPr>
            <a:r>
              <a:rPr sz="460" spc="0">
                <a:solidFill>
                  <a:srgbClr val="A2A2A8"/>
                </a:solidFill>
                <a:latin typeface="Telegraf"/>
              </a:rPr>
              <a:t>auto-send</a:t>
            </a:r>
            <a:endParaRPr sz="460" spc="0">
              <a:solidFill>
                <a:srgbClr val="A2A2A8"/>
              </a:solidFill>
              <a:latin typeface="Telegraf"/>
            </a:endParaRPr>
          </a:p>
        </p:txBody>
      </p:sp>
      <p:sp>
        <p:nvSpPr>
          <p:cNvPr id="1199" name="Rectangle 75"/>
          <p:cNvSpPr/>
          <p:nvPr/>
        </p:nvSpPr>
        <p:spPr>
          <a:xfrm>
            <a:off x="4419600" y="45085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0" name="Oval 76"/>
          <p:cNvSpPr/>
          <p:nvPr/>
        </p:nvSpPr>
        <p:spPr>
          <a:xfrm>
            <a:off x="4559300" y="45275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1" name="Rectangle 77"/>
          <p:cNvSpPr/>
          <p:nvPr/>
        </p:nvSpPr>
        <p:spPr>
          <a:xfrm>
            <a:off x="3810000" y="4749800"/>
            <a:ext cx="1651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2" name="TextBox 78"/>
          <p:cNvSpPr txBox="1"/>
          <p:nvPr/>
        </p:nvSpPr>
        <p:spPr>
          <a:xfrm>
            <a:off x="3810000" y="4826000"/>
            <a:ext cx="1066800" cy="127000"/>
          </a:xfrm>
          <a:prstGeom prst="rect">
            <a:avLst/>
          </a:prstGeom>
        </p:spPr>
        <p:txBody>
          <a:bodyPr wrap="square" lIns="0" tIns="0" rIns="0" bIns="0">
            <a:noAutofit/>
          </a:bodyPr>
          <a:lstStyle/>
          <a:p>
            <a:pPr>
              <a:lnSpc>
                <a:spcPct val="135000"/>
              </a:lnSpc>
            </a:pPr>
            <a:r>
              <a:rPr sz="450" spc="0">
                <a:solidFill>
                  <a:srgbClr val="0E6B5F"/>
                </a:solidFill>
                <a:latin typeface="Telegraf"/>
              </a:rPr>
              <a:t>Simulate inbound</a:t>
            </a:r>
            <a:endParaRPr sz="450" spc="0">
              <a:solidFill>
                <a:srgbClr val="0E6B5F"/>
              </a:solidFill>
              <a:latin typeface="Telegraf"/>
            </a:endParaRPr>
          </a:p>
        </p:txBody>
      </p:sp>
      <p:sp>
        <p:nvSpPr>
          <p:cNvPr id="1203" name="TextBox 79"/>
          <p:cNvSpPr txBox="1"/>
          <p:nvPr/>
        </p:nvSpPr>
        <p:spPr>
          <a:xfrm>
            <a:off x="4902200" y="4826000"/>
            <a:ext cx="609600" cy="127000"/>
          </a:xfrm>
          <a:prstGeom prst="rect">
            <a:avLst/>
          </a:prstGeom>
        </p:spPr>
        <p:txBody>
          <a:bodyPr wrap="square" lIns="0" tIns="0" rIns="0" bIns="0">
            <a:noAutofit/>
          </a:bodyPr>
          <a:lstStyle/>
          <a:p>
            <a:pPr algn="r">
              <a:lnSpc>
                <a:spcPct val="135000"/>
              </a:lnSpc>
            </a:pPr>
            <a:r>
              <a:rPr sz="420" spc="0">
                <a:solidFill>
                  <a:srgbClr val="A2A2A8"/>
                </a:solidFill>
                <a:latin typeface="Telegraf"/>
              </a:rPr>
              <a:t>14m ago</a:t>
            </a:r>
            <a:endParaRPr sz="420" spc="0">
              <a:solidFill>
                <a:srgbClr val="A2A2A8"/>
              </a:solidFill>
              <a:latin typeface="Telegraf"/>
            </a:endParaRPr>
          </a:p>
        </p:txBody>
      </p:sp>
      <p:sp>
        <p:nvSpPr>
          <p:cNvPr id="1204" name="Rectangle 80"/>
          <p:cNvSpPr/>
          <p:nvPr/>
        </p:nvSpPr>
        <p:spPr>
          <a:xfrm>
            <a:off x="5740400" y="3733800"/>
            <a:ext cx="2006600" cy="1346200"/>
          </a:xfrm>
          <a:custGeom>
            <a:avLst/>
            <a:gdLst/>
            <a:ahLst/>
            <a:cxnLst/>
            <a:rect l="l" t="t" r="r" b="b"/>
            <a:pathLst>
              <a:path w="100000" h="67089">
                <a:moveTo>
                  <a:pt x="87342" y="0"/>
                </a:moveTo>
                <a:cubicBezTo>
                  <a:pt x="93309" y="0"/>
                  <a:pt x="96292" y="0"/>
                  <a:pt x="98146" y="1854"/>
                </a:cubicBezTo>
                <a:cubicBezTo>
                  <a:pt x="98146" y="1854"/>
                  <a:pt x="98146" y="1854"/>
                  <a:pt x="98146" y="1854"/>
                </a:cubicBezTo>
                <a:cubicBezTo>
                  <a:pt x="100000" y="3708"/>
                  <a:pt x="100000" y="6691"/>
                  <a:pt x="100000" y="12658"/>
                </a:cubicBezTo>
                <a:lnTo>
                  <a:pt x="100000" y="54430"/>
                </a:lnTo>
                <a:cubicBezTo>
                  <a:pt x="100000" y="60397"/>
                  <a:pt x="100000" y="63381"/>
                  <a:pt x="98146" y="65235"/>
                </a:cubicBezTo>
                <a:cubicBezTo>
                  <a:pt x="98146" y="65235"/>
                  <a:pt x="98146" y="65235"/>
                  <a:pt x="98146" y="65235"/>
                </a:cubicBezTo>
                <a:cubicBezTo>
                  <a:pt x="96292" y="67089"/>
                  <a:pt x="93309" y="67089"/>
                  <a:pt x="87342" y="67089"/>
                </a:cubicBezTo>
                <a:lnTo>
                  <a:pt x="12658" y="67089"/>
                </a:lnTo>
                <a:cubicBezTo>
                  <a:pt x="6691" y="67089"/>
                  <a:pt x="3708" y="67089"/>
                  <a:pt x="1854" y="65235"/>
                </a:cubicBezTo>
                <a:cubicBezTo>
                  <a:pt x="1854" y="65235"/>
                  <a:pt x="1854" y="65235"/>
                  <a:pt x="1854" y="65235"/>
                </a:cubicBezTo>
                <a:cubicBezTo>
                  <a:pt x="0" y="63381"/>
                  <a:pt x="0" y="60397"/>
                  <a:pt x="0" y="54430"/>
                </a:cubicBezTo>
                <a:lnTo>
                  <a:pt x="0" y="12658"/>
                </a:lnTo>
                <a:cubicBezTo>
                  <a:pt x="0" y="6691"/>
                  <a:pt x="0" y="3708"/>
                  <a:pt x="1854" y="1854"/>
                </a:cubicBezTo>
                <a:cubicBezTo>
                  <a:pt x="1854" y="1854"/>
                  <a:pt x="1854" y="1854"/>
                  <a:pt x="1854" y="1854"/>
                </a:cubicBezTo>
                <a:cubicBezTo>
                  <a:pt x="3708" y="0"/>
                  <a:pt x="6691" y="0"/>
                  <a:pt x="12658"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5" name="Oval 81"/>
          <p:cNvSpPr/>
          <p:nvPr/>
        </p:nvSpPr>
        <p:spPr>
          <a:xfrm>
            <a:off x="5919978" y="3895471"/>
            <a:ext cx="47244" cy="47244"/>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6" name="Rectangle 82"/>
          <p:cNvSpPr/>
          <p:nvPr/>
        </p:nvSpPr>
        <p:spPr>
          <a:xfrm>
            <a:off x="5937885" y="3953002"/>
            <a:ext cx="11430" cy="56642"/>
          </a:xfrm>
          <a:custGeom>
            <a:avLst/>
            <a:gdLst/>
            <a:ahLst/>
            <a:cxnLst/>
            <a:rect l="l" t="t" r="r" b="b"/>
            <a:pathLst>
              <a:path w="20179" h="100000">
                <a:moveTo>
                  <a:pt x="10090" y="0"/>
                </a:moveTo>
                <a:cubicBezTo>
                  <a:pt x="11121" y="0"/>
                  <a:pt x="11659" y="0"/>
                  <a:pt x="12085" y="45"/>
                </a:cubicBezTo>
                <a:cubicBezTo>
                  <a:pt x="16345" y="471"/>
                  <a:pt x="19709" y="3834"/>
                  <a:pt x="20135" y="8094"/>
                </a:cubicBezTo>
                <a:cubicBezTo>
                  <a:pt x="20179" y="8520"/>
                  <a:pt x="20179" y="9058"/>
                  <a:pt x="20179" y="10090"/>
                </a:cubicBezTo>
                <a:lnTo>
                  <a:pt x="20179" y="89910"/>
                </a:lnTo>
                <a:cubicBezTo>
                  <a:pt x="20179" y="90942"/>
                  <a:pt x="20179" y="91480"/>
                  <a:pt x="20135" y="91906"/>
                </a:cubicBezTo>
                <a:cubicBezTo>
                  <a:pt x="19709" y="96166"/>
                  <a:pt x="16345" y="99529"/>
                  <a:pt x="12085" y="99955"/>
                </a:cubicBezTo>
                <a:cubicBezTo>
                  <a:pt x="11659" y="100000"/>
                  <a:pt x="11121" y="100000"/>
                  <a:pt x="10090" y="100000"/>
                </a:cubicBezTo>
                <a:lnTo>
                  <a:pt x="10090" y="100000"/>
                </a:lnTo>
                <a:cubicBezTo>
                  <a:pt x="9058" y="100000"/>
                  <a:pt x="8520" y="100000"/>
                  <a:pt x="8094" y="99955"/>
                </a:cubicBezTo>
                <a:cubicBezTo>
                  <a:pt x="3834" y="99529"/>
                  <a:pt x="471" y="96166"/>
                  <a:pt x="45" y="91906"/>
                </a:cubicBezTo>
                <a:cubicBezTo>
                  <a:pt x="0" y="91480"/>
                  <a:pt x="0" y="90942"/>
                  <a:pt x="0" y="89910"/>
                </a:cubicBezTo>
                <a:lnTo>
                  <a:pt x="0" y="10090"/>
                </a:lnTo>
                <a:cubicBezTo>
                  <a:pt x="0" y="9058"/>
                  <a:pt x="0" y="8520"/>
                  <a:pt x="45" y="8094"/>
                </a:cubicBezTo>
                <a:cubicBezTo>
                  <a:pt x="471" y="3834"/>
                  <a:pt x="3834" y="471"/>
                  <a:pt x="8094" y="45"/>
                </a:cubicBezTo>
                <a:cubicBezTo>
                  <a:pt x="8520" y="0"/>
                  <a:pt x="9058" y="0"/>
                  <a:pt x="1009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7" name="Rectangle 83"/>
          <p:cNvSpPr/>
          <p:nvPr/>
        </p:nvSpPr>
        <p:spPr>
          <a:xfrm>
            <a:off x="5891657" y="3995420"/>
            <a:ext cx="103886" cy="10795"/>
          </a:xfrm>
          <a:custGeom>
            <a:avLst/>
            <a:gdLst/>
            <a:ahLst/>
            <a:cxnLst/>
            <a:rect l="l" t="t" r="r" b="b"/>
            <a:pathLst>
              <a:path w="100000" h="10391">
                <a:moveTo>
                  <a:pt x="94804" y="0"/>
                </a:moveTo>
                <a:cubicBezTo>
                  <a:pt x="95086" y="0"/>
                  <a:pt x="95232" y="0"/>
                  <a:pt x="95355" y="0"/>
                </a:cubicBezTo>
                <a:cubicBezTo>
                  <a:pt x="97861" y="134"/>
                  <a:pt x="99866" y="2139"/>
                  <a:pt x="100000" y="4645"/>
                </a:cubicBezTo>
                <a:cubicBezTo>
                  <a:pt x="100000" y="4768"/>
                  <a:pt x="100000" y="4914"/>
                  <a:pt x="100000" y="5196"/>
                </a:cubicBezTo>
                <a:lnTo>
                  <a:pt x="100000" y="5196"/>
                </a:lnTo>
                <a:cubicBezTo>
                  <a:pt x="100000" y="5477"/>
                  <a:pt x="100000" y="5623"/>
                  <a:pt x="100000" y="5746"/>
                </a:cubicBezTo>
                <a:cubicBezTo>
                  <a:pt x="99866" y="8252"/>
                  <a:pt x="97861" y="10257"/>
                  <a:pt x="95355" y="10391"/>
                </a:cubicBezTo>
                <a:cubicBezTo>
                  <a:pt x="95232" y="10391"/>
                  <a:pt x="95086" y="10391"/>
                  <a:pt x="94804" y="10391"/>
                </a:cubicBezTo>
                <a:lnTo>
                  <a:pt x="5196" y="10391"/>
                </a:lnTo>
                <a:cubicBezTo>
                  <a:pt x="4914" y="10391"/>
                  <a:pt x="4768" y="10391"/>
                  <a:pt x="4645" y="10391"/>
                </a:cubicBezTo>
                <a:cubicBezTo>
                  <a:pt x="2139" y="10257"/>
                  <a:pt x="134" y="8252"/>
                  <a:pt x="0" y="5746"/>
                </a:cubicBezTo>
                <a:cubicBezTo>
                  <a:pt x="0" y="5623"/>
                  <a:pt x="0" y="5477"/>
                  <a:pt x="0" y="5196"/>
                </a:cubicBezTo>
                <a:lnTo>
                  <a:pt x="0" y="5196"/>
                </a:lnTo>
                <a:cubicBezTo>
                  <a:pt x="0" y="4914"/>
                  <a:pt x="0" y="4768"/>
                  <a:pt x="0" y="4645"/>
                </a:cubicBezTo>
                <a:cubicBezTo>
                  <a:pt x="134" y="2139"/>
                  <a:pt x="2139" y="134"/>
                  <a:pt x="4645" y="0"/>
                </a:cubicBezTo>
                <a:cubicBezTo>
                  <a:pt x="4768" y="0"/>
                  <a:pt x="4914" y="0"/>
                  <a:pt x="5196"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08" name="TextBox 84"/>
          <p:cNvSpPr txBox="1"/>
          <p:nvPr/>
        </p:nvSpPr>
        <p:spPr>
          <a:xfrm>
            <a:off x="6096000" y="3860800"/>
            <a:ext cx="1270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Sarvam voice</a:t>
            </a:r>
            <a:endParaRPr sz="620" b="1" spc="0">
              <a:solidFill>
                <a:srgbClr val="0A0A0A"/>
              </a:solidFill>
              <a:latin typeface="Telegraf"/>
            </a:endParaRPr>
          </a:p>
        </p:txBody>
      </p:sp>
      <p:sp>
        <p:nvSpPr>
          <p:cNvPr id="1209" name="TextBox 85"/>
          <p:cNvSpPr txBox="1"/>
          <p:nvPr/>
        </p:nvSpPr>
        <p:spPr>
          <a:xfrm>
            <a:off x="5918200" y="4114800"/>
            <a:ext cx="1651000" cy="127000"/>
          </a:xfrm>
          <a:prstGeom prst="rect">
            <a:avLst/>
          </a:prstGeom>
        </p:spPr>
        <p:txBody>
          <a:bodyPr wrap="square" lIns="0" tIns="0" rIns="0" bIns="0">
            <a:noAutofit/>
          </a:bodyPr>
          <a:lstStyle/>
          <a:p>
            <a:pPr>
              <a:lnSpc>
                <a:spcPct val="135000"/>
              </a:lnSpc>
            </a:pPr>
            <a:r>
              <a:rPr sz="470" spc="0">
                <a:solidFill>
                  <a:srgbClr val="A2A2A8"/>
                </a:solidFill>
                <a:latin typeface="Telegraf"/>
              </a:rPr>
              <a:t>shared virtual number</a:t>
            </a:r>
            <a:endParaRPr sz="470" spc="0">
              <a:solidFill>
                <a:srgbClr val="A2A2A8"/>
              </a:solidFill>
              <a:latin typeface="Telegraf"/>
            </a:endParaRPr>
          </a:p>
        </p:txBody>
      </p:sp>
      <p:sp>
        <p:nvSpPr>
          <p:cNvPr id="1210" name="Rectangle 86"/>
          <p:cNvSpPr/>
          <p:nvPr/>
        </p:nvSpPr>
        <p:spPr>
          <a:xfrm>
            <a:off x="5918200" y="4292600"/>
            <a:ext cx="508127" cy="146050"/>
          </a:xfrm>
          <a:custGeom>
            <a:avLst/>
            <a:gdLst/>
            <a:ahLst/>
            <a:cxnLst/>
            <a:rect l="l" t="t" r="r" b="b"/>
            <a:pathLst>
              <a:path w="100000" h="28743">
                <a:moveTo>
                  <a:pt x="85629" y="0"/>
                </a:moveTo>
                <a:cubicBezTo>
                  <a:pt x="85629" y="0"/>
                  <a:pt x="85629" y="0"/>
                  <a:pt x="85629" y="0"/>
                </a:cubicBezTo>
                <a:cubicBezTo>
                  <a:pt x="93567" y="0"/>
                  <a:pt x="100000" y="6433"/>
                  <a:pt x="100000" y="14371"/>
                </a:cubicBezTo>
                <a:cubicBezTo>
                  <a:pt x="100000" y="14371"/>
                  <a:pt x="100000" y="14371"/>
                  <a:pt x="100000" y="14371"/>
                </a:cubicBezTo>
                <a:lnTo>
                  <a:pt x="100000" y="14371"/>
                </a:lnTo>
                <a:cubicBezTo>
                  <a:pt x="100000" y="14371"/>
                  <a:pt x="100000" y="14371"/>
                  <a:pt x="100000" y="14371"/>
                </a:cubicBezTo>
                <a:cubicBezTo>
                  <a:pt x="100000" y="22309"/>
                  <a:pt x="93567" y="28743"/>
                  <a:pt x="85629" y="28743"/>
                </a:cubicBezTo>
                <a:cubicBezTo>
                  <a:pt x="85629" y="28743"/>
                  <a:pt x="85629" y="28743"/>
                  <a:pt x="85629" y="28743"/>
                </a:cubicBezTo>
                <a:lnTo>
                  <a:pt x="14371" y="28743"/>
                </a:lnTo>
                <a:cubicBezTo>
                  <a:pt x="14371" y="28743"/>
                  <a:pt x="14371" y="28743"/>
                  <a:pt x="14371" y="28743"/>
                </a:cubicBezTo>
                <a:cubicBezTo>
                  <a:pt x="6433" y="28743"/>
                  <a:pt x="0" y="22309"/>
                  <a:pt x="0" y="14371"/>
                </a:cubicBezTo>
                <a:cubicBezTo>
                  <a:pt x="0" y="14371"/>
                  <a:pt x="0" y="14371"/>
                  <a:pt x="0" y="14371"/>
                </a:cubicBezTo>
                <a:lnTo>
                  <a:pt x="0" y="14371"/>
                </a:lnTo>
                <a:cubicBezTo>
                  <a:pt x="0" y="14371"/>
                  <a:pt x="0" y="14371"/>
                  <a:pt x="0" y="14371"/>
                </a:cubicBezTo>
                <a:cubicBezTo>
                  <a:pt x="0" y="6433"/>
                  <a:pt x="6433" y="0"/>
                  <a:pt x="14371" y="0"/>
                </a:cubicBezTo>
                <a:cubicBezTo>
                  <a:pt x="14371" y="0"/>
                  <a:pt x="14371" y="0"/>
                  <a:pt x="14371"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11" name="Oval 87"/>
          <p:cNvSpPr/>
          <p:nvPr/>
        </p:nvSpPr>
        <p:spPr>
          <a:xfrm>
            <a:off x="5970270" y="43440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12" name="TextBox 88"/>
          <p:cNvSpPr txBox="1"/>
          <p:nvPr/>
        </p:nvSpPr>
        <p:spPr>
          <a:xfrm>
            <a:off x="6047740" y="4292600"/>
            <a:ext cx="355727" cy="146050"/>
          </a:xfrm>
          <a:prstGeom prst="rect">
            <a:avLst/>
          </a:prstGeom>
        </p:spPr>
        <p:txBody>
          <a:bodyPr wrap="square" lIns="0" tIns="0" rIns="0" bIns="0" anchor="ctr">
            <a:noAutofit/>
          </a:bodyPr>
          <a:lstStyle/>
          <a:p>
            <a:pPr>
              <a:lnSpc>
                <a:spcPct val="135000"/>
              </a:lnSpc>
            </a:pPr>
            <a:r>
              <a:rPr sz="460" b="1" spc="0">
                <a:solidFill>
                  <a:srgbClr val="0B5C44"/>
                </a:solidFill>
                <a:latin typeface="Telegraf"/>
              </a:rPr>
              <a:t>connected</a:t>
            </a:r>
            <a:endParaRPr sz="460" b="1" spc="0">
              <a:solidFill>
                <a:srgbClr val="0B5C44"/>
              </a:solidFill>
              <a:latin typeface="Telegraf"/>
            </a:endParaRPr>
          </a:p>
        </p:txBody>
      </p:sp>
      <p:sp>
        <p:nvSpPr>
          <p:cNvPr id="1213" name="TextBox 89"/>
          <p:cNvSpPr txBox="1"/>
          <p:nvPr/>
        </p:nvSpPr>
        <p:spPr>
          <a:xfrm>
            <a:off x="5918200" y="4521200"/>
            <a:ext cx="762000" cy="127000"/>
          </a:xfrm>
          <a:prstGeom prst="rect">
            <a:avLst/>
          </a:prstGeom>
        </p:spPr>
        <p:txBody>
          <a:bodyPr wrap="square" lIns="0" tIns="0" rIns="0" bIns="0">
            <a:noAutofit/>
          </a:bodyPr>
          <a:lstStyle/>
          <a:p>
            <a:pPr>
              <a:lnSpc>
                <a:spcPct val="135000"/>
              </a:lnSpc>
            </a:pPr>
            <a:r>
              <a:rPr sz="460" spc="0">
                <a:solidFill>
                  <a:srgbClr val="A2A2A8"/>
                </a:solidFill>
                <a:latin typeface="Telegraf"/>
              </a:rPr>
              <a:t>auto-send</a:t>
            </a:r>
            <a:endParaRPr sz="460" spc="0">
              <a:solidFill>
                <a:srgbClr val="A2A2A8"/>
              </a:solidFill>
              <a:latin typeface="Telegraf"/>
            </a:endParaRPr>
          </a:p>
        </p:txBody>
      </p:sp>
      <p:sp>
        <p:nvSpPr>
          <p:cNvPr id="1214" name="Rectangle 90"/>
          <p:cNvSpPr/>
          <p:nvPr/>
        </p:nvSpPr>
        <p:spPr>
          <a:xfrm>
            <a:off x="6527800" y="45085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15" name="Oval 91"/>
          <p:cNvSpPr/>
          <p:nvPr/>
        </p:nvSpPr>
        <p:spPr>
          <a:xfrm>
            <a:off x="6667500" y="45275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16" name="Rectangle 92"/>
          <p:cNvSpPr/>
          <p:nvPr/>
        </p:nvSpPr>
        <p:spPr>
          <a:xfrm>
            <a:off x="5918200" y="4749800"/>
            <a:ext cx="1651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17" name="TextBox 93"/>
          <p:cNvSpPr txBox="1"/>
          <p:nvPr/>
        </p:nvSpPr>
        <p:spPr>
          <a:xfrm>
            <a:off x="5918200" y="4826000"/>
            <a:ext cx="1066800" cy="127000"/>
          </a:xfrm>
          <a:prstGeom prst="rect">
            <a:avLst/>
          </a:prstGeom>
        </p:spPr>
        <p:txBody>
          <a:bodyPr wrap="square" lIns="0" tIns="0" rIns="0" bIns="0">
            <a:noAutofit/>
          </a:bodyPr>
          <a:lstStyle/>
          <a:p>
            <a:pPr>
              <a:lnSpc>
                <a:spcPct val="135000"/>
              </a:lnSpc>
            </a:pPr>
            <a:r>
              <a:rPr sz="450" spc="0">
                <a:solidFill>
                  <a:srgbClr val="0E6B5F"/>
                </a:solidFill>
                <a:latin typeface="Telegraf"/>
              </a:rPr>
              <a:t>Simulate inbound</a:t>
            </a:r>
            <a:endParaRPr sz="450" spc="0">
              <a:solidFill>
                <a:srgbClr val="0E6B5F"/>
              </a:solidFill>
              <a:latin typeface="Telegraf"/>
            </a:endParaRPr>
          </a:p>
        </p:txBody>
      </p:sp>
      <p:sp>
        <p:nvSpPr>
          <p:cNvPr id="1218" name="TextBox 94"/>
          <p:cNvSpPr txBox="1"/>
          <p:nvPr/>
        </p:nvSpPr>
        <p:spPr>
          <a:xfrm>
            <a:off x="7010400" y="4826000"/>
            <a:ext cx="609600" cy="127000"/>
          </a:xfrm>
          <a:prstGeom prst="rect">
            <a:avLst/>
          </a:prstGeom>
        </p:spPr>
        <p:txBody>
          <a:bodyPr wrap="square" lIns="0" tIns="0" rIns="0" bIns="0">
            <a:noAutofit/>
          </a:bodyPr>
          <a:lstStyle/>
          <a:p>
            <a:pPr algn="r">
              <a:lnSpc>
                <a:spcPct val="135000"/>
              </a:lnSpc>
            </a:pPr>
            <a:r>
              <a:rPr sz="420" spc="0">
                <a:solidFill>
                  <a:srgbClr val="A2A2A8"/>
                </a:solidFill>
                <a:latin typeface="Telegraf"/>
              </a:rPr>
              <a:t>yesterday</a:t>
            </a:r>
            <a:endParaRPr sz="420" spc="0">
              <a:solidFill>
                <a:srgbClr val="A2A2A8"/>
              </a:solidFill>
              <a:latin typeface="Telegraf"/>
            </a:endParaRPr>
          </a:p>
        </p:txBody>
      </p:sp>
      <p:sp>
        <p:nvSpPr>
          <p:cNvPr id="1219" name="Rectangle 95"/>
          <p:cNvSpPr/>
          <p:nvPr/>
        </p:nvSpPr>
        <p:spPr>
          <a:xfrm>
            <a:off x="7797800" y="2235200"/>
            <a:ext cx="2209800" cy="1778000"/>
          </a:xfrm>
          <a:custGeom>
            <a:avLst/>
            <a:gdLst/>
            <a:ahLst/>
            <a:cxnLst/>
            <a:rect l="l" t="t" r="r" b="b"/>
            <a:pathLst>
              <a:path w="100000" h="80460">
                <a:moveTo>
                  <a:pt x="86207" y="0"/>
                </a:moveTo>
                <a:cubicBezTo>
                  <a:pt x="92709" y="0"/>
                  <a:pt x="95960" y="0"/>
                  <a:pt x="97980" y="2020"/>
                </a:cubicBezTo>
                <a:cubicBezTo>
                  <a:pt x="97980" y="2020"/>
                  <a:pt x="97980" y="2020"/>
                  <a:pt x="97980" y="2020"/>
                </a:cubicBezTo>
                <a:cubicBezTo>
                  <a:pt x="100000" y="4040"/>
                  <a:pt x="100000" y="7291"/>
                  <a:pt x="100000" y="13793"/>
                </a:cubicBezTo>
                <a:lnTo>
                  <a:pt x="100000" y="66667"/>
                </a:lnTo>
                <a:cubicBezTo>
                  <a:pt x="100000" y="73169"/>
                  <a:pt x="100000" y="76420"/>
                  <a:pt x="97980" y="78440"/>
                </a:cubicBezTo>
                <a:cubicBezTo>
                  <a:pt x="97980" y="78440"/>
                  <a:pt x="97980" y="78440"/>
                  <a:pt x="97980" y="78440"/>
                </a:cubicBezTo>
                <a:cubicBezTo>
                  <a:pt x="95960" y="80460"/>
                  <a:pt x="92709" y="80460"/>
                  <a:pt x="86207" y="80460"/>
                </a:cubicBezTo>
                <a:lnTo>
                  <a:pt x="13793" y="80460"/>
                </a:lnTo>
                <a:cubicBezTo>
                  <a:pt x="7291" y="80460"/>
                  <a:pt x="4040" y="80460"/>
                  <a:pt x="2020" y="78440"/>
                </a:cubicBezTo>
                <a:cubicBezTo>
                  <a:pt x="2020" y="78440"/>
                  <a:pt x="2020" y="78440"/>
                  <a:pt x="2020" y="78440"/>
                </a:cubicBezTo>
                <a:cubicBezTo>
                  <a:pt x="0" y="76420"/>
                  <a:pt x="0" y="73169"/>
                  <a:pt x="0" y="66667"/>
                </a:cubicBezTo>
                <a:lnTo>
                  <a:pt x="0" y="13793"/>
                </a:lnTo>
                <a:cubicBezTo>
                  <a:pt x="0" y="7291"/>
                  <a:pt x="0" y="4040"/>
                  <a:pt x="2020" y="2020"/>
                </a:cubicBezTo>
                <a:cubicBezTo>
                  <a:pt x="2020" y="2020"/>
                  <a:pt x="2020" y="2020"/>
                  <a:pt x="2020" y="2020"/>
                </a:cubicBezTo>
                <a:cubicBezTo>
                  <a:pt x="4040" y="0"/>
                  <a:pt x="7291" y="0"/>
                  <a:pt x="13793"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20" name="TextBox 96"/>
          <p:cNvSpPr txBox="1"/>
          <p:nvPr/>
        </p:nvSpPr>
        <p:spPr>
          <a:xfrm>
            <a:off x="7975600" y="2387600"/>
            <a:ext cx="1778000" cy="114300"/>
          </a:xfrm>
          <a:prstGeom prst="rect">
            <a:avLst/>
          </a:prstGeom>
        </p:spPr>
        <p:txBody>
          <a:bodyPr wrap="square" lIns="0" tIns="0" rIns="0" bIns="0">
            <a:noAutofit/>
          </a:bodyPr>
          <a:lstStyle/>
          <a:p>
            <a:r>
              <a:rPr sz="450" b="1" spc="110">
                <a:solidFill>
                  <a:srgbClr val="8FE0CE"/>
                </a:solidFill>
                <a:latin typeface="Telegraf"/>
              </a:rPr>
              <a:t>READY TO COMPILE</a:t>
            </a:r>
            <a:endParaRPr sz="450" b="1" spc="110">
              <a:solidFill>
                <a:srgbClr val="8FE0CE"/>
              </a:solidFill>
              <a:latin typeface="Telegraf"/>
            </a:endParaRPr>
          </a:p>
        </p:txBody>
      </p:sp>
      <p:sp>
        <p:nvSpPr>
          <p:cNvPr id="1221" name="TextBox 97"/>
          <p:cNvSpPr txBox="1"/>
          <p:nvPr/>
        </p:nvSpPr>
        <p:spPr>
          <a:xfrm>
            <a:off x="7962900" y="2540000"/>
            <a:ext cx="1905000" cy="508000"/>
          </a:xfrm>
          <a:prstGeom prst="rect">
            <a:avLst/>
          </a:prstGeom>
        </p:spPr>
        <p:txBody>
          <a:bodyPr wrap="square" lIns="0" tIns="0" rIns="0" bIns="0">
            <a:noAutofit/>
          </a:bodyPr>
          <a:lstStyle/>
          <a:p>
            <a:pPr>
              <a:lnSpc>
                <a:spcPct val="105000"/>
              </a:lnSpc>
            </a:pPr>
            <a:r>
              <a:rPr sz="1550" spc="-40">
                <a:solidFill>
                  <a:srgbClr val="FFFFFF"/>
                </a:solidFill>
                <a:latin typeface="PP Editorial New Ultralight"/>
              </a:rPr>
              <a:t>business_</a:t>
            </a:r>
            <a:endParaRPr sz="1550" spc="-40">
              <a:solidFill>
                <a:srgbClr val="FFFFFF"/>
              </a:solidFill>
              <a:latin typeface="PP Editorial New Ultralight"/>
            </a:endParaRPr>
          </a:p>
          <a:p>
            <a:pPr>
              <a:lnSpc>
                <a:spcPct val="105000"/>
              </a:lnSpc>
            </a:pPr>
            <a:r>
              <a:rPr sz="1550" spc="-40">
                <a:solidFill>
                  <a:srgbClr val="FFFFFF"/>
                </a:solidFill>
                <a:latin typeface="PP Editorial New Ultralight"/>
              </a:rPr>
              <a:t>brain.md</a:t>
            </a:r>
            <a:endParaRPr sz="1550" spc="-40">
              <a:solidFill>
                <a:srgbClr val="FFFFFF"/>
              </a:solidFill>
              <a:latin typeface="PP Editorial New Ultralight"/>
            </a:endParaRPr>
          </a:p>
        </p:txBody>
      </p:sp>
      <p:sp>
        <p:nvSpPr>
          <p:cNvPr id="1222" name="TextBox 98"/>
          <p:cNvSpPr txBox="1"/>
          <p:nvPr/>
        </p:nvSpPr>
        <p:spPr>
          <a:xfrm>
            <a:off x="7975600" y="3098800"/>
            <a:ext cx="1879600" cy="127000"/>
          </a:xfrm>
          <a:prstGeom prst="rect">
            <a:avLst/>
          </a:prstGeom>
        </p:spPr>
        <p:txBody>
          <a:bodyPr wrap="square" lIns="0" tIns="0" rIns="0" bIns="0">
            <a:noAutofit/>
          </a:bodyPr>
          <a:lstStyle/>
          <a:p>
            <a:pPr>
              <a:lnSpc>
                <a:spcPct val="135000"/>
              </a:lnSpc>
            </a:pPr>
            <a:r>
              <a:rPr sz="460" spc="0">
                <a:solidFill>
                  <a:srgbClr val="A9C4BF"/>
                </a:solidFill>
                <a:latin typeface="Telegraf"/>
              </a:rPr>
              <a:t>v1  ·  6 chunks  ·  1,240 words</a:t>
            </a:r>
            <a:endParaRPr sz="460" spc="0">
              <a:solidFill>
                <a:srgbClr val="A9C4BF"/>
              </a:solidFill>
              <a:latin typeface="Telegraf"/>
            </a:endParaRPr>
          </a:p>
        </p:txBody>
      </p:sp>
      <p:sp>
        <p:nvSpPr>
          <p:cNvPr id="1223" name="Rectangle 99"/>
          <p:cNvSpPr/>
          <p:nvPr/>
        </p:nvSpPr>
        <p:spPr>
          <a:xfrm>
            <a:off x="7975600" y="3276600"/>
            <a:ext cx="1854200" cy="43180"/>
          </a:xfrm>
          <a:custGeom>
            <a:avLst/>
            <a:gdLst/>
            <a:ahLst/>
            <a:cxnLst/>
            <a:rect l="l" t="t" r="r" b="b"/>
            <a:pathLst>
              <a:path w="100000" h="2329">
                <a:moveTo>
                  <a:pt x="98836" y="0"/>
                </a:moveTo>
                <a:cubicBezTo>
                  <a:pt x="98836" y="0"/>
                  <a:pt x="98836" y="0"/>
                  <a:pt x="98836" y="0"/>
                </a:cubicBezTo>
                <a:cubicBezTo>
                  <a:pt x="99479" y="0"/>
                  <a:pt x="100000" y="521"/>
                  <a:pt x="100000" y="1164"/>
                </a:cubicBezTo>
                <a:cubicBezTo>
                  <a:pt x="100000" y="1164"/>
                  <a:pt x="100000" y="1164"/>
                  <a:pt x="100000" y="1164"/>
                </a:cubicBezTo>
                <a:lnTo>
                  <a:pt x="100000" y="1164"/>
                </a:lnTo>
                <a:cubicBezTo>
                  <a:pt x="100000" y="1164"/>
                  <a:pt x="100000" y="1164"/>
                  <a:pt x="100000" y="1164"/>
                </a:cubicBezTo>
                <a:cubicBezTo>
                  <a:pt x="100000" y="1808"/>
                  <a:pt x="99479" y="2329"/>
                  <a:pt x="98836" y="2329"/>
                </a:cubicBezTo>
                <a:cubicBezTo>
                  <a:pt x="98836" y="2329"/>
                  <a:pt x="98836" y="2329"/>
                  <a:pt x="98836" y="2329"/>
                </a:cubicBezTo>
                <a:lnTo>
                  <a:pt x="1164" y="2329"/>
                </a:lnTo>
                <a:cubicBezTo>
                  <a:pt x="1164" y="2329"/>
                  <a:pt x="1164" y="2329"/>
                  <a:pt x="1164" y="2329"/>
                </a:cubicBezTo>
                <a:cubicBezTo>
                  <a:pt x="521" y="2329"/>
                  <a:pt x="0" y="1808"/>
                  <a:pt x="0" y="1164"/>
                </a:cubicBezTo>
                <a:cubicBezTo>
                  <a:pt x="0" y="1164"/>
                  <a:pt x="0" y="1164"/>
                  <a:pt x="0" y="1164"/>
                </a:cubicBezTo>
                <a:lnTo>
                  <a:pt x="0" y="1164"/>
                </a:lnTo>
                <a:cubicBezTo>
                  <a:pt x="0" y="1164"/>
                  <a:pt x="0" y="1164"/>
                  <a:pt x="0" y="1164"/>
                </a:cubicBezTo>
                <a:cubicBezTo>
                  <a:pt x="0" y="521"/>
                  <a:pt x="521" y="0"/>
                  <a:pt x="1164" y="0"/>
                </a:cubicBezTo>
                <a:cubicBezTo>
                  <a:pt x="1164" y="0"/>
                  <a:pt x="1164" y="0"/>
                  <a:pt x="1164" y="0"/>
                </a:cubicBezTo>
                <a:close/>
              </a:path>
            </a:pathLst>
          </a:custGeom>
          <a:solidFill>
            <a:srgbClr val="2A51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24" name="Rectangle 100"/>
          <p:cNvSpPr/>
          <p:nvPr/>
        </p:nvSpPr>
        <p:spPr>
          <a:xfrm>
            <a:off x="7975600" y="3276600"/>
            <a:ext cx="1854200" cy="43180"/>
          </a:xfrm>
          <a:custGeom>
            <a:avLst/>
            <a:gdLst/>
            <a:ahLst/>
            <a:cxnLst/>
            <a:rect l="l" t="t" r="r" b="b"/>
            <a:pathLst>
              <a:path w="100000" h="2329">
                <a:moveTo>
                  <a:pt x="98836" y="0"/>
                </a:moveTo>
                <a:cubicBezTo>
                  <a:pt x="98836" y="0"/>
                  <a:pt x="98836" y="0"/>
                  <a:pt x="98836" y="0"/>
                </a:cubicBezTo>
                <a:cubicBezTo>
                  <a:pt x="99479" y="0"/>
                  <a:pt x="100000" y="521"/>
                  <a:pt x="100000" y="1164"/>
                </a:cubicBezTo>
                <a:cubicBezTo>
                  <a:pt x="100000" y="1164"/>
                  <a:pt x="100000" y="1164"/>
                  <a:pt x="100000" y="1164"/>
                </a:cubicBezTo>
                <a:lnTo>
                  <a:pt x="100000" y="1164"/>
                </a:lnTo>
                <a:cubicBezTo>
                  <a:pt x="100000" y="1164"/>
                  <a:pt x="100000" y="1164"/>
                  <a:pt x="100000" y="1164"/>
                </a:cubicBezTo>
                <a:cubicBezTo>
                  <a:pt x="100000" y="1808"/>
                  <a:pt x="99479" y="2329"/>
                  <a:pt x="98836" y="2329"/>
                </a:cubicBezTo>
                <a:cubicBezTo>
                  <a:pt x="98836" y="2329"/>
                  <a:pt x="98836" y="2329"/>
                  <a:pt x="98836" y="2329"/>
                </a:cubicBezTo>
                <a:lnTo>
                  <a:pt x="1164" y="2329"/>
                </a:lnTo>
                <a:cubicBezTo>
                  <a:pt x="1164" y="2329"/>
                  <a:pt x="1164" y="2329"/>
                  <a:pt x="1164" y="2329"/>
                </a:cubicBezTo>
                <a:cubicBezTo>
                  <a:pt x="521" y="2329"/>
                  <a:pt x="0" y="1808"/>
                  <a:pt x="0" y="1164"/>
                </a:cubicBezTo>
                <a:cubicBezTo>
                  <a:pt x="0" y="1164"/>
                  <a:pt x="0" y="1164"/>
                  <a:pt x="0" y="1164"/>
                </a:cubicBezTo>
                <a:lnTo>
                  <a:pt x="0" y="1164"/>
                </a:lnTo>
                <a:cubicBezTo>
                  <a:pt x="0" y="1164"/>
                  <a:pt x="0" y="1164"/>
                  <a:pt x="0" y="1164"/>
                </a:cubicBezTo>
                <a:cubicBezTo>
                  <a:pt x="0" y="521"/>
                  <a:pt x="521" y="0"/>
                  <a:pt x="1164" y="0"/>
                </a:cubicBezTo>
                <a:cubicBezTo>
                  <a:pt x="1164" y="0"/>
                  <a:pt x="1164" y="0"/>
                  <a:pt x="1164" y="0"/>
                </a:cubicBezTo>
                <a:close/>
              </a:path>
            </a:pathLst>
          </a:cu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25" name="TextBox 101"/>
          <p:cNvSpPr txBox="1"/>
          <p:nvPr/>
        </p:nvSpPr>
        <p:spPr>
          <a:xfrm>
            <a:off x="7975600" y="3378200"/>
            <a:ext cx="1879600" cy="127000"/>
          </a:xfrm>
          <a:prstGeom prst="rect">
            <a:avLst/>
          </a:prstGeom>
        </p:spPr>
        <p:txBody>
          <a:bodyPr wrap="square" lIns="0" tIns="0" rIns="0" bIns="0">
            <a:noAutofit/>
          </a:bodyPr>
          <a:lstStyle/>
          <a:p>
            <a:pPr>
              <a:lnSpc>
                <a:spcPct val="135000"/>
              </a:lnSpc>
            </a:pPr>
            <a:r>
              <a:rPr sz="440" spc="0">
                <a:solidFill>
                  <a:srgbClr val="A9C4BF"/>
                </a:solidFill>
                <a:latin typeface="Telegraf"/>
              </a:rPr>
              <a:t>indexed for retrieval</a:t>
            </a:r>
            <a:endParaRPr sz="440" spc="0">
              <a:solidFill>
                <a:srgbClr val="A9C4BF"/>
              </a:solidFill>
              <a:latin typeface="Telegraf"/>
            </a:endParaRPr>
          </a:p>
        </p:txBody>
      </p:sp>
      <p:sp>
        <p:nvSpPr>
          <p:cNvPr id="1226" name="Rectangle 102"/>
          <p:cNvSpPr/>
          <p:nvPr/>
        </p:nvSpPr>
        <p:spPr>
          <a:xfrm>
            <a:off x="7975600" y="3606800"/>
            <a:ext cx="1854200" cy="11430"/>
          </a:xfrm>
          <a:prstGeom prst="roundRect">
            <a:avLst/>
          </a:prstGeom>
          <a:solidFill>
            <a:srgbClr val="2A51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27" name="TextBox 103"/>
          <p:cNvSpPr txBox="1"/>
          <p:nvPr/>
        </p:nvSpPr>
        <p:spPr>
          <a:xfrm>
            <a:off x="7975600" y="3683000"/>
            <a:ext cx="1879600" cy="254000"/>
          </a:xfrm>
          <a:prstGeom prst="rect">
            <a:avLst/>
          </a:prstGeom>
        </p:spPr>
        <p:txBody>
          <a:bodyPr wrap="square" lIns="0" tIns="0" rIns="0" bIns="0">
            <a:noAutofit/>
          </a:bodyPr>
          <a:lstStyle/>
          <a:p>
            <a:pPr>
              <a:lnSpc>
                <a:spcPct val="140000"/>
              </a:lnSpc>
            </a:pPr>
            <a:r>
              <a:rPr sz="430" spc="0">
                <a:solidFill>
                  <a:srgbClr val="8FB2AC"/>
                </a:solidFill>
                <a:latin typeface="Telegraf"/>
              </a:rPr>
              <a:t>Compiling replaces v1 and keeps the old chunks addressable.</a:t>
            </a:r>
            <a:endParaRPr sz="430" spc="0">
              <a:solidFill>
                <a:srgbClr val="8FB2AC"/>
              </a:solidFill>
              <a:latin typeface="Telegraf"/>
            </a:endParaRPr>
          </a:p>
        </p:txBody>
      </p:sp>
      <p:sp>
        <p:nvSpPr>
          <p:cNvPr id="1228" name="Rectangle 104"/>
          <p:cNvSpPr/>
          <p:nvPr/>
        </p:nvSpPr>
        <p:spPr>
          <a:xfrm>
            <a:off x="7797800" y="4140200"/>
            <a:ext cx="2209800" cy="330200"/>
          </a:xfrm>
          <a:custGeom>
            <a:avLst/>
            <a:gdLst/>
            <a:ahLst/>
            <a:cxnLst/>
            <a:rect l="l" t="t" r="r" b="b"/>
            <a:pathLst>
              <a:path w="100000" h="14943">
                <a:moveTo>
                  <a:pt x="92529" y="0"/>
                </a:moveTo>
                <a:cubicBezTo>
                  <a:pt x="92529" y="0"/>
                  <a:pt x="92529" y="0"/>
                  <a:pt x="92529" y="0"/>
                </a:cubicBezTo>
                <a:cubicBezTo>
                  <a:pt x="96655" y="0"/>
                  <a:pt x="100000" y="3345"/>
                  <a:pt x="100000" y="7471"/>
                </a:cubicBezTo>
                <a:cubicBezTo>
                  <a:pt x="100000" y="7471"/>
                  <a:pt x="100000" y="7471"/>
                  <a:pt x="100000" y="7471"/>
                </a:cubicBezTo>
                <a:lnTo>
                  <a:pt x="100000" y="7471"/>
                </a:lnTo>
                <a:cubicBezTo>
                  <a:pt x="100000" y="7471"/>
                  <a:pt x="100000" y="7471"/>
                  <a:pt x="100000" y="7471"/>
                </a:cubicBezTo>
                <a:cubicBezTo>
                  <a:pt x="100000" y="11598"/>
                  <a:pt x="96655" y="14943"/>
                  <a:pt x="92529" y="14943"/>
                </a:cubicBezTo>
                <a:cubicBezTo>
                  <a:pt x="92529" y="14943"/>
                  <a:pt x="92529" y="14943"/>
                  <a:pt x="92529" y="14943"/>
                </a:cubicBezTo>
                <a:lnTo>
                  <a:pt x="7471" y="14943"/>
                </a:lnTo>
                <a:cubicBezTo>
                  <a:pt x="7471" y="14943"/>
                  <a:pt x="7471" y="14943"/>
                  <a:pt x="7471" y="14943"/>
                </a:cubicBezTo>
                <a:cubicBezTo>
                  <a:pt x="3345" y="14943"/>
                  <a:pt x="0" y="11598"/>
                  <a:pt x="0" y="7471"/>
                </a:cubicBezTo>
                <a:cubicBezTo>
                  <a:pt x="0" y="7471"/>
                  <a:pt x="0" y="7471"/>
                  <a:pt x="0" y="7471"/>
                </a:cubicBezTo>
                <a:lnTo>
                  <a:pt x="0" y="7471"/>
                </a:lnTo>
                <a:cubicBezTo>
                  <a:pt x="0" y="7471"/>
                  <a:pt x="0" y="7471"/>
                  <a:pt x="0" y="7471"/>
                </a:cubicBezTo>
                <a:cubicBezTo>
                  <a:pt x="0" y="3345"/>
                  <a:pt x="3345" y="0"/>
                  <a:pt x="7471" y="0"/>
                </a:cubicBezTo>
                <a:cubicBezTo>
                  <a:pt x="7471" y="0"/>
                  <a:pt x="7471" y="0"/>
                  <a:pt x="7471"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29" name="Oval 105"/>
          <p:cNvSpPr/>
          <p:nvPr/>
        </p:nvSpPr>
        <p:spPr>
          <a:xfrm>
            <a:off x="7860030" y="428625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30" name="TextBox 106"/>
          <p:cNvSpPr txBox="1"/>
          <p:nvPr/>
        </p:nvSpPr>
        <p:spPr>
          <a:xfrm>
            <a:off x="7962900" y="4140200"/>
            <a:ext cx="1993900" cy="330200"/>
          </a:xfrm>
          <a:prstGeom prst="rect">
            <a:avLst/>
          </a:prstGeom>
        </p:spPr>
        <p:txBody>
          <a:bodyPr wrap="square" lIns="0" tIns="0" rIns="0" bIns="0" anchor="ctr">
            <a:noAutofit/>
          </a:bodyPr>
          <a:lstStyle/>
          <a:p>
            <a:pPr>
              <a:lnSpc>
                <a:spcPct val="135000"/>
              </a:lnSpc>
            </a:pPr>
            <a:r>
              <a:rPr sz="560" b="1" spc="10">
                <a:solidFill>
                  <a:srgbClr val="FFFFFF"/>
                </a:solidFill>
                <a:latin typeface="Telegraf"/>
              </a:rPr>
              <a:t>Compile &amp; finish</a:t>
            </a:r>
            <a:endParaRPr sz="560" b="1" spc="10">
              <a:solidFill>
                <a:srgbClr val="FFFFFF"/>
              </a:solidFill>
              <a:latin typeface="Telegraf"/>
            </a:endParaRPr>
          </a:p>
        </p:txBody>
      </p:sp>
      <p:sp>
        <p:nvSpPr>
          <p:cNvPr id="1231" name="TextBox 107"/>
          <p:cNvSpPr txBox="1"/>
          <p:nvPr/>
        </p:nvSpPr>
        <p:spPr>
          <a:xfrm>
            <a:off x="7797800" y="4622800"/>
            <a:ext cx="2032000" cy="114300"/>
          </a:xfrm>
          <a:prstGeom prst="rect">
            <a:avLst/>
          </a:prstGeom>
        </p:spPr>
        <p:txBody>
          <a:bodyPr wrap="square" lIns="0" tIns="0" rIns="0" bIns="0">
            <a:noAutofit/>
          </a:bodyPr>
          <a:lstStyle/>
          <a:p>
            <a:r>
              <a:rPr sz="440" b="1" spc="90">
                <a:solidFill>
                  <a:srgbClr val="A2A2A8"/>
                </a:solidFill>
                <a:latin typeface="Telegraf"/>
              </a:rPr>
              <a:t>OR START FROM A SEEDED BUSINESS</a:t>
            </a:r>
            <a:endParaRPr sz="440" b="1" spc="90">
              <a:solidFill>
                <a:srgbClr val="A2A2A8"/>
              </a:solidFill>
              <a:latin typeface="Telegraf"/>
            </a:endParaRPr>
          </a:p>
        </p:txBody>
      </p:sp>
      <p:sp>
        <p:nvSpPr>
          <p:cNvPr id="1232" name="Rectangle 108"/>
          <p:cNvSpPr/>
          <p:nvPr/>
        </p:nvSpPr>
        <p:spPr>
          <a:xfrm>
            <a:off x="7797800" y="4775200"/>
            <a:ext cx="2209800" cy="279400"/>
          </a:xfrm>
          <a:custGeom>
            <a:avLst/>
            <a:gdLst/>
            <a:ahLst/>
            <a:cxnLst/>
            <a:rect l="l" t="t" r="r" b="b"/>
            <a:pathLst>
              <a:path w="100000" h="12644">
                <a:moveTo>
                  <a:pt x="93678" y="0"/>
                </a:moveTo>
                <a:cubicBezTo>
                  <a:pt x="93678" y="0"/>
                  <a:pt x="93678" y="0"/>
                  <a:pt x="93678" y="0"/>
                </a:cubicBezTo>
                <a:cubicBezTo>
                  <a:pt x="97170" y="0"/>
                  <a:pt x="100000" y="2830"/>
                  <a:pt x="100000" y="6322"/>
                </a:cubicBezTo>
                <a:cubicBezTo>
                  <a:pt x="100000" y="6322"/>
                  <a:pt x="100000" y="6322"/>
                  <a:pt x="100000" y="6322"/>
                </a:cubicBezTo>
                <a:lnTo>
                  <a:pt x="100000" y="6322"/>
                </a:lnTo>
                <a:cubicBezTo>
                  <a:pt x="100000" y="6322"/>
                  <a:pt x="100000" y="6322"/>
                  <a:pt x="100000" y="6322"/>
                </a:cubicBezTo>
                <a:cubicBezTo>
                  <a:pt x="100000" y="9813"/>
                  <a:pt x="97170" y="12644"/>
                  <a:pt x="93678" y="12644"/>
                </a:cubicBezTo>
                <a:cubicBezTo>
                  <a:pt x="93678" y="12644"/>
                  <a:pt x="93678" y="12644"/>
                  <a:pt x="93678" y="12644"/>
                </a:cubicBezTo>
                <a:lnTo>
                  <a:pt x="6322" y="12644"/>
                </a:lnTo>
                <a:cubicBezTo>
                  <a:pt x="6322" y="12644"/>
                  <a:pt x="6322" y="12644"/>
                  <a:pt x="6322" y="12644"/>
                </a:cubicBezTo>
                <a:cubicBezTo>
                  <a:pt x="2830" y="12644"/>
                  <a:pt x="0" y="9813"/>
                  <a:pt x="0" y="6322"/>
                </a:cubicBezTo>
                <a:cubicBezTo>
                  <a:pt x="0" y="6322"/>
                  <a:pt x="0" y="6322"/>
                  <a:pt x="0" y="6322"/>
                </a:cubicBezTo>
                <a:lnTo>
                  <a:pt x="0" y="6322"/>
                </a:lnTo>
                <a:cubicBezTo>
                  <a:pt x="0" y="6322"/>
                  <a:pt x="0" y="6322"/>
                  <a:pt x="0" y="6322"/>
                </a:cubicBezTo>
                <a:cubicBezTo>
                  <a:pt x="0" y="2830"/>
                  <a:pt x="2830" y="0"/>
                  <a:pt x="6322" y="0"/>
                </a:cubicBezTo>
                <a:cubicBezTo>
                  <a:pt x="6322" y="0"/>
                  <a:pt x="6322" y="0"/>
                  <a:pt x="6322"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33" name="TextBox 109"/>
          <p:cNvSpPr txBox="1"/>
          <p:nvPr/>
        </p:nvSpPr>
        <p:spPr>
          <a:xfrm>
            <a:off x="7874000" y="4775200"/>
            <a:ext cx="2082800" cy="279400"/>
          </a:xfrm>
          <a:prstGeom prst="rect">
            <a:avLst/>
          </a:prstGeom>
        </p:spPr>
        <p:txBody>
          <a:bodyPr wrap="square" lIns="0" tIns="0" rIns="0" bIns="0" anchor="ctr">
            <a:noAutofit/>
          </a:bodyPr>
          <a:lstStyle/>
          <a:p>
            <a:pPr>
              <a:lnSpc>
                <a:spcPct val="135000"/>
              </a:lnSpc>
            </a:pPr>
            <a:r>
              <a:rPr sz="480" b="1" spc="10">
                <a:solidFill>
                  <a:srgbClr val="0A0A0A"/>
                </a:solidFill>
                <a:latin typeface="Telegraf"/>
              </a:rPr>
              <a:t>CloudPulse CRM  ·  SaaS</a:t>
            </a:r>
            <a:endParaRPr sz="480" b="1" spc="10">
              <a:solidFill>
                <a:srgbClr val="0A0A0A"/>
              </a:solidFill>
              <a:latin typeface="Telegraf"/>
            </a:endParaRPr>
          </a:p>
        </p:txBody>
      </p:sp>
      <p:sp>
        <p:nvSpPr>
          <p:cNvPr id="1234" name="Rectangle 110"/>
          <p:cNvSpPr/>
          <p:nvPr/>
        </p:nvSpPr>
        <p:spPr>
          <a:xfrm>
            <a:off x="7797800" y="5130800"/>
            <a:ext cx="2209800" cy="279400"/>
          </a:xfrm>
          <a:custGeom>
            <a:avLst/>
            <a:gdLst/>
            <a:ahLst/>
            <a:cxnLst/>
            <a:rect l="l" t="t" r="r" b="b"/>
            <a:pathLst>
              <a:path w="100000" h="12644">
                <a:moveTo>
                  <a:pt x="93678" y="0"/>
                </a:moveTo>
                <a:cubicBezTo>
                  <a:pt x="93678" y="0"/>
                  <a:pt x="93678" y="0"/>
                  <a:pt x="93678" y="0"/>
                </a:cubicBezTo>
                <a:cubicBezTo>
                  <a:pt x="97170" y="0"/>
                  <a:pt x="100000" y="2830"/>
                  <a:pt x="100000" y="6322"/>
                </a:cubicBezTo>
                <a:cubicBezTo>
                  <a:pt x="100000" y="6322"/>
                  <a:pt x="100000" y="6322"/>
                  <a:pt x="100000" y="6322"/>
                </a:cubicBezTo>
                <a:lnTo>
                  <a:pt x="100000" y="6322"/>
                </a:lnTo>
                <a:cubicBezTo>
                  <a:pt x="100000" y="6322"/>
                  <a:pt x="100000" y="6322"/>
                  <a:pt x="100000" y="6322"/>
                </a:cubicBezTo>
                <a:cubicBezTo>
                  <a:pt x="100000" y="9813"/>
                  <a:pt x="97170" y="12644"/>
                  <a:pt x="93678" y="12644"/>
                </a:cubicBezTo>
                <a:cubicBezTo>
                  <a:pt x="93678" y="12644"/>
                  <a:pt x="93678" y="12644"/>
                  <a:pt x="93678" y="12644"/>
                </a:cubicBezTo>
                <a:lnTo>
                  <a:pt x="6322" y="12644"/>
                </a:lnTo>
                <a:cubicBezTo>
                  <a:pt x="6322" y="12644"/>
                  <a:pt x="6322" y="12644"/>
                  <a:pt x="6322" y="12644"/>
                </a:cubicBezTo>
                <a:cubicBezTo>
                  <a:pt x="2830" y="12644"/>
                  <a:pt x="0" y="9813"/>
                  <a:pt x="0" y="6322"/>
                </a:cubicBezTo>
                <a:cubicBezTo>
                  <a:pt x="0" y="6322"/>
                  <a:pt x="0" y="6322"/>
                  <a:pt x="0" y="6322"/>
                </a:cubicBezTo>
                <a:lnTo>
                  <a:pt x="0" y="6322"/>
                </a:lnTo>
                <a:cubicBezTo>
                  <a:pt x="0" y="6322"/>
                  <a:pt x="0" y="6322"/>
                  <a:pt x="0" y="6322"/>
                </a:cubicBezTo>
                <a:cubicBezTo>
                  <a:pt x="0" y="2830"/>
                  <a:pt x="2830" y="0"/>
                  <a:pt x="6322" y="0"/>
                </a:cubicBezTo>
                <a:cubicBezTo>
                  <a:pt x="6322" y="0"/>
                  <a:pt x="6322" y="0"/>
                  <a:pt x="6322"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35" name="TextBox 111"/>
          <p:cNvSpPr txBox="1"/>
          <p:nvPr/>
        </p:nvSpPr>
        <p:spPr>
          <a:xfrm>
            <a:off x="7874000" y="5130800"/>
            <a:ext cx="2082800" cy="279400"/>
          </a:xfrm>
          <a:prstGeom prst="rect">
            <a:avLst/>
          </a:prstGeom>
        </p:spPr>
        <p:txBody>
          <a:bodyPr wrap="square" lIns="0" tIns="0" rIns="0" bIns="0" anchor="ctr">
            <a:noAutofit/>
          </a:bodyPr>
          <a:lstStyle/>
          <a:p>
            <a:pPr>
              <a:lnSpc>
                <a:spcPct val="135000"/>
              </a:lnSpc>
            </a:pPr>
            <a:r>
              <a:rPr sz="480" b="1" spc="10">
                <a:solidFill>
                  <a:srgbClr val="0A0A0A"/>
                </a:solidFill>
                <a:latin typeface="Telegraf"/>
              </a:rPr>
              <a:t>Jaipur Smile Studio  ·  clinic</a:t>
            </a:r>
            <a:endParaRPr sz="480" b="1" spc="10">
              <a:solidFill>
                <a:srgbClr val="0A0A0A"/>
              </a:solidFill>
              <a:latin typeface="Telegraf"/>
            </a:endParaRPr>
          </a:p>
        </p:txBody>
      </p:sp>
      <p:sp>
        <p:nvSpPr>
          <p:cNvPr id="1236" name="Freeform 1236"/>
          <p:cNvSpPr/>
          <p:nvPr/>
        </p:nvSpPr>
        <p:spPr>
          <a:xfrm>
            <a:off x="7840980" y="55632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1237" name="TextBox 113"/>
          <p:cNvSpPr txBox="1"/>
          <p:nvPr/>
        </p:nvSpPr>
        <p:spPr>
          <a:xfrm>
            <a:off x="7975600" y="5537200"/>
            <a:ext cx="2032000" cy="127000"/>
          </a:xfrm>
          <a:prstGeom prst="rect">
            <a:avLst/>
          </a:prstGeom>
        </p:spPr>
        <p:txBody>
          <a:bodyPr wrap="square" lIns="0" tIns="0" rIns="0" bIns="0">
            <a:noAutofit/>
          </a:bodyPr>
          <a:lstStyle/>
          <a:p>
            <a:pPr>
              <a:lnSpc>
                <a:spcPct val="135000"/>
              </a:lnSpc>
            </a:pPr>
            <a:r>
              <a:rPr sz="460" spc="0">
                <a:solidFill>
                  <a:srgbClr val="67676E"/>
                </a:solidFill>
                <a:latin typeface="Telegraf"/>
              </a:rPr>
              <a:t>12 facts captured</a:t>
            </a:r>
            <a:endParaRPr sz="460" spc="0">
              <a:solidFill>
                <a:srgbClr val="67676E"/>
              </a:solidFill>
              <a:latin typeface="Telegraf"/>
            </a:endParaRPr>
          </a:p>
        </p:txBody>
      </p:sp>
      <p:sp>
        <p:nvSpPr>
          <p:cNvPr id="1238" name="Freeform 1238"/>
          <p:cNvSpPr/>
          <p:nvPr/>
        </p:nvSpPr>
        <p:spPr>
          <a:xfrm>
            <a:off x="7840980" y="57156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1239" name="TextBox 115"/>
          <p:cNvSpPr txBox="1"/>
          <p:nvPr/>
        </p:nvSpPr>
        <p:spPr>
          <a:xfrm>
            <a:off x="7975600" y="5689600"/>
            <a:ext cx="2032000" cy="127000"/>
          </a:xfrm>
          <a:prstGeom prst="rect">
            <a:avLst/>
          </a:prstGeom>
        </p:spPr>
        <p:txBody>
          <a:bodyPr wrap="square" lIns="0" tIns="0" rIns="0" bIns="0">
            <a:noAutofit/>
          </a:bodyPr>
          <a:lstStyle/>
          <a:p>
            <a:pPr>
              <a:lnSpc>
                <a:spcPct val="135000"/>
              </a:lnSpc>
            </a:pPr>
            <a:r>
              <a:rPr sz="460" spc="0">
                <a:solidFill>
                  <a:srgbClr val="67676E"/>
                </a:solidFill>
                <a:latin typeface="Telegraf"/>
              </a:rPr>
              <a:t>1 channel to demo</a:t>
            </a:r>
            <a:endParaRPr sz="460" spc="0">
              <a:solidFill>
                <a:srgbClr val="67676E"/>
              </a:solidFill>
              <a:latin typeface="Telegraf"/>
            </a:endParaRPr>
          </a:p>
        </p:txBody>
      </p:sp>
      <p:sp>
        <p:nvSpPr>
          <p:cNvPr id="1240" name="Freeform 1240"/>
          <p:cNvSpPr/>
          <p:nvPr/>
        </p:nvSpPr>
        <p:spPr>
          <a:xfrm>
            <a:off x="7840980" y="58680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1241" name="TextBox 117"/>
          <p:cNvSpPr txBox="1"/>
          <p:nvPr/>
        </p:nvSpPr>
        <p:spPr>
          <a:xfrm>
            <a:off x="7975600" y="5842000"/>
            <a:ext cx="2032000" cy="127000"/>
          </a:xfrm>
          <a:prstGeom prst="rect">
            <a:avLst/>
          </a:prstGeom>
        </p:spPr>
        <p:txBody>
          <a:bodyPr wrap="square" lIns="0" tIns="0" rIns="0" bIns="0">
            <a:noAutofit/>
          </a:bodyPr>
          <a:lstStyle/>
          <a:p>
            <a:pPr>
              <a:lnSpc>
                <a:spcPct val="135000"/>
              </a:lnSpc>
            </a:pPr>
            <a:r>
              <a:rPr sz="460" spc="0">
                <a:solidFill>
                  <a:srgbClr val="67676E"/>
                </a:solidFill>
                <a:latin typeface="Telegraf"/>
              </a:rPr>
              <a:t>brain compiles on save</a:t>
            </a:r>
            <a:endParaRPr sz="460" spc="0">
              <a:solidFill>
                <a:srgbClr val="67676E"/>
              </a:solidFill>
              <a:latin typeface="Telegraf"/>
            </a:endParaRPr>
          </a:p>
        </p:txBody>
      </p:sp>
      <p:sp>
        <p:nvSpPr>
          <p:cNvPr id="1242" name="Oval 118"/>
          <p:cNvSpPr/>
          <p:nvPr/>
        </p:nvSpPr>
        <p:spPr>
          <a:xfrm>
            <a:off x="3444240" y="2148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43" name="Oval 119"/>
          <p:cNvSpPr/>
          <p:nvPr/>
        </p:nvSpPr>
        <p:spPr>
          <a:xfrm>
            <a:off x="3468370" y="2172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44" name="TextBox 120"/>
          <p:cNvSpPr txBox="1"/>
          <p:nvPr/>
        </p:nvSpPr>
        <p:spPr>
          <a:xfrm>
            <a:off x="3468370" y="2172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1245" name="Oval 121"/>
          <p:cNvSpPr/>
          <p:nvPr/>
        </p:nvSpPr>
        <p:spPr>
          <a:xfrm>
            <a:off x="5552440" y="2047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46" name="Oval 122"/>
          <p:cNvSpPr/>
          <p:nvPr/>
        </p:nvSpPr>
        <p:spPr>
          <a:xfrm>
            <a:off x="5576570" y="2071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47" name="TextBox 123"/>
          <p:cNvSpPr txBox="1"/>
          <p:nvPr/>
        </p:nvSpPr>
        <p:spPr>
          <a:xfrm>
            <a:off x="5576570" y="2071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1248" name="Oval 124"/>
          <p:cNvSpPr/>
          <p:nvPr/>
        </p:nvSpPr>
        <p:spPr>
          <a:xfrm>
            <a:off x="8041640" y="2047240"/>
            <a:ext cx="172720" cy="17272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49" name="Oval 125"/>
          <p:cNvSpPr/>
          <p:nvPr/>
        </p:nvSpPr>
        <p:spPr>
          <a:xfrm>
            <a:off x="8065770" y="2071370"/>
            <a:ext cx="124460" cy="12446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50" name="TextBox 126"/>
          <p:cNvSpPr txBox="1"/>
          <p:nvPr/>
        </p:nvSpPr>
        <p:spPr>
          <a:xfrm>
            <a:off x="8065770" y="2071370"/>
            <a:ext cx="124460" cy="124460"/>
          </a:xfrm>
          <a:prstGeom prst="rect">
            <a:avLst/>
          </a:prstGeom>
        </p:spPr>
        <p:txBody>
          <a:bodyPr wrap="square" lIns="0" tIns="0" rIns="0" bIns="0" anchor="ctr">
            <a:noAutofit/>
          </a:bodyPr>
          <a:lstStyle/>
          <a:p>
            <a:pPr algn="ctr">
              <a:lnSpc>
                <a:spcPct val="135000"/>
              </a:lnSpc>
            </a:pPr>
            <a:r>
              <a:rPr sz="440" b="1" spc="0">
                <a:solidFill>
                  <a:srgbClr val="0A0A0A"/>
                </a:solidFill>
                <a:latin typeface="Telegraf"/>
              </a:rPr>
              <a:t>3</a:t>
            </a:r>
            <a:endParaRPr sz="440" b="1" spc="0">
              <a:solidFill>
                <a:srgbClr val="0A0A0A"/>
              </a:solidFill>
              <a:latin typeface="Telegraf"/>
            </a:endParaRPr>
          </a:p>
        </p:txBody>
      </p:sp>
      <p:sp>
        <p:nvSpPr>
          <p:cNvPr id="1251" name="Oval 127"/>
          <p:cNvSpPr/>
          <p:nvPr/>
        </p:nvSpPr>
        <p:spPr>
          <a:xfrm>
            <a:off x="7609840" y="4688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52" name="Oval 128"/>
          <p:cNvSpPr/>
          <p:nvPr/>
        </p:nvSpPr>
        <p:spPr>
          <a:xfrm>
            <a:off x="7633970" y="4712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53" name="TextBox 129"/>
          <p:cNvSpPr txBox="1"/>
          <p:nvPr/>
        </p:nvSpPr>
        <p:spPr>
          <a:xfrm>
            <a:off x="7633970" y="4712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1254" name="Rectangle 130"/>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55" name="TextBox 131"/>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10  —  ONBOARDING 4/4</a:t>
            </a:r>
            <a:endParaRPr sz="490" b="1" spc="120">
              <a:solidFill>
                <a:srgbClr val="8FE0CE"/>
              </a:solidFill>
              <a:latin typeface="Telegraf"/>
            </a:endParaRPr>
          </a:p>
        </p:txBody>
      </p:sp>
      <p:sp>
        <p:nvSpPr>
          <p:cNvPr id="1256" name="TextBox 132"/>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Channels, and</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an honest state.</a:t>
            </a:r>
            <a:endParaRPr sz="1650" spc="-50">
              <a:solidFill>
                <a:srgbClr val="FFFFFF"/>
              </a:solidFill>
              <a:latin typeface="PP Editorial New Ultralight"/>
            </a:endParaRPr>
          </a:p>
        </p:txBody>
      </p:sp>
      <p:sp>
        <p:nvSpPr>
          <p:cNvPr id="1257" name="Rectangle 133"/>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58" name="TextBox 134"/>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1259" name="TextBox 135"/>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Truthful states</a:t>
            </a:r>
            <a:endParaRPr sz="590" b="1" spc="0">
              <a:solidFill>
                <a:srgbClr val="FFFFFF"/>
              </a:solidFill>
              <a:latin typeface="Telegraf"/>
            </a:endParaRPr>
          </a:p>
        </p:txBody>
      </p:sp>
      <p:sp>
        <p:nvSpPr>
          <p:cNvPr id="1260" name="TextBox 136"/>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connected, test mode, draft only, unavailable — never a fake green tick.</a:t>
            </a:r>
            <a:endParaRPr sz="550" spc="0">
              <a:solidFill>
                <a:srgbClr val="A8A8A8"/>
              </a:solidFill>
              <a:latin typeface="Telegraf"/>
            </a:endParaRPr>
          </a:p>
        </p:txBody>
      </p:sp>
      <p:sp>
        <p:nvSpPr>
          <p:cNvPr id="1261" name="TextBox 137"/>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1262" name="TextBox 138"/>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Per-channel send</a:t>
            </a:r>
            <a:endParaRPr sz="590" b="1" spc="0">
              <a:solidFill>
                <a:srgbClr val="FFFFFF"/>
              </a:solidFill>
              <a:latin typeface="Telegraf"/>
            </a:endParaRPr>
          </a:p>
        </p:txBody>
      </p:sp>
      <p:sp>
        <p:nvSpPr>
          <p:cNvPr id="1263" name="TextBox 139"/>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auto-send toggle is what R5 reads; it is not decorative.</a:t>
            </a:r>
            <a:endParaRPr sz="550" spc="0">
              <a:solidFill>
                <a:srgbClr val="A8A8A8"/>
              </a:solidFill>
              <a:latin typeface="Telegraf"/>
            </a:endParaRPr>
          </a:p>
        </p:txBody>
      </p:sp>
      <p:sp>
        <p:nvSpPr>
          <p:cNvPr id="1264" name="TextBox 140"/>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1265" name="TextBox 141"/>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Simulator</a:t>
            </a:r>
            <a:endParaRPr sz="590" b="1" spc="0">
              <a:solidFill>
                <a:srgbClr val="FFFFFF"/>
              </a:solidFill>
              <a:latin typeface="Telegraf"/>
            </a:endParaRPr>
          </a:p>
        </p:txBody>
      </p:sp>
      <p:sp>
        <p:nvSpPr>
          <p:cNvPr id="1266" name="TextBox 142"/>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Every card can inject an inbound event, so AT-10 is demonstrable live.</a:t>
            </a:r>
            <a:endParaRPr sz="550" spc="0">
              <a:solidFill>
                <a:srgbClr val="A8A8A8"/>
              </a:solidFill>
              <a:latin typeface="Telegraf"/>
            </a:endParaRPr>
          </a:p>
        </p:txBody>
      </p:sp>
      <p:sp>
        <p:nvSpPr>
          <p:cNvPr id="1267" name="TextBox 143"/>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1268" name="TextBox 144"/>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Compile</a:t>
            </a:r>
            <a:endParaRPr sz="590" b="1" spc="0">
              <a:solidFill>
                <a:srgbClr val="FFFFFF"/>
              </a:solidFill>
              <a:latin typeface="Telegraf"/>
            </a:endParaRPr>
          </a:p>
        </p:txBody>
      </p:sp>
      <p:sp>
        <p:nvSpPr>
          <p:cNvPr id="1269" name="TextBox 145"/>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one screen where the black pill finishes a flow.</a:t>
            </a:r>
            <a:endParaRPr sz="550" spc="0">
              <a:solidFill>
                <a:srgbClr val="A8A8A8"/>
              </a:solidFill>
              <a:latin typeface="Telegraf"/>
            </a:endParaRPr>
          </a:p>
        </p:txBody>
      </p:sp>
      <p:sp>
        <p:nvSpPr>
          <p:cNvPr id="1270" name="TextBox 146"/>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1271" name="TextBox 147"/>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/onboarding  →  step 4</a:t>
            </a:r>
            <a:endParaRPr sz="560" spc="0">
              <a:solidFill>
                <a:srgbClr val="FFFFFF"/>
              </a:solidFill>
              <a:latin typeface="Telegraf"/>
            </a:endParaRPr>
          </a:p>
        </p:txBody>
      </p:sp>
      <p:sp>
        <p:nvSpPr>
          <p:cNvPr id="1272" name="TextBox 148"/>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1273" name="TextBox 149"/>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components/onboarding/ChannelCard.tsx; POST /api/businesses → compiles brain</a:t>
            </a:r>
            <a:endParaRPr sz="530" spc="0">
              <a:solidFill>
                <a:srgbClr val="CFCFCF"/>
              </a:solidFill>
              <a:latin typeface="Telegraf"/>
            </a:endParaRPr>
          </a:p>
        </p:txBody>
      </p:sp>
      <p:sp>
        <p:nvSpPr>
          <p:cNvPr id="1274" name="Rectangle 150"/>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75" name="TextBox 151"/>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77" name="Rectangle 1"/>
          <p:cNvSpPr/>
          <p:nvPr/>
        </p:nvSpPr>
        <p:spPr>
          <a:xfrm>
            <a:off x="0" y="0"/>
            <a:ext cx="558800" cy="685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78" name="Rectangle 2"/>
          <p:cNvSpPr/>
          <p:nvPr/>
        </p:nvSpPr>
        <p:spPr>
          <a:xfrm>
            <a:off x="548640" y="0"/>
            <a:ext cx="11430" cy="68580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79" name="Rectangle 3"/>
          <p:cNvSpPr/>
          <p:nvPr/>
        </p:nvSpPr>
        <p:spPr>
          <a:xfrm>
            <a:off x="152400" y="152400"/>
            <a:ext cx="254000" cy="254000"/>
          </a:xfrm>
          <a:custGeom>
            <a:avLst/>
            <a:gdLst/>
            <a:ahLst/>
            <a:cxnLst/>
            <a:rect l="l" t="t" r="r" b="b"/>
            <a:pathLst>
              <a:path w="100000" h="100000">
                <a:moveTo>
                  <a:pt x="50000" y="0"/>
                </a:moveTo>
                <a:cubicBezTo>
                  <a:pt x="66790" y="0"/>
                  <a:pt x="75185" y="0"/>
                  <a:pt x="81680" y="3070"/>
                </a:cubicBezTo>
                <a:cubicBezTo>
                  <a:pt x="88375" y="6240"/>
                  <a:pt x="93760" y="11625"/>
                  <a:pt x="96930" y="18320"/>
                </a:cubicBezTo>
                <a:cubicBezTo>
                  <a:pt x="100000" y="24815"/>
                  <a:pt x="100000" y="33210"/>
                  <a:pt x="100000" y="50000"/>
                </a:cubicBezTo>
                <a:lnTo>
                  <a:pt x="100000" y="50000"/>
                </a:lnTo>
                <a:cubicBezTo>
                  <a:pt x="100000" y="66790"/>
                  <a:pt x="100000" y="75185"/>
                  <a:pt x="96930" y="81680"/>
                </a:cubicBezTo>
                <a:cubicBezTo>
                  <a:pt x="93760" y="88375"/>
                  <a:pt x="88375" y="93760"/>
                  <a:pt x="81680" y="96930"/>
                </a:cubicBezTo>
                <a:cubicBezTo>
                  <a:pt x="75185" y="100000"/>
                  <a:pt x="66790" y="100000"/>
                  <a:pt x="50000" y="100000"/>
                </a:cubicBezTo>
                <a:lnTo>
                  <a:pt x="50000" y="100000"/>
                </a:lnTo>
                <a:cubicBezTo>
                  <a:pt x="33210" y="100000"/>
                  <a:pt x="24815" y="100000"/>
                  <a:pt x="18320" y="96930"/>
                </a:cubicBezTo>
                <a:cubicBezTo>
                  <a:pt x="11625" y="93760"/>
                  <a:pt x="6240" y="88375"/>
                  <a:pt x="3070" y="81680"/>
                </a:cubicBezTo>
                <a:cubicBezTo>
                  <a:pt x="0" y="75185"/>
                  <a:pt x="0" y="66790"/>
                  <a:pt x="0" y="50000"/>
                </a:cubicBezTo>
                <a:lnTo>
                  <a:pt x="0" y="50000"/>
                </a:lnTo>
                <a:cubicBezTo>
                  <a:pt x="0" y="33210"/>
                  <a:pt x="0" y="24815"/>
                  <a:pt x="3070" y="18320"/>
                </a:cubicBezTo>
                <a:cubicBezTo>
                  <a:pt x="6240" y="11625"/>
                  <a:pt x="11625" y="6240"/>
                  <a:pt x="18320" y="3070"/>
                </a:cubicBezTo>
                <a:cubicBezTo>
                  <a:pt x="24815" y="0"/>
                  <a:pt x="33210" y="0"/>
                  <a:pt x="5000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0" name="TextBox 4"/>
          <p:cNvSpPr txBox="1"/>
          <p:nvPr/>
        </p:nvSpPr>
        <p:spPr>
          <a:xfrm>
            <a:off x="152400" y="152400"/>
            <a:ext cx="254000" cy="254000"/>
          </a:xfrm>
          <a:prstGeom prst="rect">
            <a:avLst/>
          </a:prstGeom>
        </p:spPr>
        <p:txBody>
          <a:bodyPr wrap="square" lIns="0" tIns="0" rIns="0" bIns="0" anchor="ctr">
            <a:noAutofit/>
          </a:bodyPr>
          <a:lstStyle/>
          <a:p>
            <a:pPr algn="ctr">
              <a:lnSpc>
                <a:spcPct val="102000"/>
              </a:lnSpc>
            </a:pPr>
            <a:r>
              <a:rPr sz="1150" spc="-90">
                <a:solidFill>
                  <a:srgbClr val="8FE0CE"/>
                </a:solidFill>
                <a:latin typeface="PP Editorial New Ultralight"/>
              </a:rPr>
              <a:t>a</a:t>
            </a:r>
            <a:endParaRPr sz="1150" spc="-90">
              <a:solidFill>
                <a:srgbClr val="8FE0CE"/>
              </a:solidFill>
              <a:latin typeface="PP Editorial New Ultralight"/>
            </a:endParaRPr>
          </a:p>
        </p:txBody>
      </p:sp>
      <p:sp>
        <p:nvSpPr>
          <p:cNvPr id="1281" name="Rectangle 5"/>
          <p:cNvSpPr/>
          <p:nvPr/>
        </p:nvSpPr>
        <p:spPr>
          <a:xfrm>
            <a:off x="88900" y="622300"/>
            <a:ext cx="381000" cy="330200"/>
          </a:xfrm>
          <a:custGeom>
            <a:avLst/>
            <a:gdLst/>
            <a:ahLst/>
            <a:cxnLst/>
            <a:rect l="l" t="t" r="r" b="b"/>
            <a:pathLst>
              <a:path w="100000" h="86667">
                <a:moveTo>
                  <a:pt x="56667" y="0"/>
                </a:moveTo>
                <a:cubicBezTo>
                  <a:pt x="69083" y="0"/>
                  <a:pt x="75290" y="0"/>
                  <a:pt x="80260" y="1810"/>
                </a:cubicBezTo>
                <a:cubicBezTo>
                  <a:pt x="88593" y="4843"/>
                  <a:pt x="95157" y="11407"/>
                  <a:pt x="98190" y="19740"/>
                </a:cubicBezTo>
                <a:cubicBezTo>
                  <a:pt x="100000" y="24710"/>
                  <a:pt x="100000" y="30917"/>
                  <a:pt x="100000" y="43333"/>
                </a:cubicBezTo>
                <a:lnTo>
                  <a:pt x="100000" y="43333"/>
                </a:lnTo>
                <a:cubicBezTo>
                  <a:pt x="100000" y="55750"/>
                  <a:pt x="100000" y="61957"/>
                  <a:pt x="98190" y="66927"/>
                </a:cubicBezTo>
                <a:cubicBezTo>
                  <a:pt x="95157" y="75260"/>
                  <a:pt x="88593" y="81823"/>
                  <a:pt x="80260" y="84857"/>
                </a:cubicBezTo>
                <a:cubicBezTo>
                  <a:pt x="75290" y="86667"/>
                  <a:pt x="69083" y="86667"/>
                  <a:pt x="56667" y="86667"/>
                </a:cubicBezTo>
                <a:lnTo>
                  <a:pt x="43333" y="86667"/>
                </a:lnTo>
                <a:cubicBezTo>
                  <a:pt x="30917" y="86667"/>
                  <a:pt x="24710" y="86667"/>
                  <a:pt x="19740" y="84857"/>
                </a:cubicBezTo>
                <a:cubicBezTo>
                  <a:pt x="11407" y="81823"/>
                  <a:pt x="4843" y="75260"/>
                  <a:pt x="1810" y="66927"/>
                </a:cubicBezTo>
                <a:cubicBezTo>
                  <a:pt x="0" y="61957"/>
                  <a:pt x="0" y="55750"/>
                  <a:pt x="0" y="43333"/>
                </a:cubicBezTo>
                <a:lnTo>
                  <a:pt x="0" y="43333"/>
                </a:lnTo>
                <a:cubicBezTo>
                  <a:pt x="0" y="30917"/>
                  <a:pt x="0" y="24710"/>
                  <a:pt x="1810" y="19740"/>
                </a:cubicBezTo>
                <a:cubicBezTo>
                  <a:pt x="4843" y="11407"/>
                  <a:pt x="11407" y="4843"/>
                  <a:pt x="19740" y="1810"/>
                </a:cubicBezTo>
                <a:cubicBezTo>
                  <a:pt x="24710" y="0"/>
                  <a:pt x="30917" y="0"/>
                  <a:pt x="4333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2" name="Rectangle 6"/>
          <p:cNvSpPr/>
          <p:nvPr/>
        </p:nvSpPr>
        <p:spPr>
          <a:xfrm>
            <a:off x="0" y="685800"/>
            <a:ext cx="25400" cy="203200"/>
          </a:xfrm>
          <a:custGeom>
            <a:avLst/>
            <a:gdLst/>
            <a:ahLst/>
            <a:cxnLst/>
            <a:rect l="l" t="t" r="r" b="b"/>
            <a:pathLst>
              <a:path w="12500" h="100000">
                <a:moveTo>
                  <a:pt x="6250" y="0"/>
                </a:moveTo>
                <a:cubicBezTo>
                  <a:pt x="6250" y="0"/>
                  <a:pt x="6250" y="0"/>
                  <a:pt x="6250" y="0"/>
                </a:cubicBezTo>
                <a:cubicBezTo>
                  <a:pt x="9700" y="0"/>
                  <a:pt x="12500" y="2800"/>
                  <a:pt x="12500" y="6250"/>
                </a:cubicBezTo>
                <a:cubicBezTo>
                  <a:pt x="12500" y="6250"/>
                  <a:pt x="12500" y="6250"/>
                  <a:pt x="12500" y="6250"/>
                </a:cubicBezTo>
                <a:lnTo>
                  <a:pt x="12500" y="93750"/>
                </a:lnTo>
                <a:cubicBezTo>
                  <a:pt x="12500" y="93750"/>
                  <a:pt x="12500" y="93750"/>
                  <a:pt x="12500" y="93750"/>
                </a:cubicBezTo>
                <a:cubicBezTo>
                  <a:pt x="12500" y="97200"/>
                  <a:pt x="9700" y="100000"/>
                  <a:pt x="6250" y="100000"/>
                </a:cubicBezTo>
                <a:cubicBezTo>
                  <a:pt x="6250" y="100000"/>
                  <a:pt x="6250" y="100000"/>
                  <a:pt x="6250" y="100000"/>
                </a:cubicBezTo>
                <a:lnTo>
                  <a:pt x="6250" y="100000"/>
                </a:lnTo>
                <a:cubicBezTo>
                  <a:pt x="6250" y="100000"/>
                  <a:pt x="6250" y="100000"/>
                  <a:pt x="6250" y="100000"/>
                </a:cubicBezTo>
                <a:cubicBezTo>
                  <a:pt x="2800" y="100000"/>
                  <a:pt x="0" y="97200"/>
                  <a:pt x="0" y="93750"/>
                </a:cubicBezTo>
                <a:cubicBezTo>
                  <a:pt x="0" y="93750"/>
                  <a:pt x="0" y="93750"/>
                  <a:pt x="0" y="93750"/>
                </a:cubicBezTo>
                <a:lnTo>
                  <a:pt x="0" y="6250"/>
                </a:lnTo>
                <a:cubicBezTo>
                  <a:pt x="0" y="6250"/>
                  <a:pt x="0" y="6250"/>
                  <a:pt x="0" y="6250"/>
                </a:cubicBezTo>
                <a:cubicBezTo>
                  <a:pt x="0" y="2800"/>
                  <a:pt x="2800" y="0"/>
                  <a:pt x="6250" y="0"/>
                </a:cubicBezTo>
                <a:cubicBezTo>
                  <a:pt x="6250" y="0"/>
                  <a:pt x="6250" y="0"/>
                  <a:pt x="6250"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3" name="Rectangle 7"/>
          <p:cNvSpPr/>
          <p:nvPr/>
        </p:nvSpPr>
        <p:spPr>
          <a:xfrm>
            <a:off x="210820" y="728980"/>
            <a:ext cx="137160" cy="24130"/>
          </a:xfrm>
          <a:custGeom>
            <a:avLst/>
            <a:gdLst/>
            <a:ahLst/>
            <a:cxnLst/>
            <a:rect l="l" t="t" r="r" b="b"/>
            <a:pathLst>
              <a:path w="100000" h="17593">
                <a:moveTo>
                  <a:pt x="91204" y="0"/>
                </a:moveTo>
                <a:cubicBezTo>
                  <a:pt x="91204" y="0"/>
                  <a:pt x="91204" y="0"/>
                  <a:pt x="91204" y="0"/>
                </a:cubicBezTo>
                <a:cubicBezTo>
                  <a:pt x="96065" y="0"/>
                  <a:pt x="100000" y="3935"/>
                  <a:pt x="100000" y="8796"/>
                </a:cubicBezTo>
                <a:cubicBezTo>
                  <a:pt x="100000" y="8796"/>
                  <a:pt x="100000" y="8796"/>
                  <a:pt x="100000" y="8796"/>
                </a:cubicBezTo>
                <a:lnTo>
                  <a:pt x="100000" y="8796"/>
                </a:lnTo>
                <a:cubicBezTo>
                  <a:pt x="100000" y="8796"/>
                  <a:pt x="100000" y="8796"/>
                  <a:pt x="100000" y="8796"/>
                </a:cubicBezTo>
                <a:cubicBezTo>
                  <a:pt x="100000" y="13657"/>
                  <a:pt x="96065" y="17593"/>
                  <a:pt x="91204" y="17593"/>
                </a:cubicBezTo>
                <a:cubicBezTo>
                  <a:pt x="91204" y="17593"/>
                  <a:pt x="91204" y="17593"/>
                  <a:pt x="91204" y="17593"/>
                </a:cubicBezTo>
                <a:lnTo>
                  <a:pt x="8796" y="17593"/>
                </a:lnTo>
                <a:cubicBezTo>
                  <a:pt x="8796" y="17593"/>
                  <a:pt x="8796" y="17593"/>
                  <a:pt x="8796" y="17593"/>
                </a:cubicBezTo>
                <a:cubicBezTo>
                  <a:pt x="3935" y="17593"/>
                  <a:pt x="0" y="13657"/>
                  <a:pt x="0" y="8796"/>
                </a:cubicBezTo>
                <a:cubicBezTo>
                  <a:pt x="0" y="8796"/>
                  <a:pt x="0" y="8796"/>
                  <a:pt x="0" y="8796"/>
                </a:cubicBezTo>
                <a:lnTo>
                  <a:pt x="0" y="8796"/>
                </a:lnTo>
                <a:cubicBezTo>
                  <a:pt x="0" y="8796"/>
                  <a:pt x="0" y="8796"/>
                  <a:pt x="0" y="8796"/>
                </a:cubicBezTo>
                <a:cubicBezTo>
                  <a:pt x="0" y="3935"/>
                  <a:pt x="3935" y="0"/>
                  <a:pt x="8796" y="0"/>
                </a:cubicBezTo>
                <a:cubicBezTo>
                  <a:pt x="8796" y="0"/>
                  <a:pt x="8796" y="0"/>
                  <a:pt x="8796"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4" name="Rectangle 8"/>
          <p:cNvSpPr/>
          <p:nvPr/>
        </p:nvSpPr>
        <p:spPr>
          <a:xfrm>
            <a:off x="210820" y="778510"/>
            <a:ext cx="104140" cy="24130"/>
          </a:xfrm>
          <a:custGeom>
            <a:avLst/>
            <a:gdLst/>
            <a:ahLst/>
            <a:cxnLst/>
            <a:rect l="l" t="t" r="r" b="b"/>
            <a:pathLst>
              <a:path w="100000" h="23171">
                <a:moveTo>
                  <a:pt x="88415" y="0"/>
                </a:moveTo>
                <a:cubicBezTo>
                  <a:pt x="88415" y="0"/>
                  <a:pt x="88415" y="0"/>
                  <a:pt x="88415" y="0"/>
                </a:cubicBezTo>
                <a:cubicBezTo>
                  <a:pt x="94817" y="0"/>
                  <a:pt x="100000" y="5183"/>
                  <a:pt x="100000" y="11585"/>
                </a:cubicBezTo>
                <a:cubicBezTo>
                  <a:pt x="100000" y="11585"/>
                  <a:pt x="100000" y="11585"/>
                  <a:pt x="100000" y="11585"/>
                </a:cubicBezTo>
                <a:lnTo>
                  <a:pt x="100000" y="11585"/>
                </a:lnTo>
                <a:cubicBezTo>
                  <a:pt x="100000" y="11585"/>
                  <a:pt x="100000" y="11585"/>
                  <a:pt x="100000" y="11585"/>
                </a:cubicBezTo>
                <a:cubicBezTo>
                  <a:pt x="100000" y="17988"/>
                  <a:pt x="94817" y="23171"/>
                  <a:pt x="88415" y="23171"/>
                </a:cubicBezTo>
                <a:cubicBezTo>
                  <a:pt x="88415" y="23171"/>
                  <a:pt x="88415" y="23171"/>
                  <a:pt x="88415" y="23171"/>
                </a:cubicBezTo>
                <a:lnTo>
                  <a:pt x="11585" y="23171"/>
                </a:lnTo>
                <a:cubicBezTo>
                  <a:pt x="11585" y="23171"/>
                  <a:pt x="11585" y="23171"/>
                  <a:pt x="11585" y="23171"/>
                </a:cubicBezTo>
                <a:cubicBezTo>
                  <a:pt x="5183" y="23171"/>
                  <a:pt x="0" y="17988"/>
                  <a:pt x="0" y="11585"/>
                </a:cubicBezTo>
                <a:cubicBezTo>
                  <a:pt x="0" y="11585"/>
                  <a:pt x="0" y="11585"/>
                  <a:pt x="0" y="11585"/>
                </a:cubicBezTo>
                <a:lnTo>
                  <a:pt x="0" y="11585"/>
                </a:lnTo>
                <a:cubicBezTo>
                  <a:pt x="0" y="11585"/>
                  <a:pt x="0" y="11585"/>
                  <a:pt x="0" y="11585"/>
                </a:cubicBezTo>
                <a:cubicBezTo>
                  <a:pt x="0" y="5183"/>
                  <a:pt x="5183" y="0"/>
                  <a:pt x="11585" y="0"/>
                </a:cubicBezTo>
                <a:cubicBezTo>
                  <a:pt x="11585" y="0"/>
                  <a:pt x="11585" y="0"/>
                  <a:pt x="11585"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5" name="Rectangle 9"/>
          <p:cNvSpPr/>
          <p:nvPr/>
        </p:nvSpPr>
        <p:spPr>
          <a:xfrm>
            <a:off x="210820" y="828040"/>
            <a:ext cx="71120" cy="24130"/>
          </a:xfrm>
          <a:custGeom>
            <a:avLst/>
            <a:gdLst/>
            <a:ahLst/>
            <a:cxnLst/>
            <a:rect l="l" t="t" r="r" b="b"/>
            <a:pathLst>
              <a:path w="100000" h="33929">
                <a:moveTo>
                  <a:pt x="83036" y="0"/>
                </a:moveTo>
                <a:cubicBezTo>
                  <a:pt x="83036" y="0"/>
                  <a:pt x="83036" y="0"/>
                  <a:pt x="83036" y="0"/>
                </a:cubicBezTo>
                <a:cubicBezTo>
                  <a:pt x="92411" y="0"/>
                  <a:pt x="100000" y="7589"/>
                  <a:pt x="100000" y="16964"/>
                </a:cubicBezTo>
                <a:cubicBezTo>
                  <a:pt x="100000" y="16964"/>
                  <a:pt x="100000" y="16964"/>
                  <a:pt x="100000" y="16964"/>
                </a:cubicBezTo>
                <a:lnTo>
                  <a:pt x="100000" y="16964"/>
                </a:lnTo>
                <a:cubicBezTo>
                  <a:pt x="100000" y="16964"/>
                  <a:pt x="100000" y="16964"/>
                  <a:pt x="100000" y="16964"/>
                </a:cubicBezTo>
                <a:cubicBezTo>
                  <a:pt x="100000" y="26339"/>
                  <a:pt x="92411" y="33929"/>
                  <a:pt x="83036" y="33929"/>
                </a:cubicBezTo>
                <a:cubicBezTo>
                  <a:pt x="83036" y="33929"/>
                  <a:pt x="83036" y="33929"/>
                  <a:pt x="83036" y="33929"/>
                </a:cubicBezTo>
                <a:lnTo>
                  <a:pt x="16964" y="33929"/>
                </a:lnTo>
                <a:cubicBezTo>
                  <a:pt x="16964" y="33929"/>
                  <a:pt x="16964" y="33929"/>
                  <a:pt x="16964" y="33929"/>
                </a:cubicBezTo>
                <a:cubicBezTo>
                  <a:pt x="7589" y="33929"/>
                  <a:pt x="0" y="26339"/>
                  <a:pt x="0" y="16964"/>
                </a:cubicBezTo>
                <a:cubicBezTo>
                  <a:pt x="0" y="16964"/>
                  <a:pt x="0" y="16964"/>
                  <a:pt x="0" y="16964"/>
                </a:cubicBezTo>
                <a:lnTo>
                  <a:pt x="0" y="16964"/>
                </a:lnTo>
                <a:cubicBezTo>
                  <a:pt x="0" y="16964"/>
                  <a:pt x="0" y="16964"/>
                  <a:pt x="0" y="16964"/>
                </a:cubicBezTo>
                <a:cubicBezTo>
                  <a:pt x="0" y="7589"/>
                  <a:pt x="7589" y="0"/>
                  <a:pt x="16964" y="0"/>
                </a:cubicBezTo>
                <a:cubicBezTo>
                  <a:pt x="16964" y="0"/>
                  <a:pt x="16964" y="0"/>
                  <a:pt x="16964"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6" name="Oval 10"/>
          <p:cNvSpPr/>
          <p:nvPr/>
        </p:nvSpPr>
        <p:spPr>
          <a:xfrm>
            <a:off x="261874" y="1118743"/>
            <a:ext cx="35052" cy="35052"/>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7" name="Rectangle 11"/>
          <p:cNvSpPr/>
          <p:nvPr/>
        </p:nvSpPr>
        <p:spPr>
          <a:xfrm>
            <a:off x="273685" y="11614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8" name="Rectangle 12"/>
          <p:cNvSpPr/>
          <p:nvPr/>
        </p:nvSpPr>
        <p:spPr>
          <a:xfrm>
            <a:off x="240792" y="11929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89" name="Oval 13"/>
          <p:cNvSpPr/>
          <p:nvPr/>
        </p:nvSpPr>
        <p:spPr>
          <a:xfrm>
            <a:off x="21463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0" name="Oval 14"/>
          <p:cNvSpPr/>
          <p:nvPr/>
        </p:nvSpPr>
        <p:spPr>
          <a:xfrm>
            <a:off x="29337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1" name="Oval 15"/>
          <p:cNvSpPr/>
          <p:nvPr/>
        </p:nvSpPr>
        <p:spPr>
          <a:xfrm>
            <a:off x="254000" y="155829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2" name="Freeform 1292"/>
          <p:cNvSpPr/>
          <p:nvPr/>
        </p:nvSpPr>
        <p:spPr>
          <a:xfrm>
            <a:off x="251460" y="1537970"/>
            <a:ext cx="22860" cy="30480"/>
          </a:xfrm>
          <a:custGeom>
            <a:avLst/>
            <a:gdLst/>
            <a:ahLst/>
            <a:cxnLst/>
            <a:rect l="l" t="t" r="r" b="b"/>
            <a:pathLst>
              <a:path w="75000" h="100000" fill="none">
                <a:moveTo>
                  <a:pt x="0" y="0"/>
                </a:moveTo>
                <a:lnTo>
                  <a:pt x="7500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293" name="Freeform 1293"/>
          <p:cNvSpPr/>
          <p:nvPr/>
        </p:nvSpPr>
        <p:spPr>
          <a:xfrm>
            <a:off x="284480" y="1537970"/>
            <a:ext cx="22860" cy="30480"/>
          </a:xfrm>
          <a:custGeom>
            <a:avLst/>
            <a:gdLst/>
            <a:ahLst/>
            <a:cxnLst/>
            <a:rect l="l" t="t" r="r" b="b"/>
            <a:pathLst>
              <a:path w="75000" h="100000" fill="none">
                <a:moveTo>
                  <a:pt x="75000" y="0"/>
                </a:moveTo>
                <a:lnTo>
                  <a:pt x="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294" name="Rectangle 18"/>
          <p:cNvSpPr/>
          <p:nvPr/>
        </p:nvSpPr>
        <p:spPr>
          <a:xfrm>
            <a:off x="21209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5" name="Rectangle 19"/>
          <p:cNvSpPr/>
          <p:nvPr/>
        </p:nvSpPr>
        <p:spPr>
          <a:xfrm>
            <a:off x="28575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6" name="Rectangle 20"/>
          <p:cNvSpPr/>
          <p:nvPr/>
        </p:nvSpPr>
        <p:spPr>
          <a:xfrm>
            <a:off x="212090" y="193675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7" name="Rectangle 21"/>
          <p:cNvSpPr/>
          <p:nvPr/>
        </p:nvSpPr>
        <p:spPr>
          <a:xfrm>
            <a:off x="234696" y="6308979"/>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8" name="Rectangle 22"/>
          <p:cNvSpPr/>
          <p:nvPr/>
        </p:nvSpPr>
        <p:spPr>
          <a:xfrm>
            <a:off x="234696" y="6343650"/>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299" name="Oval 23"/>
          <p:cNvSpPr/>
          <p:nvPr/>
        </p:nvSpPr>
        <p:spPr>
          <a:xfrm>
            <a:off x="171450" y="64960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00" name="TextBox 24"/>
          <p:cNvSpPr txBox="1"/>
          <p:nvPr/>
        </p:nvSpPr>
        <p:spPr>
          <a:xfrm>
            <a:off x="171450" y="6496050"/>
            <a:ext cx="215900" cy="215900"/>
          </a:xfrm>
          <a:prstGeom prst="rect">
            <a:avLst/>
          </a:prstGeom>
        </p:spPr>
        <p:txBody>
          <a:bodyPr wrap="square" lIns="0" tIns="0" rIns="0" bIns="0" anchor="ctr">
            <a:noAutofit/>
          </a:bodyPr>
          <a:lstStyle/>
          <a:p>
            <a:pPr algn="ctr">
              <a:lnSpc>
                <a:spcPct val="135000"/>
              </a:lnSpc>
            </a:pPr>
            <a:r>
              <a:rPr sz="460" b="1" spc="0">
                <a:solidFill>
                  <a:srgbClr val="67676E"/>
                </a:solidFill>
                <a:latin typeface="Telegraf"/>
              </a:rPr>
              <a:t>PN</a:t>
            </a:r>
            <a:endParaRPr sz="460" b="1" spc="0">
              <a:solidFill>
                <a:srgbClr val="67676E"/>
              </a:solidFill>
              <a:latin typeface="Telegraf"/>
            </a:endParaRPr>
          </a:p>
        </p:txBody>
      </p:sp>
      <p:sp>
        <p:nvSpPr>
          <p:cNvPr id="1301" name="Rectangle 25"/>
          <p:cNvSpPr/>
          <p:nvPr/>
        </p:nvSpPr>
        <p:spPr>
          <a:xfrm>
            <a:off x="558800" y="0"/>
            <a:ext cx="9753600" cy="50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02" name="Rectangle 26"/>
          <p:cNvSpPr/>
          <p:nvPr/>
        </p:nvSpPr>
        <p:spPr>
          <a:xfrm>
            <a:off x="558800" y="497840"/>
            <a:ext cx="9753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03" name="Rectangle 27"/>
          <p:cNvSpPr/>
          <p:nvPr/>
        </p:nvSpPr>
        <p:spPr>
          <a:xfrm>
            <a:off x="711200" y="114300"/>
            <a:ext cx="1625600" cy="292100"/>
          </a:xfrm>
          <a:custGeom>
            <a:avLst/>
            <a:gdLst/>
            <a:ahLst/>
            <a:cxnLst/>
            <a:rect l="l" t="t" r="r" b="b"/>
            <a:pathLst>
              <a:path w="100000" h="17969">
                <a:moveTo>
                  <a:pt x="91016" y="0"/>
                </a:moveTo>
                <a:cubicBezTo>
                  <a:pt x="93929" y="0"/>
                  <a:pt x="95386" y="0"/>
                  <a:pt x="96524" y="506"/>
                </a:cubicBezTo>
                <a:cubicBezTo>
                  <a:pt x="97847" y="1095"/>
                  <a:pt x="98905" y="2153"/>
                  <a:pt x="99494" y="3476"/>
                </a:cubicBezTo>
                <a:cubicBezTo>
                  <a:pt x="100000" y="4614"/>
                  <a:pt x="100000" y="6071"/>
                  <a:pt x="100000" y="8984"/>
                </a:cubicBezTo>
                <a:lnTo>
                  <a:pt x="100000" y="8984"/>
                </a:lnTo>
                <a:cubicBezTo>
                  <a:pt x="100000" y="11898"/>
                  <a:pt x="100000" y="13355"/>
                  <a:pt x="99494" y="14493"/>
                </a:cubicBezTo>
                <a:cubicBezTo>
                  <a:pt x="98905" y="15816"/>
                  <a:pt x="97847" y="16873"/>
                  <a:pt x="96524" y="17463"/>
                </a:cubicBezTo>
                <a:cubicBezTo>
                  <a:pt x="95386" y="17969"/>
                  <a:pt x="93929" y="17969"/>
                  <a:pt x="91016" y="17969"/>
                </a:cubicBezTo>
                <a:lnTo>
                  <a:pt x="8984" y="17969"/>
                </a:lnTo>
                <a:cubicBezTo>
                  <a:pt x="6071" y="17969"/>
                  <a:pt x="4614" y="17969"/>
                  <a:pt x="3476" y="17463"/>
                </a:cubicBezTo>
                <a:cubicBezTo>
                  <a:pt x="2153" y="16873"/>
                  <a:pt x="1095" y="15816"/>
                  <a:pt x="506" y="14493"/>
                </a:cubicBezTo>
                <a:cubicBezTo>
                  <a:pt x="0" y="13355"/>
                  <a:pt x="0" y="11898"/>
                  <a:pt x="0" y="8984"/>
                </a:cubicBezTo>
                <a:lnTo>
                  <a:pt x="0" y="8984"/>
                </a:lnTo>
                <a:cubicBezTo>
                  <a:pt x="0" y="6071"/>
                  <a:pt x="0" y="4614"/>
                  <a:pt x="506" y="3476"/>
                </a:cubicBezTo>
                <a:cubicBezTo>
                  <a:pt x="1095" y="2153"/>
                  <a:pt x="2153" y="1095"/>
                  <a:pt x="3476" y="506"/>
                </a:cubicBezTo>
                <a:cubicBezTo>
                  <a:pt x="4614" y="0"/>
                  <a:pt x="6071" y="0"/>
                  <a:pt x="898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04" name="TextBox 28"/>
          <p:cNvSpPr txBox="1"/>
          <p:nvPr/>
        </p:nvSpPr>
        <p:spPr>
          <a:xfrm>
            <a:off x="825500" y="114300"/>
            <a:ext cx="1219200" cy="292100"/>
          </a:xfrm>
          <a:prstGeom prst="rect">
            <a:avLst/>
          </a:prstGeom>
        </p:spPr>
        <p:txBody>
          <a:bodyPr wrap="square" lIns="0" tIns="0" rIns="0" bIns="0" anchor="ctr">
            <a:noAutofit/>
          </a:bodyPr>
          <a:lstStyle/>
          <a:p>
            <a:pPr>
              <a:lnSpc>
                <a:spcPct val="135000"/>
              </a:lnSpc>
            </a:pPr>
            <a:r>
              <a:rPr sz="660" b="1" spc="0">
                <a:solidFill>
                  <a:srgbClr val="0A0A0A"/>
                </a:solidFill>
                <a:latin typeface="Telegraf"/>
              </a:rPr>
              <a:t>CloudPulse CRM</a:t>
            </a:r>
            <a:endParaRPr sz="660" b="1" spc="0">
              <a:solidFill>
                <a:srgbClr val="0A0A0A"/>
              </a:solidFill>
              <a:latin typeface="Telegraf"/>
            </a:endParaRPr>
          </a:p>
        </p:txBody>
      </p:sp>
      <p:sp>
        <p:nvSpPr>
          <p:cNvPr id="1305" name="Freeform 1305"/>
          <p:cNvSpPr/>
          <p:nvPr/>
        </p:nvSpPr>
        <p:spPr>
          <a:xfrm>
            <a:off x="2148840" y="242570"/>
            <a:ext cx="71120" cy="35560"/>
          </a:xfrm>
          <a:custGeom>
            <a:avLst/>
            <a:gdLst/>
            <a:ahLst/>
            <a:cxnLst/>
            <a:rect l="l" t="t" r="r" b="b"/>
            <a:pathLst>
              <a:path w="100000" h="50000" fill="none">
                <a:moveTo>
                  <a:pt x="0" y="0"/>
                </a:moveTo>
                <a:lnTo>
                  <a:pt x="50000" y="50000"/>
                </a:lnTo>
                <a:lnTo>
                  <a:pt x="100000" y="0"/>
                </a:lnTo>
              </a:path>
            </a:pathLst>
          </a:custGeom>
          <a:noFill/>
          <a:ln w="11430"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306" name="Oval 30"/>
          <p:cNvSpPr/>
          <p:nvPr/>
        </p:nvSpPr>
        <p:spPr>
          <a:xfrm>
            <a:off x="9861550" y="1333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07" name="TextBox 31"/>
          <p:cNvSpPr txBox="1"/>
          <p:nvPr/>
        </p:nvSpPr>
        <p:spPr>
          <a:xfrm>
            <a:off x="9861550" y="1333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1308" name="Rectangle 32"/>
          <p:cNvSpPr/>
          <p:nvPr/>
        </p:nvSpPr>
        <p:spPr>
          <a:xfrm>
            <a:off x="9728200" y="127000"/>
            <a:ext cx="203200" cy="254000"/>
          </a:xfrm>
          <a:custGeom>
            <a:avLst/>
            <a:gdLst/>
            <a:ahLst/>
            <a:cxnLst/>
            <a:rect l="l" t="t" r="r" b="b"/>
            <a:pathLst>
              <a:path w="80000" h="100000">
                <a:moveTo>
                  <a:pt x="40000" y="0"/>
                </a:moveTo>
                <a:cubicBezTo>
                  <a:pt x="54000" y="0"/>
                  <a:pt x="61000" y="0"/>
                  <a:pt x="66350" y="2725"/>
                </a:cubicBezTo>
                <a:cubicBezTo>
                  <a:pt x="71055" y="5120"/>
                  <a:pt x="74880" y="8945"/>
                  <a:pt x="77275" y="13650"/>
                </a:cubicBezTo>
                <a:cubicBezTo>
                  <a:pt x="80000" y="19000"/>
                  <a:pt x="80000" y="26000"/>
                  <a:pt x="80000" y="40000"/>
                </a:cubicBezTo>
                <a:lnTo>
                  <a:pt x="80000" y="60000"/>
                </a:lnTo>
                <a:cubicBezTo>
                  <a:pt x="80000" y="74000"/>
                  <a:pt x="80000" y="81000"/>
                  <a:pt x="77275" y="86350"/>
                </a:cubicBezTo>
                <a:cubicBezTo>
                  <a:pt x="74880" y="91055"/>
                  <a:pt x="71055" y="94880"/>
                  <a:pt x="66350" y="97275"/>
                </a:cubicBezTo>
                <a:cubicBezTo>
                  <a:pt x="61000" y="100000"/>
                  <a:pt x="54000" y="100000"/>
                  <a:pt x="40000" y="100000"/>
                </a:cubicBezTo>
                <a:lnTo>
                  <a:pt x="40000" y="100000"/>
                </a:lnTo>
                <a:cubicBezTo>
                  <a:pt x="26000" y="100000"/>
                  <a:pt x="19000" y="100000"/>
                  <a:pt x="13650" y="97275"/>
                </a:cubicBezTo>
                <a:cubicBezTo>
                  <a:pt x="8945" y="94880"/>
                  <a:pt x="5120" y="91055"/>
                  <a:pt x="2725" y="86350"/>
                </a:cubicBezTo>
                <a:cubicBezTo>
                  <a:pt x="0" y="81000"/>
                  <a:pt x="0" y="74000"/>
                  <a:pt x="0" y="60000"/>
                </a:cubicBezTo>
                <a:lnTo>
                  <a:pt x="0" y="40000"/>
                </a:lnTo>
                <a:cubicBezTo>
                  <a:pt x="0" y="26000"/>
                  <a:pt x="0" y="19000"/>
                  <a:pt x="2725" y="13650"/>
                </a:cubicBezTo>
                <a:cubicBezTo>
                  <a:pt x="5120" y="8945"/>
                  <a:pt x="8945" y="5120"/>
                  <a:pt x="13650" y="2725"/>
                </a:cubicBezTo>
                <a:cubicBezTo>
                  <a:pt x="19000" y="0"/>
                  <a:pt x="26000" y="0"/>
                  <a:pt x="40000"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09" name="TextBox 33"/>
          <p:cNvSpPr txBox="1"/>
          <p:nvPr/>
        </p:nvSpPr>
        <p:spPr>
          <a:xfrm>
            <a:off x="9728200" y="127000"/>
            <a:ext cx="203200" cy="254000"/>
          </a:xfrm>
          <a:prstGeom prst="rect">
            <a:avLst/>
          </a:prstGeom>
        </p:spPr>
        <p:txBody>
          <a:bodyPr wrap="square" lIns="0" tIns="0" rIns="0" bIns="0" anchor="ctr">
            <a:noAutofit/>
          </a:bodyPr>
          <a:lstStyle/>
          <a:p>
            <a:pPr algn="ctr">
              <a:lnSpc>
                <a:spcPct val="135000"/>
              </a:lnSpc>
            </a:pPr>
            <a:r>
              <a:rPr sz="640" spc="0">
                <a:solidFill>
                  <a:srgbClr val="67676E"/>
                </a:solidFill>
                <a:latin typeface="Telegraf"/>
              </a:rPr>
              <a:t>↺</a:t>
            </a:r>
            <a:endParaRPr sz="640" spc="0">
              <a:solidFill>
                <a:srgbClr val="67676E"/>
              </a:solidFill>
              <a:latin typeface="Telegraf"/>
            </a:endParaRPr>
          </a:p>
        </p:txBody>
      </p:sp>
      <p:sp>
        <p:nvSpPr>
          <p:cNvPr id="1310" name="Rectangle 34"/>
          <p:cNvSpPr/>
          <p:nvPr/>
        </p:nvSpPr>
        <p:spPr>
          <a:xfrm>
            <a:off x="8612632" y="114300"/>
            <a:ext cx="988568" cy="292100"/>
          </a:xfrm>
          <a:custGeom>
            <a:avLst/>
            <a:gdLst/>
            <a:ahLst/>
            <a:cxnLst/>
            <a:rect l="l" t="t" r="r" b="b"/>
            <a:pathLst>
              <a:path w="100000" h="29548">
                <a:moveTo>
                  <a:pt x="85226" y="0"/>
                </a:moveTo>
                <a:cubicBezTo>
                  <a:pt x="85226" y="0"/>
                  <a:pt x="85226" y="0"/>
                  <a:pt x="85226" y="0"/>
                </a:cubicBezTo>
                <a:cubicBezTo>
                  <a:pt x="93385" y="0"/>
                  <a:pt x="100000" y="6615"/>
                  <a:pt x="100000" y="14774"/>
                </a:cubicBezTo>
                <a:cubicBezTo>
                  <a:pt x="100000" y="14774"/>
                  <a:pt x="100000" y="14774"/>
                  <a:pt x="100000" y="14774"/>
                </a:cubicBezTo>
                <a:lnTo>
                  <a:pt x="100000" y="14774"/>
                </a:lnTo>
                <a:cubicBezTo>
                  <a:pt x="100000" y="14774"/>
                  <a:pt x="100000" y="14774"/>
                  <a:pt x="100000" y="14774"/>
                </a:cubicBezTo>
                <a:cubicBezTo>
                  <a:pt x="100000" y="22933"/>
                  <a:pt x="93385" y="29548"/>
                  <a:pt x="85226" y="29548"/>
                </a:cubicBezTo>
                <a:cubicBezTo>
                  <a:pt x="85226" y="29548"/>
                  <a:pt x="85226" y="29548"/>
                  <a:pt x="85226" y="29548"/>
                </a:cubicBezTo>
                <a:lnTo>
                  <a:pt x="14774" y="29548"/>
                </a:lnTo>
                <a:cubicBezTo>
                  <a:pt x="14774" y="29548"/>
                  <a:pt x="14774" y="29548"/>
                  <a:pt x="14774" y="29548"/>
                </a:cubicBezTo>
                <a:cubicBezTo>
                  <a:pt x="6615" y="29548"/>
                  <a:pt x="0" y="22933"/>
                  <a:pt x="0" y="14774"/>
                </a:cubicBezTo>
                <a:cubicBezTo>
                  <a:pt x="0" y="14774"/>
                  <a:pt x="0" y="14774"/>
                  <a:pt x="0" y="14774"/>
                </a:cubicBezTo>
                <a:lnTo>
                  <a:pt x="0" y="14774"/>
                </a:lnTo>
                <a:cubicBezTo>
                  <a:pt x="0" y="14774"/>
                  <a:pt x="0" y="14774"/>
                  <a:pt x="0" y="14774"/>
                </a:cubicBezTo>
                <a:cubicBezTo>
                  <a:pt x="0" y="6615"/>
                  <a:pt x="6615" y="0"/>
                  <a:pt x="14774" y="0"/>
                </a:cubicBezTo>
                <a:cubicBezTo>
                  <a:pt x="14774" y="0"/>
                  <a:pt x="14774" y="0"/>
                  <a:pt x="1477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11" name="Oval 35"/>
          <p:cNvSpPr/>
          <p:nvPr/>
        </p:nvSpPr>
        <p:spPr>
          <a:xfrm>
            <a:off x="8674862" y="24130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12" name="TextBox 36"/>
          <p:cNvSpPr txBox="1"/>
          <p:nvPr/>
        </p:nvSpPr>
        <p:spPr>
          <a:xfrm>
            <a:off x="8777732" y="114300"/>
            <a:ext cx="772668" cy="2921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Test my AI agent</a:t>
            </a:r>
            <a:endParaRPr sz="580" b="1" spc="10">
              <a:solidFill>
                <a:srgbClr val="FFFFFF"/>
              </a:solidFill>
              <a:latin typeface="Telegraf"/>
            </a:endParaRPr>
          </a:p>
        </p:txBody>
      </p:sp>
      <p:sp>
        <p:nvSpPr>
          <p:cNvPr id="1313" name="Rectangle 37"/>
          <p:cNvSpPr/>
          <p:nvPr/>
        </p:nvSpPr>
        <p:spPr>
          <a:xfrm>
            <a:off x="7215632" y="114300"/>
            <a:ext cx="1168400" cy="2921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14" name="Oval 38"/>
          <p:cNvSpPr/>
          <p:nvPr/>
        </p:nvSpPr>
        <p:spPr>
          <a:xfrm>
            <a:off x="7276719" y="219837"/>
            <a:ext cx="59817" cy="59817"/>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15" name="Freeform 1315"/>
          <p:cNvSpPr/>
          <p:nvPr/>
        </p:nvSpPr>
        <p:spPr>
          <a:xfrm>
            <a:off x="7330694" y="273812"/>
            <a:ext cx="28067" cy="28067"/>
          </a:xfrm>
          <a:custGeom>
            <a:avLst/>
            <a:gdLst/>
            <a:ahLst/>
            <a:cxnLst/>
            <a:rect l="l" t="t" r="r" b="b"/>
            <a:pathLst>
              <a:path w="100000" h="100000" fill="none">
                <a:moveTo>
                  <a:pt x="0" y="0"/>
                </a:moveTo>
                <a:lnTo>
                  <a:pt x="100000" y="100000"/>
                </a:lnTo>
              </a:path>
            </a:pathLst>
          </a:custGeom>
          <a:noFill/>
          <a:ln w="1206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316" name="TextBox 40"/>
          <p:cNvSpPr txBox="1"/>
          <p:nvPr/>
        </p:nvSpPr>
        <p:spPr>
          <a:xfrm>
            <a:off x="7418832" y="114300"/>
            <a:ext cx="889000" cy="292100"/>
          </a:xfrm>
          <a:prstGeom prst="rect">
            <a:avLst/>
          </a:prstGeom>
        </p:spPr>
        <p:txBody>
          <a:bodyPr wrap="square" lIns="0" tIns="0" rIns="0" bIns="0" anchor="ctr">
            <a:noAutofit/>
          </a:bodyPr>
          <a:lstStyle/>
          <a:p>
            <a:pPr>
              <a:lnSpc>
                <a:spcPct val="135000"/>
              </a:lnSpc>
            </a:pPr>
            <a:r>
              <a:rPr sz="560" spc="0">
                <a:solidFill>
                  <a:srgbClr val="A2A2A8"/>
                </a:solidFill>
                <a:latin typeface="Telegraf"/>
              </a:rPr>
              <a:t>Search tickets</a:t>
            </a:r>
            <a:endParaRPr sz="560" spc="0">
              <a:solidFill>
                <a:srgbClr val="A2A2A8"/>
              </a:solidFill>
              <a:latin typeface="Telegraf"/>
            </a:endParaRPr>
          </a:p>
        </p:txBody>
      </p:sp>
      <p:sp>
        <p:nvSpPr>
          <p:cNvPr id="1317" name="TextBox 41"/>
          <p:cNvSpPr txBox="1"/>
          <p:nvPr/>
        </p:nvSpPr>
        <p:spPr>
          <a:xfrm>
            <a:off x="762000" y="685800"/>
            <a:ext cx="3810000" cy="381000"/>
          </a:xfrm>
          <a:prstGeom prst="rect">
            <a:avLst/>
          </a:prstGeom>
        </p:spPr>
        <p:txBody>
          <a:bodyPr wrap="square" lIns="0" tIns="0" rIns="0" bIns="0">
            <a:noAutofit/>
          </a:bodyPr>
          <a:lstStyle/>
          <a:p>
            <a:pPr>
              <a:lnSpc>
                <a:spcPct val="102000"/>
              </a:lnSpc>
            </a:pPr>
            <a:r>
              <a:rPr sz="2500" spc="-100">
                <a:solidFill>
                  <a:srgbClr val="0A0A0A"/>
                </a:solidFill>
                <a:latin typeface="PP Editorial New Ultralight"/>
              </a:rPr>
              <a:t>Live queue.</a:t>
            </a:r>
            <a:endParaRPr sz="2500" spc="-100">
              <a:solidFill>
                <a:srgbClr val="0A0A0A"/>
              </a:solidFill>
              <a:latin typeface="PP Editorial New Ultralight"/>
            </a:endParaRPr>
          </a:p>
        </p:txBody>
      </p:sp>
      <p:sp>
        <p:nvSpPr>
          <p:cNvPr id="1318" name="TextBox 42"/>
          <p:cNvSpPr txBox="1"/>
          <p:nvPr/>
        </p:nvSpPr>
        <p:spPr>
          <a:xfrm>
            <a:off x="774700" y="1066800"/>
            <a:ext cx="4318000" cy="152400"/>
          </a:xfrm>
          <a:prstGeom prst="rect">
            <a:avLst/>
          </a:prstGeom>
        </p:spPr>
        <p:txBody>
          <a:bodyPr wrap="square" lIns="0" tIns="0" rIns="0" bIns="0">
            <a:noAutofit/>
          </a:bodyPr>
          <a:lstStyle/>
          <a:p>
            <a:pPr>
              <a:lnSpc>
                <a:spcPct val="135000"/>
              </a:lnSpc>
            </a:pPr>
            <a:r>
              <a:rPr sz="540" spc="0">
                <a:solidFill>
                  <a:srgbClr val="67676E"/>
                </a:solidFill>
                <a:latin typeface="Telegraf"/>
              </a:rPr>
              <a:t>42 open  ·  6 need you  ·  sorted by urgency, then age</a:t>
            </a:r>
            <a:endParaRPr sz="540" spc="0">
              <a:solidFill>
                <a:srgbClr val="67676E"/>
              </a:solidFill>
              <a:latin typeface="Telegraf"/>
            </a:endParaRPr>
          </a:p>
        </p:txBody>
      </p:sp>
      <p:sp>
        <p:nvSpPr>
          <p:cNvPr id="1319" name="TextBox 43"/>
          <p:cNvSpPr txBox="1"/>
          <p:nvPr/>
        </p:nvSpPr>
        <p:spPr>
          <a:xfrm>
            <a:off x="7112000" y="787400"/>
            <a:ext cx="2997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last sync 2s ago  ·  demo state</a:t>
            </a:r>
            <a:endParaRPr sz="460" spc="0">
              <a:solidFill>
                <a:srgbClr val="A2A2A8"/>
              </a:solidFill>
              <a:latin typeface="Telegraf"/>
            </a:endParaRPr>
          </a:p>
        </p:txBody>
      </p:sp>
      <p:sp>
        <p:nvSpPr>
          <p:cNvPr id="1320" name="Rectangle 44"/>
          <p:cNvSpPr/>
          <p:nvPr/>
        </p:nvSpPr>
        <p:spPr>
          <a:xfrm>
            <a:off x="8890000" y="965200"/>
            <a:ext cx="1219200" cy="228600"/>
          </a:xfrm>
          <a:custGeom>
            <a:avLst/>
            <a:gdLst/>
            <a:ahLst/>
            <a:cxnLst/>
            <a:rect l="l" t="t" r="r" b="b"/>
            <a:pathLst>
              <a:path w="100000" h="18750">
                <a:moveTo>
                  <a:pt x="90625" y="0"/>
                </a:moveTo>
                <a:cubicBezTo>
                  <a:pt x="90625" y="0"/>
                  <a:pt x="90625" y="0"/>
                  <a:pt x="90625" y="0"/>
                </a:cubicBezTo>
                <a:cubicBezTo>
                  <a:pt x="95803" y="0"/>
                  <a:pt x="100000" y="4197"/>
                  <a:pt x="100000" y="9375"/>
                </a:cubicBezTo>
                <a:cubicBezTo>
                  <a:pt x="100000" y="9375"/>
                  <a:pt x="100000" y="9375"/>
                  <a:pt x="100000" y="9375"/>
                </a:cubicBezTo>
                <a:lnTo>
                  <a:pt x="100000" y="9375"/>
                </a:lnTo>
                <a:cubicBezTo>
                  <a:pt x="100000" y="9375"/>
                  <a:pt x="100000" y="9375"/>
                  <a:pt x="100000" y="9375"/>
                </a:cubicBezTo>
                <a:cubicBezTo>
                  <a:pt x="100000" y="14553"/>
                  <a:pt x="95803" y="18750"/>
                  <a:pt x="90625" y="18750"/>
                </a:cubicBezTo>
                <a:cubicBezTo>
                  <a:pt x="90625" y="18750"/>
                  <a:pt x="90625" y="18750"/>
                  <a:pt x="90625" y="18750"/>
                </a:cubicBezTo>
                <a:lnTo>
                  <a:pt x="9375" y="18750"/>
                </a:lnTo>
                <a:cubicBezTo>
                  <a:pt x="9375" y="18750"/>
                  <a:pt x="9375" y="18750"/>
                  <a:pt x="9375" y="18750"/>
                </a:cubicBezTo>
                <a:cubicBezTo>
                  <a:pt x="4197" y="18750"/>
                  <a:pt x="0" y="14553"/>
                  <a:pt x="0" y="9375"/>
                </a:cubicBezTo>
                <a:cubicBezTo>
                  <a:pt x="0" y="9375"/>
                  <a:pt x="0" y="9375"/>
                  <a:pt x="0" y="9375"/>
                </a:cubicBezTo>
                <a:lnTo>
                  <a:pt x="0" y="9375"/>
                </a:lnTo>
                <a:cubicBezTo>
                  <a:pt x="0" y="9375"/>
                  <a:pt x="0" y="9375"/>
                  <a:pt x="0" y="9375"/>
                </a:cubicBezTo>
                <a:cubicBezTo>
                  <a:pt x="0" y="4197"/>
                  <a:pt x="4197" y="0"/>
                  <a:pt x="9375" y="0"/>
                </a:cubicBezTo>
                <a:cubicBezTo>
                  <a:pt x="9375" y="0"/>
                  <a:pt x="9375" y="0"/>
                  <a:pt x="9375"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21" name="Oval 45"/>
          <p:cNvSpPr/>
          <p:nvPr/>
        </p:nvSpPr>
        <p:spPr>
          <a:xfrm>
            <a:off x="8952230" y="1060450"/>
            <a:ext cx="38100" cy="3810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22" name="TextBox 46"/>
          <p:cNvSpPr txBox="1"/>
          <p:nvPr/>
        </p:nvSpPr>
        <p:spPr>
          <a:xfrm>
            <a:off x="9055100" y="965200"/>
            <a:ext cx="1003300" cy="228600"/>
          </a:xfrm>
          <a:prstGeom prst="rect">
            <a:avLst/>
          </a:prstGeom>
        </p:spPr>
        <p:txBody>
          <a:bodyPr wrap="square" lIns="0" tIns="0" rIns="0" bIns="0" anchor="ctr">
            <a:noAutofit/>
          </a:bodyPr>
          <a:lstStyle/>
          <a:p>
            <a:pPr>
              <a:lnSpc>
                <a:spcPct val="135000"/>
              </a:lnSpc>
            </a:pPr>
            <a:r>
              <a:rPr sz="460" b="1" spc="10">
                <a:solidFill>
                  <a:srgbClr val="0E6B5F"/>
                </a:solidFill>
                <a:latin typeface="Telegraf"/>
              </a:rPr>
              <a:t>Realtime</a:t>
            </a:r>
            <a:endParaRPr sz="460" b="1" spc="10">
              <a:solidFill>
                <a:srgbClr val="0E6B5F"/>
              </a:solidFill>
              <a:latin typeface="Telegraf"/>
            </a:endParaRPr>
          </a:p>
        </p:txBody>
      </p:sp>
      <p:sp>
        <p:nvSpPr>
          <p:cNvPr id="1323" name="Rectangle 47"/>
          <p:cNvSpPr/>
          <p:nvPr/>
        </p:nvSpPr>
        <p:spPr>
          <a:xfrm>
            <a:off x="762000" y="1371600"/>
            <a:ext cx="2235200" cy="787400"/>
          </a:xfrm>
          <a:custGeom>
            <a:avLst/>
            <a:gdLst/>
            <a:ahLst/>
            <a:cxnLst/>
            <a:rect l="l" t="t" r="r" b="b"/>
            <a:pathLst>
              <a:path w="100000" h="35227">
                <a:moveTo>
                  <a:pt x="86364" y="0"/>
                </a:moveTo>
                <a:cubicBezTo>
                  <a:pt x="92792" y="0"/>
                  <a:pt x="96006" y="0"/>
                  <a:pt x="98003" y="1997"/>
                </a:cubicBezTo>
                <a:cubicBezTo>
                  <a:pt x="98003" y="1997"/>
                  <a:pt x="98003" y="1997"/>
                  <a:pt x="98003" y="1997"/>
                </a:cubicBezTo>
                <a:cubicBezTo>
                  <a:pt x="100000" y="3994"/>
                  <a:pt x="100000" y="7208"/>
                  <a:pt x="100000" y="13636"/>
                </a:cubicBezTo>
                <a:lnTo>
                  <a:pt x="100000" y="21591"/>
                </a:lnTo>
                <a:cubicBezTo>
                  <a:pt x="100000" y="28019"/>
                  <a:pt x="100000" y="31234"/>
                  <a:pt x="98003" y="33230"/>
                </a:cubicBezTo>
                <a:cubicBezTo>
                  <a:pt x="98003" y="33230"/>
                  <a:pt x="98003" y="33230"/>
                  <a:pt x="98003" y="33230"/>
                </a:cubicBezTo>
                <a:cubicBezTo>
                  <a:pt x="96006" y="35227"/>
                  <a:pt x="92792" y="35227"/>
                  <a:pt x="86364" y="35227"/>
                </a:cubicBezTo>
                <a:lnTo>
                  <a:pt x="13636" y="35227"/>
                </a:lnTo>
                <a:cubicBezTo>
                  <a:pt x="7208" y="35227"/>
                  <a:pt x="3994" y="35227"/>
                  <a:pt x="1997" y="33230"/>
                </a:cubicBezTo>
                <a:cubicBezTo>
                  <a:pt x="1997" y="33230"/>
                  <a:pt x="1997" y="33230"/>
                  <a:pt x="1997" y="33230"/>
                </a:cubicBezTo>
                <a:cubicBezTo>
                  <a:pt x="0" y="31234"/>
                  <a:pt x="0" y="28019"/>
                  <a:pt x="0" y="21591"/>
                </a:cubicBezTo>
                <a:lnTo>
                  <a:pt x="0" y="13636"/>
                </a:lnTo>
                <a:cubicBezTo>
                  <a:pt x="0" y="7208"/>
                  <a:pt x="0" y="3994"/>
                  <a:pt x="1997" y="1997"/>
                </a:cubicBezTo>
                <a:cubicBezTo>
                  <a:pt x="1997" y="1997"/>
                  <a:pt x="1997" y="1997"/>
                  <a:pt x="1997" y="1997"/>
                </a:cubicBezTo>
                <a:cubicBezTo>
                  <a:pt x="3994" y="0"/>
                  <a:pt x="7208" y="0"/>
                  <a:pt x="136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24" name="TextBox 48"/>
          <p:cNvSpPr txBox="1"/>
          <p:nvPr/>
        </p:nvSpPr>
        <p:spPr>
          <a:xfrm>
            <a:off x="939800" y="1524000"/>
            <a:ext cx="1879600" cy="114300"/>
          </a:xfrm>
          <a:prstGeom prst="rect">
            <a:avLst/>
          </a:prstGeom>
        </p:spPr>
        <p:txBody>
          <a:bodyPr wrap="square" lIns="0" tIns="0" rIns="0" bIns="0">
            <a:noAutofit/>
          </a:bodyPr>
          <a:lstStyle/>
          <a:p>
            <a:r>
              <a:rPr sz="450" b="1" spc="115">
                <a:solidFill>
                  <a:srgbClr val="A2A2A8"/>
                </a:solidFill>
                <a:latin typeface="Telegraf"/>
              </a:rPr>
              <a:t>TICKETS TODAY</a:t>
            </a:r>
            <a:endParaRPr sz="450" b="1" spc="115">
              <a:solidFill>
                <a:srgbClr val="A2A2A8"/>
              </a:solidFill>
              <a:latin typeface="Telegraf"/>
            </a:endParaRPr>
          </a:p>
        </p:txBody>
      </p:sp>
      <p:sp>
        <p:nvSpPr>
          <p:cNvPr id="1325" name="TextBox 49"/>
          <p:cNvSpPr txBox="1"/>
          <p:nvPr/>
        </p:nvSpPr>
        <p:spPr>
          <a:xfrm>
            <a:off x="927100" y="1638300"/>
            <a:ext cx="1143000" cy="431800"/>
          </a:xfrm>
          <a:prstGeom prst="rect">
            <a:avLst/>
          </a:prstGeom>
        </p:spPr>
        <p:txBody>
          <a:bodyPr wrap="square" lIns="0" tIns="0" rIns="0" bIns="0">
            <a:noAutofit/>
          </a:bodyPr>
          <a:lstStyle/>
          <a:p>
            <a:pPr>
              <a:lnSpc>
                <a:spcPct val="102000"/>
              </a:lnSpc>
            </a:pPr>
            <a:r>
              <a:rPr sz="2300" spc="-100">
                <a:solidFill>
                  <a:srgbClr val="0A0A0A"/>
                </a:solidFill>
                <a:latin typeface="PP Editorial New Ultralight"/>
              </a:rPr>
              <a:t>128</a:t>
            </a:r>
            <a:endParaRPr sz="2300" spc="-100">
              <a:solidFill>
                <a:srgbClr val="0A0A0A"/>
              </a:solidFill>
              <a:latin typeface="PP Editorial New Ultralight"/>
            </a:endParaRPr>
          </a:p>
        </p:txBody>
      </p:sp>
      <p:sp>
        <p:nvSpPr>
          <p:cNvPr id="1326" name="TextBox 50"/>
          <p:cNvSpPr txBox="1"/>
          <p:nvPr/>
        </p:nvSpPr>
        <p:spPr>
          <a:xfrm>
            <a:off x="939800" y="1930400"/>
            <a:ext cx="1879600" cy="152400"/>
          </a:xfrm>
          <a:prstGeom prst="rect">
            <a:avLst/>
          </a:prstGeom>
        </p:spPr>
        <p:txBody>
          <a:bodyPr wrap="square" lIns="0" tIns="0" rIns="0" bIns="0">
            <a:noAutofit/>
          </a:bodyPr>
          <a:lstStyle/>
          <a:p>
            <a:pPr>
              <a:lnSpc>
                <a:spcPct val="130000"/>
              </a:lnSpc>
            </a:pPr>
            <a:r>
              <a:rPr sz="470" spc="0">
                <a:solidFill>
                  <a:srgbClr val="67676E"/>
                </a:solidFill>
                <a:latin typeface="Telegraf"/>
              </a:rPr>
              <a:t>+18 vs last Friday</a:t>
            </a:r>
            <a:endParaRPr sz="470" spc="0">
              <a:solidFill>
                <a:srgbClr val="67676E"/>
              </a:solidFill>
              <a:latin typeface="Telegraf"/>
            </a:endParaRPr>
          </a:p>
        </p:txBody>
      </p:sp>
      <p:sp>
        <p:nvSpPr>
          <p:cNvPr id="1327" name="Rectangle 51"/>
          <p:cNvSpPr/>
          <p:nvPr/>
        </p:nvSpPr>
        <p:spPr>
          <a:xfrm>
            <a:off x="3124200" y="1371600"/>
            <a:ext cx="2235200" cy="787400"/>
          </a:xfrm>
          <a:custGeom>
            <a:avLst/>
            <a:gdLst/>
            <a:ahLst/>
            <a:cxnLst/>
            <a:rect l="l" t="t" r="r" b="b"/>
            <a:pathLst>
              <a:path w="100000" h="35227">
                <a:moveTo>
                  <a:pt x="86364" y="0"/>
                </a:moveTo>
                <a:cubicBezTo>
                  <a:pt x="92792" y="0"/>
                  <a:pt x="96006" y="0"/>
                  <a:pt x="98003" y="1997"/>
                </a:cubicBezTo>
                <a:cubicBezTo>
                  <a:pt x="98003" y="1997"/>
                  <a:pt x="98003" y="1997"/>
                  <a:pt x="98003" y="1997"/>
                </a:cubicBezTo>
                <a:cubicBezTo>
                  <a:pt x="100000" y="3994"/>
                  <a:pt x="100000" y="7208"/>
                  <a:pt x="100000" y="13636"/>
                </a:cubicBezTo>
                <a:lnTo>
                  <a:pt x="100000" y="21591"/>
                </a:lnTo>
                <a:cubicBezTo>
                  <a:pt x="100000" y="28019"/>
                  <a:pt x="100000" y="31234"/>
                  <a:pt x="98003" y="33230"/>
                </a:cubicBezTo>
                <a:cubicBezTo>
                  <a:pt x="98003" y="33230"/>
                  <a:pt x="98003" y="33230"/>
                  <a:pt x="98003" y="33230"/>
                </a:cubicBezTo>
                <a:cubicBezTo>
                  <a:pt x="96006" y="35227"/>
                  <a:pt x="92792" y="35227"/>
                  <a:pt x="86364" y="35227"/>
                </a:cubicBezTo>
                <a:lnTo>
                  <a:pt x="13636" y="35227"/>
                </a:lnTo>
                <a:cubicBezTo>
                  <a:pt x="7208" y="35227"/>
                  <a:pt x="3994" y="35227"/>
                  <a:pt x="1997" y="33230"/>
                </a:cubicBezTo>
                <a:cubicBezTo>
                  <a:pt x="1997" y="33230"/>
                  <a:pt x="1997" y="33230"/>
                  <a:pt x="1997" y="33230"/>
                </a:cubicBezTo>
                <a:cubicBezTo>
                  <a:pt x="0" y="31234"/>
                  <a:pt x="0" y="28019"/>
                  <a:pt x="0" y="21591"/>
                </a:cubicBezTo>
                <a:lnTo>
                  <a:pt x="0" y="13636"/>
                </a:lnTo>
                <a:cubicBezTo>
                  <a:pt x="0" y="7208"/>
                  <a:pt x="0" y="3994"/>
                  <a:pt x="1997" y="1997"/>
                </a:cubicBezTo>
                <a:cubicBezTo>
                  <a:pt x="1997" y="1997"/>
                  <a:pt x="1997" y="1997"/>
                  <a:pt x="1997" y="1997"/>
                </a:cubicBezTo>
                <a:cubicBezTo>
                  <a:pt x="3994" y="0"/>
                  <a:pt x="7208" y="0"/>
                  <a:pt x="136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28" name="TextBox 52"/>
          <p:cNvSpPr txBox="1"/>
          <p:nvPr/>
        </p:nvSpPr>
        <p:spPr>
          <a:xfrm>
            <a:off x="3302000" y="1524000"/>
            <a:ext cx="1879600" cy="114300"/>
          </a:xfrm>
          <a:prstGeom prst="rect">
            <a:avLst/>
          </a:prstGeom>
        </p:spPr>
        <p:txBody>
          <a:bodyPr wrap="square" lIns="0" tIns="0" rIns="0" bIns="0">
            <a:noAutofit/>
          </a:bodyPr>
          <a:lstStyle/>
          <a:p>
            <a:r>
              <a:rPr sz="450" b="1" spc="115">
                <a:solidFill>
                  <a:srgbClr val="A2A2A8"/>
                </a:solidFill>
                <a:latin typeface="Telegraf"/>
              </a:rPr>
              <a:t>AUTO-SENT</a:t>
            </a:r>
            <a:endParaRPr sz="450" b="1" spc="115">
              <a:solidFill>
                <a:srgbClr val="A2A2A8"/>
              </a:solidFill>
              <a:latin typeface="Telegraf"/>
            </a:endParaRPr>
          </a:p>
        </p:txBody>
      </p:sp>
      <p:sp>
        <p:nvSpPr>
          <p:cNvPr id="1329" name="TextBox 53"/>
          <p:cNvSpPr txBox="1"/>
          <p:nvPr/>
        </p:nvSpPr>
        <p:spPr>
          <a:xfrm>
            <a:off x="3289300" y="1638300"/>
            <a:ext cx="1143000" cy="431800"/>
          </a:xfrm>
          <a:prstGeom prst="rect">
            <a:avLst/>
          </a:prstGeom>
        </p:spPr>
        <p:txBody>
          <a:bodyPr wrap="square" lIns="0" tIns="0" rIns="0" bIns="0">
            <a:noAutofit/>
          </a:bodyPr>
          <a:lstStyle/>
          <a:p>
            <a:pPr>
              <a:lnSpc>
                <a:spcPct val="102000"/>
              </a:lnSpc>
            </a:pPr>
            <a:r>
              <a:rPr sz="2300" spc="-100">
                <a:solidFill>
                  <a:srgbClr val="0A0A0A"/>
                </a:solidFill>
                <a:latin typeface="PP Editorial New Ultralight"/>
              </a:rPr>
              <a:t>94</a:t>
            </a:r>
            <a:endParaRPr sz="2300" spc="-100">
              <a:solidFill>
                <a:srgbClr val="0A0A0A"/>
              </a:solidFill>
              <a:latin typeface="PP Editorial New Ultralight"/>
            </a:endParaRPr>
          </a:p>
        </p:txBody>
      </p:sp>
      <p:sp>
        <p:nvSpPr>
          <p:cNvPr id="1330" name="TextBox 54"/>
          <p:cNvSpPr txBox="1"/>
          <p:nvPr/>
        </p:nvSpPr>
        <p:spPr>
          <a:xfrm>
            <a:off x="3302000" y="1930400"/>
            <a:ext cx="1879600" cy="152400"/>
          </a:xfrm>
          <a:prstGeom prst="rect">
            <a:avLst/>
          </a:prstGeom>
        </p:spPr>
        <p:txBody>
          <a:bodyPr wrap="square" lIns="0" tIns="0" rIns="0" bIns="0">
            <a:noAutofit/>
          </a:bodyPr>
          <a:lstStyle/>
          <a:p>
            <a:pPr>
              <a:lnSpc>
                <a:spcPct val="130000"/>
              </a:lnSpc>
            </a:pPr>
            <a:r>
              <a:rPr sz="470" spc="0">
                <a:solidFill>
                  <a:srgbClr val="67676E"/>
                </a:solidFill>
                <a:latin typeface="Telegraf"/>
              </a:rPr>
              <a:t>R6 · grounded and cited</a:t>
            </a:r>
            <a:endParaRPr sz="470" spc="0">
              <a:solidFill>
                <a:srgbClr val="67676E"/>
              </a:solidFill>
              <a:latin typeface="Telegraf"/>
            </a:endParaRPr>
          </a:p>
        </p:txBody>
      </p:sp>
      <p:sp>
        <p:nvSpPr>
          <p:cNvPr id="1331" name="Freeform 1331"/>
          <p:cNvSpPr/>
          <p:nvPr/>
        </p:nvSpPr>
        <p:spPr>
          <a:xfrm>
            <a:off x="4744085" y="1643380"/>
            <a:ext cx="470535" cy="472313"/>
          </a:xfrm>
          <a:custGeom>
            <a:avLst/>
            <a:gdLst/>
            <a:ahLst/>
            <a:cxnLst/>
            <a:rect l="l" t="t" r="r" b="b"/>
            <a:pathLst>
              <a:path w="99624" h="100000">
                <a:moveTo>
                  <a:pt x="49610" y="0"/>
                </a:moveTo>
                <a:lnTo>
                  <a:pt x="53697" y="161"/>
                </a:lnTo>
                <a:lnTo>
                  <a:pt x="57757" y="672"/>
                </a:lnTo>
                <a:lnTo>
                  <a:pt x="61764" y="1506"/>
                </a:lnTo>
                <a:lnTo>
                  <a:pt x="65717" y="2662"/>
                </a:lnTo>
                <a:lnTo>
                  <a:pt x="69535" y="4141"/>
                </a:lnTo>
                <a:lnTo>
                  <a:pt x="73219" y="5916"/>
                </a:lnTo>
                <a:lnTo>
                  <a:pt x="76741" y="7986"/>
                </a:lnTo>
                <a:lnTo>
                  <a:pt x="80075" y="10352"/>
                </a:lnTo>
                <a:lnTo>
                  <a:pt x="83221" y="12987"/>
                </a:lnTo>
                <a:lnTo>
                  <a:pt x="86152" y="15864"/>
                </a:lnTo>
                <a:lnTo>
                  <a:pt x="88814" y="18957"/>
                </a:lnTo>
                <a:lnTo>
                  <a:pt x="91234" y="22264"/>
                </a:lnTo>
                <a:lnTo>
                  <a:pt x="93358" y="25760"/>
                </a:lnTo>
                <a:lnTo>
                  <a:pt x="95187" y="29443"/>
                </a:lnTo>
                <a:lnTo>
                  <a:pt x="96720" y="33235"/>
                </a:lnTo>
                <a:lnTo>
                  <a:pt x="97930" y="37134"/>
                </a:lnTo>
                <a:lnTo>
                  <a:pt x="98817" y="41140"/>
                </a:lnTo>
                <a:lnTo>
                  <a:pt x="99382" y="45200"/>
                </a:lnTo>
                <a:lnTo>
                  <a:pt x="99624" y="49287"/>
                </a:lnTo>
                <a:lnTo>
                  <a:pt x="99516" y="53375"/>
                </a:lnTo>
                <a:lnTo>
                  <a:pt x="99059" y="57462"/>
                </a:lnTo>
                <a:lnTo>
                  <a:pt x="98306" y="61468"/>
                </a:lnTo>
                <a:lnTo>
                  <a:pt x="97204" y="65421"/>
                </a:lnTo>
                <a:lnTo>
                  <a:pt x="95778" y="69266"/>
                </a:lnTo>
                <a:lnTo>
                  <a:pt x="94058" y="72977"/>
                </a:lnTo>
                <a:lnTo>
                  <a:pt x="92014" y="76526"/>
                </a:lnTo>
                <a:lnTo>
                  <a:pt x="89702" y="79914"/>
                </a:lnTo>
                <a:lnTo>
                  <a:pt x="87120" y="83087"/>
                </a:lnTo>
                <a:lnTo>
                  <a:pt x="84297" y="86045"/>
                </a:lnTo>
                <a:lnTo>
                  <a:pt x="81232" y="88760"/>
                </a:lnTo>
                <a:lnTo>
                  <a:pt x="77951" y="91207"/>
                </a:lnTo>
                <a:lnTo>
                  <a:pt x="74482" y="93412"/>
                </a:lnTo>
                <a:lnTo>
                  <a:pt x="70852" y="95294"/>
                </a:lnTo>
                <a:lnTo>
                  <a:pt x="67088" y="96881"/>
                </a:lnTo>
                <a:lnTo>
                  <a:pt x="63189" y="98145"/>
                </a:lnTo>
                <a:lnTo>
                  <a:pt x="59209" y="99086"/>
                </a:lnTo>
                <a:lnTo>
                  <a:pt x="55149" y="99731"/>
                </a:lnTo>
                <a:lnTo>
                  <a:pt x="51062" y="100000"/>
                </a:lnTo>
                <a:lnTo>
                  <a:pt x="46975" y="99946"/>
                </a:lnTo>
                <a:lnTo>
                  <a:pt x="42888" y="99570"/>
                </a:lnTo>
                <a:lnTo>
                  <a:pt x="38855" y="98871"/>
                </a:lnTo>
                <a:lnTo>
                  <a:pt x="34902" y="97822"/>
                </a:lnTo>
                <a:lnTo>
                  <a:pt x="31030" y="96451"/>
                </a:lnTo>
                <a:lnTo>
                  <a:pt x="27292" y="94784"/>
                </a:lnTo>
                <a:lnTo>
                  <a:pt x="23716" y="92794"/>
                </a:lnTo>
                <a:lnTo>
                  <a:pt x="20301" y="90535"/>
                </a:lnTo>
                <a:lnTo>
                  <a:pt x="17074" y="88008"/>
                </a:lnTo>
                <a:lnTo>
                  <a:pt x="14090" y="85211"/>
                </a:lnTo>
                <a:lnTo>
                  <a:pt x="11320" y="82200"/>
                </a:lnTo>
                <a:lnTo>
                  <a:pt x="8820" y="78946"/>
                </a:lnTo>
                <a:lnTo>
                  <a:pt x="6588" y="75531"/>
                </a:lnTo>
                <a:lnTo>
                  <a:pt x="4652" y="71928"/>
                </a:lnTo>
                <a:lnTo>
                  <a:pt x="3012" y="68163"/>
                </a:lnTo>
                <a:lnTo>
                  <a:pt x="1667" y="64291"/>
                </a:lnTo>
                <a:lnTo>
                  <a:pt x="672" y="60312"/>
                </a:lnTo>
                <a:lnTo>
                  <a:pt x="0" y="56279"/>
                </a:lnTo>
                <a:lnTo>
                  <a:pt x="13875" y="54531"/>
                </a:lnTo>
                <a:lnTo>
                  <a:pt x="14359" y="57435"/>
                </a:lnTo>
                <a:lnTo>
                  <a:pt x="15085" y="60312"/>
                </a:lnTo>
                <a:lnTo>
                  <a:pt x="16026" y="63081"/>
                </a:lnTo>
                <a:lnTo>
                  <a:pt x="17209" y="65797"/>
                </a:lnTo>
                <a:lnTo>
                  <a:pt x="18607" y="68379"/>
                </a:lnTo>
                <a:lnTo>
                  <a:pt x="20220" y="70852"/>
                </a:lnTo>
                <a:lnTo>
                  <a:pt x="22022" y="73192"/>
                </a:lnTo>
                <a:lnTo>
                  <a:pt x="24012" y="75370"/>
                </a:lnTo>
                <a:lnTo>
                  <a:pt x="26190" y="77386"/>
                </a:lnTo>
                <a:lnTo>
                  <a:pt x="28502" y="79215"/>
                </a:lnTo>
                <a:lnTo>
                  <a:pt x="30949" y="80828"/>
                </a:lnTo>
                <a:lnTo>
                  <a:pt x="33531" y="82253"/>
                </a:lnTo>
                <a:lnTo>
                  <a:pt x="36246" y="83463"/>
                </a:lnTo>
                <a:lnTo>
                  <a:pt x="39016" y="84458"/>
                </a:lnTo>
                <a:lnTo>
                  <a:pt x="41866" y="85211"/>
                </a:lnTo>
                <a:lnTo>
                  <a:pt x="44770" y="85722"/>
                </a:lnTo>
                <a:lnTo>
                  <a:pt x="47701" y="85991"/>
                </a:lnTo>
                <a:lnTo>
                  <a:pt x="50659" y="86018"/>
                </a:lnTo>
                <a:lnTo>
                  <a:pt x="53617" y="85830"/>
                </a:lnTo>
                <a:lnTo>
                  <a:pt x="56521" y="85372"/>
                </a:lnTo>
                <a:lnTo>
                  <a:pt x="59398" y="84700"/>
                </a:lnTo>
                <a:lnTo>
                  <a:pt x="62194" y="83786"/>
                </a:lnTo>
                <a:lnTo>
                  <a:pt x="64910" y="82630"/>
                </a:lnTo>
                <a:lnTo>
                  <a:pt x="67545" y="81258"/>
                </a:lnTo>
                <a:lnTo>
                  <a:pt x="70019" y="79699"/>
                </a:lnTo>
                <a:lnTo>
                  <a:pt x="72385" y="77924"/>
                </a:lnTo>
                <a:lnTo>
                  <a:pt x="74590" y="75961"/>
                </a:lnTo>
                <a:lnTo>
                  <a:pt x="76634" y="73837"/>
                </a:lnTo>
                <a:lnTo>
                  <a:pt x="78489" y="71551"/>
                </a:lnTo>
                <a:lnTo>
                  <a:pt x="80156" y="69105"/>
                </a:lnTo>
                <a:lnTo>
                  <a:pt x="81635" y="66550"/>
                </a:lnTo>
                <a:lnTo>
                  <a:pt x="82872" y="63888"/>
                </a:lnTo>
                <a:lnTo>
                  <a:pt x="83894" y="61119"/>
                </a:lnTo>
                <a:lnTo>
                  <a:pt x="84673" y="58268"/>
                </a:lnTo>
                <a:lnTo>
                  <a:pt x="85238" y="55364"/>
                </a:lnTo>
                <a:lnTo>
                  <a:pt x="85561" y="52433"/>
                </a:lnTo>
                <a:lnTo>
                  <a:pt x="85641" y="49476"/>
                </a:lnTo>
                <a:lnTo>
                  <a:pt x="85480" y="46545"/>
                </a:lnTo>
                <a:lnTo>
                  <a:pt x="85077" y="43614"/>
                </a:lnTo>
                <a:lnTo>
                  <a:pt x="84431" y="40737"/>
                </a:lnTo>
                <a:lnTo>
                  <a:pt x="83544" y="37913"/>
                </a:lnTo>
                <a:lnTo>
                  <a:pt x="82442" y="35198"/>
                </a:lnTo>
                <a:lnTo>
                  <a:pt x="81124" y="32563"/>
                </a:lnTo>
                <a:lnTo>
                  <a:pt x="79591" y="30035"/>
                </a:lnTo>
                <a:lnTo>
                  <a:pt x="77844" y="27642"/>
                </a:lnTo>
                <a:lnTo>
                  <a:pt x="75934" y="25410"/>
                </a:lnTo>
                <a:lnTo>
                  <a:pt x="73837" y="23340"/>
                </a:lnTo>
                <a:lnTo>
                  <a:pt x="71578" y="21457"/>
                </a:lnTo>
                <a:lnTo>
                  <a:pt x="69158" y="19736"/>
                </a:lnTo>
                <a:lnTo>
                  <a:pt x="66604" y="18258"/>
                </a:lnTo>
                <a:lnTo>
                  <a:pt x="63969" y="16967"/>
                </a:lnTo>
                <a:lnTo>
                  <a:pt x="61199" y="15891"/>
                </a:lnTo>
                <a:lnTo>
                  <a:pt x="58376" y="15058"/>
                </a:lnTo>
                <a:lnTo>
                  <a:pt x="55499" y="14466"/>
                </a:lnTo>
                <a:lnTo>
                  <a:pt x="52568" y="14090"/>
                </a:lnTo>
                <a:lnTo>
                  <a:pt x="49610" y="13982"/>
                </a:ln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32" name="Freeform 1332"/>
          <p:cNvSpPr/>
          <p:nvPr/>
        </p:nvSpPr>
        <p:spPr>
          <a:xfrm>
            <a:off x="4742180" y="1643380"/>
            <a:ext cx="236220" cy="265811"/>
          </a:xfrm>
          <a:custGeom>
            <a:avLst/>
            <a:gdLst/>
            <a:ahLst/>
            <a:cxnLst/>
            <a:rect l="l" t="t" r="r" b="b"/>
            <a:pathLst>
              <a:path w="88868" h="100000">
                <a:moveTo>
                  <a:pt x="717" y="100000"/>
                </a:moveTo>
                <a:lnTo>
                  <a:pt x="382" y="97324"/>
                </a:lnTo>
                <a:lnTo>
                  <a:pt x="191" y="94649"/>
                </a:lnTo>
                <a:lnTo>
                  <a:pt x="48" y="91973"/>
                </a:lnTo>
                <a:lnTo>
                  <a:pt x="0" y="89250"/>
                </a:lnTo>
                <a:lnTo>
                  <a:pt x="48" y="86574"/>
                </a:lnTo>
                <a:lnTo>
                  <a:pt x="143" y="83899"/>
                </a:lnTo>
                <a:lnTo>
                  <a:pt x="334" y="81223"/>
                </a:lnTo>
                <a:lnTo>
                  <a:pt x="621" y="78500"/>
                </a:lnTo>
                <a:lnTo>
                  <a:pt x="956" y="75872"/>
                </a:lnTo>
                <a:lnTo>
                  <a:pt x="1386" y="73196"/>
                </a:lnTo>
                <a:lnTo>
                  <a:pt x="1911" y="70569"/>
                </a:lnTo>
                <a:lnTo>
                  <a:pt x="2484" y="67941"/>
                </a:lnTo>
                <a:lnTo>
                  <a:pt x="3153" y="65313"/>
                </a:lnTo>
                <a:lnTo>
                  <a:pt x="3918" y="62733"/>
                </a:lnTo>
                <a:lnTo>
                  <a:pt x="4778" y="60153"/>
                </a:lnTo>
                <a:lnTo>
                  <a:pt x="5686" y="57621"/>
                </a:lnTo>
                <a:lnTo>
                  <a:pt x="6641" y="55136"/>
                </a:lnTo>
                <a:lnTo>
                  <a:pt x="7692" y="52652"/>
                </a:lnTo>
                <a:lnTo>
                  <a:pt x="8839" y="50215"/>
                </a:lnTo>
                <a:lnTo>
                  <a:pt x="10033" y="47826"/>
                </a:lnTo>
                <a:lnTo>
                  <a:pt x="11323" y="45437"/>
                </a:lnTo>
                <a:lnTo>
                  <a:pt x="12661" y="43096"/>
                </a:lnTo>
                <a:lnTo>
                  <a:pt x="14095" y="40850"/>
                </a:lnTo>
                <a:lnTo>
                  <a:pt x="15576" y="38605"/>
                </a:lnTo>
                <a:lnTo>
                  <a:pt x="17152" y="36407"/>
                </a:lnTo>
                <a:lnTo>
                  <a:pt x="18777" y="34257"/>
                </a:lnTo>
                <a:lnTo>
                  <a:pt x="20449" y="32155"/>
                </a:lnTo>
                <a:lnTo>
                  <a:pt x="22217" y="30100"/>
                </a:lnTo>
                <a:lnTo>
                  <a:pt x="24032" y="28094"/>
                </a:lnTo>
                <a:lnTo>
                  <a:pt x="25896" y="26183"/>
                </a:lnTo>
                <a:lnTo>
                  <a:pt x="27807" y="24271"/>
                </a:lnTo>
                <a:lnTo>
                  <a:pt x="29814" y="22456"/>
                </a:lnTo>
                <a:lnTo>
                  <a:pt x="31820" y="20736"/>
                </a:lnTo>
                <a:lnTo>
                  <a:pt x="33923" y="19016"/>
                </a:lnTo>
                <a:lnTo>
                  <a:pt x="36073" y="17391"/>
                </a:lnTo>
                <a:lnTo>
                  <a:pt x="38270" y="15815"/>
                </a:lnTo>
                <a:lnTo>
                  <a:pt x="40516" y="14333"/>
                </a:lnTo>
                <a:lnTo>
                  <a:pt x="42762" y="12900"/>
                </a:lnTo>
                <a:lnTo>
                  <a:pt x="45103" y="11515"/>
                </a:lnTo>
                <a:lnTo>
                  <a:pt x="47444" y="10225"/>
                </a:lnTo>
                <a:lnTo>
                  <a:pt x="49881" y="9030"/>
                </a:lnTo>
                <a:lnTo>
                  <a:pt x="52317" y="7883"/>
                </a:lnTo>
                <a:lnTo>
                  <a:pt x="54754" y="6785"/>
                </a:lnTo>
                <a:lnTo>
                  <a:pt x="57286" y="5829"/>
                </a:lnTo>
                <a:lnTo>
                  <a:pt x="59818" y="4873"/>
                </a:lnTo>
                <a:lnTo>
                  <a:pt x="62351" y="4061"/>
                </a:lnTo>
                <a:lnTo>
                  <a:pt x="64931" y="3297"/>
                </a:lnTo>
                <a:lnTo>
                  <a:pt x="67559" y="2580"/>
                </a:lnTo>
                <a:lnTo>
                  <a:pt x="70186" y="2007"/>
                </a:lnTo>
                <a:lnTo>
                  <a:pt x="72814" y="1481"/>
                </a:lnTo>
                <a:lnTo>
                  <a:pt x="75442" y="1003"/>
                </a:lnTo>
                <a:lnTo>
                  <a:pt x="78118" y="669"/>
                </a:lnTo>
                <a:lnTo>
                  <a:pt x="80793" y="382"/>
                </a:lnTo>
                <a:lnTo>
                  <a:pt x="83469" y="143"/>
                </a:lnTo>
                <a:lnTo>
                  <a:pt x="86192" y="48"/>
                </a:lnTo>
                <a:lnTo>
                  <a:pt x="88868" y="0"/>
                </a:lnTo>
                <a:lnTo>
                  <a:pt x="88868" y="24845"/>
                </a:lnTo>
                <a:lnTo>
                  <a:pt x="86909" y="24892"/>
                </a:lnTo>
                <a:lnTo>
                  <a:pt x="84998" y="24940"/>
                </a:lnTo>
                <a:lnTo>
                  <a:pt x="83039" y="25131"/>
                </a:lnTo>
                <a:lnTo>
                  <a:pt x="81128" y="25323"/>
                </a:lnTo>
                <a:lnTo>
                  <a:pt x="79216" y="25561"/>
                </a:lnTo>
                <a:lnTo>
                  <a:pt x="77305" y="25896"/>
                </a:lnTo>
                <a:lnTo>
                  <a:pt x="75394" y="26278"/>
                </a:lnTo>
                <a:lnTo>
                  <a:pt x="73483" y="26708"/>
                </a:lnTo>
                <a:lnTo>
                  <a:pt x="71620" y="27186"/>
                </a:lnTo>
                <a:lnTo>
                  <a:pt x="69756" y="27759"/>
                </a:lnTo>
                <a:lnTo>
                  <a:pt x="67941" y="28380"/>
                </a:lnTo>
                <a:lnTo>
                  <a:pt x="66125" y="29049"/>
                </a:lnTo>
                <a:lnTo>
                  <a:pt x="64310" y="29766"/>
                </a:lnTo>
                <a:lnTo>
                  <a:pt x="62542" y="30530"/>
                </a:lnTo>
                <a:lnTo>
                  <a:pt x="60774" y="31343"/>
                </a:lnTo>
                <a:lnTo>
                  <a:pt x="59054" y="32203"/>
                </a:lnTo>
                <a:lnTo>
                  <a:pt x="57334" y="33158"/>
                </a:lnTo>
                <a:lnTo>
                  <a:pt x="55662" y="34114"/>
                </a:lnTo>
                <a:lnTo>
                  <a:pt x="54037" y="35165"/>
                </a:lnTo>
                <a:lnTo>
                  <a:pt x="52413" y="36264"/>
                </a:lnTo>
                <a:lnTo>
                  <a:pt x="50836" y="37363"/>
                </a:lnTo>
                <a:lnTo>
                  <a:pt x="49307" y="38557"/>
                </a:lnTo>
                <a:lnTo>
                  <a:pt x="47778" y="39752"/>
                </a:lnTo>
                <a:lnTo>
                  <a:pt x="46297" y="41042"/>
                </a:lnTo>
                <a:lnTo>
                  <a:pt x="44864" y="42332"/>
                </a:lnTo>
                <a:lnTo>
                  <a:pt x="43478" y="43717"/>
                </a:lnTo>
                <a:lnTo>
                  <a:pt x="42140" y="45103"/>
                </a:lnTo>
                <a:lnTo>
                  <a:pt x="40850" y="46536"/>
                </a:lnTo>
                <a:lnTo>
                  <a:pt x="39560" y="48017"/>
                </a:lnTo>
                <a:lnTo>
                  <a:pt x="38366" y="49498"/>
                </a:lnTo>
                <a:lnTo>
                  <a:pt x="37219" y="51075"/>
                </a:lnTo>
                <a:lnTo>
                  <a:pt x="36073" y="52652"/>
                </a:lnTo>
                <a:lnTo>
                  <a:pt x="35022" y="54276"/>
                </a:lnTo>
                <a:lnTo>
                  <a:pt x="33970" y="55901"/>
                </a:lnTo>
                <a:lnTo>
                  <a:pt x="33015" y="57573"/>
                </a:lnTo>
                <a:lnTo>
                  <a:pt x="32107" y="59293"/>
                </a:lnTo>
                <a:lnTo>
                  <a:pt x="31199" y="61013"/>
                </a:lnTo>
                <a:lnTo>
                  <a:pt x="30387" y="62781"/>
                </a:lnTo>
                <a:lnTo>
                  <a:pt x="29623" y="64548"/>
                </a:lnTo>
                <a:lnTo>
                  <a:pt x="28906" y="66364"/>
                </a:lnTo>
                <a:lnTo>
                  <a:pt x="28285" y="68180"/>
                </a:lnTo>
                <a:lnTo>
                  <a:pt x="27664" y="70043"/>
                </a:lnTo>
                <a:lnTo>
                  <a:pt x="27138" y="71906"/>
                </a:lnTo>
                <a:lnTo>
                  <a:pt x="26660" y="73770"/>
                </a:lnTo>
                <a:lnTo>
                  <a:pt x="26230" y="75681"/>
                </a:lnTo>
                <a:lnTo>
                  <a:pt x="25848" y="77592"/>
                </a:lnTo>
                <a:lnTo>
                  <a:pt x="25514" y="79503"/>
                </a:lnTo>
                <a:lnTo>
                  <a:pt x="25275" y="81414"/>
                </a:lnTo>
                <a:lnTo>
                  <a:pt x="25084" y="83325"/>
                </a:lnTo>
                <a:lnTo>
                  <a:pt x="24940" y="85284"/>
                </a:lnTo>
                <a:lnTo>
                  <a:pt x="24845" y="87195"/>
                </a:lnTo>
                <a:lnTo>
                  <a:pt x="24845" y="89154"/>
                </a:lnTo>
                <a:lnTo>
                  <a:pt x="24892" y="91113"/>
                </a:lnTo>
                <a:lnTo>
                  <a:pt x="24988" y="93024"/>
                </a:lnTo>
                <a:lnTo>
                  <a:pt x="25131" y="94983"/>
                </a:lnTo>
                <a:lnTo>
                  <a:pt x="25370" y="96894"/>
                </a:ln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33" name="Rectangle 57"/>
          <p:cNvSpPr/>
          <p:nvPr/>
        </p:nvSpPr>
        <p:spPr>
          <a:xfrm>
            <a:off x="5486400" y="1371600"/>
            <a:ext cx="2235200" cy="787400"/>
          </a:xfrm>
          <a:custGeom>
            <a:avLst/>
            <a:gdLst/>
            <a:ahLst/>
            <a:cxnLst/>
            <a:rect l="l" t="t" r="r" b="b"/>
            <a:pathLst>
              <a:path w="100000" h="35227">
                <a:moveTo>
                  <a:pt x="86364" y="0"/>
                </a:moveTo>
                <a:cubicBezTo>
                  <a:pt x="92792" y="0"/>
                  <a:pt x="96006" y="0"/>
                  <a:pt x="98003" y="1997"/>
                </a:cubicBezTo>
                <a:cubicBezTo>
                  <a:pt x="98003" y="1997"/>
                  <a:pt x="98003" y="1997"/>
                  <a:pt x="98003" y="1997"/>
                </a:cubicBezTo>
                <a:cubicBezTo>
                  <a:pt x="100000" y="3994"/>
                  <a:pt x="100000" y="7208"/>
                  <a:pt x="100000" y="13636"/>
                </a:cubicBezTo>
                <a:lnTo>
                  <a:pt x="100000" y="21591"/>
                </a:lnTo>
                <a:cubicBezTo>
                  <a:pt x="100000" y="28019"/>
                  <a:pt x="100000" y="31234"/>
                  <a:pt x="98003" y="33230"/>
                </a:cubicBezTo>
                <a:cubicBezTo>
                  <a:pt x="98003" y="33230"/>
                  <a:pt x="98003" y="33230"/>
                  <a:pt x="98003" y="33230"/>
                </a:cubicBezTo>
                <a:cubicBezTo>
                  <a:pt x="96006" y="35227"/>
                  <a:pt x="92792" y="35227"/>
                  <a:pt x="86364" y="35227"/>
                </a:cubicBezTo>
                <a:lnTo>
                  <a:pt x="13636" y="35227"/>
                </a:lnTo>
                <a:cubicBezTo>
                  <a:pt x="7208" y="35227"/>
                  <a:pt x="3994" y="35227"/>
                  <a:pt x="1997" y="33230"/>
                </a:cubicBezTo>
                <a:cubicBezTo>
                  <a:pt x="1997" y="33230"/>
                  <a:pt x="1997" y="33230"/>
                  <a:pt x="1997" y="33230"/>
                </a:cubicBezTo>
                <a:cubicBezTo>
                  <a:pt x="0" y="31234"/>
                  <a:pt x="0" y="28019"/>
                  <a:pt x="0" y="21591"/>
                </a:cubicBezTo>
                <a:lnTo>
                  <a:pt x="0" y="13636"/>
                </a:lnTo>
                <a:cubicBezTo>
                  <a:pt x="0" y="7208"/>
                  <a:pt x="0" y="3994"/>
                  <a:pt x="1997" y="1997"/>
                </a:cubicBezTo>
                <a:cubicBezTo>
                  <a:pt x="1997" y="1997"/>
                  <a:pt x="1997" y="1997"/>
                  <a:pt x="1997" y="1997"/>
                </a:cubicBezTo>
                <a:cubicBezTo>
                  <a:pt x="3994" y="0"/>
                  <a:pt x="7208" y="0"/>
                  <a:pt x="1363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34" name="TextBox 58"/>
          <p:cNvSpPr txBox="1"/>
          <p:nvPr/>
        </p:nvSpPr>
        <p:spPr>
          <a:xfrm>
            <a:off x="5664200" y="1524000"/>
            <a:ext cx="1879600" cy="114300"/>
          </a:xfrm>
          <a:prstGeom prst="rect">
            <a:avLst/>
          </a:prstGeom>
        </p:spPr>
        <p:txBody>
          <a:bodyPr wrap="square" lIns="0" tIns="0" rIns="0" bIns="0">
            <a:noAutofit/>
          </a:bodyPr>
          <a:lstStyle/>
          <a:p>
            <a:r>
              <a:rPr sz="450" b="1" spc="115">
                <a:solidFill>
                  <a:srgbClr val="A2A2A8"/>
                </a:solidFill>
                <a:latin typeface="Telegraf"/>
              </a:rPr>
              <a:t>ESCALATED</a:t>
            </a:r>
            <a:endParaRPr sz="450" b="1" spc="115">
              <a:solidFill>
                <a:srgbClr val="A2A2A8"/>
              </a:solidFill>
              <a:latin typeface="Telegraf"/>
            </a:endParaRPr>
          </a:p>
        </p:txBody>
      </p:sp>
      <p:sp>
        <p:nvSpPr>
          <p:cNvPr id="1335" name="TextBox 59"/>
          <p:cNvSpPr txBox="1"/>
          <p:nvPr/>
        </p:nvSpPr>
        <p:spPr>
          <a:xfrm>
            <a:off x="5651500" y="1638300"/>
            <a:ext cx="1143000" cy="431800"/>
          </a:xfrm>
          <a:prstGeom prst="rect">
            <a:avLst/>
          </a:prstGeom>
        </p:spPr>
        <p:txBody>
          <a:bodyPr wrap="square" lIns="0" tIns="0" rIns="0" bIns="0">
            <a:noAutofit/>
          </a:bodyPr>
          <a:lstStyle/>
          <a:p>
            <a:pPr>
              <a:lnSpc>
                <a:spcPct val="102000"/>
              </a:lnSpc>
            </a:pPr>
            <a:r>
              <a:rPr sz="2300" spc="-100">
                <a:solidFill>
                  <a:srgbClr val="0A0A0A"/>
                </a:solidFill>
                <a:latin typeface="PP Editorial New Ultralight"/>
              </a:rPr>
              <a:t>12</a:t>
            </a:r>
            <a:endParaRPr sz="2300" spc="-100">
              <a:solidFill>
                <a:srgbClr val="0A0A0A"/>
              </a:solidFill>
              <a:latin typeface="PP Editorial New Ultralight"/>
            </a:endParaRPr>
          </a:p>
        </p:txBody>
      </p:sp>
      <p:sp>
        <p:nvSpPr>
          <p:cNvPr id="1336" name="TextBox 60"/>
          <p:cNvSpPr txBox="1"/>
          <p:nvPr/>
        </p:nvSpPr>
        <p:spPr>
          <a:xfrm>
            <a:off x="5664200" y="1930400"/>
            <a:ext cx="1879600" cy="152400"/>
          </a:xfrm>
          <a:prstGeom prst="rect">
            <a:avLst/>
          </a:prstGeom>
        </p:spPr>
        <p:txBody>
          <a:bodyPr wrap="square" lIns="0" tIns="0" rIns="0" bIns="0">
            <a:noAutofit/>
          </a:bodyPr>
          <a:lstStyle/>
          <a:p>
            <a:pPr>
              <a:lnSpc>
                <a:spcPct val="130000"/>
              </a:lnSpc>
            </a:pPr>
            <a:r>
              <a:rPr sz="470" spc="0">
                <a:solidFill>
                  <a:srgbClr val="67676E"/>
                </a:solidFill>
                <a:latin typeface="Telegraf"/>
              </a:rPr>
              <a:t>R2 ×7  ·  R1 ×3  ·  R4 ×2</a:t>
            </a:r>
            <a:endParaRPr sz="470" spc="0">
              <a:solidFill>
                <a:srgbClr val="67676E"/>
              </a:solidFill>
              <a:latin typeface="Telegraf"/>
            </a:endParaRPr>
          </a:p>
        </p:txBody>
      </p:sp>
      <p:sp>
        <p:nvSpPr>
          <p:cNvPr id="1337" name="Rectangle 61"/>
          <p:cNvSpPr/>
          <p:nvPr/>
        </p:nvSpPr>
        <p:spPr>
          <a:xfrm>
            <a:off x="7848600" y="1371600"/>
            <a:ext cx="2260600" cy="787400"/>
          </a:xfrm>
          <a:custGeom>
            <a:avLst/>
            <a:gdLst/>
            <a:ahLst/>
            <a:cxnLst/>
            <a:rect l="l" t="t" r="r" b="b"/>
            <a:pathLst>
              <a:path w="100000" h="34831">
                <a:moveTo>
                  <a:pt x="86517" y="0"/>
                </a:moveTo>
                <a:cubicBezTo>
                  <a:pt x="92873" y="0"/>
                  <a:pt x="96051" y="0"/>
                  <a:pt x="98025" y="1975"/>
                </a:cubicBezTo>
                <a:cubicBezTo>
                  <a:pt x="98025" y="1975"/>
                  <a:pt x="98025" y="1975"/>
                  <a:pt x="98025" y="1975"/>
                </a:cubicBezTo>
                <a:cubicBezTo>
                  <a:pt x="100000" y="3949"/>
                  <a:pt x="100000" y="7127"/>
                  <a:pt x="100000" y="13483"/>
                </a:cubicBezTo>
                <a:lnTo>
                  <a:pt x="100000" y="21348"/>
                </a:lnTo>
                <a:cubicBezTo>
                  <a:pt x="100000" y="27704"/>
                  <a:pt x="100000" y="30883"/>
                  <a:pt x="98025" y="32857"/>
                </a:cubicBezTo>
                <a:cubicBezTo>
                  <a:pt x="98025" y="32857"/>
                  <a:pt x="98025" y="32857"/>
                  <a:pt x="98025" y="32857"/>
                </a:cubicBezTo>
                <a:cubicBezTo>
                  <a:pt x="96051" y="34831"/>
                  <a:pt x="92873" y="34831"/>
                  <a:pt x="86517" y="34831"/>
                </a:cubicBezTo>
                <a:lnTo>
                  <a:pt x="13483" y="34831"/>
                </a:lnTo>
                <a:cubicBezTo>
                  <a:pt x="7127" y="34831"/>
                  <a:pt x="3949" y="34831"/>
                  <a:pt x="1975" y="32857"/>
                </a:cubicBezTo>
                <a:cubicBezTo>
                  <a:pt x="1975" y="32857"/>
                  <a:pt x="1975" y="32857"/>
                  <a:pt x="1975" y="32857"/>
                </a:cubicBezTo>
                <a:cubicBezTo>
                  <a:pt x="0" y="30883"/>
                  <a:pt x="0" y="27704"/>
                  <a:pt x="0" y="21348"/>
                </a:cubicBezTo>
                <a:lnTo>
                  <a:pt x="0" y="13483"/>
                </a:lnTo>
                <a:cubicBezTo>
                  <a:pt x="0" y="7127"/>
                  <a:pt x="0" y="3949"/>
                  <a:pt x="1975" y="1975"/>
                </a:cubicBezTo>
                <a:cubicBezTo>
                  <a:pt x="1975" y="1975"/>
                  <a:pt x="1975" y="1975"/>
                  <a:pt x="1975" y="1975"/>
                </a:cubicBezTo>
                <a:cubicBezTo>
                  <a:pt x="3949" y="0"/>
                  <a:pt x="7127" y="0"/>
                  <a:pt x="13483"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38" name="TextBox 62"/>
          <p:cNvSpPr txBox="1"/>
          <p:nvPr/>
        </p:nvSpPr>
        <p:spPr>
          <a:xfrm>
            <a:off x="8026400" y="1524000"/>
            <a:ext cx="1524000" cy="114300"/>
          </a:xfrm>
          <a:prstGeom prst="rect">
            <a:avLst/>
          </a:prstGeom>
        </p:spPr>
        <p:txBody>
          <a:bodyPr wrap="square" lIns="0" tIns="0" rIns="0" bIns="0">
            <a:noAutofit/>
          </a:bodyPr>
          <a:lstStyle/>
          <a:p>
            <a:r>
              <a:rPr sz="450" b="1" spc="115">
                <a:solidFill>
                  <a:srgbClr val="8FE0CE"/>
                </a:solidFill>
                <a:latin typeface="Telegraf"/>
              </a:rPr>
              <a:t>FIRST REPLY</a:t>
            </a:r>
            <a:endParaRPr sz="450" b="1" spc="115">
              <a:solidFill>
                <a:srgbClr val="8FE0CE"/>
              </a:solidFill>
              <a:latin typeface="Telegraf"/>
            </a:endParaRPr>
          </a:p>
        </p:txBody>
      </p:sp>
      <p:sp>
        <p:nvSpPr>
          <p:cNvPr id="1339" name="TextBox 63"/>
          <p:cNvSpPr txBox="1"/>
          <p:nvPr/>
        </p:nvSpPr>
        <p:spPr>
          <a:xfrm>
            <a:off x="8013700" y="1638300"/>
            <a:ext cx="889000" cy="330200"/>
          </a:xfrm>
          <a:prstGeom prst="rect">
            <a:avLst/>
          </a:prstGeom>
        </p:spPr>
        <p:txBody>
          <a:bodyPr wrap="square" lIns="0" tIns="0" rIns="0" bIns="0">
            <a:noAutofit/>
          </a:bodyPr>
          <a:lstStyle/>
          <a:p>
            <a:pPr>
              <a:lnSpc>
                <a:spcPct val="102000"/>
              </a:lnSpc>
            </a:pPr>
            <a:r>
              <a:rPr sz="2100" spc="-80">
                <a:solidFill>
                  <a:srgbClr val="FFFFFF"/>
                </a:solidFill>
                <a:latin typeface="PP Editorial New Ultralight"/>
              </a:rPr>
              <a:t>38s</a:t>
            </a:r>
            <a:endParaRPr sz="2100" spc="-80">
              <a:solidFill>
                <a:srgbClr val="FFFFFF"/>
              </a:solidFill>
              <a:latin typeface="PP Editorial New Ultralight"/>
            </a:endParaRPr>
          </a:p>
        </p:txBody>
      </p:sp>
      <p:sp>
        <p:nvSpPr>
          <p:cNvPr id="1340" name="TextBox 64"/>
          <p:cNvSpPr txBox="1"/>
          <p:nvPr/>
        </p:nvSpPr>
        <p:spPr>
          <a:xfrm>
            <a:off x="8026400" y="1930400"/>
            <a:ext cx="1143000" cy="127000"/>
          </a:xfrm>
          <a:prstGeom prst="rect">
            <a:avLst/>
          </a:prstGeom>
        </p:spPr>
        <p:txBody>
          <a:bodyPr wrap="square" lIns="0" tIns="0" rIns="0" bIns="0">
            <a:noAutofit/>
          </a:bodyPr>
          <a:lstStyle/>
          <a:p>
            <a:pPr>
              <a:lnSpc>
                <a:spcPct val="135000"/>
              </a:lnSpc>
            </a:pPr>
            <a:r>
              <a:rPr sz="460" spc="0">
                <a:solidFill>
                  <a:srgbClr val="A9C4BF"/>
                </a:solidFill>
                <a:latin typeface="Telegraf"/>
              </a:rPr>
              <a:t>median · 7 days</a:t>
            </a:r>
            <a:endParaRPr sz="460" spc="0">
              <a:solidFill>
                <a:srgbClr val="A9C4BF"/>
              </a:solidFill>
              <a:latin typeface="Telegraf"/>
            </a:endParaRPr>
          </a:p>
        </p:txBody>
      </p:sp>
      <p:sp>
        <p:nvSpPr>
          <p:cNvPr id="1341" name="Freeform 1341"/>
          <p:cNvSpPr/>
          <p:nvPr/>
        </p:nvSpPr>
        <p:spPr>
          <a:xfrm>
            <a:off x="8890000" y="1765300"/>
            <a:ext cx="944880" cy="139700"/>
          </a:xfrm>
          <a:custGeom>
            <a:avLst/>
            <a:gdLst/>
            <a:ahLst/>
            <a:cxnLst/>
            <a:rect l="l" t="t" r="r" b="b"/>
            <a:pathLst>
              <a:path w="100000" h="14785" fill="none">
                <a:moveTo>
                  <a:pt x="0" y="4032"/>
                </a:moveTo>
                <a:lnTo>
                  <a:pt x="8333" y="8065"/>
                </a:lnTo>
                <a:lnTo>
                  <a:pt x="16667" y="1344"/>
                </a:lnTo>
                <a:lnTo>
                  <a:pt x="25000" y="10753"/>
                </a:lnTo>
                <a:lnTo>
                  <a:pt x="33333" y="5376"/>
                </a:lnTo>
                <a:lnTo>
                  <a:pt x="41667" y="9409"/>
                </a:lnTo>
                <a:lnTo>
                  <a:pt x="50000" y="0"/>
                </a:lnTo>
                <a:lnTo>
                  <a:pt x="58333" y="12097"/>
                </a:lnTo>
                <a:lnTo>
                  <a:pt x="66667" y="6720"/>
                </a:lnTo>
                <a:lnTo>
                  <a:pt x="75000" y="13441"/>
                </a:lnTo>
                <a:lnTo>
                  <a:pt x="83333" y="8065"/>
                </a:lnTo>
                <a:lnTo>
                  <a:pt x="91667" y="14785"/>
                </a:lnTo>
                <a:lnTo>
                  <a:pt x="100000" y="10753"/>
                </a:lnTo>
              </a:path>
            </a:pathLst>
          </a:custGeom>
          <a:noFill/>
          <a:ln w="12700" cap="rnd">
            <a:solidFill>
              <a:srgbClr val="8FE0CE"/>
            </a:solidFill>
            <a:round/>
          </a:ln>
        </p:spPr>
        <p:style>
          <a:lnRef idx="1">
            <a:schemeClr val="accent1"/>
          </a:lnRef>
          <a:fillRef idx="0">
            <a:schemeClr val="accent1"/>
          </a:fillRef>
          <a:effectRef idx="0">
            <a:schemeClr val="accent1"/>
          </a:effectRef>
          <a:fontRef idx="minor">
            <a:schemeClr val="tx1"/>
          </a:fontRef>
        </p:style>
      </p:sp>
      <p:sp>
        <p:nvSpPr>
          <p:cNvPr id="1342" name="Oval 66"/>
          <p:cNvSpPr/>
          <p:nvPr/>
        </p:nvSpPr>
        <p:spPr>
          <a:xfrm>
            <a:off x="9817100" y="1849120"/>
            <a:ext cx="35560" cy="3556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43" name="Rectangle 67"/>
          <p:cNvSpPr/>
          <p:nvPr/>
        </p:nvSpPr>
        <p:spPr>
          <a:xfrm>
            <a:off x="762000" y="2336800"/>
            <a:ext cx="508000" cy="241300"/>
          </a:xfrm>
          <a:custGeom>
            <a:avLst/>
            <a:gdLst/>
            <a:ahLst/>
            <a:cxnLst/>
            <a:rect l="l" t="t" r="r" b="b"/>
            <a:pathLst>
              <a:path w="100000" h="47500">
                <a:moveTo>
                  <a:pt x="76250" y="0"/>
                </a:moveTo>
                <a:cubicBezTo>
                  <a:pt x="76250" y="0"/>
                  <a:pt x="76250" y="0"/>
                  <a:pt x="76250" y="0"/>
                </a:cubicBezTo>
                <a:cubicBezTo>
                  <a:pt x="89368" y="0"/>
                  <a:pt x="100000" y="10633"/>
                  <a:pt x="100000" y="23750"/>
                </a:cubicBezTo>
                <a:cubicBezTo>
                  <a:pt x="100000" y="23750"/>
                  <a:pt x="100000" y="23750"/>
                  <a:pt x="100000" y="23750"/>
                </a:cubicBezTo>
                <a:lnTo>
                  <a:pt x="100000" y="23750"/>
                </a:lnTo>
                <a:cubicBezTo>
                  <a:pt x="100000" y="23750"/>
                  <a:pt x="100000" y="23750"/>
                  <a:pt x="100000" y="23750"/>
                </a:cubicBezTo>
                <a:cubicBezTo>
                  <a:pt x="100000" y="36868"/>
                  <a:pt x="89368" y="47500"/>
                  <a:pt x="76250" y="47500"/>
                </a:cubicBezTo>
                <a:cubicBezTo>
                  <a:pt x="76250" y="47500"/>
                  <a:pt x="76250" y="47500"/>
                  <a:pt x="76250" y="47500"/>
                </a:cubicBezTo>
                <a:lnTo>
                  <a:pt x="23750" y="47500"/>
                </a:lnTo>
                <a:cubicBezTo>
                  <a:pt x="23750" y="47500"/>
                  <a:pt x="23750" y="47500"/>
                  <a:pt x="23750" y="47500"/>
                </a:cubicBezTo>
                <a:cubicBezTo>
                  <a:pt x="10633" y="47500"/>
                  <a:pt x="0" y="36868"/>
                  <a:pt x="0" y="23750"/>
                </a:cubicBezTo>
                <a:cubicBezTo>
                  <a:pt x="0" y="23750"/>
                  <a:pt x="0" y="23750"/>
                  <a:pt x="0" y="23750"/>
                </a:cubicBezTo>
                <a:lnTo>
                  <a:pt x="0" y="23750"/>
                </a:lnTo>
                <a:cubicBezTo>
                  <a:pt x="0" y="23750"/>
                  <a:pt x="0" y="23750"/>
                  <a:pt x="0" y="23750"/>
                </a:cubicBezTo>
                <a:cubicBezTo>
                  <a:pt x="0" y="10633"/>
                  <a:pt x="10633" y="0"/>
                  <a:pt x="23750" y="0"/>
                </a:cubicBezTo>
                <a:cubicBezTo>
                  <a:pt x="23750" y="0"/>
                  <a:pt x="23750" y="0"/>
                  <a:pt x="237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44" name="TextBox 68"/>
          <p:cNvSpPr txBox="1"/>
          <p:nvPr/>
        </p:nvSpPr>
        <p:spPr>
          <a:xfrm>
            <a:off x="850900" y="2336800"/>
            <a:ext cx="355600" cy="241300"/>
          </a:xfrm>
          <a:prstGeom prst="rect">
            <a:avLst/>
          </a:prstGeom>
        </p:spPr>
        <p:txBody>
          <a:bodyPr wrap="square" lIns="0" tIns="0" rIns="0" bIns="0" anchor="ctr">
            <a:noAutofit/>
          </a:bodyPr>
          <a:lstStyle/>
          <a:p>
            <a:pPr>
              <a:lnSpc>
                <a:spcPct val="135000"/>
              </a:lnSpc>
            </a:pPr>
            <a:r>
              <a:rPr sz="480" b="1" spc="0">
                <a:solidFill>
                  <a:srgbClr val="FFFFFF"/>
                </a:solidFill>
                <a:latin typeface="Telegraf"/>
              </a:rPr>
              <a:t>All  38</a:t>
            </a:r>
            <a:endParaRPr sz="480" b="1" spc="0">
              <a:solidFill>
                <a:srgbClr val="FFFFFF"/>
              </a:solidFill>
              <a:latin typeface="Telegraf"/>
            </a:endParaRPr>
          </a:p>
        </p:txBody>
      </p:sp>
      <p:sp>
        <p:nvSpPr>
          <p:cNvPr id="1345" name="Rectangle 69"/>
          <p:cNvSpPr/>
          <p:nvPr/>
        </p:nvSpPr>
        <p:spPr>
          <a:xfrm>
            <a:off x="1346200" y="2336800"/>
            <a:ext cx="482600" cy="241300"/>
          </a:xfrm>
          <a:custGeom>
            <a:avLst/>
            <a:gdLst/>
            <a:ahLst/>
            <a:cxnLst/>
            <a:rect l="l" t="t" r="r" b="b"/>
            <a:pathLst>
              <a:path w="100000" h="50000">
                <a:moveTo>
                  <a:pt x="75000" y="0"/>
                </a:moveTo>
                <a:cubicBezTo>
                  <a:pt x="75000" y="0"/>
                  <a:pt x="75000" y="0"/>
                  <a:pt x="75000" y="0"/>
                </a:cubicBezTo>
                <a:cubicBezTo>
                  <a:pt x="88808" y="0"/>
                  <a:pt x="100000" y="11192"/>
                  <a:pt x="100000" y="25000"/>
                </a:cubicBezTo>
                <a:cubicBezTo>
                  <a:pt x="100000" y="25000"/>
                  <a:pt x="100000" y="25000"/>
                  <a:pt x="100000" y="25000"/>
                </a:cubicBezTo>
                <a:lnTo>
                  <a:pt x="100000" y="25000"/>
                </a:lnTo>
                <a:cubicBezTo>
                  <a:pt x="100000" y="25000"/>
                  <a:pt x="100000" y="25000"/>
                  <a:pt x="100000" y="25000"/>
                </a:cubicBezTo>
                <a:cubicBezTo>
                  <a:pt x="100000" y="38808"/>
                  <a:pt x="88808" y="50000"/>
                  <a:pt x="75000" y="50000"/>
                </a:cubicBezTo>
                <a:cubicBezTo>
                  <a:pt x="75000" y="50000"/>
                  <a:pt x="75000" y="50000"/>
                  <a:pt x="75000" y="50000"/>
                </a:cubicBezTo>
                <a:lnTo>
                  <a:pt x="25000" y="50000"/>
                </a:lnTo>
                <a:cubicBezTo>
                  <a:pt x="25000" y="50000"/>
                  <a:pt x="25000" y="50000"/>
                  <a:pt x="25000" y="50000"/>
                </a:cubicBezTo>
                <a:cubicBezTo>
                  <a:pt x="11192" y="50000"/>
                  <a:pt x="0" y="38808"/>
                  <a:pt x="0" y="25000"/>
                </a:cubicBezTo>
                <a:cubicBezTo>
                  <a:pt x="0" y="25000"/>
                  <a:pt x="0" y="25000"/>
                  <a:pt x="0" y="25000"/>
                </a:cubicBezTo>
                <a:lnTo>
                  <a:pt x="0" y="25000"/>
                </a:lnTo>
                <a:cubicBezTo>
                  <a:pt x="0" y="25000"/>
                  <a:pt x="0" y="25000"/>
                  <a:pt x="0" y="25000"/>
                </a:cubicBezTo>
                <a:cubicBezTo>
                  <a:pt x="0" y="11192"/>
                  <a:pt x="11192" y="0"/>
                  <a:pt x="25000" y="0"/>
                </a:cubicBezTo>
                <a:cubicBezTo>
                  <a:pt x="25000" y="0"/>
                  <a:pt x="25000" y="0"/>
                  <a:pt x="25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46" name="TextBox 70"/>
          <p:cNvSpPr txBox="1"/>
          <p:nvPr/>
        </p:nvSpPr>
        <p:spPr>
          <a:xfrm>
            <a:off x="1435100" y="2336800"/>
            <a:ext cx="330200" cy="241300"/>
          </a:xfrm>
          <a:prstGeom prst="rect">
            <a:avLst/>
          </a:prstGeom>
        </p:spPr>
        <p:txBody>
          <a:bodyPr wrap="square" lIns="0" tIns="0" rIns="0" bIns="0" anchor="ctr">
            <a:noAutofit/>
          </a:bodyPr>
          <a:lstStyle/>
          <a:p>
            <a:pPr>
              <a:lnSpc>
                <a:spcPct val="135000"/>
              </a:lnSpc>
            </a:pPr>
            <a:r>
              <a:rPr sz="480" spc="0">
                <a:solidFill>
                  <a:srgbClr val="67676E"/>
                </a:solidFill>
                <a:latin typeface="Telegraf"/>
              </a:rPr>
              <a:t>New  6</a:t>
            </a:r>
            <a:endParaRPr sz="480" spc="0">
              <a:solidFill>
                <a:srgbClr val="67676E"/>
              </a:solidFill>
              <a:latin typeface="Telegraf"/>
            </a:endParaRPr>
          </a:p>
        </p:txBody>
      </p:sp>
      <p:sp>
        <p:nvSpPr>
          <p:cNvPr id="1347" name="Rectangle 71"/>
          <p:cNvSpPr/>
          <p:nvPr/>
        </p:nvSpPr>
        <p:spPr>
          <a:xfrm>
            <a:off x="1905000" y="2336800"/>
            <a:ext cx="711200" cy="241300"/>
          </a:xfrm>
          <a:custGeom>
            <a:avLst/>
            <a:gdLst/>
            <a:ahLst/>
            <a:cxnLst/>
            <a:rect l="l" t="t" r="r" b="b"/>
            <a:pathLst>
              <a:path w="100000" h="33929">
                <a:moveTo>
                  <a:pt x="83036" y="0"/>
                </a:moveTo>
                <a:cubicBezTo>
                  <a:pt x="83036" y="0"/>
                  <a:pt x="83036" y="0"/>
                  <a:pt x="83036" y="0"/>
                </a:cubicBezTo>
                <a:cubicBezTo>
                  <a:pt x="92405" y="0"/>
                  <a:pt x="100000" y="7595"/>
                  <a:pt x="100000" y="16964"/>
                </a:cubicBezTo>
                <a:cubicBezTo>
                  <a:pt x="100000" y="16964"/>
                  <a:pt x="100000" y="16964"/>
                  <a:pt x="100000" y="16964"/>
                </a:cubicBezTo>
                <a:lnTo>
                  <a:pt x="100000" y="16964"/>
                </a:lnTo>
                <a:cubicBezTo>
                  <a:pt x="100000" y="16964"/>
                  <a:pt x="100000" y="16964"/>
                  <a:pt x="100000" y="16964"/>
                </a:cubicBezTo>
                <a:cubicBezTo>
                  <a:pt x="100000" y="26334"/>
                  <a:pt x="92405" y="33929"/>
                  <a:pt x="83036" y="33929"/>
                </a:cubicBezTo>
                <a:cubicBezTo>
                  <a:pt x="83036" y="33929"/>
                  <a:pt x="83036" y="33929"/>
                  <a:pt x="83036" y="33929"/>
                </a:cubicBezTo>
                <a:lnTo>
                  <a:pt x="16964" y="33929"/>
                </a:lnTo>
                <a:cubicBezTo>
                  <a:pt x="16964" y="33929"/>
                  <a:pt x="16964" y="33929"/>
                  <a:pt x="16964" y="33929"/>
                </a:cubicBezTo>
                <a:cubicBezTo>
                  <a:pt x="7595" y="33929"/>
                  <a:pt x="0" y="26334"/>
                  <a:pt x="0" y="16964"/>
                </a:cubicBezTo>
                <a:cubicBezTo>
                  <a:pt x="0" y="16964"/>
                  <a:pt x="0" y="16964"/>
                  <a:pt x="0" y="16964"/>
                </a:cubicBezTo>
                <a:lnTo>
                  <a:pt x="0" y="16964"/>
                </a:lnTo>
                <a:cubicBezTo>
                  <a:pt x="0" y="16964"/>
                  <a:pt x="0" y="16964"/>
                  <a:pt x="0" y="16964"/>
                </a:cubicBezTo>
                <a:cubicBezTo>
                  <a:pt x="0" y="7595"/>
                  <a:pt x="7595" y="0"/>
                  <a:pt x="16964" y="0"/>
                </a:cubicBezTo>
                <a:cubicBezTo>
                  <a:pt x="16964" y="0"/>
                  <a:pt x="16964" y="0"/>
                  <a:pt x="16964"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48" name="TextBox 72"/>
          <p:cNvSpPr txBox="1"/>
          <p:nvPr/>
        </p:nvSpPr>
        <p:spPr>
          <a:xfrm>
            <a:off x="1993900" y="2336800"/>
            <a:ext cx="558800" cy="241300"/>
          </a:xfrm>
          <a:prstGeom prst="rect">
            <a:avLst/>
          </a:prstGeom>
        </p:spPr>
        <p:txBody>
          <a:bodyPr wrap="square" lIns="0" tIns="0" rIns="0" bIns="0" anchor="ctr">
            <a:noAutofit/>
          </a:bodyPr>
          <a:lstStyle/>
          <a:p>
            <a:pPr>
              <a:lnSpc>
                <a:spcPct val="135000"/>
              </a:lnSpc>
            </a:pPr>
            <a:r>
              <a:rPr sz="480" spc="0">
                <a:solidFill>
                  <a:srgbClr val="67676E"/>
                </a:solidFill>
                <a:latin typeface="Telegraf"/>
              </a:rPr>
              <a:t>Triaged  14</a:t>
            </a:r>
            <a:endParaRPr sz="480" spc="0">
              <a:solidFill>
                <a:srgbClr val="67676E"/>
              </a:solidFill>
              <a:latin typeface="Telegraf"/>
            </a:endParaRPr>
          </a:p>
        </p:txBody>
      </p:sp>
      <p:sp>
        <p:nvSpPr>
          <p:cNvPr id="1349" name="Rectangle 73"/>
          <p:cNvSpPr/>
          <p:nvPr/>
        </p:nvSpPr>
        <p:spPr>
          <a:xfrm>
            <a:off x="2692400" y="2336800"/>
            <a:ext cx="812800" cy="241300"/>
          </a:xfrm>
          <a:custGeom>
            <a:avLst/>
            <a:gdLst/>
            <a:ahLst/>
            <a:cxnLst/>
            <a:rect l="l" t="t" r="r" b="b"/>
            <a:pathLst>
              <a:path w="100000" h="29688">
                <a:moveTo>
                  <a:pt x="85156" y="0"/>
                </a:moveTo>
                <a:cubicBezTo>
                  <a:pt x="85156" y="0"/>
                  <a:pt x="85156" y="0"/>
                  <a:pt x="85156" y="0"/>
                </a:cubicBezTo>
                <a:cubicBezTo>
                  <a:pt x="93355" y="0"/>
                  <a:pt x="100000" y="6645"/>
                  <a:pt x="100000" y="14844"/>
                </a:cubicBezTo>
                <a:cubicBezTo>
                  <a:pt x="100000" y="14844"/>
                  <a:pt x="100000" y="14844"/>
                  <a:pt x="100000" y="14844"/>
                </a:cubicBezTo>
                <a:lnTo>
                  <a:pt x="100000" y="14844"/>
                </a:lnTo>
                <a:cubicBezTo>
                  <a:pt x="100000" y="14844"/>
                  <a:pt x="100000" y="14844"/>
                  <a:pt x="100000" y="14844"/>
                </a:cubicBezTo>
                <a:cubicBezTo>
                  <a:pt x="100000" y="23042"/>
                  <a:pt x="93355" y="29688"/>
                  <a:pt x="85156" y="29688"/>
                </a:cubicBezTo>
                <a:cubicBezTo>
                  <a:pt x="85156" y="29688"/>
                  <a:pt x="85156" y="29688"/>
                  <a:pt x="85156" y="29688"/>
                </a:cubicBezTo>
                <a:lnTo>
                  <a:pt x="14844" y="29688"/>
                </a:lnTo>
                <a:cubicBezTo>
                  <a:pt x="14844" y="29688"/>
                  <a:pt x="14844" y="29688"/>
                  <a:pt x="14844" y="29688"/>
                </a:cubicBezTo>
                <a:cubicBezTo>
                  <a:pt x="6645" y="29688"/>
                  <a:pt x="0" y="23042"/>
                  <a:pt x="0" y="14844"/>
                </a:cubicBezTo>
                <a:cubicBezTo>
                  <a:pt x="0" y="14844"/>
                  <a:pt x="0" y="14844"/>
                  <a:pt x="0" y="14844"/>
                </a:cubicBezTo>
                <a:lnTo>
                  <a:pt x="0" y="14844"/>
                </a:lnTo>
                <a:cubicBezTo>
                  <a:pt x="0" y="14844"/>
                  <a:pt x="0" y="14844"/>
                  <a:pt x="0" y="14844"/>
                </a:cubicBezTo>
                <a:cubicBezTo>
                  <a:pt x="0" y="6645"/>
                  <a:pt x="6645" y="0"/>
                  <a:pt x="14844" y="0"/>
                </a:cubicBezTo>
                <a:cubicBezTo>
                  <a:pt x="14844" y="0"/>
                  <a:pt x="14844" y="0"/>
                  <a:pt x="14844"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50" name="TextBox 74"/>
          <p:cNvSpPr txBox="1"/>
          <p:nvPr/>
        </p:nvSpPr>
        <p:spPr>
          <a:xfrm>
            <a:off x="2781300" y="2336800"/>
            <a:ext cx="660400" cy="241300"/>
          </a:xfrm>
          <a:prstGeom prst="rect">
            <a:avLst/>
          </a:prstGeom>
        </p:spPr>
        <p:txBody>
          <a:bodyPr wrap="square" lIns="0" tIns="0" rIns="0" bIns="0" anchor="ctr">
            <a:noAutofit/>
          </a:bodyPr>
          <a:lstStyle/>
          <a:p>
            <a:pPr>
              <a:lnSpc>
                <a:spcPct val="135000"/>
              </a:lnSpc>
            </a:pPr>
            <a:r>
              <a:rPr sz="480" spc="0">
                <a:solidFill>
                  <a:srgbClr val="67676E"/>
                </a:solidFill>
                <a:latin typeface="Telegraf"/>
              </a:rPr>
              <a:t>Escalated  6</a:t>
            </a:r>
            <a:endParaRPr sz="480" spc="0">
              <a:solidFill>
                <a:srgbClr val="67676E"/>
              </a:solidFill>
              <a:latin typeface="Telegraf"/>
            </a:endParaRPr>
          </a:p>
        </p:txBody>
      </p:sp>
      <p:sp>
        <p:nvSpPr>
          <p:cNvPr id="1351" name="Rectangle 75"/>
          <p:cNvSpPr/>
          <p:nvPr/>
        </p:nvSpPr>
        <p:spPr>
          <a:xfrm>
            <a:off x="3581400" y="2336800"/>
            <a:ext cx="660400" cy="241300"/>
          </a:xfrm>
          <a:custGeom>
            <a:avLst/>
            <a:gdLst/>
            <a:ahLst/>
            <a:cxnLst/>
            <a:rect l="l" t="t" r="r" b="b"/>
            <a:pathLst>
              <a:path w="100000" h="36538">
                <a:moveTo>
                  <a:pt x="81731" y="0"/>
                </a:moveTo>
                <a:cubicBezTo>
                  <a:pt x="81731" y="0"/>
                  <a:pt x="81731" y="0"/>
                  <a:pt x="81731" y="0"/>
                </a:cubicBezTo>
                <a:cubicBezTo>
                  <a:pt x="91821" y="0"/>
                  <a:pt x="100000" y="8179"/>
                  <a:pt x="100000" y="18269"/>
                </a:cubicBezTo>
                <a:cubicBezTo>
                  <a:pt x="100000" y="18269"/>
                  <a:pt x="100000" y="18269"/>
                  <a:pt x="100000" y="18269"/>
                </a:cubicBezTo>
                <a:lnTo>
                  <a:pt x="100000" y="18269"/>
                </a:lnTo>
                <a:cubicBezTo>
                  <a:pt x="100000" y="18269"/>
                  <a:pt x="100000" y="18269"/>
                  <a:pt x="100000" y="18269"/>
                </a:cubicBezTo>
                <a:cubicBezTo>
                  <a:pt x="100000" y="28360"/>
                  <a:pt x="91821" y="36538"/>
                  <a:pt x="81731" y="36538"/>
                </a:cubicBezTo>
                <a:cubicBezTo>
                  <a:pt x="81731" y="36538"/>
                  <a:pt x="81731" y="36538"/>
                  <a:pt x="81731" y="36538"/>
                </a:cubicBezTo>
                <a:lnTo>
                  <a:pt x="18269" y="36538"/>
                </a:lnTo>
                <a:cubicBezTo>
                  <a:pt x="18269" y="36538"/>
                  <a:pt x="18269" y="36538"/>
                  <a:pt x="18269" y="36538"/>
                </a:cubicBezTo>
                <a:cubicBezTo>
                  <a:pt x="8179" y="36538"/>
                  <a:pt x="0" y="28360"/>
                  <a:pt x="0" y="18269"/>
                </a:cubicBezTo>
                <a:cubicBezTo>
                  <a:pt x="0" y="18269"/>
                  <a:pt x="0" y="18269"/>
                  <a:pt x="0" y="18269"/>
                </a:cubicBezTo>
                <a:lnTo>
                  <a:pt x="0" y="18269"/>
                </a:lnTo>
                <a:cubicBezTo>
                  <a:pt x="0" y="18269"/>
                  <a:pt x="0" y="18269"/>
                  <a:pt x="0" y="18269"/>
                </a:cubicBezTo>
                <a:cubicBezTo>
                  <a:pt x="0" y="8179"/>
                  <a:pt x="8179" y="0"/>
                  <a:pt x="18269" y="0"/>
                </a:cubicBezTo>
                <a:cubicBezTo>
                  <a:pt x="18269" y="0"/>
                  <a:pt x="18269" y="0"/>
                  <a:pt x="1826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52" name="TextBox 76"/>
          <p:cNvSpPr txBox="1"/>
          <p:nvPr/>
        </p:nvSpPr>
        <p:spPr>
          <a:xfrm>
            <a:off x="3670300" y="2336800"/>
            <a:ext cx="508000" cy="241300"/>
          </a:xfrm>
          <a:prstGeom prst="rect">
            <a:avLst/>
          </a:prstGeom>
        </p:spPr>
        <p:txBody>
          <a:bodyPr wrap="square" lIns="0" tIns="0" rIns="0" bIns="0" anchor="ctr">
            <a:noAutofit/>
          </a:bodyPr>
          <a:lstStyle/>
          <a:p>
            <a:pPr>
              <a:lnSpc>
                <a:spcPct val="135000"/>
              </a:lnSpc>
            </a:pPr>
            <a:r>
              <a:rPr sz="480" spc="0">
                <a:solidFill>
                  <a:srgbClr val="67676E"/>
                </a:solidFill>
                <a:latin typeface="Telegraf"/>
              </a:rPr>
              <a:t>Replied  9</a:t>
            </a:r>
            <a:endParaRPr sz="480" spc="0">
              <a:solidFill>
                <a:srgbClr val="67676E"/>
              </a:solidFill>
              <a:latin typeface="Telegraf"/>
            </a:endParaRPr>
          </a:p>
        </p:txBody>
      </p:sp>
      <p:sp>
        <p:nvSpPr>
          <p:cNvPr id="1353" name="Rectangle 77"/>
          <p:cNvSpPr/>
          <p:nvPr/>
        </p:nvSpPr>
        <p:spPr>
          <a:xfrm>
            <a:off x="4318000" y="2336800"/>
            <a:ext cx="558800" cy="241300"/>
          </a:xfrm>
          <a:custGeom>
            <a:avLst/>
            <a:gdLst/>
            <a:ahLst/>
            <a:cxnLst/>
            <a:rect l="l" t="t" r="r" b="b"/>
            <a:pathLst>
              <a:path w="100000" h="43182">
                <a:moveTo>
                  <a:pt x="78409" y="0"/>
                </a:moveTo>
                <a:cubicBezTo>
                  <a:pt x="78409" y="0"/>
                  <a:pt x="78409" y="0"/>
                  <a:pt x="78409" y="0"/>
                </a:cubicBezTo>
                <a:cubicBezTo>
                  <a:pt x="90334" y="0"/>
                  <a:pt x="100000" y="9666"/>
                  <a:pt x="100000" y="21591"/>
                </a:cubicBezTo>
                <a:cubicBezTo>
                  <a:pt x="100000" y="21591"/>
                  <a:pt x="100000" y="21591"/>
                  <a:pt x="100000" y="21591"/>
                </a:cubicBezTo>
                <a:lnTo>
                  <a:pt x="100000" y="21591"/>
                </a:lnTo>
                <a:cubicBezTo>
                  <a:pt x="100000" y="21591"/>
                  <a:pt x="100000" y="21591"/>
                  <a:pt x="100000" y="21591"/>
                </a:cubicBezTo>
                <a:cubicBezTo>
                  <a:pt x="100000" y="33516"/>
                  <a:pt x="90334" y="43182"/>
                  <a:pt x="78409" y="43182"/>
                </a:cubicBezTo>
                <a:cubicBezTo>
                  <a:pt x="78409" y="43182"/>
                  <a:pt x="78409" y="43182"/>
                  <a:pt x="78409" y="43182"/>
                </a:cubicBezTo>
                <a:lnTo>
                  <a:pt x="21591" y="43182"/>
                </a:lnTo>
                <a:cubicBezTo>
                  <a:pt x="21591" y="43182"/>
                  <a:pt x="21591" y="43182"/>
                  <a:pt x="21591" y="43182"/>
                </a:cubicBezTo>
                <a:cubicBezTo>
                  <a:pt x="9666" y="43182"/>
                  <a:pt x="0" y="33516"/>
                  <a:pt x="0" y="21591"/>
                </a:cubicBezTo>
                <a:cubicBezTo>
                  <a:pt x="0" y="21591"/>
                  <a:pt x="0" y="21591"/>
                  <a:pt x="0" y="21591"/>
                </a:cubicBezTo>
                <a:lnTo>
                  <a:pt x="0" y="21591"/>
                </a:lnTo>
                <a:cubicBezTo>
                  <a:pt x="0" y="21591"/>
                  <a:pt x="0" y="21591"/>
                  <a:pt x="0" y="21591"/>
                </a:cubicBezTo>
                <a:cubicBezTo>
                  <a:pt x="0" y="9666"/>
                  <a:pt x="9666" y="0"/>
                  <a:pt x="21591" y="0"/>
                </a:cubicBezTo>
                <a:cubicBezTo>
                  <a:pt x="21591" y="0"/>
                  <a:pt x="21591" y="0"/>
                  <a:pt x="21591"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54" name="TextBox 78"/>
          <p:cNvSpPr txBox="1"/>
          <p:nvPr/>
        </p:nvSpPr>
        <p:spPr>
          <a:xfrm>
            <a:off x="4406900" y="2336800"/>
            <a:ext cx="406400" cy="241300"/>
          </a:xfrm>
          <a:prstGeom prst="rect">
            <a:avLst/>
          </a:prstGeom>
        </p:spPr>
        <p:txBody>
          <a:bodyPr wrap="square" lIns="0" tIns="0" rIns="0" bIns="0" anchor="ctr">
            <a:noAutofit/>
          </a:bodyPr>
          <a:lstStyle/>
          <a:p>
            <a:pPr>
              <a:lnSpc>
                <a:spcPct val="135000"/>
              </a:lnSpc>
            </a:pPr>
            <a:r>
              <a:rPr sz="480" spc="0">
                <a:solidFill>
                  <a:srgbClr val="67676E"/>
                </a:solidFill>
                <a:latin typeface="Telegraf"/>
              </a:rPr>
              <a:t>Closed  3</a:t>
            </a:r>
            <a:endParaRPr sz="480" spc="0">
              <a:solidFill>
                <a:srgbClr val="67676E"/>
              </a:solidFill>
              <a:latin typeface="Telegraf"/>
            </a:endParaRPr>
          </a:p>
        </p:txBody>
      </p:sp>
      <p:sp>
        <p:nvSpPr>
          <p:cNvPr id="1355" name="Rectangle 79"/>
          <p:cNvSpPr/>
          <p:nvPr/>
        </p:nvSpPr>
        <p:spPr>
          <a:xfrm>
            <a:off x="6604000" y="2336800"/>
            <a:ext cx="1676400" cy="241300"/>
          </a:xfrm>
          <a:custGeom>
            <a:avLst/>
            <a:gdLst/>
            <a:ahLst/>
            <a:cxnLst/>
            <a:rect l="l" t="t" r="r" b="b"/>
            <a:pathLst>
              <a:path w="100000" h="14394">
                <a:moveTo>
                  <a:pt x="92803" y="0"/>
                </a:moveTo>
                <a:cubicBezTo>
                  <a:pt x="92803" y="0"/>
                  <a:pt x="92803" y="0"/>
                  <a:pt x="92803" y="0"/>
                </a:cubicBezTo>
                <a:cubicBezTo>
                  <a:pt x="96778" y="0"/>
                  <a:pt x="100000" y="3222"/>
                  <a:pt x="100000" y="7197"/>
                </a:cubicBezTo>
                <a:cubicBezTo>
                  <a:pt x="100000" y="7197"/>
                  <a:pt x="100000" y="7197"/>
                  <a:pt x="100000" y="7197"/>
                </a:cubicBezTo>
                <a:lnTo>
                  <a:pt x="100000" y="7197"/>
                </a:lnTo>
                <a:cubicBezTo>
                  <a:pt x="100000" y="7197"/>
                  <a:pt x="100000" y="7197"/>
                  <a:pt x="100000" y="7197"/>
                </a:cubicBezTo>
                <a:cubicBezTo>
                  <a:pt x="100000" y="11172"/>
                  <a:pt x="96778" y="14394"/>
                  <a:pt x="92803" y="14394"/>
                </a:cubicBezTo>
                <a:cubicBezTo>
                  <a:pt x="92803" y="14394"/>
                  <a:pt x="92803" y="14394"/>
                  <a:pt x="92803" y="14394"/>
                </a:cubicBezTo>
                <a:lnTo>
                  <a:pt x="7197" y="14394"/>
                </a:lnTo>
                <a:cubicBezTo>
                  <a:pt x="7197" y="14394"/>
                  <a:pt x="7197" y="14394"/>
                  <a:pt x="7197" y="14394"/>
                </a:cubicBezTo>
                <a:cubicBezTo>
                  <a:pt x="3222" y="14394"/>
                  <a:pt x="0" y="11172"/>
                  <a:pt x="0" y="7197"/>
                </a:cubicBezTo>
                <a:cubicBezTo>
                  <a:pt x="0" y="7197"/>
                  <a:pt x="0" y="7197"/>
                  <a:pt x="0" y="7197"/>
                </a:cubicBezTo>
                <a:lnTo>
                  <a:pt x="0" y="7197"/>
                </a:lnTo>
                <a:cubicBezTo>
                  <a:pt x="0" y="7197"/>
                  <a:pt x="0" y="7197"/>
                  <a:pt x="0" y="7197"/>
                </a:cubicBezTo>
                <a:cubicBezTo>
                  <a:pt x="0" y="3222"/>
                  <a:pt x="3222" y="0"/>
                  <a:pt x="7197" y="0"/>
                </a:cubicBezTo>
                <a:cubicBezTo>
                  <a:pt x="7197" y="0"/>
                  <a:pt x="7197" y="0"/>
                  <a:pt x="719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56" name="Oval 80"/>
          <p:cNvSpPr/>
          <p:nvPr/>
        </p:nvSpPr>
        <p:spPr>
          <a:xfrm>
            <a:off x="6694678" y="2421128"/>
            <a:ext cx="53594" cy="53594"/>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57" name="Freeform 1357"/>
          <p:cNvSpPr/>
          <p:nvPr/>
        </p:nvSpPr>
        <p:spPr>
          <a:xfrm>
            <a:off x="6743065" y="2469515"/>
            <a:ext cx="25019" cy="25019"/>
          </a:xfrm>
          <a:custGeom>
            <a:avLst/>
            <a:gdLst/>
            <a:ahLst/>
            <a:cxnLst/>
            <a:rect l="l" t="t" r="r" b="b"/>
            <a:pathLst>
              <a:path w="100000" h="100000" fill="none">
                <a:moveTo>
                  <a:pt x="0" y="0"/>
                </a:moveTo>
                <a:lnTo>
                  <a:pt x="100000" y="100000"/>
                </a:lnTo>
              </a:path>
            </a:pathLst>
          </a:custGeom>
          <a:noFill/>
          <a:ln w="1206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358" name="TextBox 82"/>
          <p:cNvSpPr txBox="1"/>
          <p:nvPr/>
        </p:nvSpPr>
        <p:spPr>
          <a:xfrm>
            <a:off x="6832600" y="2336800"/>
            <a:ext cx="1270000" cy="241300"/>
          </a:xfrm>
          <a:prstGeom prst="rect">
            <a:avLst/>
          </a:prstGeom>
        </p:spPr>
        <p:txBody>
          <a:bodyPr wrap="square" lIns="0" tIns="0" rIns="0" bIns="0" anchor="ctr">
            <a:noAutofit/>
          </a:bodyPr>
          <a:lstStyle/>
          <a:p>
            <a:pPr>
              <a:lnSpc>
                <a:spcPct val="135000"/>
              </a:lnSpc>
            </a:pPr>
            <a:r>
              <a:rPr sz="460" spc="0">
                <a:solidFill>
                  <a:srgbClr val="A2A2A8"/>
                </a:solidFill>
                <a:latin typeface="Telegraf"/>
              </a:rPr>
              <a:t>Search customer</a:t>
            </a:r>
            <a:endParaRPr sz="460" spc="0">
              <a:solidFill>
                <a:srgbClr val="A2A2A8"/>
              </a:solidFill>
              <a:latin typeface="Telegraf"/>
            </a:endParaRPr>
          </a:p>
        </p:txBody>
      </p:sp>
      <p:sp>
        <p:nvSpPr>
          <p:cNvPr id="1359" name="Rectangle 83"/>
          <p:cNvSpPr/>
          <p:nvPr/>
        </p:nvSpPr>
        <p:spPr>
          <a:xfrm>
            <a:off x="8432800" y="2336800"/>
            <a:ext cx="1574800" cy="241300"/>
          </a:xfrm>
          <a:custGeom>
            <a:avLst/>
            <a:gdLst/>
            <a:ahLst/>
            <a:cxnLst/>
            <a:rect l="l" t="t" r="r" b="b"/>
            <a:pathLst>
              <a:path w="100000" h="15323">
                <a:moveTo>
                  <a:pt x="92339" y="0"/>
                </a:moveTo>
                <a:cubicBezTo>
                  <a:pt x="92339" y="0"/>
                  <a:pt x="92339" y="0"/>
                  <a:pt x="92339" y="0"/>
                </a:cubicBezTo>
                <a:cubicBezTo>
                  <a:pt x="96570" y="0"/>
                  <a:pt x="100000" y="3430"/>
                  <a:pt x="100000" y="7661"/>
                </a:cubicBezTo>
                <a:cubicBezTo>
                  <a:pt x="100000" y="7661"/>
                  <a:pt x="100000" y="7661"/>
                  <a:pt x="100000" y="7661"/>
                </a:cubicBezTo>
                <a:lnTo>
                  <a:pt x="100000" y="7661"/>
                </a:lnTo>
                <a:cubicBezTo>
                  <a:pt x="100000" y="7661"/>
                  <a:pt x="100000" y="7661"/>
                  <a:pt x="100000" y="7661"/>
                </a:cubicBezTo>
                <a:cubicBezTo>
                  <a:pt x="100000" y="11893"/>
                  <a:pt x="96570" y="15323"/>
                  <a:pt x="92339" y="15323"/>
                </a:cubicBezTo>
                <a:cubicBezTo>
                  <a:pt x="92339" y="15323"/>
                  <a:pt x="92339" y="15323"/>
                  <a:pt x="92339" y="15323"/>
                </a:cubicBezTo>
                <a:lnTo>
                  <a:pt x="7661" y="15323"/>
                </a:lnTo>
                <a:cubicBezTo>
                  <a:pt x="7661" y="15323"/>
                  <a:pt x="7661" y="15323"/>
                  <a:pt x="7661" y="15323"/>
                </a:cubicBezTo>
                <a:cubicBezTo>
                  <a:pt x="3430" y="15323"/>
                  <a:pt x="0" y="11893"/>
                  <a:pt x="0" y="7661"/>
                </a:cubicBezTo>
                <a:cubicBezTo>
                  <a:pt x="0" y="7661"/>
                  <a:pt x="0" y="7661"/>
                  <a:pt x="0" y="7661"/>
                </a:cubicBezTo>
                <a:lnTo>
                  <a:pt x="0" y="7661"/>
                </a:lnTo>
                <a:cubicBezTo>
                  <a:pt x="0" y="7661"/>
                  <a:pt x="0" y="7661"/>
                  <a:pt x="0" y="7661"/>
                </a:cubicBezTo>
                <a:cubicBezTo>
                  <a:pt x="0" y="3430"/>
                  <a:pt x="3430" y="0"/>
                  <a:pt x="7661" y="0"/>
                </a:cubicBezTo>
                <a:cubicBezTo>
                  <a:pt x="7661" y="0"/>
                  <a:pt x="7661" y="0"/>
                  <a:pt x="7661"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60" name="TextBox 84"/>
          <p:cNvSpPr txBox="1"/>
          <p:nvPr/>
        </p:nvSpPr>
        <p:spPr>
          <a:xfrm>
            <a:off x="8509000" y="2336800"/>
            <a:ext cx="1447800" cy="241300"/>
          </a:xfrm>
          <a:prstGeom prst="rect">
            <a:avLst/>
          </a:prstGeom>
        </p:spPr>
        <p:txBody>
          <a:bodyPr wrap="square" lIns="0" tIns="0" rIns="0" bIns="0" anchor="ctr">
            <a:noAutofit/>
          </a:bodyPr>
          <a:lstStyle/>
          <a:p>
            <a:pPr>
              <a:lnSpc>
                <a:spcPct val="135000"/>
              </a:lnSpc>
            </a:pPr>
            <a:r>
              <a:rPr sz="450" b="1" spc="10">
                <a:solidFill>
                  <a:srgbClr val="67676E"/>
                </a:solidFill>
                <a:latin typeface="Telegraf"/>
              </a:rPr>
              <a:t>Urgency · high first</a:t>
            </a:r>
            <a:endParaRPr sz="450" b="1" spc="10">
              <a:solidFill>
                <a:srgbClr val="67676E"/>
              </a:solidFill>
              <a:latin typeface="Telegraf"/>
            </a:endParaRPr>
          </a:p>
        </p:txBody>
      </p:sp>
      <p:sp>
        <p:nvSpPr>
          <p:cNvPr id="1361" name="TextBox 85"/>
          <p:cNvSpPr txBox="1"/>
          <p:nvPr/>
        </p:nvSpPr>
        <p:spPr>
          <a:xfrm>
            <a:off x="762000" y="2743200"/>
            <a:ext cx="1524000" cy="114300"/>
          </a:xfrm>
          <a:prstGeom prst="rect">
            <a:avLst/>
          </a:prstGeom>
        </p:spPr>
        <p:txBody>
          <a:bodyPr wrap="square" lIns="0" tIns="0" rIns="0" bIns="0">
            <a:noAutofit/>
          </a:bodyPr>
          <a:lstStyle/>
          <a:p>
            <a:r>
              <a:rPr sz="430" b="1" spc="100">
                <a:solidFill>
                  <a:srgbClr val="A2A2A8"/>
                </a:solidFill>
                <a:latin typeface="Telegraf"/>
              </a:rPr>
              <a:t>CUSTOMER</a:t>
            </a:r>
            <a:endParaRPr sz="430" b="1" spc="100">
              <a:solidFill>
                <a:srgbClr val="A2A2A8"/>
              </a:solidFill>
              <a:latin typeface="Telegraf"/>
            </a:endParaRPr>
          </a:p>
        </p:txBody>
      </p:sp>
      <p:sp>
        <p:nvSpPr>
          <p:cNvPr id="1362" name="TextBox 86"/>
          <p:cNvSpPr txBox="1"/>
          <p:nvPr/>
        </p:nvSpPr>
        <p:spPr>
          <a:xfrm>
            <a:off x="2794000" y="2743200"/>
            <a:ext cx="1143000" cy="114300"/>
          </a:xfrm>
          <a:prstGeom prst="rect">
            <a:avLst/>
          </a:prstGeom>
        </p:spPr>
        <p:txBody>
          <a:bodyPr wrap="square" lIns="0" tIns="0" rIns="0" bIns="0">
            <a:noAutofit/>
          </a:bodyPr>
          <a:lstStyle/>
          <a:p>
            <a:r>
              <a:rPr sz="430" b="1" spc="100">
                <a:solidFill>
                  <a:srgbClr val="A2A2A8"/>
                </a:solidFill>
                <a:latin typeface="Telegraf"/>
              </a:rPr>
              <a:t>INTENT</a:t>
            </a:r>
            <a:endParaRPr sz="430" b="1" spc="100">
              <a:solidFill>
                <a:srgbClr val="A2A2A8"/>
              </a:solidFill>
              <a:latin typeface="Telegraf"/>
            </a:endParaRPr>
          </a:p>
        </p:txBody>
      </p:sp>
      <p:sp>
        <p:nvSpPr>
          <p:cNvPr id="1363" name="TextBox 87"/>
          <p:cNvSpPr txBox="1"/>
          <p:nvPr/>
        </p:nvSpPr>
        <p:spPr>
          <a:xfrm>
            <a:off x="4724400" y="2743200"/>
            <a:ext cx="762000" cy="114300"/>
          </a:xfrm>
          <a:prstGeom prst="rect">
            <a:avLst/>
          </a:prstGeom>
        </p:spPr>
        <p:txBody>
          <a:bodyPr wrap="square" lIns="0" tIns="0" rIns="0" bIns="0">
            <a:noAutofit/>
          </a:bodyPr>
          <a:lstStyle/>
          <a:p>
            <a:r>
              <a:rPr sz="430" b="1" spc="100">
                <a:solidFill>
                  <a:srgbClr val="A2A2A8"/>
                </a:solidFill>
                <a:latin typeface="Telegraf"/>
              </a:rPr>
              <a:t>CONF</a:t>
            </a:r>
            <a:endParaRPr sz="430" b="1" spc="100">
              <a:solidFill>
                <a:srgbClr val="A2A2A8"/>
              </a:solidFill>
              <a:latin typeface="Telegraf"/>
            </a:endParaRPr>
          </a:p>
        </p:txBody>
      </p:sp>
      <p:sp>
        <p:nvSpPr>
          <p:cNvPr id="1364" name="TextBox 88"/>
          <p:cNvSpPr txBox="1"/>
          <p:nvPr/>
        </p:nvSpPr>
        <p:spPr>
          <a:xfrm>
            <a:off x="5435600" y="2743200"/>
            <a:ext cx="762000" cy="114300"/>
          </a:xfrm>
          <a:prstGeom prst="rect">
            <a:avLst/>
          </a:prstGeom>
        </p:spPr>
        <p:txBody>
          <a:bodyPr wrap="square" lIns="0" tIns="0" rIns="0" bIns="0">
            <a:noAutofit/>
          </a:bodyPr>
          <a:lstStyle/>
          <a:p>
            <a:r>
              <a:rPr sz="430" b="1" spc="100">
                <a:solidFill>
                  <a:srgbClr val="A2A2A8"/>
                </a:solidFill>
                <a:latin typeface="Telegraf"/>
              </a:rPr>
              <a:t>STATE</a:t>
            </a:r>
            <a:endParaRPr sz="430" b="1" spc="100">
              <a:solidFill>
                <a:srgbClr val="A2A2A8"/>
              </a:solidFill>
              <a:latin typeface="Telegraf"/>
            </a:endParaRPr>
          </a:p>
        </p:txBody>
      </p:sp>
      <p:sp>
        <p:nvSpPr>
          <p:cNvPr id="1365" name="TextBox 89"/>
          <p:cNvSpPr txBox="1"/>
          <p:nvPr/>
        </p:nvSpPr>
        <p:spPr>
          <a:xfrm>
            <a:off x="6985000" y="2743200"/>
            <a:ext cx="508000" cy="114300"/>
          </a:xfrm>
          <a:prstGeom prst="rect">
            <a:avLst/>
          </a:prstGeom>
        </p:spPr>
        <p:txBody>
          <a:bodyPr wrap="square" lIns="0" tIns="0" rIns="0" bIns="0">
            <a:noAutofit/>
          </a:bodyPr>
          <a:lstStyle/>
          <a:p>
            <a:pPr algn="r"/>
            <a:r>
              <a:rPr sz="430" b="1" spc="100">
                <a:solidFill>
                  <a:srgbClr val="A2A2A8"/>
                </a:solidFill>
                <a:latin typeface="Telegraf"/>
              </a:rPr>
              <a:t>WAIT</a:t>
            </a:r>
            <a:endParaRPr sz="430" b="1" spc="100">
              <a:solidFill>
                <a:srgbClr val="A2A2A8"/>
              </a:solidFill>
              <a:latin typeface="Telegraf"/>
            </a:endParaRPr>
          </a:p>
        </p:txBody>
      </p:sp>
      <p:sp>
        <p:nvSpPr>
          <p:cNvPr id="1366" name="Rectangle 90"/>
          <p:cNvSpPr/>
          <p:nvPr/>
        </p:nvSpPr>
        <p:spPr>
          <a:xfrm>
            <a:off x="762000" y="2895600"/>
            <a:ext cx="6705600" cy="431800"/>
          </a:xfrm>
          <a:custGeom>
            <a:avLst/>
            <a:gdLst/>
            <a:ahLst/>
            <a:cxnLst/>
            <a:rect l="l" t="t" r="r" b="b"/>
            <a:pathLst>
              <a:path w="100000" h="6439">
                <a:moveTo>
                  <a:pt x="96970" y="0"/>
                </a:moveTo>
                <a:cubicBezTo>
                  <a:pt x="98398" y="0"/>
                  <a:pt x="99113" y="0"/>
                  <a:pt x="99556" y="444"/>
                </a:cubicBezTo>
                <a:cubicBezTo>
                  <a:pt x="99556" y="444"/>
                  <a:pt x="99556" y="444"/>
                  <a:pt x="99556" y="444"/>
                </a:cubicBezTo>
                <a:cubicBezTo>
                  <a:pt x="100000" y="888"/>
                  <a:pt x="100000" y="1602"/>
                  <a:pt x="100000" y="3030"/>
                </a:cubicBezTo>
                <a:lnTo>
                  <a:pt x="100000" y="3409"/>
                </a:lnTo>
                <a:cubicBezTo>
                  <a:pt x="100000" y="4838"/>
                  <a:pt x="100000" y="5552"/>
                  <a:pt x="99556" y="5996"/>
                </a:cubicBezTo>
                <a:cubicBezTo>
                  <a:pt x="99556" y="5996"/>
                  <a:pt x="99556" y="5996"/>
                  <a:pt x="99556" y="5996"/>
                </a:cubicBezTo>
                <a:cubicBezTo>
                  <a:pt x="99113" y="6439"/>
                  <a:pt x="98398" y="6439"/>
                  <a:pt x="96970" y="6439"/>
                </a:cubicBezTo>
                <a:lnTo>
                  <a:pt x="3030" y="6439"/>
                </a:lnTo>
                <a:cubicBezTo>
                  <a:pt x="1602" y="6439"/>
                  <a:pt x="888" y="6439"/>
                  <a:pt x="444" y="5996"/>
                </a:cubicBezTo>
                <a:cubicBezTo>
                  <a:pt x="444" y="5996"/>
                  <a:pt x="444" y="5996"/>
                  <a:pt x="444" y="5996"/>
                </a:cubicBezTo>
                <a:cubicBezTo>
                  <a:pt x="0" y="5552"/>
                  <a:pt x="0" y="4838"/>
                  <a:pt x="0" y="3409"/>
                </a:cubicBezTo>
                <a:lnTo>
                  <a:pt x="0" y="3030"/>
                </a:lnTo>
                <a:cubicBezTo>
                  <a:pt x="0" y="1602"/>
                  <a:pt x="0" y="888"/>
                  <a:pt x="444" y="444"/>
                </a:cubicBezTo>
                <a:cubicBezTo>
                  <a:pt x="444" y="444"/>
                  <a:pt x="444" y="444"/>
                  <a:pt x="444" y="444"/>
                </a:cubicBezTo>
                <a:cubicBezTo>
                  <a:pt x="888" y="0"/>
                  <a:pt x="1602" y="0"/>
                  <a:pt x="3030"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67" name="Rectangle 91"/>
          <p:cNvSpPr/>
          <p:nvPr/>
        </p:nvSpPr>
        <p:spPr>
          <a:xfrm>
            <a:off x="762000" y="2895600"/>
            <a:ext cx="25400" cy="431800"/>
          </a:xfrm>
          <a:prstGeom prst="roundRect">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68" name="Oval 92"/>
          <p:cNvSpPr/>
          <p:nvPr/>
        </p:nvSpPr>
        <p:spPr>
          <a:xfrm>
            <a:off x="936879" y="3052699"/>
            <a:ext cx="107442" cy="107442"/>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69" name="Freeform 1369"/>
          <p:cNvSpPr/>
          <p:nvPr/>
        </p:nvSpPr>
        <p:spPr>
          <a:xfrm>
            <a:off x="958469" y="3141218"/>
            <a:ext cx="49657" cy="51562"/>
          </a:xfrm>
          <a:custGeom>
            <a:avLst/>
            <a:gdLst/>
            <a:ahLst/>
            <a:cxnLst/>
            <a:rect l="l" t="t" r="r" b="b"/>
            <a:pathLst>
              <a:path w="96305" h="100000">
                <a:moveTo>
                  <a:pt x="0" y="50000"/>
                </a:moveTo>
                <a:lnTo>
                  <a:pt x="96305" y="0"/>
                </a:lnTo>
                <a:lnTo>
                  <a:pt x="96305" y="100000"/>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70" name="TextBox 94"/>
          <p:cNvSpPr txBox="1"/>
          <p:nvPr/>
        </p:nvSpPr>
        <p:spPr>
          <a:xfrm>
            <a:off x="1168400" y="29845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Aarav Mehta</a:t>
            </a:r>
            <a:endParaRPr sz="570" b="1" spc="0">
              <a:solidFill>
                <a:srgbClr val="0A0A0A"/>
              </a:solidFill>
              <a:latin typeface="Telegraf"/>
            </a:endParaRPr>
          </a:p>
        </p:txBody>
      </p:sp>
      <p:sp>
        <p:nvSpPr>
          <p:cNvPr id="1371" name="TextBox 95"/>
          <p:cNvSpPr txBox="1"/>
          <p:nvPr/>
        </p:nvSpPr>
        <p:spPr>
          <a:xfrm>
            <a:off x="1168400" y="31242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Where is my ₹6,000 crown order?</a:t>
            </a:r>
            <a:endParaRPr sz="470" spc="0">
              <a:solidFill>
                <a:srgbClr val="67676E"/>
              </a:solidFill>
              <a:latin typeface="Telegraf"/>
            </a:endParaRPr>
          </a:p>
        </p:txBody>
      </p:sp>
      <p:sp>
        <p:nvSpPr>
          <p:cNvPr id="1372" name="TextBox 96"/>
          <p:cNvSpPr txBox="1"/>
          <p:nvPr/>
        </p:nvSpPr>
        <p:spPr>
          <a:xfrm>
            <a:off x="2717800" y="30480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order_status</a:t>
            </a:r>
            <a:endParaRPr sz="450" spc="0">
              <a:solidFill>
                <a:srgbClr val="A2A2A8"/>
              </a:solidFill>
              <a:latin typeface="Telegraf"/>
            </a:endParaRPr>
          </a:p>
        </p:txBody>
      </p:sp>
      <p:sp>
        <p:nvSpPr>
          <p:cNvPr id="1373" name="TextBox 97"/>
          <p:cNvSpPr txBox="1"/>
          <p:nvPr/>
        </p:nvSpPr>
        <p:spPr>
          <a:xfrm>
            <a:off x="4724400" y="29972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71</a:t>
            </a:r>
            <a:endParaRPr sz="560" b="1" spc="0">
              <a:solidFill>
                <a:srgbClr val="0A0A0A"/>
              </a:solidFill>
              <a:latin typeface="Telegraf"/>
            </a:endParaRPr>
          </a:p>
        </p:txBody>
      </p:sp>
      <p:sp>
        <p:nvSpPr>
          <p:cNvPr id="1374" name="Rectangle 98"/>
          <p:cNvSpPr/>
          <p:nvPr/>
        </p:nvSpPr>
        <p:spPr>
          <a:xfrm>
            <a:off x="4724400" y="31496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75" name="Rectangle 99"/>
          <p:cNvSpPr/>
          <p:nvPr/>
        </p:nvSpPr>
        <p:spPr>
          <a:xfrm>
            <a:off x="4724400" y="3149600"/>
            <a:ext cx="306578" cy="38100"/>
          </a:xfrm>
          <a:custGeom>
            <a:avLst/>
            <a:gdLst/>
            <a:ahLst/>
            <a:cxnLst/>
            <a:rect l="l" t="t" r="r" b="b"/>
            <a:pathLst>
              <a:path w="100000" h="12428">
                <a:moveTo>
                  <a:pt x="93786" y="0"/>
                </a:moveTo>
                <a:cubicBezTo>
                  <a:pt x="93786" y="0"/>
                  <a:pt x="93786" y="0"/>
                  <a:pt x="93786" y="0"/>
                </a:cubicBezTo>
                <a:cubicBezTo>
                  <a:pt x="97216" y="0"/>
                  <a:pt x="100000" y="2784"/>
                  <a:pt x="100000" y="6214"/>
                </a:cubicBezTo>
                <a:cubicBezTo>
                  <a:pt x="100000" y="6214"/>
                  <a:pt x="100000" y="6214"/>
                  <a:pt x="100000" y="6214"/>
                </a:cubicBezTo>
                <a:lnTo>
                  <a:pt x="100000" y="6214"/>
                </a:lnTo>
                <a:cubicBezTo>
                  <a:pt x="100000" y="6214"/>
                  <a:pt x="100000" y="6214"/>
                  <a:pt x="100000" y="6214"/>
                </a:cubicBezTo>
                <a:cubicBezTo>
                  <a:pt x="100000" y="9644"/>
                  <a:pt x="97216" y="12428"/>
                  <a:pt x="93786" y="12428"/>
                </a:cubicBezTo>
                <a:cubicBezTo>
                  <a:pt x="93786" y="12428"/>
                  <a:pt x="93786" y="12428"/>
                  <a:pt x="93786" y="12428"/>
                </a:cubicBezTo>
                <a:lnTo>
                  <a:pt x="6214" y="12428"/>
                </a:lnTo>
                <a:cubicBezTo>
                  <a:pt x="6214" y="12428"/>
                  <a:pt x="6214" y="12428"/>
                  <a:pt x="6214" y="12428"/>
                </a:cubicBezTo>
                <a:cubicBezTo>
                  <a:pt x="2784" y="12428"/>
                  <a:pt x="0" y="9644"/>
                  <a:pt x="0" y="6214"/>
                </a:cubicBezTo>
                <a:cubicBezTo>
                  <a:pt x="0" y="6214"/>
                  <a:pt x="0" y="6214"/>
                  <a:pt x="0" y="6214"/>
                </a:cubicBezTo>
                <a:lnTo>
                  <a:pt x="0" y="6214"/>
                </a:lnTo>
                <a:cubicBezTo>
                  <a:pt x="0" y="6214"/>
                  <a:pt x="0" y="6214"/>
                  <a:pt x="0" y="6214"/>
                </a:cubicBezTo>
                <a:cubicBezTo>
                  <a:pt x="0" y="2784"/>
                  <a:pt x="2784" y="0"/>
                  <a:pt x="6214" y="0"/>
                </a:cubicBezTo>
                <a:cubicBezTo>
                  <a:pt x="6214" y="0"/>
                  <a:pt x="6214" y="0"/>
                  <a:pt x="6214"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76" name="Rectangle 100"/>
          <p:cNvSpPr/>
          <p:nvPr/>
        </p:nvSpPr>
        <p:spPr>
          <a:xfrm>
            <a:off x="5308600" y="3022600"/>
            <a:ext cx="440436" cy="146050"/>
          </a:xfrm>
          <a:custGeom>
            <a:avLst/>
            <a:gdLst/>
            <a:ahLst/>
            <a:cxnLst/>
            <a:rect l="l" t="t" r="r" b="b"/>
            <a:pathLst>
              <a:path w="100000" h="33160">
                <a:moveTo>
                  <a:pt x="83420" y="0"/>
                </a:moveTo>
                <a:cubicBezTo>
                  <a:pt x="83420" y="0"/>
                  <a:pt x="83420" y="0"/>
                  <a:pt x="83420" y="0"/>
                </a:cubicBezTo>
                <a:cubicBezTo>
                  <a:pt x="92578" y="0"/>
                  <a:pt x="100000" y="7422"/>
                  <a:pt x="100000" y="16580"/>
                </a:cubicBezTo>
                <a:cubicBezTo>
                  <a:pt x="100000" y="16580"/>
                  <a:pt x="100000" y="16580"/>
                  <a:pt x="100000" y="16580"/>
                </a:cubicBezTo>
                <a:lnTo>
                  <a:pt x="100000" y="16580"/>
                </a:lnTo>
                <a:cubicBezTo>
                  <a:pt x="100000" y="16580"/>
                  <a:pt x="100000" y="16580"/>
                  <a:pt x="100000" y="16580"/>
                </a:cubicBezTo>
                <a:cubicBezTo>
                  <a:pt x="100000" y="25738"/>
                  <a:pt x="92578" y="33160"/>
                  <a:pt x="83420" y="33160"/>
                </a:cubicBezTo>
                <a:cubicBezTo>
                  <a:pt x="83420" y="33160"/>
                  <a:pt x="83420" y="33160"/>
                  <a:pt x="83420" y="33160"/>
                </a:cubicBezTo>
                <a:lnTo>
                  <a:pt x="16580" y="33160"/>
                </a:lnTo>
                <a:cubicBezTo>
                  <a:pt x="16580" y="33160"/>
                  <a:pt x="16580" y="33160"/>
                  <a:pt x="16580" y="33160"/>
                </a:cubicBezTo>
                <a:cubicBezTo>
                  <a:pt x="7422" y="33160"/>
                  <a:pt x="0" y="25738"/>
                  <a:pt x="0" y="16580"/>
                </a:cubicBezTo>
                <a:cubicBezTo>
                  <a:pt x="0" y="16580"/>
                  <a:pt x="0" y="16580"/>
                  <a:pt x="0" y="16580"/>
                </a:cubicBezTo>
                <a:lnTo>
                  <a:pt x="0" y="16580"/>
                </a:lnTo>
                <a:cubicBezTo>
                  <a:pt x="0" y="16580"/>
                  <a:pt x="0" y="16580"/>
                  <a:pt x="0" y="16580"/>
                </a:cubicBezTo>
                <a:cubicBezTo>
                  <a:pt x="0" y="7422"/>
                  <a:pt x="7422" y="0"/>
                  <a:pt x="16580" y="0"/>
                </a:cubicBezTo>
                <a:cubicBezTo>
                  <a:pt x="16580" y="0"/>
                  <a:pt x="16580" y="0"/>
                  <a:pt x="16580"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77" name="Oval 101"/>
          <p:cNvSpPr/>
          <p:nvPr/>
        </p:nvSpPr>
        <p:spPr>
          <a:xfrm>
            <a:off x="5360670" y="3074035"/>
            <a:ext cx="43180" cy="4318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78" name="TextBox 102"/>
          <p:cNvSpPr txBox="1"/>
          <p:nvPr/>
        </p:nvSpPr>
        <p:spPr>
          <a:xfrm>
            <a:off x="5438140" y="3022600"/>
            <a:ext cx="288036" cy="146050"/>
          </a:xfrm>
          <a:prstGeom prst="rect">
            <a:avLst/>
          </a:prstGeom>
        </p:spPr>
        <p:txBody>
          <a:bodyPr wrap="square" lIns="0" tIns="0" rIns="0" bIns="0" anchor="ctr">
            <a:noAutofit/>
          </a:bodyPr>
          <a:lstStyle/>
          <a:p>
            <a:pPr>
              <a:lnSpc>
                <a:spcPct val="135000"/>
              </a:lnSpc>
            </a:pPr>
            <a:r>
              <a:rPr sz="460" b="1" spc="0">
                <a:solidFill>
                  <a:srgbClr val="0E6B5F"/>
                </a:solidFill>
                <a:latin typeface="Telegraf"/>
              </a:rPr>
              <a:t>triaged</a:t>
            </a:r>
            <a:endParaRPr sz="460" b="1" spc="0">
              <a:solidFill>
                <a:srgbClr val="0E6B5F"/>
              </a:solidFill>
              <a:latin typeface="Telegraf"/>
            </a:endParaRPr>
          </a:p>
        </p:txBody>
      </p:sp>
      <p:sp>
        <p:nvSpPr>
          <p:cNvPr id="1379" name="TextBox 103"/>
          <p:cNvSpPr txBox="1"/>
          <p:nvPr/>
        </p:nvSpPr>
        <p:spPr>
          <a:xfrm>
            <a:off x="7137400" y="30480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2m</a:t>
            </a:r>
            <a:endParaRPr sz="460" spc="0">
              <a:solidFill>
                <a:srgbClr val="A2A2A8"/>
              </a:solidFill>
              <a:latin typeface="Telegraf"/>
            </a:endParaRPr>
          </a:p>
        </p:txBody>
      </p:sp>
      <p:sp>
        <p:nvSpPr>
          <p:cNvPr id="1380" name="Rectangle 104"/>
          <p:cNvSpPr/>
          <p:nvPr/>
        </p:nvSpPr>
        <p:spPr>
          <a:xfrm>
            <a:off x="762000" y="33274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81" name="Rectangle 105"/>
          <p:cNvSpPr/>
          <p:nvPr/>
        </p:nvSpPr>
        <p:spPr>
          <a:xfrm>
            <a:off x="932180" y="3510280"/>
            <a:ext cx="116840" cy="116840"/>
          </a:xfrm>
          <a:custGeom>
            <a:avLst/>
            <a:gdLst/>
            <a:ahLst/>
            <a:cxnLst/>
            <a:rect l="l" t="t" r="r" b="b"/>
            <a:pathLst>
              <a:path w="100000" h="100000">
                <a:moveTo>
                  <a:pt x="50000" y="0"/>
                </a:moveTo>
                <a:cubicBezTo>
                  <a:pt x="67739" y="0"/>
                  <a:pt x="76609" y="0"/>
                  <a:pt x="83348" y="3522"/>
                </a:cubicBezTo>
                <a:cubicBezTo>
                  <a:pt x="88967" y="6457"/>
                  <a:pt x="93543" y="11033"/>
                  <a:pt x="96478" y="16652"/>
                </a:cubicBezTo>
                <a:cubicBezTo>
                  <a:pt x="100000" y="23391"/>
                  <a:pt x="100000" y="32261"/>
                  <a:pt x="100000" y="50000"/>
                </a:cubicBezTo>
                <a:lnTo>
                  <a:pt x="100000" y="50000"/>
                </a:lnTo>
                <a:cubicBezTo>
                  <a:pt x="100000" y="67739"/>
                  <a:pt x="100000" y="76609"/>
                  <a:pt x="96478" y="83348"/>
                </a:cubicBezTo>
                <a:cubicBezTo>
                  <a:pt x="93543" y="88967"/>
                  <a:pt x="88967" y="93543"/>
                  <a:pt x="83348" y="96478"/>
                </a:cubicBezTo>
                <a:cubicBezTo>
                  <a:pt x="76609" y="100000"/>
                  <a:pt x="67739" y="100000"/>
                  <a:pt x="50000" y="100000"/>
                </a:cubicBezTo>
                <a:lnTo>
                  <a:pt x="50000" y="100000"/>
                </a:lnTo>
                <a:cubicBezTo>
                  <a:pt x="32261" y="100000"/>
                  <a:pt x="23391" y="100000"/>
                  <a:pt x="16652" y="96478"/>
                </a:cubicBezTo>
                <a:cubicBezTo>
                  <a:pt x="11033" y="93543"/>
                  <a:pt x="6457" y="88967"/>
                  <a:pt x="3522" y="83348"/>
                </a:cubicBezTo>
                <a:cubicBezTo>
                  <a:pt x="0" y="76609"/>
                  <a:pt x="0" y="67739"/>
                  <a:pt x="0" y="50000"/>
                </a:cubicBezTo>
                <a:lnTo>
                  <a:pt x="0" y="50000"/>
                </a:lnTo>
                <a:cubicBezTo>
                  <a:pt x="0" y="32261"/>
                  <a:pt x="0" y="23391"/>
                  <a:pt x="3522" y="16652"/>
                </a:cubicBezTo>
                <a:cubicBezTo>
                  <a:pt x="6457" y="11033"/>
                  <a:pt x="11033" y="6457"/>
                  <a:pt x="16652" y="3522"/>
                </a:cubicBezTo>
                <a:cubicBezTo>
                  <a:pt x="23391" y="0"/>
                  <a:pt x="32261" y="0"/>
                  <a:pt x="50000" y="0"/>
                </a:cubicBezTo>
                <a:close/>
              </a:path>
            </a:pathLst>
          </a:custGeom>
          <a:noFill/>
          <a:ln w="1143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82" name="Oval 106"/>
          <p:cNvSpPr/>
          <p:nvPr/>
        </p:nvSpPr>
        <p:spPr>
          <a:xfrm>
            <a:off x="970788" y="3548888"/>
            <a:ext cx="39751" cy="39751"/>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83" name="Oval 107"/>
          <p:cNvSpPr/>
          <p:nvPr/>
        </p:nvSpPr>
        <p:spPr>
          <a:xfrm>
            <a:off x="1011301" y="3525139"/>
            <a:ext cx="22860" cy="228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84" name="TextBox 108"/>
          <p:cNvSpPr txBox="1"/>
          <p:nvPr/>
        </p:nvSpPr>
        <p:spPr>
          <a:xfrm>
            <a:off x="1168400" y="34417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Riya S.</a:t>
            </a:r>
            <a:endParaRPr sz="570" b="1" spc="0">
              <a:solidFill>
                <a:srgbClr val="0A0A0A"/>
              </a:solidFill>
              <a:latin typeface="Telegraf"/>
            </a:endParaRPr>
          </a:p>
        </p:txBody>
      </p:sp>
      <p:sp>
        <p:nvSpPr>
          <p:cNvPr id="1385" name="TextBox 109"/>
          <p:cNvSpPr txBox="1"/>
          <p:nvPr/>
        </p:nvSpPr>
        <p:spPr>
          <a:xfrm>
            <a:off x="1168400" y="35814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Is the ₹499 plan GST-inclusive?</a:t>
            </a:r>
            <a:endParaRPr sz="470" spc="0">
              <a:solidFill>
                <a:srgbClr val="67676E"/>
              </a:solidFill>
              <a:latin typeface="Telegraf"/>
            </a:endParaRPr>
          </a:p>
        </p:txBody>
      </p:sp>
      <p:sp>
        <p:nvSpPr>
          <p:cNvPr id="1386" name="TextBox 110"/>
          <p:cNvSpPr txBox="1"/>
          <p:nvPr/>
        </p:nvSpPr>
        <p:spPr>
          <a:xfrm>
            <a:off x="2717800" y="35052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pricing_inquiry</a:t>
            </a:r>
            <a:endParaRPr sz="450" spc="0">
              <a:solidFill>
                <a:srgbClr val="A2A2A8"/>
              </a:solidFill>
              <a:latin typeface="Telegraf"/>
            </a:endParaRPr>
          </a:p>
        </p:txBody>
      </p:sp>
      <p:sp>
        <p:nvSpPr>
          <p:cNvPr id="1387" name="TextBox 111"/>
          <p:cNvSpPr txBox="1"/>
          <p:nvPr/>
        </p:nvSpPr>
        <p:spPr>
          <a:xfrm>
            <a:off x="4724400" y="34544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94</a:t>
            </a:r>
            <a:endParaRPr sz="560" b="1" spc="0">
              <a:solidFill>
                <a:srgbClr val="0A0A0A"/>
              </a:solidFill>
              <a:latin typeface="Telegraf"/>
            </a:endParaRPr>
          </a:p>
        </p:txBody>
      </p:sp>
      <p:sp>
        <p:nvSpPr>
          <p:cNvPr id="1388" name="Rectangle 112"/>
          <p:cNvSpPr/>
          <p:nvPr/>
        </p:nvSpPr>
        <p:spPr>
          <a:xfrm>
            <a:off x="4724400" y="36068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89" name="Rectangle 113"/>
          <p:cNvSpPr/>
          <p:nvPr/>
        </p:nvSpPr>
        <p:spPr>
          <a:xfrm>
            <a:off x="4724400" y="3606800"/>
            <a:ext cx="405892" cy="38100"/>
          </a:xfrm>
          <a:custGeom>
            <a:avLst/>
            <a:gdLst/>
            <a:ahLst/>
            <a:cxnLst/>
            <a:rect l="l" t="t" r="r" b="b"/>
            <a:pathLst>
              <a:path w="100000" h="9387">
                <a:moveTo>
                  <a:pt x="95307" y="0"/>
                </a:moveTo>
                <a:cubicBezTo>
                  <a:pt x="95307" y="0"/>
                  <a:pt x="95307" y="0"/>
                  <a:pt x="95307" y="0"/>
                </a:cubicBezTo>
                <a:cubicBezTo>
                  <a:pt x="97897" y="0"/>
                  <a:pt x="100000" y="2103"/>
                  <a:pt x="100000" y="4693"/>
                </a:cubicBezTo>
                <a:cubicBezTo>
                  <a:pt x="100000" y="4693"/>
                  <a:pt x="100000" y="4693"/>
                  <a:pt x="100000" y="4693"/>
                </a:cubicBezTo>
                <a:lnTo>
                  <a:pt x="100000" y="4693"/>
                </a:lnTo>
                <a:cubicBezTo>
                  <a:pt x="100000" y="4693"/>
                  <a:pt x="100000" y="4693"/>
                  <a:pt x="100000" y="4693"/>
                </a:cubicBezTo>
                <a:cubicBezTo>
                  <a:pt x="100000" y="7284"/>
                  <a:pt x="97897" y="9387"/>
                  <a:pt x="95307" y="9387"/>
                </a:cubicBezTo>
                <a:cubicBezTo>
                  <a:pt x="95307" y="9387"/>
                  <a:pt x="95307" y="9387"/>
                  <a:pt x="95307" y="9387"/>
                </a:cubicBezTo>
                <a:lnTo>
                  <a:pt x="4693" y="9387"/>
                </a:lnTo>
                <a:cubicBezTo>
                  <a:pt x="4693" y="9387"/>
                  <a:pt x="4693" y="9387"/>
                  <a:pt x="4693" y="9387"/>
                </a:cubicBezTo>
                <a:cubicBezTo>
                  <a:pt x="2103" y="9387"/>
                  <a:pt x="0" y="7284"/>
                  <a:pt x="0" y="4693"/>
                </a:cubicBezTo>
                <a:cubicBezTo>
                  <a:pt x="0" y="4693"/>
                  <a:pt x="0" y="4693"/>
                  <a:pt x="0" y="4693"/>
                </a:cubicBezTo>
                <a:lnTo>
                  <a:pt x="0" y="4693"/>
                </a:lnTo>
                <a:cubicBezTo>
                  <a:pt x="0" y="4693"/>
                  <a:pt x="0" y="4693"/>
                  <a:pt x="0" y="4693"/>
                </a:cubicBezTo>
                <a:cubicBezTo>
                  <a:pt x="0" y="2103"/>
                  <a:pt x="2103" y="0"/>
                  <a:pt x="4693" y="0"/>
                </a:cubicBezTo>
                <a:cubicBezTo>
                  <a:pt x="4693" y="0"/>
                  <a:pt x="4693" y="0"/>
                  <a:pt x="4693"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90" name="Rectangle 114"/>
          <p:cNvSpPr/>
          <p:nvPr/>
        </p:nvSpPr>
        <p:spPr>
          <a:xfrm>
            <a:off x="5308600" y="3479800"/>
            <a:ext cx="440436" cy="146050"/>
          </a:xfrm>
          <a:custGeom>
            <a:avLst/>
            <a:gdLst/>
            <a:ahLst/>
            <a:cxnLst/>
            <a:rect l="l" t="t" r="r" b="b"/>
            <a:pathLst>
              <a:path w="100000" h="33160">
                <a:moveTo>
                  <a:pt x="83420" y="0"/>
                </a:moveTo>
                <a:cubicBezTo>
                  <a:pt x="83420" y="0"/>
                  <a:pt x="83420" y="0"/>
                  <a:pt x="83420" y="0"/>
                </a:cubicBezTo>
                <a:cubicBezTo>
                  <a:pt x="92578" y="0"/>
                  <a:pt x="100000" y="7422"/>
                  <a:pt x="100000" y="16580"/>
                </a:cubicBezTo>
                <a:cubicBezTo>
                  <a:pt x="100000" y="16580"/>
                  <a:pt x="100000" y="16580"/>
                  <a:pt x="100000" y="16580"/>
                </a:cubicBezTo>
                <a:lnTo>
                  <a:pt x="100000" y="16580"/>
                </a:lnTo>
                <a:cubicBezTo>
                  <a:pt x="100000" y="16580"/>
                  <a:pt x="100000" y="16580"/>
                  <a:pt x="100000" y="16580"/>
                </a:cubicBezTo>
                <a:cubicBezTo>
                  <a:pt x="100000" y="25738"/>
                  <a:pt x="92578" y="33160"/>
                  <a:pt x="83420" y="33160"/>
                </a:cubicBezTo>
                <a:cubicBezTo>
                  <a:pt x="83420" y="33160"/>
                  <a:pt x="83420" y="33160"/>
                  <a:pt x="83420" y="33160"/>
                </a:cubicBezTo>
                <a:lnTo>
                  <a:pt x="16580" y="33160"/>
                </a:lnTo>
                <a:cubicBezTo>
                  <a:pt x="16580" y="33160"/>
                  <a:pt x="16580" y="33160"/>
                  <a:pt x="16580" y="33160"/>
                </a:cubicBezTo>
                <a:cubicBezTo>
                  <a:pt x="7422" y="33160"/>
                  <a:pt x="0" y="25738"/>
                  <a:pt x="0" y="16580"/>
                </a:cubicBezTo>
                <a:cubicBezTo>
                  <a:pt x="0" y="16580"/>
                  <a:pt x="0" y="16580"/>
                  <a:pt x="0" y="16580"/>
                </a:cubicBezTo>
                <a:lnTo>
                  <a:pt x="0" y="16580"/>
                </a:lnTo>
                <a:cubicBezTo>
                  <a:pt x="0" y="16580"/>
                  <a:pt x="0" y="16580"/>
                  <a:pt x="0" y="16580"/>
                </a:cubicBezTo>
                <a:cubicBezTo>
                  <a:pt x="0" y="7422"/>
                  <a:pt x="7422" y="0"/>
                  <a:pt x="16580" y="0"/>
                </a:cubicBezTo>
                <a:cubicBezTo>
                  <a:pt x="16580" y="0"/>
                  <a:pt x="16580" y="0"/>
                  <a:pt x="16580"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91" name="Oval 115"/>
          <p:cNvSpPr/>
          <p:nvPr/>
        </p:nvSpPr>
        <p:spPr>
          <a:xfrm>
            <a:off x="5360670" y="35312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92" name="TextBox 116"/>
          <p:cNvSpPr txBox="1"/>
          <p:nvPr/>
        </p:nvSpPr>
        <p:spPr>
          <a:xfrm>
            <a:off x="5438140" y="3479800"/>
            <a:ext cx="288036" cy="146050"/>
          </a:xfrm>
          <a:prstGeom prst="rect">
            <a:avLst/>
          </a:prstGeom>
        </p:spPr>
        <p:txBody>
          <a:bodyPr wrap="square" lIns="0" tIns="0" rIns="0" bIns="0" anchor="ctr">
            <a:noAutofit/>
          </a:bodyPr>
          <a:lstStyle/>
          <a:p>
            <a:pPr>
              <a:lnSpc>
                <a:spcPct val="135000"/>
              </a:lnSpc>
            </a:pPr>
            <a:r>
              <a:rPr sz="460" b="1" spc="0">
                <a:solidFill>
                  <a:srgbClr val="0B5C44"/>
                </a:solidFill>
                <a:latin typeface="Telegraf"/>
              </a:rPr>
              <a:t>replied</a:t>
            </a:r>
            <a:endParaRPr sz="460" b="1" spc="0">
              <a:solidFill>
                <a:srgbClr val="0B5C44"/>
              </a:solidFill>
              <a:latin typeface="Telegraf"/>
            </a:endParaRPr>
          </a:p>
        </p:txBody>
      </p:sp>
      <p:sp>
        <p:nvSpPr>
          <p:cNvPr id="1393" name="TextBox 117"/>
          <p:cNvSpPr txBox="1"/>
          <p:nvPr/>
        </p:nvSpPr>
        <p:spPr>
          <a:xfrm>
            <a:off x="7137400" y="35052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4m</a:t>
            </a:r>
            <a:endParaRPr sz="460" spc="0">
              <a:solidFill>
                <a:srgbClr val="A2A2A8"/>
              </a:solidFill>
              <a:latin typeface="Telegraf"/>
            </a:endParaRPr>
          </a:p>
        </p:txBody>
      </p:sp>
      <p:sp>
        <p:nvSpPr>
          <p:cNvPr id="1394" name="Rectangle 118"/>
          <p:cNvSpPr/>
          <p:nvPr/>
        </p:nvSpPr>
        <p:spPr>
          <a:xfrm>
            <a:off x="762000" y="37846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95" name="Rectangle 119"/>
          <p:cNvSpPr/>
          <p:nvPr/>
        </p:nvSpPr>
        <p:spPr>
          <a:xfrm>
            <a:off x="932180" y="3983863"/>
            <a:ext cx="116840" cy="84074"/>
          </a:xfrm>
          <a:custGeom>
            <a:avLst/>
            <a:gdLst/>
            <a:ahLst/>
            <a:cxnLst/>
            <a:rect l="l" t="t" r="r" b="b"/>
            <a:pathLst>
              <a:path w="100000" h="71957">
                <a:moveTo>
                  <a:pt x="82609" y="0"/>
                </a:moveTo>
                <a:cubicBezTo>
                  <a:pt x="90804" y="0"/>
                  <a:pt x="94902" y="0"/>
                  <a:pt x="97457" y="2543"/>
                </a:cubicBezTo>
                <a:cubicBezTo>
                  <a:pt x="97457" y="2543"/>
                  <a:pt x="97457" y="2543"/>
                  <a:pt x="97457" y="2543"/>
                </a:cubicBezTo>
                <a:cubicBezTo>
                  <a:pt x="100000" y="5098"/>
                  <a:pt x="100000" y="9196"/>
                  <a:pt x="100000" y="17391"/>
                </a:cubicBezTo>
                <a:lnTo>
                  <a:pt x="100000" y="54565"/>
                </a:lnTo>
                <a:cubicBezTo>
                  <a:pt x="100000" y="62761"/>
                  <a:pt x="100000" y="66859"/>
                  <a:pt x="97457" y="69413"/>
                </a:cubicBezTo>
                <a:cubicBezTo>
                  <a:pt x="97457" y="69413"/>
                  <a:pt x="97457" y="69413"/>
                  <a:pt x="97457" y="69413"/>
                </a:cubicBezTo>
                <a:cubicBezTo>
                  <a:pt x="94902" y="71957"/>
                  <a:pt x="90804" y="71957"/>
                  <a:pt x="82609" y="71957"/>
                </a:cubicBezTo>
                <a:lnTo>
                  <a:pt x="17391" y="71957"/>
                </a:lnTo>
                <a:cubicBezTo>
                  <a:pt x="9196" y="71957"/>
                  <a:pt x="5098" y="71957"/>
                  <a:pt x="2543" y="69413"/>
                </a:cubicBezTo>
                <a:cubicBezTo>
                  <a:pt x="2543" y="69413"/>
                  <a:pt x="2543" y="69413"/>
                  <a:pt x="2543" y="69413"/>
                </a:cubicBezTo>
                <a:cubicBezTo>
                  <a:pt x="0" y="66859"/>
                  <a:pt x="0" y="62761"/>
                  <a:pt x="0" y="54565"/>
                </a:cubicBezTo>
                <a:lnTo>
                  <a:pt x="0" y="17391"/>
                </a:lnTo>
                <a:cubicBezTo>
                  <a:pt x="0" y="9196"/>
                  <a:pt x="0" y="5098"/>
                  <a:pt x="2543" y="2543"/>
                </a:cubicBezTo>
                <a:cubicBezTo>
                  <a:pt x="2543" y="2543"/>
                  <a:pt x="2543" y="2543"/>
                  <a:pt x="2543" y="2543"/>
                </a:cubicBezTo>
                <a:cubicBezTo>
                  <a:pt x="5098" y="0"/>
                  <a:pt x="9196" y="0"/>
                  <a:pt x="17391" y="0"/>
                </a:cubicBezTo>
                <a:close/>
              </a:path>
            </a:pathLst>
          </a:custGeom>
          <a:noFill/>
          <a:ln w="10795">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396" name="Freeform 1396"/>
          <p:cNvSpPr/>
          <p:nvPr/>
        </p:nvSpPr>
        <p:spPr>
          <a:xfrm>
            <a:off x="932180" y="3987292"/>
            <a:ext cx="116840" cy="56134"/>
          </a:xfrm>
          <a:custGeom>
            <a:avLst/>
            <a:gdLst/>
            <a:ahLst/>
            <a:cxnLst/>
            <a:rect l="l" t="t" r="r" b="b"/>
            <a:pathLst>
              <a:path w="100000" h="48043" fill="none">
                <a:moveTo>
                  <a:pt x="0" y="0"/>
                </a:moveTo>
                <a:lnTo>
                  <a:pt x="50000" y="48043"/>
                </a:lnTo>
                <a:lnTo>
                  <a:pt x="100000" y="0"/>
                </a:lnTo>
              </a:path>
            </a:pathLst>
          </a:custGeom>
          <a:noFill/>
          <a:ln w="10795"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1397" name="TextBox 121"/>
          <p:cNvSpPr txBox="1"/>
          <p:nvPr/>
        </p:nvSpPr>
        <p:spPr>
          <a:xfrm>
            <a:off x="1168400" y="38989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Sameer K.</a:t>
            </a:r>
            <a:endParaRPr sz="570" b="1" spc="0">
              <a:solidFill>
                <a:srgbClr val="0A0A0A"/>
              </a:solidFill>
              <a:latin typeface="Telegraf"/>
            </a:endParaRPr>
          </a:p>
        </p:txBody>
      </p:sp>
      <p:sp>
        <p:nvSpPr>
          <p:cNvPr id="1398" name="TextBox 122"/>
          <p:cNvSpPr txBox="1"/>
          <p:nvPr/>
        </p:nvSpPr>
        <p:spPr>
          <a:xfrm>
            <a:off x="1168400" y="40386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Let me talk to a real human manager</a:t>
            </a:r>
            <a:endParaRPr sz="470" spc="0">
              <a:solidFill>
                <a:srgbClr val="67676E"/>
              </a:solidFill>
              <a:latin typeface="Telegraf"/>
            </a:endParaRPr>
          </a:p>
        </p:txBody>
      </p:sp>
      <p:sp>
        <p:nvSpPr>
          <p:cNvPr id="1399" name="TextBox 123"/>
          <p:cNvSpPr txBox="1"/>
          <p:nvPr/>
        </p:nvSpPr>
        <p:spPr>
          <a:xfrm>
            <a:off x="2717800" y="39624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human_request</a:t>
            </a:r>
            <a:endParaRPr sz="450" spc="0">
              <a:solidFill>
                <a:srgbClr val="A2A2A8"/>
              </a:solidFill>
              <a:latin typeface="Telegraf"/>
            </a:endParaRPr>
          </a:p>
        </p:txBody>
      </p:sp>
      <p:sp>
        <p:nvSpPr>
          <p:cNvPr id="1400" name="TextBox 124"/>
          <p:cNvSpPr txBox="1"/>
          <p:nvPr/>
        </p:nvSpPr>
        <p:spPr>
          <a:xfrm>
            <a:off x="4724400" y="39116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12</a:t>
            </a:r>
            <a:endParaRPr sz="560" b="1" spc="0">
              <a:solidFill>
                <a:srgbClr val="0A0A0A"/>
              </a:solidFill>
              <a:latin typeface="Telegraf"/>
            </a:endParaRPr>
          </a:p>
        </p:txBody>
      </p:sp>
      <p:sp>
        <p:nvSpPr>
          <p:cNvPr id="1401" name="Rectangle 125"/>
          <p:cNvSpPr/>
          <p:nvPr/>
        </p:nvSpPr>
        <p:spPr>
          <a:xfrm>
            <a:off x="4724400" y="40640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02" name="Rectangle 126"/>
          <p:cNvSpPr/>
          <p:nvPr/>
        </p:nvSpPr>
        <p:spPr>
          <a:xfrm>
            <a:off x="4724400" y="4064000"/>
            <a:ext cx="51816" cy="38100"/>
          </a:xfrm>
          <a:custGeom>
            <a:avLst/>
            <a:gdLst/>
            <a:ahLst/>
            <a:cxnLst/>
            <a:rect l="l" t="t" r="r" b="b"/>
            <a:pathLst>
              <a:path w="100000" h="73529">
                <a:moveTo>
                  <a:pt x="63235" y="0"/>
                </a:moveTo>
                <a:cubicBezTo>
                  <a:pt x="63235" y="0"/>
                  <a:pt x="63235" y="0"/>
                  <a:pt x="63235" y="0"/>
                </a:cubicBezTo>
                <a:cubicBezTo>
                  <a:pt x="83529" y="0"/>
                  <a:pt x="100000" y="16471"/>
                  <a:pt x="100000" y="36765"/>
                </a:cubicBezTo>
                <a:cubicBezTo>
                  <a:pt x="100000" y="36765"/>
                  <a:pt x="100000" y="36765"/>
                  <a:pt x="100000" y="36765"/>
                </a:cubicBezTo>
                <a:lnTo>
                  <a:pt x="100000" y="36765"/>
                </a:lnTo>
                <a:cubicBezTo>
                  <a:pt x="100000" y="36765"/>
                  <a:pt x="100000" y="36765"/>
                  <a:pt x="100000" y="36765"/>
                </a:cubicBezTo>
                <a:cubicBezTo>
                  <a:pt x="100000" y="57059"/>
                  <a:pt x="83529" y="73529"/>
                  <a:pt x="63235" y="73529"/>
                </a:cubicBezTo>
                <a:cubicBezTo>
                  <a:pt x="63235" y="73529"/>
                  <a:pt x="63235" y="73529"/>
                  <a:pt x="63235" y="73529"/>
                </a:cubicBezTo>
                <a:lnTo>
                  <a:pt x="36765" y="73529"/>
                </a:lnTo>
                <a:cubicBezTo>
                  <a:pt x="36765" y="73529"/>
                  <a:pt x="36765" y="73529"/>
                  <a:pt x="36765" y="73529"/>
                </a:cubicBezTo>
                <a:cubicBezTo>
                  <a:pt x="16471" y="73529"/>
                  <a:pt x="0" y="57059"/>
                  <a:pt x="0" y="36765"/>
                </a:cubicBezTo>
                <a:cubicBezTo>
                  <a:pt x="0" y="36765"/>
                  <a:pt x="0" y="36765"/>
                  <a:pt x="0" y="36765"/>
                </a:cubicBezTo>
                <a:lnTo>
                  <a:pt x="0" y="36765"/>
                </a:lnTo>
                <a:cubicBezTo>
                  <a:pt x="0" y="36765"/>
                  <a:pt x="0" y="36765"/>
                  <a:pt x="0" y="36765"/>
                </a:cubicBezTo>
                <a:cubicBezTo>
                  <a:pt x="0" y="16471"/>
                  <a:pt x="16471" y="0"/>
                  <a:pt x="36765" y="0"/>
                </a:cubicBezTo>
                <a:cubicBezTo>
                  <a:pt x="36765" y="0"/>
                  <a:pt x="36765" y="0"/>
                  <a:pt x="36765" y="0"/>
                </a:cubicBez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03" name="Rectangle 127"/>
          <p:cNvSpPr/>
          <p:nvPr/>
        </p:nvSpPr>
        <p:spPr>
          <a:xfrm>
            <a:off x="5308600" y="3937000"/>
            <a:ext cx="508127" cy="146050"/>
          </a:xfrm>
          <a:custGeom>
            <a:avLst/>
            <a:gdLst/>
            <a:ahLst/>
            <a:cxnLst/>
            <a:rect l="l" t="t" r="r" b="b"/>
            <a:pathLst>
              <a:path w="100000" h="28743">
                <a:moveTo>
                  <a:pt x="85629" y="0"/>
                </a:moveTo>
                <a:cubicBezTo>
                  <a:pt x="85629" y="0"/>
                  <a:pt x="85629" y="0"/>
                  <a:pt x="85629" y="0"/>
                </a:cubicBezTo>
                <a:cubicBezTo>
                  <a:pt x="93567" y="0"/>
                  <a:pt x="100000" y="6433"/>
                  <a:pt x="100000" y="14371"/>
                </a:cubicBezTo>
                <a:cubicBezTo>
                  <a:pt x="100000" y="14371"/>
                  <a:pt x="100000" y="14371"/>
                  <a:pt x="100000" y="14371"/>
                </a:cubicBezTo>
                <a:lnTo>
                  <a:pt x="100000" y="14371"/>
                </a:lnTo>
                <a:cubicBezTo>
                  <a:pt x="100000" y="14371"/>
                  <a:pt x="100000" y="14371"/>
                  <a:pt x="100000" y="14371"/>
                </a:cubicBezTo>
                <a:cubicBezTo>
                  <a:pt x="100000" y="22309"/>
                  <a:pt x="93567" y="28743"/>
                  <a:pt x="85629" y="28743"/>
                </a:cubicBezTo>
                <a:cubicBezTo>
                  <a:pt x="85629" y="28743"/>
                  <a:pt x="85629" y="28743"/>
                  <a:pt x="85629" y="28743"/>
                </a:cubicBezTo>
                <a:lnTo>
                  <a:pt x="14371" y="28743"/>
                </a:lnTo>
                <a:cubicBezTo>
                  <a:pt x="14371" y="28743"/>
                  <a:pt x="14371" y="28743"/>
                  <a:pt x="14371" y="28743"/>
                </a:cubicBezTo>
                <a:cubicBezTo>
                  <a:pt x="6433" y="28743"/>
                  <a:pt x="0" y="22309"/>
                  <a:pt x="0" y="14371"/>
                </a:cubicBezTo>
                <a:cubicBezTo>
                  <a:pt x="0" y="14371"/>
                  <a:pt x="0" y="14371"/>
                  <a:pt x="0" y="14371"/>
                </a:cubicBezTo>
                <a:lnTo>
                  <a:pt x="0" y="14371"/>
                </a:lnTo>
                <a:cubicBezTo>
                  <a:pt x="0" y="14371"/>
                  <a:pt x="0" y="14371"/>
                  <a:pt x="0" y="14371"/>
                </a:cubicBezTo>
                <a:cubicBezTo>
                  <a:pt x="0" y="6433"/>
                  <a:pt x="6433" y="0"/>
                  <a:pt x="14371" y="0"/>
                </a:cubicBezTo>
                <a:cubicBezTo>
                  <a:pt x="14371" y="0"/>
                  <a:pt x="14371" y="0"/>
                  <a:pt x="14371"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04" name="Oval 128"/>
          <p:cNvSpPr/>
          <p:nvPr/>
        </p:nvSpPr>
        <p:spPr>
          <a:xfrm>
            <a:off x="5360670" y="398843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05" name="TextBox 129"/>
          <p:cNvSpPr txBox="1"/>
          <p:nvPr/>
        </p:nvSpPr>
        <p:spPr>
          <a:xfrm>
            <a:off x="5438140" y="3937000"/>
            <a:ext cx="355727" cy="146050"/>
          </a:xfrm>
          <a:prstGeom prst="rect">
            <a:avLst/>
          </a:prstGeom>
        </p:spPr>
        <p:txBody>
          <a:bodyPr wrap="square" lIns="0" tIns="0" rIns="0" bIns="0" anchor="ctr">
            <a:noAutofit/>
          </a:bodyPr>
          <a:lstStyle/>
          <a:p>
            <a:pPr>
              <a:lnSpc>
                <a:spcPct val="135000"/>
              </a:lnSpc>
            </a:pPr>
            <a:r>
              <a:rPr sz="460" b="1" spc="0">
                <a:solidFill>
                  <a:srgbClr val="99201C"/>
                </a:solidFill>
                <a:latin typeface="Telegraf"/>
              </a:rPr>
              <a:t>escalated</a:t>
            </a:r>
            <a:endParaRPr sz="460" b="1" spc="0">
              <a:solidFill>
                <a:srgbClr val="99201C"/>
              </a:solidFill>
              <a:latin typeface="Telegraf"/>
            </a:endParaRPr>
          </a:p>
        </p:txBody>
      </p:sp>
      <p:sp>
        <p:nvSpPr>
          <p:cNvPr id="1406" name="TextBox 130"/>
          <p:cNvSpPr txBox="1"/>
          <p:nvPr/>
        </p:nvSpPr>
        <p:spPr>
          <a:xfrm>
            <a:off x="7137400" y="39624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6m</a:t>
            </a:r>
            <a:endParaRPr sz="460" spc="0">
              <a:solidFill>
                <a:srgbClr val="A2A2A8"/>
              </a:solidFill>
              <a:latin typeface="Telegraf"/>
            </a:endParaRPr>
          </a:p>
        </p:txBody>
      </p:sp>
      <p:sp>
        <p:nvSpPr>
          <p:cNvPr id="1407" name="Oval 131"/>
          <p:cNvSpPr/>
          <p:nvPr/>
        </p:nvSpPr>
        <p:spPr>
          <a:xfrm>
            <a:off x="840740" y="4003040"/>
            <a:ext cx="45720" cy="4572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08" name="Rectangle 132"/>
          <p:cNvSpPr/>
          <p:nvPr/>
        </p:nvSpPr>
        <p:spPr>
          <a:xfrm>
            <a:off x="762000" y="42418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09" name="Oval 133"/>
          <p:cNvSpPr/>
          <p:nvPr/>
        </p:nvSpPr>
        <p:spPr>
          <a:xfrm>
            <a:off x="973074" y="4433443"/>
            <a:ext cx="35052" cy="35052"/>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10" name="Rectangle 134"/>
          <p:cNvSpPr/>
          <p:nvPr/>
        </p:nvSpPr>
        <p:spPr>
          <a:xfrm>
            <a:off x="984885" y="44761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11" name="Rectangle 135"/>
          <p:cNvSpPr/>
          <p:nvPr/>
        </p:nvSpPr>
        <p:spPr>
          <a:xfrm>
            <a:off x="951992" y="45076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12" name="TextBox 136"/>
          <p:cNvSpPr txBox="1"/>
          <p:nvPr/>
        </p:nvSpPr>
        <p:spPr>
          <a:xfrm>
            <a:off x="1168400" y="43561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Neha Verma</a:t>
            </a:r>
            <a:endParaRPr sz="570" b="1" spc="0">
              <a:solidFill>
                <a:srgbClr val="0A0A0A"/>
              </a:solidFill>
              <a:latin typeface="Telegraf"/>
            </a:endParaRPr>
          </a:p>
        </p:txBody>
      </p:sp>
      <p:sp>
        <p:nvSpPr>
          <p:cNvPr id="1413" name="TextBox 137"/>
          <p:cNvSpPr txBox="1"/>
          <p:nvPr/>
        </p:nvSpPr>
        <p:spPr>
          <a:xfrm>
            <a:off x="1168400" y="44958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RCT price, and do you take UPI?</a:t>
            </a:r>
            <a:endParaRPr sz="470" spc="0">
              <a:solidFill>
                <a:srgbClr val="67676E"/>
              </a:solidFill>
              <a:latin typeface="Telegraf"/>
            </a:endParaRPr>
          </a:p>
        </p:txBody>
      </p:sp>
      <p:sp>
        <p:nvSpPr>
          <p:cNvPr id="1414" name="TextBox 138"/>
          <p:cNvSpPr txBox="1"/>
          <p:nvPr/>
        </p:nvSpPr>
        <p:spPr>
          <a:xfrm>
            <a:off x="2717800" y="44196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pricing_inquiry</a:t>
            </a:r>
            <a:endParaRPr sz="450" spc="0">
              <a:solidFill>
                <a:srgbClr val="A2A2A8"/>
              </a:solidFill>
              <a:latin typeface="Telegraf"/>
            </a:endParaRPr>
          </a:p>
        </p:txBody>
      </p:sp>
      <p:sp>
        <p:nvSpPr>
          <p:cNvPr id="1415" name="TextBox 139"/>
          <p:cNvSpPr txBox="1"/>
          <p:nvPr/>
        </p:nvSpPr>
        <p:spPr>
          <a:xfrm>
            <a:off x="4724400" y="43688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88</a:t>
            </a:r>
            <a:endParaRPr sz="560" b="1" spc="0">
              <a:solidFill>
                <a:srgbClr val="0A0A0A"/>
              </a:solidFill>
              <a:latin typeface="Telegraf"/>
            </a:endParaRPr>
          </a:p>
        </p:txBody>
      </p:sp>
      <p:sp>
        <p:nvSpPr>
          <p:cNvPr id="1416" name="Rectangle 140"/>
          <p:cNvSpPr/>
          <p:nvPr/>
        </p:nvSpPr>
        <p:spPr>
          <a:xfrm>
            <a:off x="4724400" y="45212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17" name="Rectangle 141"/>
          <p:cNvSpPr/>
          <p:nvPr/>
        </p:nvSpPr>
        <p:spPr>
          <a:xfrm>
            <a:off x="4724400" y="4521200"/>
            <a:ext cx="379984" cy="38100"/>
          </a:xfrm>
          <a:custGeom>
            <a:avLst/>
            <a:gdLst/>
            <a:ahLst/>
            <a:cxnLst/>
            <a:rect l="l" t="t" r="r" b="b"/>
            <a:pathLst>
              <a:path w="100000" h="10027">
                <a:moveTo>
                  <a:pt x="94987" y="0"/>
                </a:moveTo>
                <a:cubicBezTo>
                  <a:pt x="94987" y="0"/>
                  <a:pt x="94987" y="0"/>
                  <a:pt x="94987" y="0"/>
                </a:cubicBezTo>
                <a:cubicBezTo>
                  <a:pt x="97754" y="0"/>
                  <a:pt x="100000" y="2246"/>
                  <a:pt x="100000" y="5013"/>
                </a:cubicBezTo>
                <a:cubicBezTo>
                  <a:pt x="100000" y="5013"/>
                  <a:pt x="100000" y="5013"/>
                  <a:pt x="100000" y="5013"/>
                </a:cubicBezTo>
                <a:lnTo>
                  <a:pt x="100000" y="5013"/>
                </a:lnTo>
                <a:cubicBezTo>
                  <a:pt x="100000" y="5013"/>
                  <a:pt x="100000" y="5013"/>
                  <a:pt x="100000" y="5013"/>
                </a:cubicBezTo>
                <a:cubicBezTo>
                  <a:pt x="100000" y="7781"/>
                  <a:pt x="97754" y="10027"/>
                  <a:pt x="94987" y="10027"/>
                </a:cubicBezTo>
                <a:cubicBezTo>
                  <a:pt x="94987" y="10027"/>
                  <a:pt x="94987" y="10027"/>
                  <a:pt x="94987" y="10027"/>
                </a:cubicBezTo>
                <a:lnTo>
                  <a:pt x="5013" y="10027"/>
                </a:lnTo>
                <a:cubicBezTo>
                  <a:pt x="5013" y="10027"/>
                  <a:pt x="5013" y="10027"/>
                  <a:pt x="5013" y="10027"/>
                </a:cubicBezTo>
                <a:cubicBezTo>
                  <a:pt x="2246" y="10027"/>
                  <a:pt x="0" y="7781"/>
                  <a:pt x="0" y="5013"/>
                </a:cubicBezTo>
                <a:cubicBezTo>
                  <a:pt x="0" y="5013"/>
                  <a:pt x="0" y="5013"/>
                  <a:pt x="0" y="5013"/>
                </a:cubicBezTo>
                <a:lnTo>
                  <a:pt x="0" y="5013"/>
                </a:lnTo>
                <a:cubicBezTo>
                  <a:pt x="0" y="5013"/>
                  <a:pt x="0" y="5013"/>
                  <a:pt x="0" y="5013"/>
                </a:cubicBezTo>
                <a:cubicBezTo>
                  <a:pt x="0" y="2246"/>
                  <a:pt x="2246" y="0"/>
                  <a:pt x="5013" y="0"/>
                </a:cubicBezTo>
                <a:cubicBezTo>
                  <a:pt x="5013" y="0"/>
                  <a:pt x="5013" y="0"/>
                  <a:pt x="5013"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18" name="Rectangle 142"/>
          <p:cNvSpPr/>
          <p:nvPr/>
        </p:nvSpPr>
        <p:spPr>
          <a:xfrm>
            <a:off x="5308600" y="4394200"/>
            <a:ext cx="440436" cy="146050"/>
          </a:xfrm>
          <a:custGeom>
            <a:avLst/>
            <a:gdLst/>
            <a:ahLst/>
            <a:cxnLst/>
            <a:rect l="l" t="t" r="r" b="b"/>
            <a:pathLst>
              <a:path w="100000" h="33160">
                <a:moveTo>
                  <a:pt x="83420" y="0"/>
                </a:moveTo>
                <a:cubicBezTo>
                  <a:pt x="83420" y="0"/>
                  <a:pt x="83420" y="0"/>
                  <a:pt x="83420" y="0"/>
                </a:cubicBezTo>
                <a:cubicBezTo>
                  <a:pt x="92578" y="0"/>
                  <a:pt x="100000" y="7422"/>
                  <a:pt x="100000" y="16580"/>
                </a:cubicBezTo>
                <a:cubicBezTo>
                  <a:pt x="100000" y="16580"/>
                  <a:pt x="100000" y="16580"/>
                  <a:pt x="100000" y="16580"/>
                </a:cubicBezTo>
                <a:lnTo>
                  <a:pt x="100000" y="16580"/>
                </a:lnTo>
                <a:cubicBezTo>
                  <a:pt x="100000" y="16580"/>
                  <a:pt x="100000" y="16580"/>
                  <a:pt x="100000" y="16580"/>
                </a:cubicBezTo>
                <a:cubicBezTo>
                  <a:pt x="100000" y="25738"/>
                  <a:pt x="92578" y="33160"/>
                  <a:pt x="83420" y="33160"/>
                </a:cubicBezTo>
                <a:cubicBezTo>
                  <a:pt x="83420" y="33160"/>
                  <a:pt x="83420" y="33160"/>
                  <a:pt x="83420" y="33160"/>
                </a:cubicBezTo>
                <a:lnTo>
                  <a:pt x="16580" y="33160"/>
                </a:lnTo>
                <a:cubicBezTo>
                  <a:pt x="16580" y="33160"/>
                  <a:pt x="16580" y="33160"/>
                  <a:pt x="16580" y="33160"/>
                </a:cubicBezTo>
                <a:cubicBezTo>
                  <a:pt x="7422" y="33160"/>
                  <a:pt x="0" y="25738"/>
                  <a:pt x="0" y="16580"/>
                </a:cubicBezTo>
                <a:cubicBezTo>
                  <a:pt x="0" y="16580"/>
                  <a:pt x="0" y="16580"/>
                  <a:pt x="0" y="16580"/>
                </a:cubicBezTo>
                <a:lnTo>
                  <a:pt x="0" y="16580"/>
                </a:lnTo>
                <a:cubicBezTo>
                  <a:pt x="0" y="16580"/>
                  <a:pt x="0" y="16580"/>
                  <a:pt x="0" y="16580"/>
                </a:cubicBezTo>
                <a:cubicBezTo>
                  <a:pt x="0" y="7422"/>
                  <a:pt x="7422" y="0"/>
                  <a:pt x="16580" y="0"/>
                </a:cubicBezTo>
                <a:cubicBezTo>
                  <a:pt x="16580" y="0"/>
                  <a:pt x="16580" y="0"/>
                  <a:pt x="16580"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19" name="Oval 143"/>
          <p:cNvSpPr/>
          <p:nvPr/>
        </p:nvSpPr>
        <p:spPr>
          <a:xfrm>
            <a:off x="5360670" y="44456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20" name="TextBox 144"/>
          <p:cNvSpPr txBox="1"/>
          <p:nvPr/>
        </p:nvSpPr>
        <p:spPr>
          <a:xfrm>
            <a:off x="5438140" y="4394200"/>
            <a:ext cx="288036" cy="146050"/>
          </a:xfrm>
          <a:prstGeom prst="rect">
            <a:avLst/>
          </a:prstGeom>
        </p:spPr>
        <p:txBody>
          <a:bodyPr wrap="square" lIns="0" tIns="0" rIns="0" bIns="0" anchor="ctr">
            <a:noAutofit/>
          </a:bodyPr>
          <a:lstStyle/>
          <a:p>
            <a:pPr>
              <a:lnSpc>
                <a:spcPct val="135000"/>
              </a:lnSpc>
            </a:pPr>
            <a:r>
              <a:rPr sz="460" b="1" spc="0">
                <a:solidFill>
                  <a:srgbClr val="0B5C44"/>
                </a:solidFill>
                <a:latin typeface="Telegraf"/>
              </a:rPr>
              <a:t>replied</a:t>
            </a:r>
            <a:endParaRPr sz="460" b="1" spc="0">
              <a:solidFill>
                <a:srgbClr val="0B5C44"/>
              </a:solidFill>
              <a:latin typeface="Telegraf"/>
            </a:endParaRPr>
          </a:p>
        </p:txBody>
      </p:sp>
      <p:sp>
        <p:nvSpPr>
          <p:cNvPr id="1421" name="TextBox 145"/>
          <p:cNvSpPr txBox="1"/>
          <p:nvPr/>
        </p:nvSpPr>
        <p:spPr>
          <a:xfrm>
            <a:off x="7137400" y="44196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9m</a:t>
            </a:r>
            <a:endParaRPr sz="460" spc="0">
              <a:solidFill>
                <a:srgbClr val="A2A2A8"/>
              </a:solidFill>
              <a:latin typeface="Telegraf"/>
            </a:endParaRPr>
          </a:p>
        </p:txBody>
      </p:sp>
      <p:sp>
        <p:nvSpPr>
          <p:cNvPr id="1422" name="Rectangle 146"/>
          <p:cNvSpPr/>
          <p:nvPr/>
        </p:nvSpPr>
        <p:spPr>
          <a:xfrm>
            <a:off x="762000" y="46990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23" name="Oval 147"/>
          <p:cNvSpPr/>
          <p:nvPr/>
        </p:nvSpPr>
        <p:spPr>
          <a:xfrm>
            <a:off x="936879" y="4881499"/>
            <a:ext cx="107442" cy="107442"/>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24" name="Freeform 1424"/>
          <p:cNvSpPr/>
          <p:nvPr/>
        </p:nvSpPr>
        <p:spPr>
          <a:xfrm>
            <a:off x="958469" y="4970018"/>
            <a:ext cx="49657" cy="51562"/>
          </a:xfrm>
          <a:custGeom>
            <a:avLst/>
            <a:gdLst/>
            <a:ahLst/>
            <a:cxnLst/>
            <a:rect l="l" t="t" r="r" b="b"/>
            <a:pathLst>
              <a:path w="96305" h="100000">
                <a:moveTo>
                  <a:pt x="0" y="50000"/>
                </a:moveTo>
                <a:lnTo>
                  <a:pt x="96305" y="0"/>
                </a:lnTo>
                <a:lnTo>
                  <a:pt x="96305" y="100000"/>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25" name="TextBox 149"/>
          <p:cNvSpPr txBox="1"/>
          <p:nvPr/>
        </p:nvSpPr>
        <p:spPr>
          <a:xfrm>
            <a:off x="1168400" y="48133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Karan D.</a:t>
            </a:r>
            <a:endParaRPr sz="570" b="1" spc="0">
              <a:solidFill>
                <a:srgbClr val="0A0A0A"/>
              </a:solidFill>
              <a:latin typeface="Telegraf"/>
            </a:endParaRPr>
          </a:p>
        </p:txBody>
      </p:sp>
      <p:sp>
        <p:nvSpPr>
          <p:cNvPr id="1426" name="TextBox 150"/>
          <p:cNvSpPr txBox="1"/>
          <p:nvPr/>
        </p:nvSpPr>
        <p:spPr>
          <a:xfrm>
            <a:off x="1168400" y="49530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Your app deleted my invoices!!</a:t>
            </a:r>
            <a:endParaRPr sz="470" spc="0">
              <a:solidFill>
                <a:srgbClr val="67676E"/>
              </a:solidFill>
              <a:latin typeface="Telegraf"/>
            </a:endParaRPr>
          </a:p>
        </p:txBody>
      </p:sp>
      <p:sp>
        <p:nvSpPr>
          <p:cNvPr id="1427" name="TextBox 151"/>
          <p:cNvSpPr txBox="1"/>
          <p:nvPr/>
        </p:nvSpPr>
        <p:spPr>
          <a:xfrm>
            <a:off x="2717800" y="48768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technical_bug</a:t>
            </a:r>
            <a:endParaRPr sz="450" spc="0">
              <a:solidFill>
                <a:srgbClr val="A2A2A8"/>
              </a:solidFill>
              <a:latin typeface="Telegraf"/>
            </a:endParaRPr>
          </a:p>
        </p:txBody>
      </p:sp>
      <p:sp>
        <p:nvSpPr>
          <p:cNvPr id="1428" name="TextBox 152"/>
          <p:cNvSpPr txBox="1"/>
          <p:nvPr/>
        </p:nvSpPr>
        <p:spPr>
          <a:xfrm>
            <a:off x="4724400" y="48260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38</a:t>
            </a:r>
            <a:endParaRPr sz="560" b="1" spc="0">
              <a:solidFill>
                <a:srgbClr val="0A0A0A"/>
              </a:solidFill>
              <a:latin typeface="Telegraf"/>
            </a:endParaRPr>
          </a:p>
        </p:txBody>
      </p:sp>
      <p:sp>
        <p:nvSpPr>
          <p:cNvPr id="1429" name="Rectangle 153"/>
          <p:cNvSpPr/>
          <p:nvPr/>
        </p:nvSpPr>
        <p:spPr>
          <a:xfrm>
            <a:off x="4724400" y="49784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30" name="Rectangle 154"/>
          <p:cNvSpPr/>
          <p:nvPr/>
        </p:nvSpPr>
        <p:spPr>
          <a:xfrm>
            <a:off x="4724400" y="4978400"/>
            <a:ext cx="164084" cy="38100"/>
          </a:xfrm>
          <a:custGeom>
            <a:avLst/>
            <a:gdLst/>
            <a:ahLst/>
            <a:cxnLst/>
            <a:rect l="l" t="t" r="r" b="b"/>
            <a:pathLst>
              <a:path w="100000" h="23220">
                <a:moveTo>
                  <a:pt x="88390" y="0"/>
                </a:moveTo>
                <a:cubicBezTo>
                  <a:pt x="88390" y="0"/>
                  <a:pt x="88390" y="0"/>
                  <a:pt x="88390" y="0"/>
                </a:cubicBezTo>
                <a:cubicBezTo>
                  <a:pt x="94799" y="0"/>
                  <a:pt x="100000" y="5201"/>
                  <a:pt x="100000" y="11610"/>
                </a:cubicBezTo>
                <a:cubicBezTo>
                  <a:pt x="100000" y="11610"/>
                  <a:pt x="100000" y="11610"/>
                  <a:pt x="100000" y="11610"/>
                </a:cubicBezTo>
                <a:lnTo>
                  <a:pt x="100000" y="11610"/>
                </a:lnTo>
                <a:cubicBezTo>
                  <a:pt x="100000" y="11610"/>
                  <a:pt x="100000" y="11610"/>
                  <a:pt x="100000" y="11610"/>
                </a:cubicBezTo>
                <a:cubicBezTo>
                  <a:pt x="100000" y="18019"/>
                  <a:pt x="94799" y="23220"/>
                  <a:pt x="88390" y="23220"/>
                </a:cubicBezTo>
                <a:cubicBezTo>
                  <a:pt x="88390" y="23220"/>
                  <a:pt x="88390" y="23220"/>
                  <a:pt x="88390" y="23220"/>
                </a:cubicBezTo>
                <a:lnTo>
                  <a:pt x="11610" y="23220"/>
                </a:lnTo>
                <a:cubicBezTo>
                  <a:pt x="11610" y="23220"/>
                  <a:pt x="11610" y="23220"/>
                  <a:pt x="11610" y="23220"/>
                </a:cubicBezTo>
                <a:cubicBezTo>
                  <a:pt x="5201" y="23220"/>
                  <a:pt x="0" y="18019"/>
                  <a:pt x="0" y="11610"/>
                </a:cubicBezTo>
                <a:cubicBezTo>
                  <a:pt x="0" y="11610"/>
                  <a:pt x="0" y="11610"/>
                  <a:pt x="0" y="11610"/>
                </a:cubicBezTo>
                <a:lnTo>
                  <a:pt x="0" y="11610"/>
                </a:lnTo>
                <a:cubicBezTo>
                  <a:pt x="0" y="11610"/>
                  <a:pt x="0" y="11610"/>
                  <a:pt x="0" y="11610"/>
                </a:cubicBezTo>
                <a:cubicBezTo>
                  <a:pt x="0" y="5201"/>
                  <a:pt x="5201" y="0"/>
                  <a:pt x="11610" y="0"/>
                </a:cubicBezTo>
                <a:cubicBezTo>
                  <a:pt x="11610" y="0"/>
                  <a:pt x="11610" y="0"/>
                  <a:pt x="11610" y="0"/>
                </a:cubicBez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31" name="Rectangle 155"/>
          <p:cNvSpPr/>
          <p:nvPr/>
        </p:nvSpPr>
        <p:spPr>
          <a:xfrm>
            <a:off x="5308600" y="4851400"/>
            <a:ext cx="508127" cy="146050"/>
          </a:xfrm>
          <a:custGeom>
            <a:avLst/>
            <a:gdLst/>
            <a:ahLst/>
            <a:cxnLst/>
            <a:rect l="l" t="t" r="r" b="b"/>
            <a:pathLst>
              <a:path w="100000" h="28743">
                <a:moveTo>
                  <a:pt x="85629" y="0"/>
                </a:moveTo>
                <a:cubicBezTo>
                  <a:pt x="85629" y="0"/>
                  <a:pt x="85629" y="0"/>
                  <a:pt x="85629" y="0"/>
                </a:cubicBezTo>
                <a:cubicBezTo>
                  <a:pt x="93567" y="0"/>
                  <a:pt x="100000" y="6433"/>
                  <a:pt x="100000" y="14371"/>
                </a:cubicBezTo>
                <a:cubicBezTo>
                  <a:pt x="100000" y="14371"/>
                  <a:pt x="100000" y="14371"/>
                  <a:pt x="100000" y="14371"/>
                </a:cubicBezTo>
                <a:lnTo>
                  <a:pt x="100000" y="14371"/>
                </a:lnTo>
                <a:cubicBezTo>
                  <a:pt x="100000" y="14371"/>
                  <a:pt x="100000" y="14371"/>
                  <a:pt x="100000" y="14371"/>
                </a:cubicBezTo>
                <a:cubicBezTo>
                  <a:pt x="100000" y="22309"/>
                  <a:pt x="93567" y="28743"/>
                  <a:pt x="85629" y="28743"/>
                </a:cubicBezTo>
                <a:cubicBezTo>
                  <a:pt x="85629" y="28743"/>
                  <a:pt x="85629" y="28743"/>
                  <a:pt x="85629" y="28743"/>
                </a:cubicBezTo>
                <a:lnTo>
                  <a:pt x="14371" y="28743"/>
                </a:lnTo>
                <a:cubicBezTo>
                  <a:pt x="14371" y="28743"/>
                  <a:pt x="14371" y="28743"/>
                  <a:pt x="14371" y="28743"/>
                </a:cubicBezTo>
                <a:cubicBezTo>
                  <a:pt x="6433" y="28743"/>
                  <a:pt x="0" y="22309"/>
                  <a:pt x="0" y="14371"/>
                </a:cubicBezTo>
                <a:cubicBezTo>
                  <a:pt x="0" y="14371"/>
                  <a:pt x="0" y="14371"/>
                  <a:pt x="0" y="14371"/>
                </a:cubicBezTo>
                <a:lnTo>
                  <a:pt x="0" y="14371"/>
                </a:lnTo>
                <a:cubicBezTo>
                  <a:pt x="0" y="14371"/>
                  <a:pt x="0" y="14371"/>
                  <a:pt x="0" y="14371"/>
                </a:cubicBezTo>
                <a:cubicBezTo>
                  <a:pt x="0" y="6433"/>
                  <a:pt x="6433" y="0"/>
                  <a:pt x="14371" y="0"/>
                </a:cubicBezTo>
                <a:cubicBezTo>
                  <a:pt x="14371" y="0"/>
                  <a:pt x="14371" y="0"/>
                  <a:pt x="14371"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32" name="Oval 156"/>
          <p:cNvSpPr/>
          <p:nvPr/>
        </p:nvSpPr>
        <p:spPr>
          <a:xfrm>
            <a:off x="5360670" y="490283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33" name="TextBox 157"/>
          <p:cNvSpPr txBox="1"/>
          <p:nvPr/>
        </p:nvSpPr>
        <p:spPr>
          <a:xfrm>
            <a:off x="5438140" y="4851400"/>
            <a:ext cx="355727" cy="146050"/>
          </a:xfrm>
          <a:prstGeom prst="rect">
            <a:avLst/>
          </a:prstGeom>
        </p:spPr>
        <p:txBody>
          <a:bodyPr wrap="square" lIns="0" tIns="0" rIns="0" bIns="0" anchor="ctr">
            <a:noAutofit/>
          </a:bodyPr>
          <a:lstStyle/>
          <a:p>
            <a:pPr>
              <a:lnSpc>
                <a:spcPct val="135000"/>
              </a:lnSpc>
            </a:pPr>
            <a:r>
              <a:rPr sz="460" b="1" spc="0">
                <a:solidFill>
                  <a:srgbClr val="99201C"/>
                </a:solidFill>
                <a:latin typeface="Telegraf"/>
              </a:rPr>
              <a:t>escalated</a:t>
            </a:r>
            <a:endParaRPr sz="460" b="1" spc="0">
              <a:solidFill>
                <a:srgbClr val="99201C"/>
              </a:solidFill>
              <a:latin typeface="Telegraf"/>
            </a:endParaRPr>
          </a:p>
        </p:txBody>
      </p:sp>
      <p:sp>
        <p:nvSpPr>
          <p:cNvPr id="1434" name="TextBox 158"/>
          <p:cNvSpPr txBox="1"/>
          <p:nvPr/>
        </p:nvSpPr>
        <p:spPr>
          <a:xfrm>
            <a:off x="7137400" y="48768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11m</a:t>
            </a:r>
            <a:endParaRPr sz="460" spc="0">
              <a:solidFill>
                <a:srgbClr val="A2A2A8"/>
              </a:solidFill>
              <a:latin typeface="Telegraf"/>
            </a:endParaRPr>
          </a:p>
        </p:txBody>
      </p:sp>
      <p:sp>
        <p:nvSpPr>
          <p:cNvPr id="1435" name="Rectangle 159"/>
          <p:cNvSpPr/>
          <p:nvPr/>
        </p:nvSpPr>
        <p:spPr>
          <a:xfrm>
            <a:off x="762000" y="51562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36" name="Rectangle 160"/>
          <p:cNvSpPr/>
          <p:nvPr/>
        </p:nvSpPr>
        <p:spPr>
          <a:xfrm>
            <a:off x="932180" y="5355463"/>
            <a:ext cx="116840" cy="84074"/>
          </a:xfrm>
          <a:custGeom>
            <a:avLst/>
            <a:gdLst/>
            <a:ahLst/>
            <a:cxnLst/>
            <a:rect l="l" t="t" r="r" b="b"/>
            <a:pathLst>
              <a:path w="100000" h="71957">
                <a:moveTo>
                  <a:pt x="82609" y="0"/>
                </a:moveTo>
                <a:cubicBezTo>
                  <a:pt x="90804" y="0"/>
                  <a:pt x="94902" y="0"/>
                  <a:pt x="97457" y="2543"/>
                </a:cubicBezTo>
                <a:cubicBezTo>
                  <a:pt x="97457" y="2543"/>
                  <a:pt x="97457" y="2543"/>
                  <a:pt x="97457" y="2543"/>
                </a:cubicBezTo>
                <a:cubicBezTo>
                  <a:pt x="100000" y="5098"/>
                  <a:pt x="100000" y="9196"/>
                  <a:pt x="100000" y="17391"/>
                </a:cubicBezTo>
                <a:lnTo>
                  <a:pt x="100000" y="54565"/>
                </a:lnTo>
                <a:cubicBezTo>
                  <a:pt x="100000" y="62761"/>
                  <a:pt x="100000" y="66859"/>
                  <a:pt x="97457" y="69413"/>
                </a:cubicBezTo>
                <a:cubicBezTo>
                  <a:pt x="97457" y="69413"/>
                  <a:pt x="97457" y="69413"/>
                  <a:pt x="97457" y="69413"/>
                </a:cubicBezTo>
                <a:cubicBezTo>
                  <a:pt x="94902" y="71957"/>
                  <a:pt x="90804" y="71957"/>
                  <a:pt x="82609" y="71957"/>
                </a:cubicBezTo>
                <a:lnTo>
                  <a:pt x="17391" y="71957"/>
                </a:lnTo>
                <a:cubicBezTo>
                  <a:pt x="9196" y="71957"/>
                  <a:pt x="5098" y="71957"/>
                  <a:pt x="2543" y="69413"/>
                </a:cubicBezTo>
                <a:cubicBezTo>
                  <a:pt x="2543" y="69413"/>
                  <a:pt x="2543" y="69413"/>
                  <a:pt x="2543" y="69413"/>
                </a:cubicBezTo>
                <a:cubicBezTo>
                  <a:pt x="0" y="66859"/>
                  <a:pt x="0" y="62761"/>
                  <a:pt x="0" y="54565"/>
                </a:cubicBezTo>
                <a:lnTo>
                  <a:pt x="0" y="17391"/>
                </a:lnTo>
                <a:cubicBezTo>
                  <a:pt x="0" y="9196"/>
                  <a:pt x="0" y="5098"/>
                  <a:pt x="2543" y="2543"/>
                </a:cubicBezTo>
                <a:cubicBezTo>
                  <a:pt x="2543" y="2543"/>
                  <a:pt x="2543" y="2543"/>
                  <a:pt x="2543" y="2543"/>
                </a:cubicBezTo>
                <a:cubicBezTo>
                  <a:pt x="5098" y="0"/>
                  <a:pt x="9196" y="0"/>
                  <a:pt x="17391" y="0"/>
                </a:cubicBezTo>
                <a:close/>
              </a:path>
            </a:pathLst>
          </a:custGeom>
          <a:noFill/>
          <a:ln w="10795">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37" name="Freeform 1437"/>
          <p:cNvSpPr/>
          <p:nvPr/>
        </p:nvSpPr>
        <p:spPr>
          <a:xfrm>
            <a:off x="932180" y="5358892"/>
            <a:ext cx="116840" cy="56134"/>
          </a:xfrm>
          <a:custGeom>
            <a:avLst/>
            <a:gdLst/>
            <a:ahLst/>
            <a:cxnLst/>
            <a:rect l="l" t="t" r="r" b="b"/>
            <a:pathLst>
              <a:path w="100000" h="48043" fill="none">
                <a:moveTo>
                  <a:pt x="0" y="0"/>
                </a:moveTo>
                <a:lnTo>
                  <a:pt x="50000" y="48043"/>
                </a:lnTo>
                <a:lnTo>
                  <a:pt x="100000" y="0"/>
                </a:lnTo>
              </a:path>
            </a:pathLst>
          </a:custGeom>
          <a:noFill/>
          <a:ln w="10795"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1438" name="TextBox 162"/>
          <p:cNvSpPr txBox="1"/>
          <p:nvPr/>
        </p:nvSpPr>
        <p:spPr>
          <a:xfrm>
            <a:off x="1168400" y="52705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Divya R.</a:t>
            </a:r>
            <a:endParaRPr sz="570" b="1" spc="0">
              <a:solidFill>
                <a:srgbClr val="0A0A0A"/>
              </a:solidFill>
              <a:latin typeface="Telegraf"/>
            </a:endParaRPr>
          </a:p>
        </p:txBody>
      </p:sp>
      <p:sp>
        <p:nvSpPr>
          <p:cNvPr id="1439" name="TextBox 163"/>
          <p:cNvSpPr txBox="1"/>
          <p:nvPr/>
        </p:nvSpPr>
        <p:spPr>
          <a:xfrm>
            <a:off x="1168400" y="54102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Can I move Monday's appointment?</a:t>
            </a:r>
            <a:endParaRPr sz="470" spc="0">
              <a:solidFill>
                <a:srgbClr val="67676E"/>
              </a:solidFill>
              <a:latin typeface="Telegraf"/>
            </a:endParaRPr>
          </a:p>
        </p:txBody>
      </p:sp>
      <p:sp>
        <p:nvSpPr>
          <p:cNvPr id="1440" name="TextBox 164"/>
          <p:cNvSpPr txBox="1"/>
          <p:nvPr/>
        </p:nvSpPr>
        <p:spPr>
          <a:xfrm>
            <a:off x="2717800" y="53340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reschedule</a:t>
            </a:r>
            <a:endParaRPr sz="450" spc="0">
              <a:solidFill>
                <a:srgbClr val="A2A2A8"/>
              </a:solidFill>
              <a:latin typeface="Telegraf"/>
            </a:endParaRPr>
          </a:p>
        </p:txBody>
      </p:sp>
      <p:sp>
        <p:nvSpPr>
          <p:cNvPr id="1441" name="TextBox 165"/>
          <p:cNvSpPr txBox="1"/>
          <p:nvPr/>
        </p:nvSpPr>
        <p:spPr>
          <a:xfrm>
            <a:off x="4724400" y="52832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46</a:t>
            </a:r>
            <a:endParaRPr sz="560" b="1" spc="0">
              <a:solidFill>
                <a:srgbClr val="0A0A0A"/>
              </a:solidFill>
              <a:latin typeface="Telegraf"/>
            </a:endParaRPr>
          </a:p>
        </p:txBody>
      </p:sp>
      <p:sp>
        <p:nvSpPr>
          <p:cNvPr id="1442" name="Rectangle 166"/>
          <p:cNvSpPr/>
          <p:nvPr/>
        </p:nvSpPr>
        <p:spPr>
          <a:xfrm>
            <a:off x="4724400" y="54356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43" name="Rectangle 167"/>
          <p:cNvSpPr/>
          <p:nvPr/>
        </p:nvSpPr>
        <p:spPr>
          <a:xfrm>
            <a:off x="4724400" y="5435600"/>
            <a:ext cx="198628" cy="38100"/>
          </a:xfrm>
          <a:custGeom>
            <a:avLst/>
            <a:gdLst/>
            <a:ahLst/>
            <a:cxnLst/>
            <a:rect l="l" t="t" r="r" b="b"/>
            <a:pathLst>
              <a:path w="100000" h="19182">
                <a:moveTo>
                  <a:pt x="90409" y="0"/>
                </a:moveTo>
                <a:cubicBezTo>
                  <a:pt x="90409" y="0"/>
                  <a:pt x="90409" y="0"/>
                  <a:pt x="90409" y="0"/>
                </a:cubicBezTo>
                <a:cubicBezTo>
                  <a:pt x="95703" y="0"/>
                  <a:pt x="100000" y="4297"/>
                  <a:pt x="100000" y="9591"/>
                </a:cubicBezTo>
                <a:cubicBezTo>
                  <a:pt x="100000" y="9591"/>
                  <a:pt x="100000" y="9591"/>
                  <a:pt x="100000" y="9591"/>
                </a:cubicBezTo>
                <a:lnTo>
                  <a:pt x="100000" y="9591"/>
                </a:lnTo>
                <a:cubicBezTo>
                  <a:pt x="100000" y="9591"/>
                  <a:pt x="100000" y="9591"/>
                  <a:pt x="100000" y="9591"/>
                </a:cubicBezTo>
                <a:cubicBezTo>
                  <a:pt x="100000" y="14885"/>
                  <a:pt x="95703" y="19182"/>
                  <a:pt x="90409" y="19182"/>
                </a:cubicBezTo>
                <a:cubicBezTo>
                  <a:pt x="90409" y="19182"/>
                  <a:pt x="90409" y="19182"/>
                  <a:pt x="90409" y="19182"/>
                </a:cubicBezTo>
                <a:lnTo>
                  <a:pt x="9591" y="19182"/>
                </a:lnTo>
                <a:cubicBezTo>
                  <a:pt x="9591" y="19182"/>
                  <a:pt x="9591" y="19182"/>
                  <a:pt x="9591" y="19182"/>
                </a:cubicBezTo>
                <a:cubicBezTo>
                  <a:pt x="4297" y="19182"/>
                  <a:pt x="0" y="14885"/>
                  <a:pt x="0" y="9591"/>
                </a:cubicBezTo>
                <a:cubicBezTo>
                  <a:pt x="0" y="9591"/>
                  <a:pt x="0" y="9591"/>
                  <a:pt x="0" y="9591"/>
                </a:cubicBezTo>
                <a:lnTo>
                  <a:pt x="0" y="9591"/>
                </a:lnTo>
                <a:cubicBezTo>
                  <a:pt x="0" y="9591"/>
                  <a:pt x="0" y="9591"/>
                  <a:pt x="0" y="9591"/>
                </a:cubicBezTo>
                <a:cubicBezTo>
                  <a:pt x="0" y="4297"/>
                  <a:pt x="4297" y="0"/>
                  <a:pt x="9591" y="0"/>
                </a:cubicBezTo>
                <a:cubicBezTo>
                  <a:pt x="9591" y="0"/>
                  <a:pt x="9591" y="0"/>
                  <a:pt x="9591" y="0"/>
                </a:cubicBez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44" name="Rectangle 168"/>
          <p:cNvSpPr/>
          <p:nvPr/>
        </p:nvSpPr>
        <p:spPr>
          <a:xfrm>
            <a:off x="5308600" y="5308600"/>
            <a:ext cx="372618" cy="146050"/>
          </a:xfrm>
          <a:custGeom>
            <a:avLst/>
            <a:gdLst/>
            <a:ahLst/>
            <a:cxnLst/>
            <a:rect l="l" t="t" r="r" b="b"/>
            <a:pathLst>
              <a:path w="100000" h="39196">
                <a:moveTo>
                  <a:pt x="80402" y="0"/>
                </a:moveTo>
                <a:cubicBezTo>
                  <a:pt x="80402" y="0"/>
                  <a:pt x="80402" y="0"/>
                  <a:pt x="80402" y="0"/>
                </a:cubicBezTo>
                <a:cubicBezTo>
                  <a:pt x="91227" y="0"/>
                  <a:pt x="100000" y="8773"/>
                  <a:pt x="100000" y="19598"/>
                </a:cubicBezTo>
                <a:cubicBezTo>
                  <a:pt x="100000" y="19598"/>
                  <a:pt x="100000" y="19598"/>
                  <a:pt x="100000" y="19598"/>
                </a:cubicBezTo>
                <a:lnTo>
                  <a:pt x="100000" y="19598"/>
                </a:lnTo>
                <a:cubicBezTo>
                  <a:pt x="100000" y="19598"/>
                  <a:pt x="100000" y="19598"/>
                  <a:pt x="100000" y="19598"/>
                </a:cubicBezTo>
                <a:cubicBezTo>
                  <a:pt x="100000" y="30423"/>
                  <a:pt x="91227" y="39196"/>
                  <a:pt x="80402" y="39196"/>
                </a:cubicBezTo>
                <a:cubicBezTo>
                  <a:pt x="80402" y="39196"/>
                  <a:pt x="80402" y="39196"/>
                  <a:pt x="80402" y="39196"/>
                </a:cubicBezTo>
                <a:lnTo>
                  <a:pt x="19598" y="39196"/>
                </a:lnTo>
                <a:cubicBezTo>
                  <a:pt x="19598" y="39196"/>
                  <a:pt x="19598" y="39196"/>
                  <a:pt x="19598" y="39196"/>
                </a:cubicBezTo>
                <a:cubicBezTo>
                  <a:pt x="8773" y="39196"/>
                  <a:pt x="0" y="30423"/>
                  <a:pt x="0" y="19598"/>
                </a:cubicBezTo>
                <a:cubicBezTo>
                  <a:pt x="0" y="19598"/>
                  <a:pt x="0" y="19598"/>
                  <a:pt x="0" y="19598"/>
                </a:cubicBezTo>
                <a:lnTo>
                  <a:pt x="0" y="19598"/>
                </a:lnTo>
                <a:cubicBezTo>
                  <a:pt x="0" y="19598"/>
                  <a:pt x="0" y="19598"/>
                  <a:pt x="0" y="19598"/>
                </a:cubicBezTo>
                <a:cubicBezTo>
                  <a:pt x="0" y="8773"/>
                  <a:pt x="8773" y="0"/>
                  <a:pt x="19598" y="0"/>
                </a:cubicBezTo>
                <a:cubicBezTo>
                  <a:pt x="19598" y="0"/>
                  <a:pt x="19598" y="0"/>
                  <a:pt x="19598"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45" name="Oval 169"/>
          <p:cNvSpPr/>
          <p:nvPr/>
        </p:nvSpPr>
        <p:spPr>
          <a:xfrm>
            <a:off x="5360670" y="536003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46" name="TextBox 170"/>
          <p:cNvSpPr txBox="1"/>
          <p:nvPr/>
        </p:nvSpPr>
        <p:spPr>
          <a:xfrm>
            <a:off x="5438140" y="5308600"/>
            <a:ext cx="220218" cy="146050"/>
          </a:xfrm>
          <a:prstGeom prst="rect">
            <a:avLst/>
          </a:prstGeom>
        </p:spPr>
        <p:txBody>
          <a:bodyPr wrap="square" lIns="0" tIns="0" rIns="0" bIns="0" anchor="ctr">
            <a:noAutofit/>
          </a:bodyPr>
          <a:lstStyle/>
          <a:p>
            <a:pPr>
              <a:lnSpc>
                <a:spcPct val="135000"/>
              </a:lnSpc>
            </a:pPr>
            <a:r>
              <a:rPr sz="460" b="1" spc="0">
                <a:solidFill>
                  <a:srgbClr val="8A4B08"/>
                </a:solidFill>
                <a:latin typeface="Telegraf"/>
              </a:rPr>
              <a:t>draft</a:t>
            </a:r>
            <a:endParaRPr sz="460" b="1" spc="0">
              <a:solidFill>
                <a:srgbClr val="8A4B08"/>
              </a:solidFill>
              <a:latin typeface="Telegraf"/>
            </a:endParaRPr>
          </a:p>
        </p:txBody>
      </p:sp>
      <p:sp>
        <p:nvSpPr>
          <p:cNvPr id="1447" name="TextBox 171"/>
          <p:cNvSpPr txBox="1"/>
          <p:nvPr/>
        </p:nvSpPr>
        <p:spPr>
          <a:xfrm>
            <a:off x="7137400" y="53340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14m</a:t>
            </a:r>
            <a:endParaRPr sz="460" spc="0">
              <a:solidFill>
                <a:srgbClr val="A2A2A8"/>
              </a:solidFill>
              <a:latin typeface="Telegraf"/>
            </a:endParaRPr>
          </a:p>
        </p:txBody>
      </p:sp>
      <p:sp>
        <p:nvSpPr>
          <p:cNvPr id="1448" name="Rectangle 172"/>
          <p:cNvSpPr/>
          <p:nvPr/>
        </p:nvSpPr>
        <p:spPr>
          <a:xfrm>
            <a:off x="762000" y="56134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49" name="Rectangle 173"/>
          <p:cNvSpPr/>
          <p:nvPr/>
        </p:nvSpPr>
        <p:spPr>
          <a:xfrm>
            <a:off x="932180" y="5796280"/>
            <a:ext cx="116840" cy="116840"/>
          </a:xfrm>
          <a:custGeom>
            <a:avLst/>
            <a:gdLst/>
            <a:ahLst/>
            <a:cxnLst/>
            <a:rect l="l" t="t" r="r" b="b"/>
            <a:pathLst>
              <a:path w="100000" h="100000">
                <a:moveTo>
                  <a:pt x="50000" y="0"/>
                </a:moveTo>
                <a:cubicBezTo>
                  <a:pt x="67739" y="0"/>
                  <a:pt x="76609" y="0"/>
                  <a:pt x="83348" y="3522"/>
                </a:cubicBezTo>
                <a:cubicBezTo>
                  <a:pt x="88967" y="6457"/>
                  <a:pt x="93543" y="11033"/>
                  <a:pt x="96478" y="16652"/>
                </a:cubicBezTo>
                <a:cubicBezTo>
                  <a:pt x="100000" y="23391"/>
                  <a:pt x="100000" y="32261"/>
                  <a:pt x="100000" y="50000"/>
                </a:cubicBezTo>
                <a:lnTo>
                  <a:pt x="100000" y="50000"/>
                </a:lnTo>
                <a:cubicBezTo>
                  <a:pt x="100000" y="67739"/>
                  <a:pt x="100000" y="76609"/>
                  <a:pt x="96478" y="83348"/>
                </a:cubicBezTo>
                <a:cubicBezTo>
                  <a:pt x="93543" y="88967"/>
                  <a:pt x="88967" y="93543"/>
                  <a:pt x="83348" y="96478"/>
                </a:cubicBezTo>
                <a:cubicBezTo>
                  <a:pt x="76609" y="100000"/>
                  <a:pt x="67739" y="100000"/>
                  <a:pt x="50000" y="100000"/>
                </a:cubicBezTo>
                <a:lnTo>
                  <a:pt x="50000" y="100000"/>
                </a:lnTo>
                <a:cubicBezTo>
                  <a:pt x="32261" y="100000"/>
                  <a:pt x="23391" y="100000"/>
                  <a:pt x="16652" y="96478"/>
                </a:cubicBezTo>
                <a:cubicBezTo>
                  <a:pt x="11033" y="93543"/>
                  <a:pt x="6457" y="88967"/>
                  <a:pt x="3522" y="83348"/>
                </a:cubicBezTo>
                <a:cubicBezTo>
                  <a:pt x="0" y="76609"/>
                  <a:pt x="0" y="67739"/>
                  <a:pt x="0" y="50000"/>
                </a:cubicBezTo>
                <a:lnTo>
                  <a:pt x="0" y="50000"/>
                </a:lnTo>
                <a:cubicBezTo>
                  <a:pt x="0" y="32261"/>
                  <a:pt x="0" y="23391"/>
                  <a:pt x="3522" y="16652"/>
                </a:cubicBezTo>
                <a:cubicBezTo>
                  <a:pt x="6457" y="11033"/>
                  <a:pt x="11033" y="6457"/>
                  <a:pt x="16652" y="3522"/>
                </a:cubicBezTo>
                <a:cubicBezTo>
                  <a:pt x="23391" y="0"/>
                  <a:pt x="32261" y="0"/>
                  <a:pt x="50000" y="0"/>
                </a:cubicBezTo>
                <a:close/>
              </a:path>
            </a:pathLst>
          </a:custGeom>
          <a:noFill/>
          <a:ln w="1143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50" name="Oval 174"/>
          <p:cNvSpPr/>
          <p:nvPr/>
        </p:nvSpPr>
        <p:spPr>
          <a:xfrm>
            <a:off x="970788" y="5834888"/>
            <a:ext cx="39751" cy="39751"/>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51" name="Oval 175"/>
          <p:cNvSpPr/>
          <p:nvPr/>
        </p:nvSpPr>
        <p:spPr>
          <a:xfrm>
            <a:off x="1011301" y="5811139"/>
            <a:ext cx="22860" cy="228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52" name="TextBox 176"/>
          <p:cNvSpPr txBox="1"/>
          <p:nvPr/>
        </p:nvSpPr>
        <p:spPr>
          <a:xfrm>
            <a:off x="1168400" y="5727700"/>
            <a:ext cx="1397000" cy="127000"/>
          </a:xfrm>
          <a:prstGeom prst="rect">
            <a:avLst/>
          </a:prstGeom>
        </p:spPr>
        <p:txBody>
          <a:bodyPr wrap="square" lIns="0" tIns="0" rIns="0" bIns="0">
            <a:noAutofit/>
          </a:bodyPr>
          <a:lstStyle/>
          <a:p>
            <a:pPr>
              <a:lnSpc>
                <a:spcPct val="135000"/>
              </a:lnSpc>
            </a:pPr>
            <a:r>
              <a:rPr sz="570" b="1" spc="0">
                <a:solidFill>
                  <a:srgbClr val="0A0A0A"/>
                </a:solidFill>
                <a:latin typeface="Telegraf"/>
              </a:rPr>
              <a:t>Arjun P.</a:t>
            </a:r>
            <a:endParaRPr sz="570" b="1" spc="0">
              <a:solidFill>
                <a:srgbClr val="0A0A0A"/>
              </a:solidFill>
              <a:latin typeface="Telegraf"/>
            </a:endParaRPr>
          </a:p>
        </p:txBody>
      </p:sp>
      <p:sp>
        <p:nvSpPr>
          <p:cNvPr id="1453" name="TextBox 177"/>
          <p:cNvSpPr txBox="1"/>
          <p:nvPr/>
        </p:nvSpPr>
        <p:spPr>
          <a:xfrm>
            <a:off x="1168400" y="5867400"/>
            <a:ext cx="1473200" cy="127000"/>
          </a:xfrm>
          <a:prstGeom prst="rect">
            <a:avLst/>
          </a:prstGeom>
        </p:spPr>
        <p:txBody>
          <a:bodyPr wrap="square" lIns="0" tIns="0" rIns="0" bIns="0">
            <a:noAutofit/>
          </a:bodyPr>
          <a:lstStyle/>
          <a:p>
            <a:pPr>
              <a:lnSpc>
                <a:spcPct val="135000"/>
              </a:lnSpc>
            </a:pPr>
            <a:r>
              <a:rPr sz="470" spc="0">
                <a:solidFill>
                  <a:srgbClr val="67676E"/>
                </a:solidFill>
                <a:latin typeface="Telegraf"/>
              </a:rPr>
              <a:t>Does Pro include WhatsApp invoicing?</a:t>
            </a:r>
            <a:endParaRPr sz="470" spc="0">
              <a:solidFill>
                <a:srgbClr val="67676E"/>
              </a:solidFill>
              <a:latin typeface="Telegraf"/>
            </a:endParaRPr>
          </a:p>
        </p:txBody>
      </p:sp>
      <p:sp>
        <p:nvSpPr>
          <p:cNvPr id="1454" name="TextBox 178"/>
          <p:cNvSpPr txBox="1"/>
          <p:nvPr/>
        </p:nvSpPr>
        <p:spPr>
          <a:xfrm>
            <a:off x="2717800" y="5791200"/>
            <a:ext cx="1219200" cy="127000"/>
          </a:xfrm>
          <a:prstGeom prst="rect">
            <a:avLst/>
          </a:prstGeom>
        </p:spPr>
        <p:txBody>
          <a:bodyPr wrap="square" lIns="0" tIns="0" rIns="0" bIns="0">
            <a:noAutofit/>
          </a:bodyPr>
          <a:lstStyle/>
          <a:p>
            <a:pPr>
              <a:lnSpc>
                <a:spcPct val="135000"/>
              </a:lnSpc>
            </a:pPr>
            <a:r>
              <a:rPr sz="450" spc="0">
                <a:solidFill>
                  <a:srgbClr val="A2A2A8"/>
                </a:solidFill>
                <a:latin typeface="Telegraf"/>
              </a:rPr>
              <a:t>plan_features</a:t>
            </a:r>
            <a:endParaRPr sz="450" spc="0">
              <a:solidFill>
                <a:srgbClr val="A2A2A8"/>
              </a:solidFill>
              <a:latin typeface="Telegraf"/>
            </a:endParaRPr>
          </a:p>
        </p:txBody>
      </p:sp>
      <p:sp>
        <p:nvSpPr>
          <p:cNvPr id="1455" name="TextBox 179"/>
          <p:cNvSpPr txBox="1"/>
          <p:nvPr/>
        </p:nvSpPr>
        <p:spPr>
          <a:xfrm>
            <a:off x="4724400" y="5740400"/>
            <a:ext cx="304800" cy="127000"/>
          </a:xfrm>
          <a:prstGeom prst="rect">
            <a:avLst/>
          </a:prstGeom>
        </p:spPr>
        <p:txBody>
          <a:bodyPr wrap="square" lIns="0" tIns="0" rIns="0" bIns="0">
            <a:noAutofit/>
          </a:bodyPr>
          <a:lstStyle/>
          <a:p>
            <a:pPr>
              <a:lnSpc>
                <a:spcPct val="135000"/>
              </a:lnSpc>
            </a:pPr>
            <a:r>
              <a:rPr sz="560" b="1" spc="0">
                <a:solidFill>
                  <a:srgbClr val="0A0A0A"/>
                </a:solidFill>
                <a:latin typeface="Telegraf"/>
              </a:rPr>
              <a:t>91</a:t>
            </a:r>
            <a:endParaRPr sz="560" b="1" spc="0">
              <a:solidFill>
                <a:srgbClr val="0A0A0A"/>
              </a:solidFill>
              <a:latin typeface="Telegraf"/>
            </a:endParaRPr>
          </a:p>
        </p:txBody>
      </p:sp>
      <p:sp>
        <p:nvSpPr>
          <p:cNvPr id="1456" name="Rectangle 180"/>
          <p:cNvSpPr/>
          <p:nvPr/>
        </p:nvSpPr>
        <p:spPr>
          <a:xfrm>
            <a:off x="4724400" y="58928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57" name="Rectangle 181"/>
          <p:cNvSpPr/>
          <p:nvPr/>
        </p:nvSpPr>
        <p:spPr>
          <a:xfrm>
            <a:off x="4724400" y="5892800"/>
            <a:ext cx="392938" cy="38100"/>
          </a:xfrm>
          <a:custGeom>
            <a:avLst/>
            <a:gdLst/>
            <a:ahLst/>
            <a:cxnLst/>
            <a:rect l="l" t="t" r="r" b="b"/>
            <a:pathLst>
              <a:path w="100000" h="9696">
                <a:moveTo>
                  <a:pt x="95152" y="0"/>
                </a:moveTo>
                <a:cubicBezTo>
                  <a:pt x="95152" y="0"/>
                  <a:pt x="95152" y="0"/>
                  <a:pt x="95152" y="0"/>
                </a:cubicBezTo>
                <a:cubicBezTo>
                  <a:pt x="97828" y="0"/>
                  <a:pt x="100000" y="2172"/>
                  <a:pt x="100000" y="4848"/>
                </a:cubicBezTo>
                <a:cubicBezTo>
                  <a:pt x="100000" y="4848"/>
                  <a:pt x="100000" y="4848"/>
                  <a:pt x="100000" y="4848"/>
                </a:cubicBezTo>
                <a:lnTo>
                  <a:pt x="100000" y="4848"/>
                </a:lnTo>
                <a:cubicBezTo>
                  <a:pt x="100000" y="4848"/>
                  <a:pt x="100000" y="4848"/>
                  <a:pt x="100000" y="4848"/>
                </a:cubicBezTo>
                <a:cubicBezTo>
                  <a:pt x="100000" y="7524"/>
                  <a:pt x="97828" y="9696"/>
                  <a:pt x="95152" y="9696"/>
                </a:cubicBezTo>
                <a:cubicBezTo>
                  <a:pt x="95152" y="9696"/>
                  <a:pt x="95152" y="9696"/>
                  <a:pt x="95152" y="9696"/>
                </a:cubicBezTo>
                <a:lnTo>
                  <a:pt x="4848" y="9696"/>
                </a:lnTo>
                <a:cubicBezTo>
                  <a:pt x="4848" y="9696"/>
                  <a:pt x="4848" y="9696"/>
                  <a:pt x="4848" y="9696"/>
                </a:cubicBezTo>
                <a:cubicBezTo>
                  <a:pt x="2172" y="9696"/>
                  <a:pt x="0" y="7524"/>
                  <a:pt x="0" y="4848"/>
                </a:cubicBezTo>
                <a:cubicBezTo>
                  <a:pt x="0" y="4848"/>
                  <a:pt x="0" y="4848"/>
                  <a:pt x="0" y="4848"/>
                </a:cubicBezTo>
                <a:lnTo>
                  <a:pt x="0" y="4848"/>
                </a:lnTo>
                <a:cubicBezTo>
                  <a:pt x="0" y="4848"/>
                  <a:pt x="0" y="4848"/>
                  <a:pt x="0" y="4848"/>
                </a:cubicBezTo>
                <a:cubicBezTo>
                  <a:pt x="0" y="2172"/>
                  <a:pt x="2172" y="0"/>
                  <a:pt x="4848" y="0"/>
                </a:cubicBezTo>
                <a:cubicBezTo>
                  <a:pt x="4848" y="0"/>
                  <a:pt x="4848" y="0"/>
                  <a:pt x="4848"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58" name="Rectangle 182"/>
          <p:cNvSpPr/>
          <p:nvPr/>
        </p:nvSpPr>
        <p:spPr>
          <a:xfrm>
            <a:off x="5308600" y="5765800"/>
            <a:ext cx="440436" cy="146050"/>
          </a:xfrm>
          <a:custGeom>
            <a:avLst/>
            <a:gdLst/>
            <a:ahLst/>
            <a:cxnLst/>
            <a:rect l="l" t="t" r="r" b="b"/>
            <a:pathLst>
              <a:path w="100000" h="33160">
                <a:moveTo>
                  <a:pt x="83420" y="0"/>
                </a:moveTo>
                <a:cubicBezTo>
                  <a:pt x="83420" y="0"/>
                  <a:pt x="83420" y="0"/>
                  <a:pt x="83420" y="0"/>
                </a:cubicBezTo>
                <a:cubicBezTo>
                  <a:pt x="92578" y="0"/>
                  <a:pt x="100000" y="7422"/>
                  <a:pt x="100000" y="16580"/>
                </a:cubicBezTo>
                <a:cubicBezTo>
                  <a:pt x="100000" y="16580"/>
                  <a:pt x="100000" y="16580"/>
                  <a:pt x="100000" y="16580"/>
                </a:cubicBezTo>
                <a:lnTo>
                  <a:pt x="100000" y="16580"/>
                </a:lnTo>
                <a:cubicBezTo>
                  <a:pt x="100000" y="16580"/>
                  <a:pt x="100000" y="16580"/>
                  <a:pt x="100000" y="16580"/>
                </a:cubicBezTo>
                <a:cubicBezTo>
                  <a:pt x="100000" y="25738"/>
                  <a:pt x="92578" y="33160"/>
                  <a:pt x="83420" y="33160"/>
                </a:cubicBezTo>
                <a:cubicBezTo>
                  <a:pt x="83420" y="33160"/>
                  <a:pt x="83420" y="33160"/>
                  <a:pt x="83420" y="33160"/>
                </a:cubicBezTo>
                <a:lnTo>
                  <a:pt x="16580" y="33160"/>
                </a:lnTo>
                <a:cubicBezTo>
                  <a:pt x="16580" y="33160"/>
                  <a:pt x="16580" y="33160"/>
                  <a:pt x="16580" y="33160"/>
                </a:cubicBezTo>
                <a:cubicBezTo>
                  <a:pt x="7422" y="33160"/>
                  <a:pt x="0" y="25738"/>
                  <a:pt x="0" y="16580"/>
                </a:cubicBezTo>
                <a:cubicBezTo>
                  <a:pt x="0" y="16580"/>
                  <a:pt x="0" y="16580"/>
                  <a:pt x="0" y="16580"/>
                </a:cubicBezTo>
                <a:lnTo>
                  <a:pt x="0" y="16580"/>
                </a:lnTo>
                <a:cubicBezTo>
                  <a:pt x="0" y="16580"/>
                  <a:pt x="0" y="16580"/>
                  <a:pt x="0" y="16580"/>
                </a:cubicBezTo>
                <a:cubicBezTo>
                  <a:pt x="0" y="7422"/>
                  <a:pt x="7422" y="0"/>
                  <a:pt x="16580" y="0"/>
                </a:cubicBezTo>
                <a:cubicBezTo>
                  <a:pt x="16580" y="0"/>
                  <a:pt x="16580" y="0"/>
                  <a:pt x="16580"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59" name="Oval 183"/>
          <p:cNvSpPr/>
          <p:nvPr/>
        </p:nvSpPr>
        <p:spPr>
          <a:xfrm>
            <a:off x="5360670" y="58172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60" name="TextBox 184"/>
          <p:cNvSpPr txBox="1"/>
          <p:nvPr/>
        </p:nvSpPr>
        <p:spPr>
          <a:xfrm>
            <a:off x="5438140" y="5765800"/>
            <a:ext cx="288036" cy="146050"/>
          </a:xfrm>
          <a:prstGeom prst="rect">
            <a:avLst/>
          </a:prstGeom>
        </p:spPr>
        <p:txBody>
          <a:bodyPr wrap="square" lIns="0" tIns="0" rIns="0" bIns="0" anchor="ctr">
            <a:noAutofit/>
          </a:bodyPr>
          <a:lstStyle/>
          <a:p>
            <a:pPr>
              <a:lnSpc>
                <a:spcPct val="135000"/>
              </a:lnSpc>
            </a:pPr>
            <a:r>
              <a:rPr sz="460" b="1" spc="0">
                <a:solidFill>
                  <a:srgbClr val="0B5C44"/>
                </a:solidFill>
                <a:latin typeface="Telegraf"/>
              </a:rPr>
              <a:t>replied</a:t>
            </a:r>
            <a:endParaRPr sz="460" b="1" spc="0">
              <a:solidFill>
                <a:srgbClr val="0B5C44"/>
              </a:solidFill>
              <a:latin typeface="Telegraf"/>
            </a:endParaRPr>
          </a:p>
        </p:txBody>
      </p:sp>
      <p:sp>
        <p:nvSpPr>
          <p:cNvPr id="1461" name="TextBox 185"/>
          <p:cNvSpPr txBox="1"/>
          <p:nvPr/>
        </p:nvSpPr>
        <p:spPr>
          <a:xfrm>
            <a:off x="7137400" y="5791200"/>
            <a:ext cx="3302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18m</a:t>
            </a:r>
            <a:endParaRPr sz="460" spc="0">
              <a:solidFill>
                <a:srgbClr val="A2A2A8"/>
              </a:solidFill>
              <a:latin typeface="Telegraf"/>
            </a:endParaRPr>
          </a:p>
        </p:txBody>
      </p:sp>
      <p:sp>
        <p:nvSpPr>
          <p:cNvPr id="1462" name="Rectangle 186"/>
          <p:cNvSpPr/>
          <p:nvPr/>
        </p:nvSpPr>
        <p:spPr>
          <a:xfrm>
            <a:off x="762000" y="6070600"/>
            <a:ext cx="6705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63" name="TextBox 187"/>
          <p:cNvSpPr txBox="1"/>
          <p:nvPr/>
        </p:nvSpPr>
        <p:spPr>
          <a:xfrm>
            <a:off x="762000" y="6146800"/>
            <a:ext cx="3810000" cy="127000"/>
          </a:xfrm>
          <a:prstGeom prst="rect">
            <a:avLst/>
          </a:prstGeom>
        </p:spPr>
        <p:txBody>
          <a:bodyPr wrap="square" lIns="0" tIns="0" rIns="0" bIns="0">
            <a:noAutofit/>
          </a:bodyPr>
          <a:lstStyle/>
          <a:p>
            <a:pPr>
              <a:lnSpc>
                <a:spcPct val="135000"/>
              </a:lnSpc>
            </a:pPr>
            <a:r>
              <a:rPr sz="460" spc="0">
                <a:solidFill>
                  <a:srgbClr val="A2A2A8"/>
                </a:solidFill>
                <a:latin typeface="Telegraf"/>
              </a:rPr>
              <a:t>Showing 7 of 42  ·  one row per ticket, no cards inside cards</a:t>
            </a:r>
            <a:endParaRPr sz="460" spc="0">
              <a:solidFill>
                <a:srgbClr val="A2A2A8"/>
              </a:solidFill>
              <a:latin typeface="Telegraf"/>
            </a:endParaRPr>
          </a:p>
        </p:txBody>
      </p:sp>
      <p:sp>
        <p:nvSpPr>
          <p:cNvPr id="1464" name="Rectangle 188"/>
          <p:cNvSpPr/>
          <p:nvPr/>
        </p:nvSpPr>
        <p:spPr>
          <a:xfrm>
            <a:off x="7620000" y="2692400"/>
            <a:ext cx="2489200" cy="1422400"/>
          </a:xfrm>
          <a:custGeom>
            <a:avLst/>
            <a:gdLst/>
            <a:ahLst/>
            <a:cxnLst/>
            <a:rect l="l" t="t" r="r" b="b"/>
            <a:pathLst>
              <a:path w="100000" h="57143">
                <a:moveTo>
                  <a:pt x="89796" y="0"/>
                </a:moveTo>
                <a:cubicBezTo>
                  <a:pt x="94606" y="0"/>
                  <a:pt x="97011" y="0"/>
                  <a:pt x="98506" y="1494"/>
                </a:cubicBezTo>
                <a:cubicBezTo>
                  <a:pt x="98506" y="1494"/>
                  <a:pt x="98506" y="1494"/>
                  <a:pt x="98506" y="1494"/>
                </a:cubicBezTo>
                <a:cubicBezTo>
                  <a:pt x="100000" y="2989"/>
                  <a:pt x="100000" y="5394"/>
                  <a:pt x="100000" y="10204"/>
                </a:cubicBezTo>
                <a:lnTo>
                  <a:pt x="100000" y="46939"/>
                </a:lnTo>
                <a:cubicBezTo>
                  <a:pt x="100000" y="51749"/>
                  <a:pt x="100000" y="54154"/>
                  <a:pt x="98506" y="55648"/>
                </a:cubicBezTo>
                <a:cubicBezTo>
                  <a:pt x="98506" y="55648"/>
                  <a:pt x="98506" y="55648"/>
                  <a:pt x="98506" y="55648"/>
                </a:cubicBezTo>
                <a:cubicBezTo>
                  <a:pt x="97011" y="57143"/>
                  <a:pt x="94606" y="57143"/>
                  <a:pt x="89796" y="57143"/>
                </a:cubicBezTo>
                <a:lnTo>
                  <a:pt x="10204" y="57143"/>
                </a:lnTo>
                <a:cubicBezTo>
                  <a:pt x="5394" y="57143"/>
                  <a:pt x="2989" y="57143"/>
                  <a:pt x="1494" y="55648"/>
                </a:cubicBezTo>
                <a:cubicBezTo>
                  <a:pt x="1494" y="55648"/>
                  <a:pt x="1494" y="55648"/>
                  <a:pt x="1494" y="55648"/>
                </a:cubicBezTo>
                <a:cubicBezTo>
                  <a:pt x="0" y="54154"/>
                  <a:pt x="0" y="51749"/>
                  <a:pt x="0" y="46939"/>
                </a:cubicBezTo>
                <a:lnTo>
                  <a:pt x="0" y="10204"/>
                </a:lnTo>
                <a:cubicBezTo>
                  <a:pt x="0" y="5394"/>
                  <a:pt x="0" y="2989"/>
                  <a:pt x="1494" y="1494"/>
                </a:cubicBezTo>
                <a:cubicBezTo>
                  <a:pt x="1494" y="1494"/>
                  <a:pt x="1494" y="1494"/>
                  <a:pt x="1494" y="1494"/>
                </a:cubicBezTo>
                <a:cubicBezTo>
                  <a:pt x="2989" y="0"/>
                  <a:pt x="5394" y="0"/>
                  <a:pt x="10204"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65" name="TextBox 189"/>
          <p:cNvSpPr txBox="1"/>
          <p:nvPr/>
        </p:nvSpPr>
        <p:spPr>
          <a:xfrm>
            <a:off x="7772400" y="2819400"/>
            <a:ext cx="1524000" cy="114300"/>
          </a:xfrm>
          <a:prstGeom prst="rect">
            <a:avLst/>
          </a:prstGeom>
        </p:spPr>
        <p:txBody>
          <a:bodyPr wrap="square" lIns="0" tIns="0" rIns="0" bIns="0">
            <a:noAutofit/>
          </a:bodyPr>
          <a:lstStyle/>
          <a:p>
            <a:r>
              <a:rPr sz="440" b="1" spc="100">
                <a:solidFill>
                  <a:srgbClr val="A2A2A8"/>
                </a:solidFill>
                <a:latin typeface="Telegraf"/>
              </a:rPr>
              <a:t>DECISION MIX</a:t>
            </a:r>
            <a:endParaRPr sz="440" b="1" spc="100">
              <a:solidFill>
                <a:srgbClr val="A2A2A8"/>
              </a:solidFill>
              <a:latin typeface="Telegraf"/>
            </a:endParaRPr>
          </a:p>
        </p:txBody>
      </p:sp>
      <p:sp>
        <p:nvSpPr>
          <p:cNvPr id="1466" name="Freeform 1466"/>
          <p:cNvSpPr/>
          <p:nvPr/>
        </p:nvSpPr>
        <p:spPr>
          <a:xfrm>
            <a:off x="8036179" y="3124327"/>
            <a:ext cx="549021" cy="660019"/>
          </a:xfrm>
          <a:custGeom>
            <a:avLst/>
            <a:gdLst/>
            <a:ahLst/>
            <a:cxnLst/>
            <a:rect l="l" t="t" r="r" b="b"/>
            <a:pathLst>
              <a:path w="83183" h="100000">
                <a:moveTo>
                  <a:pt x="34462" y="0"/>
                </a:moveTo>
                <a:lnTo>
                  <a:pt x="39253" y="346"/>
                </a:lnTo>
                <a:lnTo>
                  <a:pt x="43987" y="1174"/>
                </a:lnTo>
                <a:lnTo>
                  <a:pt x="48605" y="2424"/>
                </a:lnTo>
                <a:lnTo>
                  <a:pt x="53108" y="4137"/>
                </a:lnTo>
                <a:lnTo>
                  <a:pt x="57418" y="6254"/>
                </a:lnTo>
                <a:lnTo>
                  <a:pt x="61497" y="8774"/>
                </a:lnTo>
                <a:lnTo>
                  <a:pt x="65307" y="11680"/>
                </a:lnTo>
                <a:lnTo>
                  <a:pt x="68828" y="14951"/>
                </a:lnTo>
                <a:lnTo>
                  <a:pt x="72042" y="18530"/>
                </a:lnTo>
                <a:lnTo>
                  <a:pt x="74870" y="22398"/>
                </a:lnTo>
                <a:lnTo>
                  <a:pt x="77333" y="26515"/>
                </a:lnTo>
                <a:lnTo>
                  <a:pt x="79373" y="30864"/>
                </a:lnTo>
                <a:lnTo>
                  <a:pt x="80989" y="35386"/>
                </a:lnTo>
                <a:lnTo>
                  <a:pt x="82182" y="40042"/>
                </a:lnTo>
                <a:lnTo>
                  <a:pt x="82913" y="44776"/>
                </a:lnTo>
                <a:lnTo>
                  <a:pt x="83183" y="49567"/>
                </a:lnTo>
                <a:lnTo>
                  <a:pt x="82990" y="54378"/>
                </a:lnTo>
                <a:lnTo>
                  <a:pt x="82336" y="59130"/>
                </a:lnTo>
                <a:lnTo>
                  <a:pt x="81239" y="63806"/>
                </a:lnTo>
                <a:lnTo>
                  <a:pt x="79700" y="68347"/>
                </a:lnTo>
                <a:lnTo>
                  <a:pt x="77737" y="72715"/>
                </a:lnTo>
                <a:lnTo>
                  <a:pt x="75351" y="76891"/>
                </a:lnTo>
                <a:lnTo>
                  <a:pt x="72580" y="80816"/>
                </a:lnTo>
                <a:lnTo>
                  <a:pt x="69444" y="84453"/>
                </a:lnTo>
                <a:lnTo>
                  <a:pt x="65980" y="87762"/>
                </a:lnTo>
                <a:lnTo>
                  <a:pt x="62209" y="90745"/>
                </a:lnTo>
                <a:lnTo>
                  <a:pt x="58168" y="93342"/>
                </a:lnTo>
                <a:lnTo>
                  <a:pt x="53896" y="95536"/>
                </a:lnTo>
                <a:lnTo>
                  <a:pt x="49432" y="97306"/>
                </a:lnTo>
                <a:lnTo>
                  <a:pt x="44834" y="98653"/>
                </a:lnTo>
                <a:lnTo>
                  <a:pt x="40119" y="99557"/>
                </a:lnTo>
                <a:lnTo>
                  <a:pt x="35328" y="100000"/>
                </a:lnTo>
                <a:lnTo>
                  <a:pt x="30537" y="99962"/>
                </a:lnTo>
                <a:lnTo>
                  <a:pt x="25765" y="99480"/>
                </a:lnTo>
                <a:lnTo>
                  <a:pt x="21051" y="98557"/>
                </a:lnTo>
                <a:lnTo>
                  <a:pt x="16452" y="97171"/>
                </a:lnTo>
                <a:lnTo>
                  <a:pt x="12007" y="95343"/>
                </a:lnTo>
                <a:lnTo>
                  <a:pt x="7754" y="93111"/>
                </a:lnTo>
                <a:lnTo>
                  <a:pt x="3752" y="90475"/>
                </a:lnTo>
                <a:lnTo>
                  <a:pt x="0" y="87474"/>
                </a:lnTo>
                <a:lnTo>
                  <a:pt x="12757" y="73061"/>
                </a:lnTo>
                <a:lnTo>
                  <a:pt x="15066" y="74909"/>
                </a:lnTo>
                <a:lnTo>
                  <a:pt x="17529" y="76544"/>
                </a:lnTo>
                <a:lnTo>
                  <a:pt x="20146" y="77910"/>
                </a:lnTo>
                <a:lnTo>
                  <a:pt x="22879" y="79026"/>
                </a:lnTo>
                <a:lnTo>
                  <a:pt x="25707" y="79873"/>
                </a:lnTo>
                <a:lnTo>
                  <a:pt x="28613" y="80450"/>
                </a:lnTo>
                <a:lnTo>
                  <a:pt x="31537" y="80758"/>
                </a:lnTo>
                <a:lnTo>
                  <a:pt x="34501" y="80758"/>
                </a:lnTo>
                <a:lnTo>
                  <a:pt x="37445" y="80489"/>
                </a:lnTo>
                <a:lnTo>
                  <a:pt x="40350" y="79950"/>
                </a:lnTo>
                <a:lnTo>
                  <a:pt x="43179" y="79123"/>
                </a:lnTo>
                <a:lnTo>
                  <a:pt x="45930" y="78026"/>
                </a:lnTo>
                <a:lnTo>
                  <a:pt x="48547" y="76679"/>
                </a:lnTo>
                <a:lnTo>
                  <a:pt x="51029" y="75082"/>
                </a:lnTo>
                <a:lnTo>
                  <a:pt x="53358" y="73254"/>
                </a:lnTo>
                <a:lnTo>
                  <a:pt x="55494" y="71195"/>
                </a:lnTo>
                <a:lnTo>
                  <a:pt x="57418" y="68963"/>
                </a:lnTo>
                <a:lnTo>
                  <a:pt x="59111" y="66558"/>
                </a:lnTo>
                <a:lnTo>
                  <a:pt x="60593" y="63979"/>
                </a:lnTo>
                <a:lnTo>
                  <a:pt x="61805" y="61285"/>
                </a:lnTo>
                <a:lnTo>
                  <a:pt x="62748" y="58495"/>
                </a:lnTo>
                <a:lnTo>
                  <a:pt x="63421" y="55628"/>
                </a:lnTo>
                <a:lnTo>
                  <a:pt x="63825" y="52684"/>
                </a:lnTo>
                <a:lnTo>
                  <a:pt x="63941" y="49740"/>
                </a:lnTo>
                <a:lnTo>
                  <a:pt x="63768" y="46796"/>
                </a:lnTo>
                <a:lnTo>
                  <a:pt x="63325" y="43871"/>
                </a:lnTo>
                <a:lnTo>
                  <a:pt x="62594" y="41004"/>
                </a:lnTo>
                <a:lnTo>
                  <a:pt x="61593" y="38234"/>
                </a:lnTo>
                <a:lnTo>
                  <a:pt x="60343" y="35559"/>
                </a:lnTo>
                <a:lnTo>
                  <a:pt x="58822" y="33019"/>
                </a:lnTo>
                <a:lnTo>
                  <a:pt x="57071" y="30633"/>
                </a:lnTo>
                <a:lnTo>
                  <a:pt x="55109" y="28439"/>
                </a:lnTo>
                <a:lnTo>
                  <a:pt x="52934" y="26419"/>
                </a:lnTo>
                <a:lnTo>
                  <a:pt x="50587" y="24630"/>
                </a:lnTo>
                <a:lnTo>
                  <a:pt x="48085" y="23090"/>
                </a:lnTo>
                <a:lnTo>
                  <a:pt x="45430" y="21782"/>
                </a:lnTo>
                <a:lnTo>
                  <a:pt x="42659" y="20723"/>
                </a:lnTo>
                <a:lnTo>
                  <a:pt x="39811" y="19954"/>
                </a:lnTo>
                <a:lnTo>
                  <a:pt x="36906" y="19454"/>
                </a:lnTo>
                <a:lnTo>
                  <a:pt x="33962" y="19242"/>
                </a:ln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67" name="Freeform 1467"/>
          <p:cNvSpPr/>
          <p:nvPr/>
        </p:nvSpPr>
        <p:spPr>
          <a:xfrm>
            <a:off x="7924800" y="3360674"/>
            <a:ext cx="187833" cy="329184"/>
          </a:xfrm>
          <a:custGeom>
            <a:avLst/>
            <a:gdLst/>
            <a:ahLst/>
            <a:cxnLst/>
            <a:rect l="l" t="t" r="r" b="b"/>
            <a:pathLst>
              <a:path w="57060" h="100000">
                <a:moveTo>
                  <a:pt x="30015" y="100000"/>
                </a:moveTo>
                <a:lnTo>
                  <a:pt x="28086" y="98071"/>
                </a:lnTo>
                <a:lnTo>
                  <a:pt x="26235" y="96103"/>
                </a:lnTo>
                <a:lnTo>
                  <a:pt x="24421" y="94097"/>
                </a:lnTo>
                <a:lnTo>
                  <a:pt x="22685" y="92014"/>
                </a:lnTo>
                <a:lnTo>
                  <a:pt x="20988" y="89892"/>
                </a:lnTo>
                <a:lnTo>
                  <a:pt x="19367" y="87731"/>
                </a:lnTo>
                <a:lnTo>
                  <a:pt x="17785" y="85494"/>
                </a:lnTo>
                <a:lnTo>
                  <a:pt x="16281" y="83256"/>
                </a:lnTo>
                <a:lnTo>
                  <a:pt x="14815" y="80941"/>
                </a:lnTo>
                <a:lnTo>
                  <a:pt x="13426" y="78627"/>
                </a:lnTo>
                <a:lnTo>
                  <a:pt x="12114" y="76273"/>
                </a:lnTo>
                <a:lnTo>
                  <a:pt x="10841" y="73843"/>
                </a:lnTo>
                <a:lnTo>
                  <a:pt x="9645" y="71412"/>
                </a:lnTo>
                <a:lnTo>
                  <a:pt x="8526" y="68943"/>
                </a:lnTo>
                <a:lnTo>
                  <a:pt x="7485" y="66435"/>
                </a:lnTo>
                <a:lnTo>
                  <a:pt x="6481" y="63927"/>
                </a:lnTo>
                <a:lnTo>
                  <a:pt x="5556" y="61381"/>
                </a:lnTo>
                <a:lnTo>
                  <a:pt x="4707" y="58796"/>
                </a:lnTo>
                <a:lnTo>
                  <a:pt x="3897" y="56211"/>
                </a:lnTo>
                <a:lnTo>
                  <a:pt x="3202" y="53588"/>
                </a:lnTo>
                <a:lnTo>
                  <a:pt x="2546" y="50965"/>
                </a:lnTo>
                <a:lnTo>
                  <a:pt x="1968" y="48302"/>
                </a:lnTo>
                <a:lnTo>
                  <a:pt x="1466" y="45640"/>
                </a:lnTo>
                <a:lnTo>
                  <a:pt x="1042" y="42940"/>
                </a:lnTo>
                <a:lnTo>
                  <a:pt x="694" y="40278"/>
                </a:lnTo>
                <a:lnTo>
                  <a:pt x="424" y="37577"/>
                </a:lnTo>
                <a:lnTo>
                  <a:pt x="193" y="34877"/>
                </a:lnTo>
                <a:lnTo>
                  <a:pt x="77" y="32137"/>
                </a:lnTo>
                <a:lnTo>
                  <a:pt x="0" y="29437"/>
                </a:lnTo>
                <a:lnTo>
                  <a:pt x="0" y="26736"/>
                </a:lnTo>
                <a:lnTo>
                  <a:pt x="116" y="23997"/>
                </a:lnTo>
                <a:lnTo>
                  <a:pt x="270" y="21296"/>
                </a:lnTo>
                <a:lnTo>
                  <a:pt x="502" y="18596"/>
                </a:lnTo>
                <a:lnTo>
                  <a:pt x="810" y="15895"/>
                </a:lnTo>
                <a:lnTo>
                  <a:pt x="1157" y="13194"/>
                </a:lnTo>
                <a:lnTo>
                  <a:pt x="1620" y="10532"/>
                </a:lnTo>
                <a:lnTo>
                  <a:pt x="2122" y="7870"/>
                </a:lnTo>
                <a:lnTo>
                  <a:pt x="2739" y="5208"/>
                </a:lnTo>
                <a:lnTo>
                  <a:pt x="3395" y="2585"/>
                </a:lnTo>
                <a:lnTo>
                  <a:pt x="4128" y="0"/>
                </a:lnTo>
                <a:lnTo>
                  <a:pt x="41127" y="10957"/>
                </a:lnTo>
                <a:lnTo>
                  <a:pt x="40664" y="12539"/>
                </a:lnTo>
                <a:lnTo>
                  <a:pt x="40278" y="14159"/>
                </a:lnTo>
                <a:lnTo>
                  <a:pt x="39892" y="15779"/>
                </a:lnTo>
                <a:lnTo>
                  <a:pt x="39583" y="17438"/>
                </a:lnTo>
                <a:lnTo>
                  <a:pt x="39313" y="19097"/>
                </a:lnTo>
                <a:lnTo>
                  <a:pt x="39082" y="20718"/>
                </a:lnTo>
                <a:lnTo>
                  <a:pt x="38889" y="22377"/>
                </a:lnTo>
                <a:lnTo>
                  <a:pt x="38735" y="24074"/>
                </a:lnTo>
                <a:lnTo>
                  <a:pt x="38657" y="25733"/>
                </a:lnTo>
                <a:lnTo>
                  <a:pt x="38580" y="27392"/>
                </a:lnTo>
                <a:lnTo>
                  <a:pt x="38580" y="29051"/>
                </a:lnTo>
                <a:lnTo>
                  <a:pt x="38619" y="30748"/>
                </a:lnTo>
                <a:lnTo>
                  <a:pt x="38696" y="32407"/>
                </a:lnTo>
                <a:lnTo>
                  <a:pt x="38850" y="34066"/>
                </a:lnTo>
                <a:lnTo>
                  <a:pt x="39005" y="35725"/>
                </a:lnTo>
                <a:lnTo>
                  <a:pt x="39236" y="37384"/>
                </a:lnTo>
                <a:lnTo>
                  <a:pt x="39506" y="39043"/>
                </a:lnTo>
                <a:lnTo>
                  <a:pt x="39815" y="40664"/>
                </a:lnTo>
                <a:lnTo>
                  <a:pt x="40162" y="42323"/>
                </a:lnTo>
                <a:lnTo>
                  <a:pt x="40548" y="43943"/>
                </a:lnTo>
                <a:lnTo>
                  <a:pt x="40972" y="45525"/>
                </a:lnTo>
                <a:lnTo>
                  <a:pt x="41474" y="47145"/>
                </a:lnTo>
                <a:lnTo>
                  <a:pt x="42014" y="48727"/>
                </a:lnTo>
                <a:lnTo>
                  <a:pt x="42554" y="50309"/>
                </a:lnTo>
                <a:lnTo>
                  <a:pt x="43171" y="51852"/>
                </a:lnTo>
                <a:lnTo>
                  <a:pt x="43827" y="53395"/>
                </a:lnTo>
                <a:lnTo>
                  <a:pt x="44522" y="54900"/>
                </a:lnTo>
                <a:lnTo>
                  <a:pt x="45255" y="56404"/>
                </a:lnTo>
                <a:lnTo>
                  <a:pt x="46026" y="57870"/>
                </a:lnTo>
                <a:lnTo>
                  <a:pt x="46836" y="59336"/>
                </a:lnTo>
                <a:lnTo>
                  <a:pt x="47724" y="60764"/>
                </a:lnTo>
                <a:lnTo>
                  <a:pt x="48611" y="62191"/>
                </a:lnTo>
                <a:lnTo>
                  <a:pt x="49537" y="63580"/>
                </a:lnTo>
                <a:lnTo>
                  <a:pt x="50502" y="64931"/>
                </a:lnTo>
                <a:lnTo>
                  <a:pt x="51505" y="66281"/>
                </a:lnTo>
                <a:lnTo>
                  <a:pt x="52546" y="67554"/>
                </a:lnTo>
                <a:lnTo>
                  <a:pt x="53627" y="68866"/>
                </a:lnTo>
                <a:lnTo>
                  <a:pt x="54707" y="70100"/>
                </a:lnTo>
                <a:lnTo>
                  <a:pt x="55864" y="71296"/>
                </a:lnTo>
                <a:lnTo>
                  <a:pt x="57060" y="72492"/>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68" name="Freeform 1468"/>
          <p:cNvSpPr/>
          <p:nvPr/>
        </p:nvSpPr>
        <p:spPr>
          <a:xfrm>
            <a:off x="7943723" y="3169920"/>
            <a:ext cx="208153" cy="216662"/>
          </a:xfrm>
          <a:custGeom>
            <a:avLst/>
            <a:gdLst/>
            <a:ahLst/>
            <a:cxnLst/>
            <a:rect l="l" t="t" r="r" b="b"/>
            <a:pathLst>
              <a:path w="96073" h="100000">
                <a:moveTo>
                  <a:pt x="0" y="80422"/>
                </a:moveTo>
                <a:lnTo>
                  <a:pt x="938" y="77902"/>
                </a:lnTo>
                <a:lnTo>
                  <a:pt x="1876" y="75440"/>
                </a:lnTo>
                <a:lnTo>
                  <a:pt x="2872" y="72978"/>
                </a:lnTo>
                <a:lnTo>
                  <a:pt x="3927" y="70516"/>
                </a:lnTo>
                <a:lnTo>
                  <a:pt x="4982" y="68113"/>
                </a:lnTo>
                <a:lnTo>
                  <a:pt x="6096" y="65709"/>
                </a:lnTo>
                <a:lnTo>
                  <a:pt x="7268" y="63306"/>
                </a:lnTo>
                <a:lnTo>
                  <a:pt x="8499" y="60903"/>
                </a:lnTo>
                <a:lnTo>
                  <a:pt x="9730" y="58558"/>
                </a:lnTo>
                <a:lnTo>
                  <a:pt x="11020" y="56272"/>
                </a:lnTo>
                <a:lnTo>
                  <a:pt x="12368" y="53927"/>
                </a:lnTo>
                <a:lnTo>
                  <a:pt x="13716" y="51700"/>
                </a:lnTo>
                <a:lnTo>
                  <a:pt x="15123" y="49414"/>
                </a:lnTo>
                <a:lnTo>
                  <a:pt x="16589" y="47186"/>
                </a:lnTo>
                <a:lnTo>
                  <a:pt x="18054" y="44959"/>
                </a:lnTo>
                <a:lnTo>
                  <a:pt x="19578" y="42790"/>
                </a:lnTo>
                <a:lnTo>
                  <a:pt x="21161" y="40621"/>
                </a:lnTo>
                <a:lnTo>
                  <a:pt x="22743" y="38511"/>
                </a:lnTo>
                <a:lnTo>
                  <a:pt x="24385" y="36401"/>
                </a:lnTo>
                <a:lnTo>
                  <a:pt x="26084" y="34349"/>
                </a:lnTo>
                <a:lnTo>
                  <a:pt x="27784" y="32298"/>
                </a:lnTo>
                <a:lnTo>
                  <a:pt x="29543" y="30305"/>
                </a:lnTo>
                <a:lnTo>
                  <a:pt x="31301" y="28312"/>
                </a:lnTo>
                <a:lnTo>
                  <a:pt x="33118" y="26377"/>
                </a:lnTo>
                <a:lnTo>
                  <a:pt x="34994" y="24502"/>
                </a:lnTo>
                <a:lnTo>
                  <a:pt x="36870" y="22626"/>
                </a:lnTo>
                <a:lnTo>
                  <a:pt x="38746" y="20750"/>
                </a:lnTo>
                <a:lnTo>
                  <a:pt x="40680" y="18933"/>
                </a:lnTo>
                <a:lnTo>
                  <a:pt x="42673" y="17175"/>
                </a:lnTo>
                <a:lnTo>
                  <a:pt x="44666" y="15416"/>
                </a:lnTo>
                <a:lnTo>
                  <a:pt x="46717" y="13716"/>
                </a:lnTo>
                <a:lnTo>
                  <a:pt x="48769" y="12016"/>
                </a:lnTo>
                <a:lnTo>
                  <a:pt x="50879" y="10375"/>
                </a:lnTo>
                <a:lnTo>
                  <a:pt x="52989" y="8792"/>
                </a:lnTo>
                <a:lnTo>
                  <a:pt x="55158" y="7210"/>
                </a:lnTo>
                <a:lnTo>
                  <a:pt x="57327" y="5686"/>
                </a:lnTo>
                <a:lnTo>
                  <a:pt x="59555" y="4220"/>
                </a:lnTo>
                <a:lnTo>
                  <a:pt x="61782" y="2755"/>
                </a:lnTo>
                <a:lnTo>
                  <a:pt x="64068" y="1348"/>
                </a:lnTo>
                <a:lnTo>
                  <a:pt x="66295" y="0"/>
                </a:lnTo>
                <a:lnTo>
                  <a:pt x="96073" y="50469"/>
                </a:lnTo>
                <a:lnTo>
                  <a:pt x="94666" y="51348"/>
                </a:lnTo>
                <a:lnTo>
                  <a:pt x="93259" y="52227"/>
                </a:lnTo>
                <a:lnTo>
                  <a:pt x="91911" y="53107"/>
                </a:lnTo>
                <a:lnTo>
                  <a:pt x="90563" y="53986"/>
                </a:lnTo>
                <a:lnTo>
                  <a:pt x="89215" y="54924"/>
                </a:lnTo>
                <a:lnTo>
                  <a:pt x="87866" y="55920"/>
                </a:lnTo>
                <a:lnTo>
                  <a:pt x="86577" y="56917"/>
                </a:lnTo>
                <a:lnTo>
                  <a:pt x="85287" y="57913"/>
                </a:lnTo>
                <a:lnTo>
                  <a:pt x="83998" y="58910"/>
                </a:lnTo>
                <a:lnTo>
                  <a:pt x="82767" y="59965"/>
                </a:lnTo>
                <a:lnTo>
                  <a:pt x="81536" y="61079"/>
                </a:lnTo>
                <a:lnTo>
                  <a:pt x="80305" y="62134"/>
                </a:lnTo>
                <a:lnTo>
                  <a:pt x="79132" y="63247"/>
                </a:lnTo>
                <a:lnTo>
                  <a:pt x="77960" y="64420"/>
                </a:lnTo>
                <a:lnTo>
                  <a:pt x="76788" y="65592"/>
                </a:lnTo>
                <a:lnTo>
                  <a:pt x="75615" y="66764"/>
                </a:lnTo>
                <a:lnTo>
                  <a:pt x="74502" y="67937"/>
                </a:lnTo>
                <a:lnTo>
                  <a:pt x="73447" y="69168"/>
                </a:lnTo>
                <a:lnTo>
                  <a:pt x="72333" y="70399"/>
                </a:lnTo>
                <a:lnTo>
                  <a:pt x="71278" y="71630"/>
                </a:lnTo>
                <a:lnTo>
                  <a:pt x="70281" y="72919"/>
                </a:lnTo>
                <a:lnTo>
                  <a:pt x="69285" y="74209"/>
                </a:lnTo>
                <a:lnTo>
                  <a:pt x="68288" y="75498"/>
                </a:lnTo>
                <a:lnTo>
                  <a:pt x="67292" y="76846"/>
                </a:lnTo>
                <a:lnTo>
                  <a:pt x="66354" y="78195"/>
                </a:lnTo>
                <a:lnTo>
                  <a:pt x="65475" y="79543"/>
                </a:lnTo>
                <a:lnTo>
                  <a:pt x="64596" y="80891"/>
                </a:lnTo>
                <a:lnTo>
                  <a:pt x="63716" y="82298"/>
                </a:lnTo>
                <a:lnTo>
                  <a:pt x="62837" y="83705"/>
                </a:lnTo>
                <a:lnTo>
                  <a:pt x="62016" y="85111"/>
                </a:lnTo>
                <a:lnTo>
                  <a:pt x="61254" y="86577"/>
                </a:lnTo>
                <a:lnTo>
                  <a:pt x="60492" y="87984"/>
                </a:lnTo>
                <a:lnTo>
                  <a:pt x="59730" y="89449"/>
                </a:lnTo>
                <a:lnTo>
                  <a:pt x="59027" y="90914"/>
                </a:lnTo>
                <a:lnTo>
                  <a:pt x="58324" y="92380"/>
                </a:lnTo>
                <a:lnTo>
                  <a:pt x="57679" y="93904"/>
                </a:lnTo>
                <a:lnTo>
                  <a:pt x="57034" y="95428"/>
                </a:lnTo>
                <a:lnTo>
                  <a:pt x="56389" y="96952"/>
                </a:lnTo>
                <a:lnTo>
                  <a:pt x="55803" y="98476"/>
                </a:lnTo>
                <a:lnTo>
                  <a:pt x="55275" y="100000"/>
                </a:ln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69" name="Freeform 1469"/>
          <p:cNvSpPr/>
          <p:nvPr/>
        </p:nvSpPr>
        <p:spPr>
          <a:xfrm>
            <a:off x="8102473" y="3124327"/>
            <a:ext cx="147193" cy="149860"/>
          </a:xfrm>
          <a:custGeom>
            <a:avLst/>
            <a:gdLst/>
            <a:ahLst/>
            <a:cxnLst/>
            <a:rect l="l" t="t" r="r" b="b"/>
            <a:pathLst>
              <a:path w="98220" h="100000">
                <a:moveTo>
                  <a:pt x="0" y="24831"/>
                </a:moveTo>
                <a:lnTo>
                  <a:pt x="2288" y="23644"/>
                </a:lnTo>
                <a:lnTo>
                  <a:pt x="4492" y="22542"/>
                </a:lnTo>
                <a:lnTo>
                  <a:pt x="6780" y="21441"/>
                </a:lnTo>
                <a:lnTo>
                  <a:pt x="8983" y="20424"/>
                </a:lnTo>
                <a:lnTo>
                  <a:pt x="11271" y="19322"/>
                </a:lnTo>
                <a:lnTo>
                  <a:pt x="13559" y="18305"/>
                </a:lnTo>
                <a:lnTo>
                  <a:pt x="15847" y="17373"/>
                </a:lnTo>
                <a:lnTo>
                  <a:pt x="18136" y="16356"/>
                </a:lnTo>
                <a:lnTo>
                  <a:pt x="20508" y="15424"/>
                </a:lnTo>
                <a:lnTo>
                  <a:pt x="22797" y="14576"/>
                </a:lnTo>
                <a:lnTo>
                  <a:pt x="25169" y="13644"/>
                </a:lnTo>
                <a:lnTo>
                  <a:pt x="27542" y="12797"/>
                </a:lnTo>
                <a:lnTo>
                  <a:pt x="29831" y="11949"/>
                </a:lnTo>
                <a:lnTo>
                  <a:pt x="32203" y="11186"/>
                </a:lnTo>
                <a:lnTo>
                  <a:pt x="34576" y="10424"/>
                </a:lnTo>
                <a:lnTo>
                  <a:pt x="36949" y="9661"/>
                </a:lnTo>
                <a:lnTo>
                  <a:pt x="39407" y="8898"/>
                </a:lnTo>
                <a:lnTo>
                  <a:pt x="41780" y="8220"/>
                </a:lnTo>
                <a:lnTo>
                  <a:pt x="44153" y="7542"/>
                </a:lnTo>
                <a:lnTo>
                  <a:pt x="46610" y="6949"/>
                </a:lnTo>
                <a:lnTo>
                  <a:pt x="49068" y="6356"/>
                </a:lnTo>
                <a:lnTo>
                  <a:pt x="51441" y="5763"/>
                </a:lnTo>
                <a:lnTo>
                  <a:pt x="53898" y="5169"/>
                </a:lnTo>
                <a:lnTo>
                  <a:pt x="56356" y="4661"/>
                </a:lnTo>
                <a:lnTo>
                  <a:pt x="58814" y="4153"/>
                </a:lnTo>
                <a:lnTo>
                  <a:pt x="61271" y="3644"/>
                </a:lnTo>
                <a:lnTo>
                  <a:pt x="63729" y="3220"/>
                </a:lnTo>
                <a:lnTo>
                  <a:pt x="66186" y="2797"/>
                </a:lnTo>
                <a:lnTo>
                  <a:pt x="68644" y="2458"/>
                </a:lnTo>
                <a:lnTo>
                  <a:pt x="71102" y="2034"/>
                </a:lnTo>
                <a:lnTo>
                  <a:pt x="73559" y="1695"/>
                </a:lnTo>
                <a:lnTo>
                  <a:pt x="76102" y="1441"/>
                </a:lnTo>
                <a:lnTo>
                  <a:pt x="78559" y="1102"/>
                </a:lnTo>
                <a:lnTo>
                  <a:pt x="81017" y="932"/>
                </a:lnTo>
                <a:lnTo>
                  <a:pt x="83559" y="678"/>
                </a:lnTo>
                <a:lnTo>
                  <a:pt x="86017" y="508"/>
                </a:lnTo>
                <a:lnTo>
                  <a:pt x="88559" y="339"/>
                </a:lnTo>
                <a:lnTo>
                  <a:pt x="91017" y="169"/>
                </a:lnTo>
                <a:lnTo>
                  <a:pt x="93475" y="85"/>
                </a:lnTo>
                <a:lnTo>
                  <a:pt x="96017" y="0"/>
                </a:lnTo>
                <a:lnTo>
                  <a:pt x="98220" y="84746"/>
                </a:lnTo>
                <a:lnTo>
                  <a:pt x="96695" y="84746"/>
                </a:lnTo>
                <a:lnTo>
                  <a:pt x="95169" y="84831"/>
                </a:lnTo>
                <a:lnTo>
                  <a:pt x="93644" y="84915"/>
                </a:lnTo>
                <a:lnTo>
                  <a:pt x="92119" y="85000"/>
                </a:lnTo>
                <a:lnTo>
                  <a:pt x="90593" y="85085"/>
                </a:lnTo>
                <a:lnTo>
                  <a:pt x="88983" y="85254"/>
                </a:lnTo>
                <a:lnTo>
                  <a:pt x="87458" y="85424"/>
                </a:lnTo>
                <a:lnTo>
                  <a:pt x="85932" y="85593"/>
                </a:lnTo>
                <a:lnTo>
                  <a:pt x="84407" y="85763"/>
                </a:lnTo>
                <a:lnTo>
                  <a:pt x="82881" y="86017"/>
                </a:lnTo>
                <a:lnTo>
                  <a:pt x="81356" y="86186"/>
                </a:lnTo>
                <a:lnTo>
                  <a:pt x="79831" y="86441"/>
                </a:lnTo>
                <a:lnTo>
                  <a:pt x="78390" y="86695"/>
                </a:lnTo>
                <a:lnTo>
                  <a:pt x="76864" y="86949"/>
                </a:lnTo>
                <a:lnTo>
                  <a:pt x="75339" y="87288"/>
                </a:lnTo>
                <a:lnTo>
                  <a:pt x="73814" y="87542"/>
                </a:lnTo>
                <a:lnTo>
                  <a:pt x="72288" y="87881"/>
                </a:lnTo>
                <a:lnTo>
                  <a:pt x="70847" y="88220"/>
                </a:lnTo>
                <a:lnTo>
                  <a:pt x="69322" y="88644"/>
                </a:lnTo>
                <a:lnTo>
                  <a:pt x="67797" y="88983"/>
                </a:lnTo>
                <a:lnTo>
                  <a:pt x="66356" y="89407"/>
                </a:lnTo>
                <a:lnTo>
                  <a:pt x="64831" y="89746"/>
                </a:lnTo>
                <a:lnTo>
                  <a:pt x="63390" y="90169"/>
                </a:lnTo>
                <a:lnTo>
                  <a:pt x="61949" y="90678"/>
                </a:lnTo>
                <a:lnTo>
                  <a:pt x="60424" y="91102"/>
                </a:lnTo>
                <a:lnTo>
                  <a:pt x="58983" y="91610"/>
                </a:lnTo>
                <a:lnTo>
                  <a:pt x="57542" y="92119"/>
                </a:lnTo>
                <a:lnTo>
                  <a:pt x="56102" y="92627"/>
                </a:lnTo>
                <a:lnTo>
                  <a:pt x="54661" y="93136"/>
                </a:lnTo>
                <a:lnTo>
                  <a:pt x="53220" y="93644"/>
                </a:lnTo>
                <a:lnTo>
                  <a:pt x="51780" y="94237"/>
                </a:lnTo>
                <a:lnTo>
                  <a:pt x="50339" y="94831"/>
                </a:lnTo>
                <a:lnTo>
                  <a:pt x="48898" y="95424"/>
                </a:lnTo>
                <a:lnTo>
                  <a:pt x="47458" y="96017"/>
                </a:lnTo>
                <a:lnTo>
                  <a:pt x="46102" y="96610"/>
                </a:lnTo>
                <a:lnTo>
                  <a:pt x="44661" y="97288"/>
                </a:lnTo>
                <a:lnTo>
                  <a:pt x="43305" y="97881"/>
                </a:lnTo>
                <a:lnTo>
                  <a:pt x="41949" y="98559"/>
                </a:lnTo>
                <a:lnTo>
                  <a:pt x="40508" y="99237"/>
                </a:lnTo>
                <a:lnTo>
                  <a:pt x="39153" y="100000"/>
                </a:ln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70" name="TextBox 194"/>
          <p:cNvSpPr txBox="1"/>
          <p:nvPr/>
        </p:nvSpPr>
        <p:spPr>
          <a:xfrm>
            <a:off x="8026400" y="3276600"/>
            <a:ext cx="457200" cy="254000"/>
          </a:xfrm>
          <a:prstGeom prst="rect">
            <a:avLst/>
          </a:prstGeom>
        </p:spPr>
        <p:txBody>
          <a:bodyPr wrap="square" lIns="0" tIns="0" rIns="0" bIns="0" anchor="ctr">
            <a:noAutofit/>
          </a:bodyPr>
          <a:lstStyle/>
          <a:p>
            <a:pPr algn="ctr">
              <a:lnSpc>
                <a:spcPct val="135000"/>
              </a:lnSpc>
            </a:pPr>
            <a:r>
              <a:rPr sz="800" spc="0">
                <a:solidFill>
                  <a:srgbClr val="0A0A0A"/>
                </a:solidFill>
                <a:latin typeface="PP Editorial New Ultralight"/>
              </a:rPr>
              <a:t>42</a:t>
            </a:r>
            <a:endParaRPr sz="800" spc="0">
              <a:solidFill>
                <a:srgbClr val="0A0A0A"/>
              </a:solidFill>
              <a:latin typeface="PP Editorial New Ultralight"/>
            </a:endParaRPr>
          </a:p>
        </p:txBody>
      </p:sp>
      <p:sp>
        <p:nvSpPr>
          <p:cNvPr id="1471" name="Oval 195"/>
          <p:cNvSpPr/>
          <p:nvPr/>
        </p:nvSpPr>
        <p:spPr>
          <a:xfrm>
            <a:off x="8741410" y="3039110"/>
            <a:ext cx="43180" cy="4318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72" name="TextBox 196"/>
          <p:cNvSpPr txBox="1"/>
          <p:nvPr/>
        </p:nvSpPr>
        <p:spPr>
          <a:xfrm>
            <a:off x="8864600" y="2984500"/>
            <a:ext cx="889000" cy="127000"/>
          </a:xfrm>
          <a:prstGeom prst="rect">
            <a:avLst/>
          </a:prstGeom>
        </p:spPr>
        <p:txBody>
          <a:bodyPr wrap="square" lIns="0" tIns="0" rIns="0" bIns="0">
            <a:noAutofit/>
          </a:bodyPr>
          <a:lstStyle/>
          <a:p>
            <a:pPr>
              <a:lnSpc>
                <a:spcPct val="135000"/>
              </a:lnSpc>
            </a:pPr>
            <a:r>
              <a:rPr sz="460" spc="0">
                <a:solidFill>
                  <a:srgbClr val="0A0A0A"/>
                </a:solidFill>
                <a:latin typeface="Telegraf"/>
              </a:rPr>
              <a:t>R6 answered</a:t>
            </a:r>
            <a:endParaRPr sz="460" spc="0">
              <a:solidFill>
                <a:srgbClr val="0A0A0A"/>
              </a:solidFill>
              <a:latin typeface="Telegraf"/>
            </a:endParaRPr>
          </a:p>
        </p:txBody>
      </p:sp>
      <p:sp>
        <p:nvSpPr>
          <p:cNvPr id="1473" name="TextBox 197"/>
          <p:cNvSpPr txBox="1"/>
          <p:nvPr/>
        </p:nvSpPr>
        <p:spPr>
          <a:xfrm>
            <a:off x="9652000" y="2984500"/>
            <a:ext cx="3048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62%</a:t>
            </a:r>
            <a:endParaRPr sz="460" spc="0">
              <a:solidFill>
                <a:srgbClr val="A2A2A8"/>
              </a:solidFill>
              <a:latin typeface="Telegraf"/>
            </a:endParaRPr>
          </a:p>
        </p:txBody>
      </p:sp>
      <p:sp>
        <p:nvSpPr>
          <p:cNvPr id="1474" name="Oval 198"/>
          <p:cNvSpPr/>
          <p:nvPr/>
        </p:nvSpPr>
        <p:spPr>
          <a:xfrm>
            <a:off x="8741410" y="3280410"/>
            <a:ext cx="43180" cy="4318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75" name="TextBox 199"/>
          <p:cNvSpPr txBox="1"/>
          <p:nvPr/>
        </p:nvSpPr>
        <p:spPr>
          <a:xfrm>
            <a:off x="8864600" y="3225800"/>
            <a:ext cx="889000" cy="127000"/>
          </a:xfrm>
          <a:prstGeom prst="rect">
            <a:avLst/>
          </a:prstGeom>
        </p:spPr>
        <p:txBody>
          <a:bodyPr wrap="square" lIns="0" tIns="0" rIns="0" bIns="0">
            <a:noAutofit/>
          </a:bodyPr>
          <a:lstStyle/>
          <a:p>
            <a:pPr>
              <a:lnSpc>
                <a:spcPct val="135000"/>
              </a:lnSpc>
            </a:pPr>
            <a:r>
              <a:rPr sz="460" spc="0">
                <a:solidFill>
                  <a:srgbClr val="0A0A0A"/>
                </a:solidFill>
                <a:latin typeface="Telegraf"/>
              </a:rPr>
              <a:t>R5 draft</a:t>
            </a:r>
            <a:endParaRPr sz="460" spc="0">
              <a:solidFill>
                <a:srgbClr val="0A0A0A"/>
              </a:solidFill>
              <a:latin typeface="Telegraf"/>
            </a:endParaRPr>
          </a:p>
        </p:txBody>
      </p:sp>
      <p:sp>
        <p:nvSpPr>
          <p:cNvPr id="1476" name="TextBox 200"/>
          <p:cNvSpPr txBox="1"/>
          <p:nvPr/>
        </p:nvSpPr>
        <p:spPr>
          <a:xfrm>
            <a:off x="9652000" y="3225800"/>
            <a:ext cx="3048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18%</a:t>
            </a:r>
            <a:endParaRPr sz="460" spc="0">
              <a:solidFill>
                <a:srgbClr val="A2A2A8"/>
              </a:solidFill>
              <a:latin typeface="Telegraf"/>
            </a:endParaRPr>
          </a:p>
        </p:txBody>
      </p:sp>
      <p:sp>
        <p:nvSpPr>
          <p:cNvPr id="1477" name="Oval 201"/>
          <p:cNvSpPr/>
          <p:nvPr/>
        </p:nvSpPr>
        <p:spPr>
          <a:xfrm>
            <a:off x="8741410" y="3521710"/>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78" name="TextBox 202"/>
          <p:cNvSpPr txBox="1"/>
          <p:nvPr/>
        </p:nvSpPr>
        <p:spPr>
          <a:xfrm>
            <a:off x="8864600" y="3467100"/>
            <a:ext cx="889000" cy="127000"/>
          </a:xfrm>
          <a:prstGeom prst="rect">
            <a:avLst/>
          </a:prstGeom>
        </p:spPr>
        <p:txBody>
          <a:bodyPr wrap="square" lIns="0" tIns="0" rIns="0" bIns="0">
            <a:noAutofit/>
          </a:bodyPr>
          <a:lstStyle/>
          <a:p>
            <a:pPr>
              <a:lnSpc>
                <a:spcPct val="135000"/>
              </a:lnSpc>
            </a:pPr>
            <a:r>
              <a:rPr sz="460" spc="0">
                <a:solidFill>
                  <a:srgbClr val="0A0A0A"/>
                </a:solidFill>
                <a:latin typeface="Telegraf"/>
              </a:rPr>
              <a:t>R2 low conf</a:t>
            </a:r>
            <a:endParaRPr sz="460" spc="0">
              <a:solidFill>
                <a:srgbClr val="0A0A0A"/>
              </a:solidFill>
              <a:latin typeface="Telegraf"/>
            </a:endParaRPr>
          </a:p>
        </p:txBody>
      </p:sp>
      <p:sp>
        <p:nvSpPr>
          <p:cNvPr id="1479" name="TextBox 203"/>
          <p:cNvSpPr txBox="1"/>
          <p:nvPr/>
        </p:nvSpPr>
        <p:spPr>
          <a:xfrm>
            <a:off x="9652000" y="3467100"/>
            <a:ext cx="3048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12%</a:t>
            </a:r>
            <a:endParaRPr sz="460" spc="0">
              <a:solidFill>
                <a:srgbClr val="A2A2A8"/>
              </a:solidFill>
              <a:latin typeface="Telegraf"/>
            </a:endParaRPr>
          </a:p>
        </p:txBody>
      </p:sp>
      <p:sp>
        <p:nvSpPr>
          <p:cNvPr id="1480" name="Oval 204"/>
          <p:cNvSpPr/>
          <p:nvPr/>
        </p:nvSpPr>
        <p:spPr>
          <a:xfrm>
            <a:off x="8741410" y="3763010"/>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81" name="TextBox 205"/>
          <p:cNvSpPr txBox="1"/>
          <p:nvPr/>
        </p:nvSpPr>
        <p:spPr>
          <a:xfrm>
            <a:off x="8864600" y="3708400"/>
            <a:ext cx="889000" cy="127000"/>
          </a:xfrm>
          <a:prstGeom prst="rect">
            <a:avLst/>
          </a:prstGeom>
        </p:spPr>
        <p:txBody>
          <a:bodyPr wrap="square" lIns="0" tIns="0" rIns="0" bIns="0">
            <a:noAutofit/>
          </a:bodyPr>
          <a:lstStyle/>
          <a:p>
            <a:pPr>
              <a:lnSpc>
                <a:spcPct val="135000"/>
              </a:lnSpc>
            </a:pPr>
            <a:r>
              <a:rPr sz="460" spc="0">
                <a:solidFill>
                  <a:srgbClr val="0A0A0A"/>
                </a:solidFill>
                <a:latin typeface="Telegraf"/>
              </a:rPr>
              <a:t>R1/R4</a:t>
            </a:r>
            <a:endParaRPr sz="460" spc="0">
              <a:solidFill>
                <a:srgbClr val="0A0A0A"/>
              </a:solidFill>
              <a:latin typeface="Telegraf"/>
            </a:endParaRPr>
          </a:p>
        </p:txBody>
      </p:sp>
      <p:sp>
        <p:nvSpPr>
          <p:cNvPr id="1482" name="TextBox 206"/>
          <p:cNvSpPr txBox="1"/>
          <p:nvPr/>
        </p:nvSpPr>
        <p:spPr>
          <a:xfrm>
            <a:off x="9652000" y="3708400"/>
            <a:ext cx="3048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8%</a:t>
            </a:r>
            <a:endParaRPr sz="460" spc="0">
              <a:solidFill>
                <a:srgbClr val="A2A2A8"/>
              </a:solidFill>
              <a:latin typeface="Telegraf"/>
            </a:endParaRPr>
          </a:p>
        </p:txBody>
      </p:sp>
      <p:sp>
        <p:nvSpPr>
          <p:cNvPr id="1483" name="Rectangle 207"/>
          <p:cNvSpPr/>
          <p:nvPr/>
        </p:nvSpPr>
        <p:spPr>
          <a:xfrm>
            <a:off x="7620000" y="4241800"/>
            <a:ext cx="2489200" cy="939800"/>
          </a:xfrm>
          <a:custGeom>
            <a:avLst/>
            <a:gdLst/>
            <a:ahLst/>
            <a:cxnLst/>
            <a:rect l="l" t="t" r="r" b="b"/>
            <a:pathLst>
              <a:path w="100000" h="37755">
                <a:moveTo>
                  <a:pt x="89796" y="0"/>
                </a:moveTo>
                <a:cubicBezTo>
                  <a:pt x="94606" y="0"/>
                  <a:pt x="97011" y="0"/>
                  <a:pt x="98506" y="1494"/>
                </a:cubicBezTo>
                <a:cubicBezTo>
                  <a:pt x="98506" y="1494"/>
                  <a:pt x="98506" y="1494"/>
                  <a:pt x="98506" y="1494"/>
                </a:cubicBezTo>
                <a:cubicBezTo>
                  <a:pt x="100000" y="2989"/>
                  <a:pt x="100000" y="5394"/>
                  <a:pt x="100000" y="10204"/>
                </a:cubicBezTo>
                <a:lnTo>
                  <a:pt x="100000" y="27551"/>
                </a:lnTo>
                <a:cubicBezTo>
                  <a:pt x="100000" y="32361"/>
                  <a:pt x="100000" y="34766"/>
                  <a:pt x="98506" y="36261"/>
                </a:cubicBezTo>
                <a:cubicBezTo>
                  <a:pt x="98506" y="36261"/>
                  <a:pt x="98506" y="36261"/>
                  <a:pt x="98506" y="36261"/>
                </a:cubicBezTo>
                <a:cubicBezTo>
                  <a:pt x="97011" y="37755"/>
                  <a:pt x="94606" y="37755"/>
                  <a:pt x="89796" y="37755"/>
                </a:cubicBezTo>
                <a:lnTo>
                  <a:pt x="10204" y="37755"/>
                </a:lnTo>
                <a:cubicBezTo>
                  <a:pt x="5394" y="37755"/>
                  <a:pt x="2989" y="37755"/>
                  <a:pt x="1494" y="36261"/>
                </a:cubicBezTo>
                <a:cubicBezTo>
                  <a:pt x="1494" y="36261"/>
                  <a:pt x="1494" y="36261"/>
                  <a:pt x="1494" y="36261"/>
                </a:cubicBezTo>
                <a:cubicBezTo>
                  <a:pt x="0" y="34766"/>
                  <a:pt x="0" y="32361"/>
                  <a:pt x="0" y="27551"/>
                </a:cubicBezTo>
                <a:lnTo>
                  <a:pt x="0" y="10204"/>
                </a:lnTo>
                <a:cubicBezTo>
                  <a:pt x="0" y="5394"/>
                  <a:pt x="0" y="2989"/>
                  <a:pt x="1494" y="1494"/>
                </a:cubicBezTo>
                <a:cubicBezTo>
                  <a:pt x="1494" y="1494"/>
                  <a:pt x="1494" y="1494"/>
                  <a:pt x="1494" y="1494"/>
                </a:cubicBezTo>
                <a:cubicBezTo>
                  <a:pt x="2989" y="0"/>
                  <a:pt x="5394" y="0"/>
                  <a:pt x="10204"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84" name="TextBox 208"/>
          <p:cNvSpPr txBox="1"/>
          <p:nvPr/>
        </p:nvSpPr>
        <p:spPr>
          <a:xfrm>
            <a:off x="7772400" y="4368800"/>
            <a:ext cx="1778000" cy="114300"/>
          </a:xfrm>
          <a:prstGeom prst="rect">
            <a:avLst/>
          </a:prstGeom>
        </p:spPr>
        <p:txBody>
          <a:bodyPr wrap="square" lIns="0" tIns="0" rIns="0" bIns="0">
            <a:noAutofit/>
          </a:bodyPr>
          <a:lstStyle/>
          <a:p>
            <a:r>
              <a:rPr sz="440" b="1" spc="100">
                <a:solidFill>
                  <a:srgbClr val="A2A2A8"/>
                </a:solidFill>
                <a:latin typeface="Telegraf"/>
              </a:rPr>
              <a:t>SENTIMENT · 7 DAYS</a:t>
            </a:r>
            <a:endParaRPr sz="440" b="1" spc="100">
              <a:solidFill>
                <a:srgbClr val="A2A2A8"/>
              </a:solidFill>
              <a:latin typeface="Telegraf"/>
            </a:endParaRPr>
          </a:p>
        </p:txBody>
      </p:sp>
      <p:sp>
        <p:nvSpPr>
          <p:cNvPr id="1485" name="Rectangle 209"/>
          <p:cNvSpPr/>
          <p:nvPr/>
        </p:nvSpPr>
        <p:spPr>
          <a:xfrm>
            <a:off x="7772400" y="4521200"/>
            <a:ext cx="1249172" cy="101600"/>
          </a:xfrm>
          <a:custGeom>
            <a:avLst/>
            <a:gdLst/>
            <a:ahLst/>
            <a:cxnLst/>
            <a:rect l="l" t="t" r="r" b="b"/>
            <a:pathLst>
              <a:path w="100000" h="8133">
                <a:moveTo>
                  <a:pt x="95933" y="0"/>
                </a:moveTo>
                <a:cubicBezTo>
                  <a:pt x="95933" y="0"/>
                  <a:pt x="95933" y="0"/>
                  <a:pt x="95933" y="0"/>
                </a:cubicBezTo>
                <a:cubicBezTo>
                  <a:pt x="98179" y="0"/>
                  <a:pt x="100000" y="1821"/>
                  <a:pt x="100000" y="4067"/>
                </a:cubicBezTo>
                <a:cubicBezTo>
                  <a:pt x="100000" y="4067"/>
                  <a:pt x="100000" y="4067"/>
                  <a:pt x="100000" y="4067"/>
                </a:cubicBezTo>
                <a:lnTo>
                  <a:pt x="100000" y="4067"/>
                </a:lnTo>
                <a:cubicBezTo>
                  <a:pt x="100000" y="4067"/>
                  <a:pt x="100000" y="4067"/>
                  <a:pt x="100000" y="4067"/>
                </a:cubicBezTo>
                <a:cubicBezTo>
                  <a:pt x="100000" y="6313"/>
                  <a:pt x="98179" y="8133"/>
                  <a:pt x="95933" y="8133"/>
                </a:cubicBezTo>
                <a:cubicBezTo>
                  <a:pt x="95933" y="8133"/>
                  <a:pt x="95933" y="8133"/>
                  <a:pt x="95933" y="8133"/>
                </a:cubicBezTo>
                <a:lnTo>
                  <a:pt x="4067" y="8133"/>
                </a:lnTo>
                <a:cubicBezTo>
                  <a:pt x="4067" y="8133"/>
                  <a:pt x="4067" y="8133"/>
                  <a:pt x="4067" y="8133"/>
                </a:cubicBezTo>
                <a:cubicBezTo>
                  <a:pt x="1821" y="8133"/>
                  <a:pt x="0" y="6313"/>
                  <a:pt x="0" y="4067"/>
                </a:cubicBezTo>
                <a:cubicBezTo>
                  <a:pt x="0" y="4067"/>
                  <a:pt x="0" y="4067"/>
                  <a:pt x="0" y="4067"/>
                </a:cubicBezTo>
                <a:lnTo>
                  <a:pt x="0" y="4067"/>
                </a:lnTo>
                <a:cubicBezTo>
                  <a:pt x="0" y="4067"/>
                  <a:pt x="0" y="4067"/>
                  <a:pt x="0" y="4067"/>
                </a:cubicBezTo>
                <a:cubicBezTo>
                  <a:pt x="0" y="1821"/>
                  <a:pt x="1821" y="0"/>
                  <a:pt x="4067" y="0"/>
                </a:cubicBezTo>
                <a:cubicBezTo>
                  <a:pt x="4067" y="0"/>
                  <a:pt x="4067" y="0"/>
                  <a:pt x="4067"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86" name="Rectangle 210"/>
          <p:cNvSpPr/>
          <p:nvPr/>
        </p:nvSpPr>
        <p:spPr>
          <a:xfrm>
            <a:off x="9039352" y="4521200"/>
            <a:ext cx="550164" cy="101600"/>
          </a:xfrm>
          <a:custGeom>
            <a:avLst/>
            <a:gdLst/>
            <a:ahLst/>
            <a:cxnLst/>
            <a:rect l="l" t="t" r="r" b="b"/>
            <a:pathLst>
              <a:path w="100000" h="18467">
                <a:moveTo>
                  <a:pt x="90766" y="0"/>
                </a:moveTo>
                <a:cubicBezTo>
                  <a:pt x="90766" y="0"/>
                  <a:pt x="90766" y="0"/>
                  <a:pt x="90766" y="0"/>
                </a:cubicBezTo>
                <a:cubicBezTo>
                  <a:pt x="95866" y="0"/>
                  <a:pt x="100000" y="4134"/>
                  <a:pt x="100000" y="9234"/>
                </a:cubicBezTo>
                <a:cubicBezTo>
                  <a:pt x="100000" y="9234"/>
                  <a:pt x="100000" y="9234"/>
                  <a:pt x="100000" y="9234"/>
                </a:cubicBezTo>
                <a:lnTo>
                  <a:pt x="100000" y="9234"/>
                </a:lnTo>
                <a:cubicBezTo>
                  <a:pt x="100000" y="9234"/>
                  <a:pt x="100000" y="9234"/>
                  <a:pt x="100000" y="9234"/>
                </a:cubicBezTo>
                <a:cubicBezTo>
                  <a:pt x="100000" y="14333"/>
                  <a:pt x="95866" y="18467"/>
                  <a:pt x="90766" y="18467"/>
                </a:cubicBezTo>
                <a:cubicBezTo>
                  <a:pt x="90766" y="18467"/>
                  <a:pt x="90766" y="18467"/>
                  <a:pt x="90766" y="18467"/>
                </a:cubicBezTo>
                <a:lnTo>
                  <a:pt x="9234" y="18467"/>
                </a:lnTo>
                <a:cubicBezTo>
                  <a:pt x="9234" y="18467"/>
                  <a:pt x="9234" y="18467"/>
                  <a:pt x="9234" y="18467"/>
                </a:cubicBezTo>
                <a:cubicBezTo>
                  <a:pt x="4134" y="18467"/>
                  <a:pt x="0" y="14333"/>
                  <a:pt x="0" y="9234"/>
                </a:cubicBezTo>
                <a:cubicBezTo>
                  <a:pt x="0" y="9234"/>
                  <a:pt x="0" y="9234"/>
                  <a:pt x="0" y="9234"/>
                </a:cubicBezTo>
                <a:lnTo>
                  <a:pt x="0" y="9234"/>
                </a:lnTo>
                <a:cubicBezTo>
                  <a:pt x="0" y="9234"/>
                  <a:pt x="0" y="9234"/>
                  <a:pt x="0" y="9234"/>
                </a:cubicBezTo>
                <a:cubicBezTo>
                  <a:pt x="0" y="4134"/>
                  <a:pt x="4134" y="0"/>
                  <a:pt x="9234" y="0"/>
                </a:cubicBezTo>
                <a:cubicBezTo>
                  <a:pt x="9234" y="0"/>
                  <a:pt x="9234" y="0"/>
                  <a:pt x="9234" y="0"/>
                </a:cubicBezTo>
                <a:close/>
              </a:path>
            </a:pathLst>
          </a:custGeom>
          <a:solidFill>
            <a:srgbClr val="9CC9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87" name="Rectangle 211"/>
          <p:cNvSpPr/>
          <p:nvPr/>
        </p:nvSpPr>
        <p:spPr>
          <a:xfrm>
            <a:off x="9607296" y="4521200"/>
            <a:ext cx="244348" cy="101600"/>
          </a:xfrm>
          <a:custGeom>
            <a:avLst/>
            <a:gdLst/>
            <a:ahLst/>
            <a:cxnLst/>
            <a:rect l="l" t="t" r="r" b="b"/>
            <a:pathLst>
              <a:path w="100000" h="41580">
                <a:moveTo>
                  <a:pt x="79210" y="0"/>
                </a:moveTo>
                <a:cubicBezTo>
                  <a:pt x="79210" y="0"/>
                  <a:pt x="79210" y="0"/>
                  <a:pt x="79210" y="0"/>
                </a:cubicBezTo>
                <a:cubicBezTo>
                  <a:pt x="90691" y="0"/>
                  <a:pt x="100000" y="9309"/>
                  <a:pt x="100000" y="20790"/>
                </a:cubicBezTo>
                <a:cubicBezTo>
                  <a:pt x="100000" y="20790"/>
                  <a:pt x="100000" y="20790"/>
                  <a:pt x="100000" y="20790"/>
                </a:cubicBezTo>
                <a:lnTo>
                  <a:pt x="100000" y="20790"/>
                </a:lnTo>
                <a:cubicBezTo>
                  <a:pt x="100000" y="20790"/>
                  <a:pt x="100000" y="20790"/>
                  <a:pt x="100000" y="20790"/>
                </a:cubicBezTo>
                <a:cubicBezTo>
                  <a:pt x="100000" y="32271"/>
                  <a:pt x="90691" y="41580"/>
                  <a:pt x="79210" y="41580"/>
                </a:cubicBezTo>
                <a:cubicBezTo>
                  <a:pt x="79210" y="41580"/>
                  <a:pt x="79210" y="41580"/>
                  <a:pt x="79210" y="41580"/>
                </a:cubicBezTo>
                <a:lnTo>
                  <a:pt x="20790" y="41580"/>
                </a:lnTo>
                <a:cubicBezTo>
                  <a:pt x="20790" y="41580"/>
                  <a:pt x="20790" y="41580"/>
                  <a:pt x="20790" y="41580"/>
                </a:cubicBezTo>
                <a:cubicBezTo>
                  <a:pt x="9309" y="41580"/>
                  <a:pt x="0" y="32271"/>
                  <a:pt x="0" y="20790"/>
                </a:cubicBezTo>
                <a:cubicBezTo>
                  <a:pt x="0" y="20790"/>
                  <a:pt x="0" y="20790"/>
                  <a:pt x="0" y="20790"/>
                </a:cubicBezTo>
                <a:lnTo>
                  <a:pt x="0" y="20790"/>
                </a:lnTo>
                <a:cubicBezTo>
                  <a:pt x="0" y="20790"/>
                  <a:pt x="0" y="20790"/>
                  <a:pt x="0" y="20790"/>
                </a:cubicBezTo>
                <a:cubicBezTo>
                  <a:pt x="0" y="9309"/>
                  <a:pt x="9309" y="0"/>
                  <a:pt x="20790" y="0"/>
                </a:cubicBezTo>
                <a:cubicBezTo>
                  <a:pt x="20790" y="0"/>
                  <a:pt x="20790" y="0"/>
                  <a:pt x="20790" y="0"/>
                </a:cubicBez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88" name="Rectangle 212"/>
          <p:cNvSpPr/>
          <p:nvPr/>
        </p:nvSpPr>
        <p:spPr>
          <a:xfrm>
            <a:off x="9869424" y="4521200"/>
            <a:ext cx="69596" cy="101600"/>
          </a:xfrm>
          <a:custGeom>
            <a:avLst/>
            <a:gdLst/>
            <a:ahLst/>
            <a:cxnLst/>
            <a:rect l="l" t="t" r="r" b="b"/>
            <a:pathLst>
              <a:path w="68500" h="100000">
                <a:moveTo>
                  <a:pt x="34250" y="0"/>
                </a:moveTo>
                <a:cubicBezTo>
                  <a:pt x="34250" y="0"/>
                  <a:pt x="34250" y="0"/>
                  <a:pt x="34250" y="0"/>
                </a:cubicBezTo>
                <a:cubicBezTo>
                  <a:pt x="53163" y="0"/>
                  <a:pt x="68500" y="15338"/>
                  <a:pt x="68500" y="34250"/>
                </a:cubicBezTo>
                <a:cubicBezTo>
                  <a:pt x="68500" y="34250"/>
                  <a:pt x="68500" y="34250"/>
                  <a:pt x="68500" y="34250"/>
                </a:cubicBezTo>
                <a:lnTo>
                  <a:pt x="68500" y="65750"/>
                </a:lnTo>
                <a:cubicBezTo>
                  <a:pt x="68500" y="65750"/>
                  <a:pt x="68500" y="65750"/>
                  <a:pt x="68500" y="65750"/>
                </a:cubicBezTo>
                <a:cubicBezTo>
                  <a:pt x="68500" y="84663"/>
                  <a:pt x="53163" y="100000"/>
                  <a:pt x="34250" y="100000"/>
                </a:cubicBezTo>
                <a:cubicBezTo>
                  <a:pt x="34250" y="100000"/>
                  <a:pt x="34250" y="100000"/>
                  <a:pt x="34250" y="100000"/>
                </a:cubicBezTo>
                <a:lnTo>
                  <a:pt x="34250" y="100000"/>
                </a:lnTo>
                <a:cubicBezTo>
                  <a:pt x="34250" y="100000"/>
                  <a:pt x="34250" y="100000"/>
                  <a:pt x="34250" y="100000"/>
                </a:cubicBezTo>
                <a:cubicBezTo>
                  <a:pt x="15338" y="100000"/>
                  <a:pt x="0" y="84663"/>
                  <a:pt x="0" y="65750"/>
                </a:cubicBezTo>
                <a:cubicBezTo>
                  <a:pt x="0" y="65750"/>
                  <a:pt x="0" y="65750"/>
                  <a:pt x="0" y="65750"/>
                </a:cubicBezTo>
                <a:lnTo>
                  <a:pt x="0" y="34250"/>
                </a:lnTo>
                <a:cubicBezTo>
                  <a:pt x="0" y="34250"/>
                  <a:pt x="0" y="34250"/>
                  <a:pt x="0" y="34250"/>
                </a:cubicBezTo>
                <a:cubicBezTo>
                  <a:pt x="0" y="15338"/>
                  <a:pt x="15338" y="0"/>
                  <a:pt x="34250" y="0"/>
                </a:cubicBezTo>
                <a:cubicBezTo>
                  <a:pt x="34250" y="0"/>
                  <a:pt x="34250" y="0"/>
                  <a:pt x="34250" y="0"/>
                </a:cubicBez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89" name="Oval 213"/>
          <p:cNvSpPr/>
          <p:nvPr/>
        </p:nvSpPr>
        <p:spPr>
          <a:xfrm>
            <a:off x="7778750" y="4718050"/>
            <a:ext cx="38100" cy="3810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90" name="TextBox 214"/>
          <p:cNvSpPr txBox="1"/>
          <p:nvPr/>
        </p:nvSpPr>
        <p:spPr>
          <a:xfrm>
            <a:off x="7886700" y="4686300"/>
            <a:ext cx="685800" cy="127000"/>
          </a:xfrm>
          <a:prstGeom prst="rect">
            <a:avLst/>
          </a:prstGeom>
        </p:spPr>
        <p:txBody>
          <a:bodyPr wrap="square" lIns="0" tIns="0" rIns="0" bIns="0">
            <a:noAutofit/>
          </a:bodyPr>
          <a:lstStyle/>
          <a:p>
            <a:pPr>
              <a:lnSpc>
                <a:spcPct val="135000"/>
              </a:lnSpc>
            </a:pPr>
            <a:r>
              <a:rPr sz="450" spc="0">
                <a:solidFill>
                  <a:srgbClr val="67676E"/>
                </a:solidFill>
                <a:latin typeface="Telegraf"/>
              </a:rPr>
              <a:t>positive</a:t>
            </a:r>
            <a:endParaRPr sz="450" spc="0">
              <a:solidFill>
                <a:srgbClr val="67676E"/>
              </a:solidFill>
              <a:latin typeface="Telegraf"/>
            </a:endParaRPr>
          </a:p>
        </p:txBody>
      </p:sp>
      <p:sp>
        <p:nvSpPr>
          <p:cNvPr id="1491" name="TextBox 215"/>
          <p:cNvSpPr txBox="1"/>
          <p:nvPr/>
        </p:nvSpPr>
        <p:spPr>
          <a:xfrm>
            <a:off x="8585200" y="4686300"/>
            <a:ext cx="177800" cy="127000"/>
          </a:xfrm>
          <a:prstGeom prst="rect">
            <a:avLst/>
          </a:prstGeom>
        </p:spPr>
        <p:txBody>
          <a:bodyPr wrap="square" lIns="0" tIns="0" rIns="0" bIns="0">
            <a:noAutofit/>
          </a:bodyPr>
          <a:lstStyle/>
          <a:p>
            <a:pPr algn="r">
              <a:lnSpc>
                <a:spcPct val="135000"/>
              </a:lnSpc>
            </a:pPr>
            <a:r>
              <a:rPr sz="450" spc="0">
                <a:solidFill>
                  <a:srgbClr val="0A0A0A"/>
                </a:solidFill>
                <a:latin typeface="Telegraf"/>
              </a:rPr>
              <a:t>58</a:t>
            </a:r>
            <a:endParaRPr sz="450" spc="0">
              <a:solidFill>
                <a:srgbClr val="0A0A0A"/>
              </a:solidFill>
              <a:latin typeface="Telegraf"/>
            </a:endParaRPr>
          </a:p>
        </p:txBody>
      </p:sp>
      <p:sp>
        <p:nvSpPr>
          <p:cNvPr id="1492" name="Oval 216"/>
          <p:cNvSpPr/>
          <p:nvPr/>
        </p:nvSpPr>
        <p:spPr>
          <a:xfrm>
            <a:off x="8870950" y="4718050"/>
            <a:ext cx="38100" cy="38100"/>
          </a:xfrm>
          <a:prstGeom prst="ellipse">
            <a:avLst/>
          </a:prstGeom>
          <a:solidFill>
            <a:srgbClr val="9CC9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93" name="TextBox 217"/>
          <p:cNvSpPr txBox="1"/>
          <p:nvPr/>
        </p:nvSpPr>
        <p:spPr>
          <a:xfrm>
            <a:off x="8978900" y="4686300"/>
            <a:ext cx="685800" cy="127000"/>
          </a:xfrm>
          <a:prstGeom prst="rect">
            <a:avLst/>
          </a:prstGeom>
        </p:spPr>
        <p:txBody>
          <a:bodyPr wrap="square" lIns="0" tIns="0" rIns="0" bIns="0">
            <a:noAutofit/>
          </a:bodyPr>
          <a:lstStyle/>
          <a:p>
            <a:pPr>
              <a:lnSpc>
                <a:spcPct val="135000"/>
              </a:lnSpc>
            </a:pPr>
            <a:r>
              <a:rPr sz="450" spc="0">
                <a:solidFill>
                  <a:srgbClr val="67676E"/>
                </a:solidFill>
                <a:latin typeface="Telegraf"/>
              </a:rPr>
              <a:t>neutral</a:t>
            </a:r>
            <a:endParaRPr sz="450" spc="0">
              <a:solidFill>
                <a:srgbClr val="67676E"/>
              </a:solidFill>
              <a:latin typeface="Telegraf"/>
            </a:endParaRPr>
          </a:p>
        </p:txBody>
      </p:sp>
      <p:sp>
        <p:nvSpPr>
          <p:cNvPr id="1494" name="TextBox 218"/>
          <p:cNvSpPr txBox="1"/>
          <p:nvPr/>
        </p:nvSpPr>
        <p:spPr>
          <a:xfrm>
            <a:off x="9677400" y="4686300"/>
            <a:ext cx="177800" cy="127000"/>
          </a:xfrm>
          <a:prstGeom prst="rect">
            <a:avLst/>
          </a:prstGeom>
        </p:spPr>
        <p:txBody>
          <a:bodyPr wrap="square" lIns="0" tIns="0" rIns="0" bIns="0">
            <a:noAutofit/>
          </a:bodyPr>
          <a:lstStyle/>
          <a:p>
            <a:pPr algn="r">
              <a:lnSpc>
                <a:spcPct val="135000"/>
              </a:lnSpc>
            </a:pPr>
            <a:r>
              <a:rPr sz="450" spc="0">
                <a:solidFill>
                  <a:srgbClr val="0A0A0A"/>
                </a:solidFill>
                <a:latin typeface="Telegraf"/>
              </a:rPr>
              <a:t>26</a:t>
            </a:r>
            <a:endParaRPr sz="450" spc="0">
              <a:solidFill>
                <a:srgbClr val="0A0A0A"/>
              </a:solidFill>
              <a:latin typeface="Telegraf"/>
            </a:endParaRPr>
          </a:p>
        </p:txBody>
      </p:sp>
      <p:sp>
        <p:nvSpPr>
          <p:cNvPr id="1495" name="Oval 219"/>
          <p:cNvSpPr/>
          <p:nvPr/>
        </p:nvSpPr>
        <p:spPr>
          <a:xfrm>
            <a:off x="7778750" y="4895850"/>
            <a:ext cx="38100" cy="3810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96" name="TextBox 220"/>
          <p:cNvSpPr txBox="1"/>
          <p:nvPr/>
        </p:nvSpPr>
        <p:spPr>
          <a:xfrm>
            <a:off x="7886700" y="4864100"/>
            <a:ext cx="685800" cy="127000"/>
          </a:xfrm>
          <a:prstGeom prst="rect">
            <a:avLst/>
          </a:prstGeom>
        </p:spPr>
        <p:txBody>
          <a:bodyPr wrap="square" lIns="0" tIns="0" rIns="0" bIns="0">
            <a:noAutofit/>
          </a:bodyPr>
          <a:lstStyle/>
          <a:p>
            <a:pPr>
              <a:lnSpc>
                <a:spcPct val="135000"/>
              </a:lnSpc>
            </a:pPr>
            <a:r>
              <a:rPr sz="450" spc="0">
                <a:solidFill>
                  <a:srgbClr val="67676E"/>
                </a:solidFill>
                <a:latin typeface="Telegraf"/>
              </a:rPr>
              <a:t>frustrated</a:t>
            </a:r>
            <a:endParaRPr sz="450" spc="0">
              <a:solidFill>
                <a:srgbClr val="67676E"/>
              </a:solidFill>
              <a:latin typeface="Telegraf"/>
            </a:endParaRPr>
          </a:p>
        </p:txBody>
      </p:sp>
      <p:sp>
        <p:nvSpPr>
          <p:cNvPr id="1497" name="TextBox 221"/>
          <p:cNvSpPr txBox="1"/>
          <p:nvPr/>
        </p:nvSpPr>
        <p:spPr>
          <a:xfrm>
            <a:off x="8585200" y="4864100"/>
            <a:ext cx="177800" cy="127000"/>
          </a:xfrm>
          <a:prstGeom prst="rect">
            <a:avLst/>
          </a:prstGeom>
        </p:spPr>
        <p:txBody>
          <a:bodyPr wrap="square" lIns="0" tIns="0" rIns="0" bIns="0">
            <a:noAutofit/>
          </a:bodyPr>
          <a:lstStyle/>
          <a:p>
            <a:pPr algn="r">
              <a:lnSpc>
                <a:spcPct val="135000"/>
              </a:lnSpc>
            </a:pPr>
            <a:r>
              <a:rPr sz="450" spc="0">
                <a:solidFill>
                  <a:srgbClr val="0A0A0A"/>
                </a:solidFill>
                <a:latin typeface="Telegraf"/>
              </a:rPr>
              <a:t>12</a:t>
            </a:r>
            <a:endParaRPr sz="450" spc="0">
              <a:solidFill>
                <a:srgbClr val="0A0A0A"/>
              </a:solidFill>
              <a:latin typeface="Telegraf"/>
            </a:endParaRPr>
          </a:p>
        </p:txBody>
      </p:sp>
      <p:sp>
        <p:nvSpPr>
          <p:cNvPr id="1498" name="Oval 222"/>
          <p:cNvSpPr/>
          <p:nvPr/>
        </p:nvSpPr>
        <p:spPr>
          <a:xfrm>
            <a:off x="8870950" y="4895850"/>
            <a:ext cx="38100" cy="3810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499" name="TextBox 223"/>
          <p:cNvSpPr txBox="1"/>
          <p:nvPr/>
        </p:nvSpPr>
        <p:spPr>
          <a:xfrm>
            <a:off x="8978900" y="4864100"/>
            <a:ext cx="685800" cy="127000"/>
          </a:xfrm>
          <a:prstGeom prst="rect">
            <a:avLst/>
          </a:prstGeom>
        </p:spPr>
        <p:txBody>
          <a:bodyPr wrap="square" lIns="0" tIns="0" rIns="0" bIns="0">
            <a:noAutofit/>
          </a:bodyPr>
          <a:lstStyle/>
          <a:p>
            <a:pPr>
              <a:lnSpc>
                <a:spcPct val="135000"/>
              </a:lnSpc>
            </a:pPr>
            <a:r>
              <a:rPr sz="450" spc="0">
                <a:solidFill>
                  <a:srgbClr val="67676E"/>
                </a:solidFill>
                <a:latin typeface="Telegraf"/>
              </a:rPr>
              <a:t>distressed</a:t>
            </a:r>
            <a:endParaRPr sz="450" spc="0">
              <a:solidFill>
                <a:srgbClr val="67676E"/>
              </a:solidFill>
              <a:latin typeface="Telegraf"/>
            </a:endParaRPr>
          </a:p>
        </p:txBody>
      </p:sp>
      <p:sp>
        <p:nvSpPr>
          <p:cNvPr id="1500" name="TextBox 224"/>
          <p:cNvSpPr txBox="1"/>
          <p:nvPr/>
        </p:nvSpPr>
        <p:spPr>
          <a:xfrm>
            <a:off x="9677400" y="4864100"/>
            <a:ext cx="177800" cy="127000"/>
          </a:xfrm>
          <a:prstGeom prst="rect">
            <a:avLst/>
          </a:prstGeom>
        </p:spPr>
        <p:txBody>
          <a:bodyPr wrap="square" lIns="0" tIns="0" rIns="0" bIns="0">
            <a:noAutofit/>
          </a:bodyPr>
          <a:lstStyle/>
          <a:p>
            <a:pPr algn="r">
              <a:lnSpc>
                <a:spcPct val="135000"/>
              </a:lnSpc>
            </a:pPr>
            <a:r>
              <a:rPr sz="450" spc="0">
                <a:solidFill>
                  <a:srgbClr val="0A0A0A"/>
                </a:solidFill>
                <a:latin typeface="Telegraf"/>
              </a:rPr>
              <a:t>4</a:t>
            </a:r>
            <a:endParaRPr sz="450" spc="0">
              <a:solidFill>
                <a:srgbClr val="0A0A0A"/>
              </a:solidFill>
              <a:latin typeface="Telegraf"/>
            </a:endParaRPr>
          </a:p>
        </p:txBody>
      </p:sp>
      <p:sp>
        <p:nvSpPr>
          <p:cNvPr id="1501" name="Rectangle 225"/>
          <p:cNvSpPr/>
          <p:nvPr/>
        </p:nvSpPr>
        <p:spPr>
          <a:xfrm>
            <a:off x="7620000" y="5308600"/>
            <a:ext cx="2489200" cy="939800"/>
          </a:xfrm>
          <a:custGeom>
            <a:avLst/>
            <a:gdLst/>
            <a:ahLst/>
            <a:cxnLst/>
            <a:rect l="l" t="t" r="r" b="b"/>
            <a:pathLst>
              <a:path w="100000" h="37755">
                <a:moveTo>
                  <a:pt x="89796" y="0"/>
                </a:moveTo>
                <a:cubicBezTo>
                  <a:pt x="94606" y="0"/>
                  <a:pt x="97011" y="0"/>
                  <a:pt x="98506" y="1494"/>
                </a:cubicBezTo>
                <a:cubicBezTo>
                  <a:pt x="98506" y="1494"/>
                  <a:pt x="98506" y="1494"/>
                  <a:pt x="98506" y="1494"/>
                </a:cubicBezTo>
                <a:cubicBezTo>
                  <a:pt x="100000" y="2989"/>
                  <a:pt x="100000" y="5394"/>
                  <a:pt x="100000" y="10204"/>
                </a:cubicBezTo>
                <a:lnTo>
                  <a:pt x="100000" y="27551"/>
                </a:lnTo>
                <a:cubicBezTo>
                  <a:pt x="100000" y="32361"/>
                  <a:pt x="100000" y="34766"/>
                  <a:pt x="98506" y="36261"/>
                </a:cubicBezTo>
                <a:cubicBezTo>
                  <a:pt x="98506" y="36261"/>
                  <a:pt x="98506" y="36261"/>
                  <a:pt x="98506" y="36261"/>
                </a:cubicBezTo>
                <a:cubicBezTo>
                  <a:pt x="97011" y="37755"/>
                  <a:pt x="94606" y="37755"/>
                  <a:pt x="89796" y="37755"/>
                </a:cubicBezTo>
                <a:lnTo>
                  <a:pt x="10204" y="37755"/>
                </a:lnTo>
                <a:cubicBezTo>
                  <a:pt x="5394" y="37755"/>
                  <a:pt x="2989" y="37755"/>
                  <a:pt x="1494" y="36261"/>
                </a:cubicBezTo>
                <a:cubicBezTo>
                  <a:pt x="1494" y="36261"/>
                  <a:pt x="1494" y="36261"/>
                  <a:pt x="1494" y="36261"/>
                </a:cubicBezTo>
                <a:cubicBezTo>
                  <a:pt x="0" y="34766"/>
                  <a:pt x="0" y="32361"/>
                  <a:pt x="0" y="27551"/>
                </a:cubicBezTo>
                <a:lnTo>
                  <a:pt x="0" y="10204"/>
                </a:lnTo>
                <a:cubicBezTo>
                  <a:pt x="0" y="5394"/>
                  <a:pt x="0" y="2989"/>
                  <a:pt x="1494" y="1494"/>
                </a:cubicBezTo>
                <a:cubicBezTo>
                  <a:pt x="1494" y="1494"/>
                  <a:pt x="1494" y="1494"/>
                  <a:pt x="1494" y="1494"/>
                </a:cubicBezTo>
                <a:cubicBezTo>
                  <a:pt x="2989" y="0"/>
                  <a:pt x="5394" y="0"/>
                  <a:pt x="10204"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02" name="TextBox 226"/>
          <p:cNvSpPr txBox="1"/>
          <p:nvPr/>
        </p:nvSpPr>
        <p:spPr>
          <a:xfrm>
            <a:off x="7772400" y="5435600"/>
            <a:ext cx="2032000" cy="114300"/>
          </a:xfrm>
          <a:prstGeom prst="rect">
            <a:avLst/>
          </a:prstGeom>
        </p:spPr>
        <p:txBody>
          <a:bodyPr wrap="square" lIns="0" tIns="0" rIns="0" bIns="0">
            <a:noAutofit/>
          </a:bodyPr>
          <a:lstStyle/>
          <a:p>
            <a:r>
              <a:rPr sz="440" b="1" spc="100">
                <a:solidFill>
                  <a:srgbClr val="0E6B5F"/>
                </a:solidFill>
                <a:latin typeface="Telegraf"/>
              </a:rPr>
              <a:t>RECURRING THIS WEEK</a:t>
            </a:r>
            <a:endParaRPr sz="440" b="1" spc="100">
              <a:solidFill>
                <a:srgbClr val="0E6B5F"/>
              </a:solidFill>
              <a:latin typeface="Telegraf"/>
            </a:endParaRPr>
          </a:p>
        </p:txBody>
      </p:sp>
      <p:sp>
        <p:nvSpPr>
          <p:cNvPr id="1503" name="TextBox 227"/>
          <p:cNvSpPr txBox="1"/>
          <p:nvPr/>
        </p:nvSpPr>
        <p:spPr>
          <a:xfrm>
            <a:off x="7772400" y="5562600"/>
            <a:ext cx="1524000" cy="279400"/>
          </a:xfrm>
          <a:prstGeom prst="rect">
            <a:avLst/>
          </a:prstGeom>
        </p:spPr>
        <p:txBody>
          <a:bodyPr wrap="square" lIns="0" tIns="0" rIns="0" bIns="0">
            <a:noAutofit/>
          </a:bodyPr>
          <a:lstStyle/>
          <a:p>
            <a:pPr>
              <a:lnSpc>
                <a:spcPct val="135000"/>
              </a:lnSpc>
            </a:pPr>
            <a:r>
              <a:rPr sz="760" b="1" spc="0">
                <a:solidFill>
                  <a:srgbClr val="0A0A0A"/>
                </a:solidFill>
                <a:latin typeface="Telegraf"/>
              </a:rPr>
              <a:t>Refund policy</a:t>
            </a:r>
            <a:endParaRPr sz="760" b="1" spc="0">
              <a:solidFill>
                <a:srgbClr val="0A0A0A"/>
              </a:solidFill>
              <a:latin typeface="Telegraf"/>
            </a:endParaRPr>
          </a:p>
        </p:txBody>
      </p:sp>
      <p:sp>
        <p:nvSpPr>
          <p:cNvPr id="1504" name="TextBox 228"/>
          <p:cNvSpPr txBox="1"/>
          <p:nvPr/>
        </p:nvSpPr>
        <p:spPr>
          <a:xfrm>
            <a:off x="9398000" y="5537200"/>
            <a:ext cx="558800" cy="330200"/>
          </a:xfrm>
          <a:prstGeom prst="rect">
            <a:avLst/>
          </a:prstGeom>
        </p:spPr>
        <p:txBody>
          <a:bodyPr wrap="square" lIns="0" tIns="0" rIns="0" bIns="0">
            <a:noAutofit/>
          </a:bodyPr>
          <a:lstStyle/>
          <a:p>
            <a:pPr algn="r">
              <a:lnSpc>
                <a:spcPct val="102000"/>
              </a:lnSpc>
            </a:pPr>
            <a:r>
              <a:rPr sz="1700" spc="-60">
                <a:solidFill>
                  <a:srgbClr val="0E6B5F"/>
                </a:solidFill>
                <a:latin typeface="PP Editorial New Ultralight"/>
              </a:rPr>
              <a:t>×11</a:t>
            </a:r>
            <a:endParaRPr sz="1700" spc="-60">
              <a:solidFill>
                <a:srgbClr val="0E6B5F"/>
              </a:solidFill>
              <a:latin typeface="PP Editorial New Ultralight"/>
            </a:endParaRPr>
          </a:p>
        </p:txBody>
      </p:sp>
      <p:sp>
        <p:nvSpPr>
          <p:cNvPr id="1505" name="TextBox 229"/>
          <p:cNvSpPr txBox="1"/>
          <p:nvPr/>
        </p:nvSpPr>
        <p:spPr>
          <a:xfrm>
            <a:off x="7772400" y="5816600"/>
            <a:ext cx="2184400" cy="330200"/>
          </a:xfrm>
          <a:prstGeom prst="rect">
            <a:avLst/>
          </a:prstGeom>
        </p:spPr>
        <p:txBody>
          <a:bodyPr wrap="square" lIns="0" tIns="0" rIns="0" bIns="0">
            <a:noAutofit/>
          </a:bodyPr>
          <a:lstStyle/>
          <a:p>
            <a:pPr>
              <a:lnSpc>
                <a:spcPct val="135000"/>
              </a:lnSpc>
            </a:pPr>
            <a:r>
              <a:rPr sz="460" spc="0">
                <a:solidFill>
                  <a:srgbClr val="0E6B5F"/>
                </a:solidFill>
                <a:latin typeface="Telegraf"/>
              </a:rPr>
              <a:t>Same intent, eleven tickets. Grouped by intent and sentiment, not by channel.</a:t>
            </a:r>
            <a:endParaRPr sz="460" spc="0">
              <a:solidFill>
                <a:srgbClr val="0E6B5F"/>
              </a:solidFill>
              <a:latin typeface="Telegraf"/>
            </a:endParaRPr>
          </a:p>
        </p:txBody>
      </p:sp>
      <p:sp>
        <p:nvSpPr>
          <p:cNvPr id="1506" name="Oval 230"/>
          <p:cNvSpPr/>
          <p:nvPr/>
        </p:nvSpPr>
        <p:spPr>
          <a:xfrm>
            <a:off x="574040" y="1285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07" name="Oval 231"/>
          <p:cNvSpPr/>
          <p:nvPr/>
        </p:nvSpPr>
        <p:spPr>
          <a:xfrm>
            <a:off x="598170" y="1309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08" name="TextBox 232"/>
          <p:cNvSpPr txBox="1"/>
          <p:nvPr/>
        </p:nvSpPr>
        <p:spPr>
          <a:xfrm>
            <a:off x="598170" y="1309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1509" name="Oval 233"/>
          <p:cNvSpPr/>
          <p:nvPr/>
        </p:nvSpPr>
        <p:spPr>
          <a:xfrm>
            <a:off x="574040" y="2148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0" name="Oval 234"/>
          <p:cNvSpPr/>
          <p:nvPr/>
        </p:nvSpPr>
        <p:spPr>
          <a:xfrm>
            <a:off x="598170" y="2172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1" name="TextBox 235"/>
          <p:cNvSpPr txBox="1"/>
          <p:nvPr/>
        </p:nvSpPr>
        <p:spPr>
          <a:xfrm>
            <a:off x="598170" y="2172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1512" name="Oval 236"/>
          <p:cNvSpPr/>
          <p:nvPr/>
        </p:nvSpPr>
        <p:spPr>
          <a:xfrm>
            <a:off x="548640" y="2809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3" name="Oval 237"/>
          <p:cNvSpPr/>
          <p:nvPr/>
        </p:nvSpPr>
        <p:spPr>
          <a:xfrm>
            <a:off x="572770" y="2833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4" name="TextBox 238"/>
          <p:cNvSpPr txBox="1"/>
          <p:nvPr/>
        </p:nvSpPr>
        <p:spPr>
          <a:xfrm>
            <a:off x="572770" y="2833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1515" name="Oval 239"/>
          <p:cNvSpPr/>
          <p:nvPr/>
        </p:nvSpPr>
        <p:spPr>
          <a:xfrm>
            <a:off x="7432040" y="2606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6" name="Oval 240"/>
          <p:cNvSpPr/>
          <p:nvPr/>
        </p:nvSpPr>
        <p:spPr>
          <a:xfrm>
            <a:off x="7456170" y="2630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7" name="TextBox 241"/>
          <p:cNvSpPr txBox="1"/>
          <p:nvPr/>
        </p:nvSpPr>
        <p:spPr>
          <a:xfrm>
            <a:off x="7456170" y="2630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1518" name="Rectangle 242"/>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19" name="TextBox 243"/>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11  —  DASHBOARD · QUEUE</a:t>
            </a:r>
            <a:endParaRPr sz="490" b="1" spc="120">
              <a:solidFill>
                <a:srgbClr val="8FE0CE"/>
              </a:solidFill>
              <a:latin typeface="Telegraf"/>
            </a:endParaRPr>
          </a:p>
        </p:txBody>
      </p:sp>
      <p:sp>
        <p:nvSpPr>
          <p:cNvPr id="1520" name="TextBox 244"/>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The queue is</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the product.</a:t>
            </a:r>
            <a:endParaRPr sz="1650" spc="-50">
              <a:solidFill>
                <a:srgbClr val="FFFFFF"/>
              </a:solidFill>
              <a:latin typeface="PP Editorial New Ultralight"/>
            </a:endParaRPr>
          </a:p>
        </p:txBody>
      </p:sp>
      <p:sp>
        <p:nvSpPr>
          <p:cNvPr id="1521" name="Rectangle 245"/>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22" name="TextBox 246"/>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1523" name="TextBox 247"/>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KPI strip</a:t>
            </a:r>
            <a:endParaRPr sz="590" b="1" spc="0">
              <a:solidFill>
                <a:srgbClr val="FFFFFF"/>
              </a:solidFill>
              <a:latin typeface="Telegraf"/>
            </a:endParaRPr>
          </a:p>
        </p:txBody>
      </p:sp>
      <p:sp>
        <p:nvSpPr>
          <p:cNvPr id="1524" name="TextBox 248"/>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Four cards, one dark: the reference's bento, cut to what a triage owner asks.</a:t>
            </a:r>
            <a:endParaRPr sz="550" spc="0">
              <a:solidFill>
                <a:srgbClr val="A8A8A8"/>
              </a:solidFill>
              <a:latin typeface="Telegraf"/>
            </a:endParaRPr>
          </a:p>
        </p:txBody>
      </p:sp>
      <p:sp>
        <p:nvSpPr>
          <p:cNvPr id="1525" name="TextBox 249"/>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1526" name="TextBox 250"/>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Filters</a:t>
            </a:r>
            <a:endParaRPr sz="590" b="1" spc="0">
              <a:solidFill>
                <a:srgbClr val="FFFFFF"/>
              </a:solidFill>
              <a:latin typeface="Telegraf"/>
            </a:endParaRPr>
          </a:p>
        </p:txBody>
      </p:sp>
      <p:sp>
        <p:nvSpPr>
          <p:cNvPr id="1527" name="TextBox 251"/>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Status chips carry live counts; the count is the only number in the chip.</a:t>
            </a:r>
            <a:endParaRPr sz="550" spc="0">
              <a:solidFill>
                <a:srgbClr val="A8A8A8"/>
              </a:solidFill>
              <a:latin typeface="Telegraf"/>
            </a:endParaRPr>
          </a:p>
        </p:txBody>
      </p:sp>
      <p:sp>
        <p:nvSpPr>
          <p:cNvPr id="1528" name="TextBox 252"/>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1529" name="TextBox 253"/>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Row</a:t>
            </a:r>
            <a:endParaRPr sz="590" b="1" spc="0">
              <a:solidFill>
                <a:srgbClr val="FFFFFF"/>
              </a:solidFill>
              <a:latin typeface="Telegraf"/>
            </a:endParaRPr>
          </a:p>
        </p:txBody>
      </p:sp>
      <p:sp>
        <p:nvSpPr>
          <p:cNvPr id="1530" name="TextBox 254"/>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One repeating unit, 36pt tall: channel, name, intent, confidence, state, wait.</a:t>
            </a:r>
            <a:endParaRPr sz="550" spc="0">
              <a:solidFill>
                <a:srgbClr val="A8A8A8"/>
              </a:solidFill>
              <a:latin typeface="Telegraf"/>
            </a:endParaRPr>
          </a:p>
        </p:txBody>
      </p:sp>
      <p:sp>
        <p:nvSpPr>
          <p:cNvPr id="1531" name="TextBox 255"/>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1532" name="TextBox 256"/>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Mix &amp; mood</a:t>
            </a:r>
            <a:endParaRPr sz="590" b="1" spc="0">
              <a:solidFill>
                <a:srgbClr val="FFFFFF"/>
              </a:solidFill>
              <a:latin typeface="Telegraf"/>
            </a:endParaRPr>
          </a:p>
        </p:txBody>
      </p:sp>
      <p:sp>
        <p:nvSpPr>
          <p:cNvPr id="1533" name="TextBox 257"/>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Routing mix, weekly sentiment and the recurring complaint in one column.</a:t>
            </a:r>
            <a:endParaRPr sz="550" spc="0">
              <a:solidFill>
                <a:srgbClr val="A8A8A8"/>
              </a:solidFill>
              <a:latin typeface="Telegraf"/>
            </a:endParaRPr>
          </a:p>
        </p:txBody>
      </p:sp>
      <p:sp>
        <p:nvSpPr>
          <p:cNvPr id="1534" name="TextBox 258"/>
          <p:cNvSpPr txBox="1"/>
          <p:nvPr/>
        </p:nvSpPr>
        <p:spPr>
          <a:xfrm>
            <a:off x="10490200" y="3632200"/>
            <a:ext cx="1397000" cy="101600"/>
          </a:xfrm>
          <a:prstGeom prst="rect">
            <a:avLst/>
          </a:prstGeom>
        </p:spPr>
        <p:txBody>
          <a:bodyPr wrap="square" lIns="0" tIns="0" rIns="0" bIns="0">
            <a:noAutofit/>
          </a:bodyPr>
          <a:lstStyle/>
          <a:p>
            <a:r>
              <a:rPr sz="450" b="1" spc="110">
                <a:solidFill>
                  <a:srgbClr val="8FE0CE"/>
                </a:solidFill>
                <a:latin typeface="Telegraf"/>
              </a:rPr>
              <a:t>STATES</a:t>
            </a:r>
            <a:endParaRPr sz="450" b="1" spc="110">
              <a:solidFill>
                <a:srgbClr val="8FE0CE"/>
              </a:solidFill>
              <a:latin typeface="Telegraf"/>
            </a:endParaRPr>
          </a:p>
        </p:txBody>
      </p:sp>
      <p:sp>
        <p:nvSpPr>
          <p:cNvPr id="1535" name="TextBox 259"/>
          <p:cNvSpPr txBox="1"/>
          <p:nvPr/>
        </p:nvSpPr>
        <p:spPr>
          <a:xfrm>
            <a:off x="10490200" y="3746500"/>
            <a:ext cx="1549400" cy="584200"/>
          </a:xfrm>
          <a:prstGeom prst="rect">
            <a:avLst/>
          </a:prstGeom>
        </p:spPr>
        <p:txBody>
          <a:bodyPr wrap="square" lIns="0" tIns="0" rIns="0" bIns="0">
            <a:noAutofit/>
          </a:bodyPr>
          <a:lstStyle/>
          <a:p>
            <a:pPr>
              <a:lnSpc>
                <a:spcPct val="140000"/>
              </a:lnSpc>
            </a:pPr>
            <a:r>
              <a:rPr sz="540" spc="0">
                <a:solidFill>
                  <a:srgbClr val="CFCFCF"/>
                </a:solidFill>
                <a:latin typeface="Telegraf"/>
              </a:rPr>
              <a:t>all · new · triaged · replied · escalated · closed · row selected · empty</a:t>
            </a:r>
            <a:endParaRPr sz="540" spc="0">
              <a:solidFill>
                <a:srgbClr val="CFCFCF"/>
              </a:solidFill>
              <a:latin typeface="Telegraf"/>
            </a:endParaRPr>
          </a:p>
        </p:txBody>
      </p:sp>
      <p:sp>
        <p:nvSpPr>
          <p:cNvPr id="1536" name="TextBox 260"/>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1537" name="TextBox 261"/>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/dashboard?tab=queue</a:t>
            </a:r>
            <a:endParaRPr sz="560" spc="0">
              <a:solidFill>
                <a:srgbClr val="FFFFFF"/>
              </a:solidFill>
              <a:latin typeface="Telegraf"/>
            </a:endParaRPr>
          </a:p>
        </p:txBody>
      </p:sp>
      <p:sp>
        <p:nvSpPr>
          <p:cNvPr id="1538" name="TextBox 262"/>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1539" name="TextBox 263"/>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components/dashboard/LiveQueuePanel.tsx; TicketRow.tsx; DecisionMix.tsx</a:t>
            </a:r>
            <a:endParaRPr sz="530" spc="0">
              <a:solidFill>
                <a:srgbClr val="CFCFCF"/>
              </a:solidFill>
              <a:latin typeface="Telegraf"/>
            </a:endParaRPr>
          </a:p>
        </p:txBody>
      </p:sp>
      <p:sp>
        <p:nvSpPr>
          <p:cNvPr id="1540" name="Rectangle 264"/>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41" name="TextBox 265"/>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3" name="Rectangle 1"/>
          <p:cNvSpPr/>
          <p:nvPr/>
        </p:nvSpPr>
        <p:spPr>
          <a:xfrm>
            <a:off x="0" y="0"/>
            <a:ext cx="558800" cy="685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44" name="Rectangle 2"/>
          <p:cNvSpPr/>
          <p:nvPr/>
        </p:nvSpPr>
        <p:spPr>
          <a:xfrm>
            <a:off x="548640" y="0"/>
            <a:ext cx="11430" cy="68580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45" name="Rectangle 3"/>
          <p:cNvSpPr/>
          <p:nvPr/>
        </p:nvSpPr>
        <p:spPr>
          <a:xfrm>
            <a:off x="152400" y="152400"/>
            <a:ext cx="254000" cy="254000"/>
          </a:xfrm>
          <a:custGeom>
            <a:avLst/>
            <a:gdLst/>
            <a:ahLst/>
            <a:cxnLst/>
            <a:rect l="l" t="t" r="r" b="b"/>
            <a:pathLst>
              <a:path w="100000" h="100000">
                <a:moveTo>
                  <a:pt x="50000" y="0"/>
                </a:moveTo>
                <a:cubicBezTo>
                  <a:pt x="66790" y="0"/>
                  <a:pt x="75185" y="0"/>
                  <a:pt x="81680" y="3070"/>
                </a:cubicBezTo>
                <a:cubicBezTo>
                  <a:pt x="88375" y="6240"/>
                  <a:pt x="93760" y="11625"/>
                  <a:pt x="96930" y="18320"/>
                </a:cubicBezTo>
                <a:cubicBezTo>
                  <a:pt x="100000" y="24815"/>
                  <a:pt x="100000" y="33210"/>
                  <a:pt x="100000" y="50000"/>
                </a:cubicBezTo>
                <a:lnTo>
                  <a:pt x="100000" y="50000"/>
                </a:lnTo>
                <a:cubicBezTo>
                  <a:pt x="100000" y="66790"/>
                  <a:pt x="100000" y="75185"/>
                  <a:pt x="96930" y="81680"/>
                </a:cubicBezTo>
                <a:cubicBezTo>
                  <a:pt x="93760" y="88375"/>
                  <a:pt x="88375" y="93760"/>
                  <a:pt x="81680" y="96930"/>
                </a:cubicBezTo>
                <a:cubicBezTo>
                  <a:pt x="75185" y="100000"/>
                  <a:pt x="66790" y="100000"/>
                  <a:pt x="50000" y="100000"/>
                </a:cubicBezTo>
                <a:lnTo>
                  <a:pt x="50000" y="100000"/>
                </a:lnTo>
                <a:cubicBezTo>
                  <a:pt x="33210" y="100000"/>
                  <a:pt x="24815" y="100000"/>
                  <a:pt x="18320" y="96930"/>
                </a:cubicBezTo>
                <a:cubicBezTo>
                  <a:pt x="11625" y="93760"/>
                  <a:pt x="6240" y="88375"/>
                  <a:pt x="3070" y="81680"/>
                </a:cubicBezTo>
                <a:cubicBezTo>
                  <a:pt x="0" y="75185"/>
                  <a:pt x="0" y="66790"/>
                  <a:pt x="0" y="50000"/>
                </a:cubicBezTo>
                <a:lnTo>
                  <a:pt x="0" y="50000"/>
                </a:lnTo>
                <a:cubicBezTo>
                  <a:pt x="0" y="33210"/>
                  <a:pt x="0" y="24815"/>
                  <a:pt x="3070" y="18320"/>
                </a:cubicBezTo>
                <a:cubicBezTo>
                  <a:pt x="6240" y="11625"/>
                  <a:pt x="11625" y="6240"/>
                  <a:pt x="18320" y="3070"/>
                </a:cubicBezTo>
                <a:cubicBezTo>
                  <a:pt x="24815" y="0"/>
                  <a:pt x="33210" y="0"/>
                  <a:pt x="5000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46" name="TextBox 4"/>
          <p:cNvSpPr txBox="1"/>
          <p:nvPr/>
        </p:nvSpPr>
        <p:spPr>
          <a:xfrm>
            <a:off x="152400" y="152400"/>
            <a:ext cx="254000" cy="254000"/>
          </a:xfrm>
          <a:prstGeom prst="rect">
            <a:avLst/>
          </a:prstGeom>
        </p:spPr>
        <p:txBody>
          <a:bodyPr wrap="square" lIns="0" tIns="0" rIns="0" bIns="0" anchor="ctr">
            <a:noAutofit/>
          </a:bodyPr>
          <a:lstStyle/>
          <a:p>
            <a:pPr algn="ctr">
              <a:lnSpc>
                <a:spcPct val="102000"/>
              </a:lnSpc>
            </a:pPr>
            <a:r>
              <a:rPr sz="1150" spc="-90">
                <a:solidFill>
                  <a:srgbClr val="8FE0CE"/>
                </a:solidFill>
                <a:latin typeface="PP Editorial New Ultralight"/>
              </a:rPr>
              <a:t>a</a:t>
            </a:r>
            <a:endParaRPr sz="1150" spc="-90">
              <a:solidFill>
                <a:srgbClr val="8FE0CE"/>
              </a:solidFill>
              <a:latin typeface="PP Editorial New Ultralight"/>
            </a:endParaRPr>
          </a:p>
        </p:txBody>
      </p:sp>
      <p:sp>
        <p:nvSpPr>
          <p:cNvPr id="1547" name="Rectangle 5"/>
          <p:cNvSpPr/>
          <p:nvPr/>
        </p:nvSpPr>
        <p:spPr>
          <a:xfrm>
            <a:off x="88900" y="622300"/>
            <a:ext cx="381000" cy="330200"/>
          </a:xfrm>
          <a:custGeom>
            <a:avLst/>
            <a:gdLst/>
            <a:ahLst/>
            <a:cxnLst/>
            <a:rect l="l" t="t" r="r" b="b"/>
            <a:pathLst>
              <a:path w="100000" h="86667">
                <a:moveTo>
                  <a:pt x="56667" y="0"/>
                </a:moveTo>
                <a:cubicBezTo>
                  <a:pt x="69083" y="0"/>
                  <a:pt x="75290" y="0"/>
                  <a:pt x="80260" y="1810"/>
                </a:cubicBezTo>
                <a:cubicBezTo>
                  <a:pt x="88593" y="4843"/>
                  <a:pt x="95157" y="11407"/>
                  <a:pt x="98190" y="19740"/>
                </a:cubicBezTo>
                <a:cubicBezTo>
                  <a:pt x="100000" y="24710"/>
                  <a:pt x="100000" y="30917"/>
                  <a:pt x="100000" y="43333"/>
                </a:cubicBezTo>
                <a:lnTo>
                  <a:pt x="100000" y="43333"/>
                </a:lnTo>
                <a:cubicBezTo>
                  <a:pt x="100000" y="55750"/>
                  <a:pt x="100000" y="61957"/>
                  <a:pt x="98190" y="66927"/>
                </a:cubicBezTo>
                <a:cubicBezTo>
                  <a:pt x="95157" y="75260"/>
                  <a:pt x="88593" y="81823"/>
                  <a:pt x="80260" y="84857"/>
                </a:cubicBezTo>
                <a:cubicBezTo>
                  <a:pt x="75290" y="86667"/>
                  <a:pt x="69083" y="86667"/>
                  <a:pt x="56667" y="86667"/>
                </a:cubicBezTo>
                <a:lnTo>
                  <a:pt x="43333" y="86667"/>
                </a:lnTo>
                <a:cubicBezTo>
                  <a:pt x="30917" y="86667"/>
                  <a:pt x="24710" y="86667"/>
                  <a:pt x="19740" y="84857"/>
                </a:cubicBezTo>
                <a:cubicBezTo>
                  <a:pt x="11407" y="81823"/>
                  <a:pt x="4843" y="75260"/>
                  <a:pt x="1810" y="66927"/>
                </a:cubicBezTo>
                <a:cubicBezTo>
                  <a:pt x="0" y="61957"/>
                  <a:pt x="0" y="55750"/>
                  <a:pt x="0" y="43333"/>
                </a:cubicBezTo>
                <a:lnTo>
                  <a:pt x="0" y="43333"/>
                </a:lnTo>
                <a:cubicBezTo>
                  <a:pt x="0" y="30917"/>
                  <a:pt x="0" y="24710"/>
                  <a:pt x="1810" y="19740"/>
                </a:cubicBezTo>
                <a:cubicBezTo>
                  <a:pt x="4843" y="11407"/>
                  <a:pt x="11407" y="4843"/>
                  <a:pt x="19740" y="1810"/>
                </a:cubicBezTo>
                <a:cubicBezTo>
                  <a:pt x="24710" y="0"/>
                  <a:pt x="30917" y="0"/>
                  <a:pt x="4333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48" name="Rectangle 6"/>
          <p:cNvSpPr/>
          <p:nvPr/>
        </p:nvSpPr>
        <p:spPr>
          <a:xfrm>
            <a:off x="0" y="685800"/>
            <a:ext cx="25400" cy="203200"/>
          </a:xfrm>
          <a:custGeom>
            <a:avLst/>
            <a:gdLst/>
            <a:ahLst/>
            <a:cxnLst/>
            <a:rect l="l" t="t" r="r" b="b"/>
            <a:pathLst>
              <a:path w="12500" h="100000">
                <a:moveTo>
                  <a:pt x="6250" y="0"/>
                </a:moveTo>
                <a:cubicBezTo>
                  <a:pt x="6250" y="0"/>
                  <a:pt x="6250" y="0"/>
                  <a:pt x="6250" y="0"/>
                </a:cubicBezTo>
                <a:cubicBezTo>
                  <a:pt x="9700" y="0"/>
                  <a:pt x="12500" y="2800"/>
                  <a:pt x="12500" y="6250"/>
                </a:cubicBezTo>
                <a:cubicBezTo>
                  <a:pt x="12500" y="6250"/>
                  <a:pt x="12500" y="6250"/>
                  <a:pt x="12500" y="6250"/>
                </a:cubicBezTo>
                <a:lnTo>
                  <a:pt x="12500" y="93750"/>
                </a:lnTo>
                <a:cubicBezTo>
                  <a:pt x="12500" y="93750"/>
                  <a:pt x="12500" y="93750"/>
                  <a:pt x="12500" y="93750"/>
                </a:cubicBezTo>
                <a:cubicBezTo>
                  <a:pt x="12500" y="97200"/>
                  <a:pt x="9700" y="100000"/>
                  <a:pt x="6250" y="100000"/>
                </a:cubicBezTo>
                <a:cubicBezTo>
                  <a:pt x="6250" y="100000"/>
                  <a:pt x="6250" y="100000"/>
                  <a:pt x="6250" y="100000"/>
                </a:cubicBezTo>
                <a:lnTo>
                  <a:pt x="6250" y="100000"/>
                </a:lnTo>
                <a:cubicBezTo>
                  <a:pt x="6250" y="100000"/>
                  <a:pt x="6250" y="100000"/>
                  <a:pt x="6250" y="100000"/>
                </a:cubicBezTo>
                <a:cubicBezTo>
                  <a:pt x="2800" y="100000"/>
                  <a:pt x="0" y="97200"/>
                  <a:pt x="0" y="93750"/>
                </a:cubicBezTo>
                <a:cubicBezTo>
                  <a:pt x="0" y="93750"/>
                  <a:pt x="0" y="93750"/>
                  <a:pt x="0" y="93750"/>
                </a:cubicBezTo>
                <a:lnTo>
                  <a:pt x="0" y="6250"/>
                </a:lnTo>
                <a:cubicBezTo>
                  <a:pt x="0" y="6250"/>
                  <a:pt x="0" y="6250"/>
                  <a:pt x="0" y="6250"/>
                </a:cubicBezTo>
                <a:cubicBezTo>
                  <a:pt x="0" y="2800"/>
                  <a:pt x="2800" y="0"/>
                  <a:pt x="6250" y="0"/>
                </a:cubicBezTo>
                <a:cubicBezTo>
                  <a:pt x="6250" y="0"/>
                  <a:pt x="6250" y="0"/>
                  <a:pt x="6250"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49" name="Rectangle 7"/>
          <p:cNvSpPr/>
          <p:nvPr/>
        </p:nvSpPr>
        <p:spPr>
          <a:xfrm>
            <a:off x="210820" y="728980"/>
            <a:ext cx="137160" cy="24130"/>
          </a:xfrm>
          <a:custGeom>
            <a:avLst/>
            <a:gdLst/>
            <a:ahLst/>
            <a:cxnLst/>
            <a:rect l="l" t="t" r="r" b="b"/>
            <a:pathLst>
              <a:path w="100000" h="17593">
                <a:moveTo>
                  <a:pt x="91204" y="0"/>
                </a:moveTo>
                <a:cubicBezTo>
                  <a:pt x="91204" y="0"/>
                  <a:pt x="91204" y="0"/>
                  <a:pt x="91204" y="0"/>
                </a:cubicBezTo>
                <a:cubicBezTo>
                  <a:pt x="96065" y="0"/>
                  <a:pt x="100000" y="3935"/>
                  <a:pt x="100000" y="8796"/>
                </a:cubicBezTo>
                <a:cubicBezTo>
                  <a:pt x="100000" y="8796"/>
                  <a:pt x="100000" y="8796"/>
                  <a:pt x="100000" y="8796"/>
                </a:cubicBezTo>
                <a:lnTo>
                  <a:pt x="100000" y="8796"/>
                </a:lnTo>
                <a:cubicBezTo>
                  <a:pt x="100000" y="8796"/>
                  <a:pt x="100000" y="8796"/>
                  <a:pt x="100000" y="8796"/>
                </a:cubicBezTo>
                <a:cubicBezTo>
                  <a:pt x="100000" y="13657"/>
                  <a:pt x="96065" y="17593"/>
                  <a:pt x="91204" y="17593"/>
                </a:cubicBezTo>
                <a:cubicBezTo>
                  <a:pt x="91204" y="17593"/>
                  <a:pt x="91204" y="17593"/>
                  <a:pt x="91204" y="17593"/>
                </a:cubicBezTo>
                <a:lnTo>
                  <a:pt x="8796" y="17593"/>
                </a:lnTo>
                <a:cubicBezTo>
                  <a:pt x="8796" y="17593"/>
                  <a:pt x="8796" y="17593"/>
                  <a:pt x="8796" y="17593"/>
                </a:cubicBezTo>
                <a:cubicBezTo>
                  <a:pt x="3935" y="17593"/>
                  <a:pt x="0" y="13657"/>
                  <a:pt x="0" y="8796"/>
                </a:cubicBezTo>
                <a:cubicBezTo>
                  <a:pt x="0" y="8796"/>
                  <a:pt x="0" y="8796"/>
                  <a:pt x="0" y="8796"/>
                </a:cubicBezTo>
                <a:lnTo>
                  <a:pt x="0" y="8796"/>
                </a:lnTo>
                <a:cubicBezTo>
                  <a:pt x="0" y="8796"/>
                  <a:pt x="0" y="8796"/>
                  <a:pt x="0" y="8796"/>
                </a:cubicBezTo>
                <a:cubicBezTo>
                  <a:pt x="0" y="3935"/>
                  <a:pt x="3935" y="0"/>
                  <a:pt x="8796" y="0"/>
                </a:cubicBezTo>
                <a:cubicBezTo>
                  <a:pt x="8796" y="0"/>
                  <a:pt x="8796" y="0"/>
                  <a:pt x="8796"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0" name="Rectangle 8"/>
          <p:cNvSpPr/>
          <p:nvPr/>
        </p:nvSpPr>
        <p:spPr>
          <a:xfrm>
            <a:off x="210820" y="778510"/>
            <a:ext cx="104140" cy="24130"/>
          </a:xfrm>
          <a:custGeom>
            <a:avLst/>
            <a:gdLst/>
            <a:ahLst/>
            <a:cxnLst/>
            <a:rect l="l" t="t" r="r" b="b"/>
            <a:pathLst>
              <a:path w="100000" h="23171">
                <a:moveTo>
                  <a:pt x="88415" y="0"/>
                </a:moveTo>
                <a:cubicBezTo>
                  <a:pt x="88415" y="0"/>
                  <a:pt x="88415" y="0"/>
                  <a:pt x="88415" y="0"/>
                </a:cubicBezTo>
                <a:cubicBezTo>
                  <a:pt x="94817" y="0"/>
                  <a:pt x="100000" y="5183"/>
                  <a:pt x="100000" y="11585"/>
                </a:cubicBezTo>
                <a:cubicBezTo>
                  <a:pt x="100000" y="11585"/>
                  <a:pt x="100000" y="11585"/>
                  <a:pt x="100000" y="11585"/>
                </a:cubicBezTo>
                <a:lnTo>
                  <a:pt x="100000" y="11585"/>
                </a:lnTo>
                <a:cubicBezTo>
                  <a:pt x="100000" y="11585"/>
                  <a:pt x="100000" y="11585"/>
                  <a:pt x="100000" y="11585"/>
                </a:cubicBezTo>
                <a:cubicBezTo>
                  <a:pt x="100000" y="17988"/>
                  <a:pt x="94817" y="23171"/>
                  <a:pt x="88415" y="23171"/>
                </a:cubicBezTo>
                <a:cubicBezTo>
                  <a:pt x="88415" y="23171"/>
                  <a:pt x="88415" y="23171"/>
                  <a:pt x="88415" y="23171"/>
                </a:cubicBezTo>
                <a:lnTo>
                  <a:pt x="11585" y="23171"/>
                </a:lnTo>
                <a:cubicBezTo>
                  <a:pt x="11585" y="23171"/>
                  <a:pt x="11585" y="23171"/>
                  <a:pt x="11585" y="23171"/>
                </a:cubicBezTo>
                <a:cubicBezTo>
                  <a:pt x="5183" y="23171"/>
                  <a:pt x="0" y="17988"/>
                  <a:pt x="0" y="11585"/>
                </a:cubicBezTo>
                <a:cubicBezTo>
                  <a:pt x="0" y="11585"/>
                  <a:pt x="0" y="11585"/>
                  <a:pt x="0" y="11585"/>
                </a:cubicBezTo>
                <a:lnTo>
                  <a:pt x="0" y="11585"/>
                </a:lnTo>
                <a:cubicBezTo>
                  <a:pt x="0" y="11585"/>
                  <a:pt x="0" y="11585"/>
                  <a:pt x="0" y="11585"/>
                </a:cubicBezTo>
                <a:cubicBezTo>
                  <a:pt x="0" y="5183"/>
                  <a:pt x="5183" y="0"/>
                  <a:pt x="11585" y="0"/>
                </a:cubicBezTo>
                <a:cubicBezTo>
                  <a:pt x="11585" y="0"/>
                  <a:pt x="11585" y="0"/>
                  <a:pt x="11585"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1" name="Rectangle 9"/>
          <p:cNvSpPr/>
          <p:nvPr/>
        </p:nvSpPr>
        <p:spPr>
          <a:xfrm>
            <a:off x="210820" y="828040"/>
            <a:ext cx="71120" cy="24130"/>
          </a:xfrm>
          <a:custGeom>
            <a:avLst/>
            <a:gdLst/>
            <a:ahLst/>
            <a:cxnLst/>
            <a:rect l="l" t="t" r="r" b="b"/>
            <a:pathLst>
              <a:path w="100000" h="33929">
                <a:moveTo>
                  <a:pt x="83036" y="0"/>
                </a:moveTo>
                <a:cubicBezTo>
                  <a:pt x="83036" y="0"/>
                  <a:pt x="83036" y="0"/>
                  <a:pt x="83036" y="0"/>
                </a:cubicBezTo>
                <a:cubicBezTo>
                  <a:pt x="92411" y="0"/>
                  <a:pt x="100000" y="7589"/>
                  <a:pt x="100000" y="16964"/>
                </a:cubicBezTo>
                <a:cubicBezTo>
                  <a:pt x="100000" y="16964"/>
                  <a:pt x="100000" y="16964"/>
                  <a:pt x="100000" y="16964"/>
                </a:cubicBezTo>
                <a:lnTo>
                  <a:pt x="100000" y="16964"/>
                </a:lnTo>
                <a:cubicBezTo>
                  <a:pt x="100000" y="16964"/>
                  <a:pt x="100000" y="16964"/>
                  <a:pt x="100000" y="16964"/>
                </a:cubicBezTo>
                <a:cubicBezTo>
                  <a:pt x="100000" y="26339"/>
                  <a:pt x="92411" y="33929"/>
                  <a:pt x="83036" y="33929"/>
                </a:cubicBezTo>
                <a:cubicBezTo>
                  <a:pt x="83036" y="33929"/>
                  <a:pt x="83036" y="33929"/>
                  <a:pt x="83036" y="33929"/>
                </a:cubicBezTo>
                <a:lnTo>
                  <a:pt x="16964" y="33929"/>
                </a:lnTo>
                <a:cubicBezTo>
                  <a:pt x="16964" y="33929"/>
                  <a:pt x="16964" y="33929"/>
                  <a:pt x="16964" y="33929"/>
                </a:cubicBezTo>
                <a:cubicBezTo>
                  <a:pt x="7589" y="33929"/>
                  <a:pt x="0" y="26339"/>
                  <a:pt x="0" y="16964"/>
                </a:cubicBezTo>
                <a:cubicBezTo>
                  <a:pt x="0" y="16964"/>
                  <a:pt x="0" y="16964"/>
                  <a:pt x="0" y="16964"/>
                </a:cubicBezTo>
                <a:lnTo>
                  <a:pt x="0" y="16964"/>
                </a:lnTo>
                <a:cubicBezTo>
                  <a:pt x="0" y="16964"/>
                  <a:pt x="0" y="16964"/>
                  <a:pt x="0" y="16964"/>
                </a:cubicBezTo>
                <a:cubicBezTo>
                  <a:pt x="0" y="7589"/>
                  <a:pt x="7589" y="0"/>
                  <a:pt x="16964" y="0"/>
                </a:cubicBezTo>
                <a:cubicBezTo>
                  <a:pt x="16964" y="0"/>
                  <a:pt x="16964" y="0"/>
                  <a:pt x="16964"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2" name="Oval 10"/>
          <p:cNvSpPr/>
          <p:nvPr/>
        </p:nvSpPr>
        <p:spPr>
          <a:xfrm>
            <a:off x="261874" y="1118743"/>
            <a:ext cx="35052" cy="35052"/>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3" name="Rectangle 11"/>
          <p:cNvSpPr/>
          <p:nvPr/>
        </p:nvSpPr>
        <p:spPr>
          <a:xfrm>
            <a:off x="273685" y="11614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4" name="Rectangle 12"/>
          <p:cNvSpPr/>
          <p:nvPr/>
        </p:nvSpPr>
        <p:spPr>
          <a:xfrm>
            <a:off x="240792" y="11929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5" name="Oval 13"/>
          <p:cNvSpPr/>
          <p:nvPr/>
        </p:nvSpPr>
        <p:spPr>
          <a:xfrm>
            <a:off x="21463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6" name="Oval 14"/>
          <p:cNvSpPr/>
          <p:nvPr/>
        </p:nvSpPr>
        <p:spPr>
          <a:xfrm>
            <a:off x="29337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7" name="Oval 15"/>
          <p:cNvSpPr/>
          <p:nvPr/>
        </p:nvSpPr>
        <p:spPr>
          <a:xfrm>
            <a:off x="254000" y="155829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58" name="Freeform 1558"/>
          <p:cNvSpPr/>
          <p:nvPr/>
        </p:nvSpPr>
        <p:spPr>
          <a:xfrm>
            <a:off x="251460" y="1537970"/>
            <a:ext cx="22860" cy="30480"/>
          </a:xfrm>
          <a:custGeom>
            <a:avLst/>
            <a:gdLst/>
            <a:ahLst/>
            <a:cxnLst/>
            <a:rect l="l" t="t" r="r" b="b"/>
            <a:pathLst>
              <a:path w="75000" h="100000" fill="none">
                <a:moveTo>
                  <a:pt x="0" y="0"/>
                </a:moveTo>
                <a:lnTo>
                  <a:pt x="7500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559" name="Freeform 1559"/>
          <p:cNvSpPr/>
          <p:nvPr/>
        </p:nvSpPr>
        <p:spPr>
          <a:xfrm>
            <a:off x="284480" y="1537970"/>
            <a:ext cx="22860" cy="30480"/>
          </a:xfrm>
          <a:custGeom>
            <a:avLst/>
            <a:gdLst/>
            <a:ahLst/>
            <a:cxnLst/>
            <a:rect l="l" t="t" r="r" b="b"/>
            <a:pathLst>
              <a:path w="75000" h="100000" fill="none">
                <a:moveTo>
                  <a:pt x="75000" y="0"/>
                </a:moveTo>
                <a:lnTo>
                  <a:pt x="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560" name="Rectangle 18"/>
          <p:cNvSpPr/>
          <p:nvPr/>
        </p:nvSpPr>
        <p:spPr>
          <a:xfrm>
            <a:off x="21209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1" name="Rectangle 19"/>
          <p:cNvSpPr/>
          <p:nvPr/>
        </p:nvSpPr>
        <p:spPr>
          <a:xfrm>
            <a:off x="28575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2" name="Rectangle 20"/>
          <p:cNvSpPr/>
          <p:nvPr/>
        </p:nvSpPr>
        <p:spPr>
          <a:xfrm>
            <a:off x="212090" y="193675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3" name="Rectangle 21"/>
          <p:cNvSpPr/>
          <p:nvPr/>
        </p:nvSpPr>
        <p:spPr>
          <a:xfrm>
            <a:off x="234696" y="6308979"/>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4" name="Rectangle 22"/>
          <p:cNvSpPr/>
          <p:nvPr/>
        </p:nvSpPr>
        <p:spPr>
          <a:xfrm>
            <a:off x="234696" y="6343650"/>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5" name="Oval 23"/>
          <p:cNvSpPr/>
          <p:nvPr/>
        </p:nvSpPr>
        <p:spPr>
          <a:xfrm>
            <a:off x="171450" y="64960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6" name="TextBox 24"/>
          <p:cNvSpPr txBox="1"/>
          <p:nvPr/>
        </p:nvSpPr>
        <p:spPr>
          <a:xfrm>
            <a:off x="171450" y="6496050"/>
            <a:ext cx="215900" cy="215900"/>
          </a:xfrm>
          <a:prstGeom prst="rect">
            <a:avLst/>
          </a:prstGeom>
        </p:spPr>
        <p:txBody>
          <a:bodyPr wrap="square" lIns="0" tIns="0" rIns="0" bIns="0" anchor="ctr">
            <a:noAutofit/>
          </a:bodyPr>
          <a:lstStyle/>
          <a:p>
            <a:pPr algn="ctr">
              <a:lnSpc>
                <a:spcPct val="135000"/>
              </a:lnSpc>
            </a:pPr>
            <a:r>
              <a:rPr sz="460" b="1" spc="0">
                <a:solidFill>
                  <a:srgbClr val="67676E"/>
                </a:solidFill>
                <a:latin typeface="Telegraf"/>
              </a:rPr>
              <a:t>PN</a:t>
            </a:r>
            <a:endParaRPr sz="460" b="1" spc="0">
              <a:solidFill>
                <a:srgbClr val="67676E"/>
              </a:solidFill>
              <a:latin typeface="Telegraf"/>
            </a:endParaRPr>
          </a:p>
        </p:txBody>
      </p:sp>
      <p:sp>
        <p:nvSpPr>
          <p:cNvPr id="1567" name="Rectangle 25"/>
          <p:cNvSpPr/>
          <p:nvPr/>
        </p:nvSpPr>
        <p:spPr>
          <a:xfrm>
            <a:off x="558800" y="0"/>
            <a:ext cx="9753600" cy="50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8" name="Rectangle 26"/>
          <p:cNvSpPr/>
          <p:nvPr/>
        </p:nvSpPr>
        <p:spPr>
          <a:xfrm>
            <a:off x="558800" y="497840"/>
            <a:ext cx="9753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69" name="Rectangle 27"/>
          <p:cNvSpPr/>
          <p:nvPr/>
        </p:nvSpPr>
        <p:spPr>
          <a:xfrm>
            <a:off x="711200" y="114300"/>
            <a:ext cx="1625600" cy="292100"/>
          </a:xfrm>
          <a:custGeom>
            <a:avLst/>
            <a:gdLst/>
            <a:ahLst/>
            <a:cxnLst/>
            <a:rect l="l" t="t" r="r" b="b"/>
            <a:pathLst>
              <a:path w="100000" h="17969">
                <a:moveTo>
                  <a:pt x="91016" y="0"/>
                </a:moveTo>
                <a:cubicBezTo>
                  <a:pt x="93929" y="0"/>
                  <a:pt x="95386" y="0"/>
                  <a:pt x="96524" y="506"/>
                </a:cubicBezTo>
                <a:cubicBezTo>
                  <a:pt x="97847" y="1095"/>
                  <a:pt x="98905" y="2153"/>
                  <a:pt x="99494" y="3476"/>
                </a:cubicBezTo>
                <a:cubicBezTo>
                  <a:pt x="100000" y="4614"/>
                  <a:pt x="100000" y="6071"/>
                  <a:pt x="100000" y="8984"/>
                </a:cubicBezTo>
                <a:lnTo>
                  <a:pt x="100000" y="8984"/>
                </a:lnTo>
                <a:cubicBezTo>
                  <a:pt x="100000" y="11898"/>
                  <a:pt x="100000" y="13355"/>
                  <a:pt x="99494" y="14493"/>
                </a:cubicBezTo>
                <a:cubicBezTo>
                  <a:pt x="98905" y="15816"/>
                  <a:pt x="97847" y="16873"/>
                  <a:pt x="96524" y="17463"/>
                </a:cubicBezTo>
                <a:cubicBezTo>
                  <a:pt x="95386" y="17969"/>
                  <a:pt x="93929" y="17969"/>
                  <a:pt x="91016" y="17969"/>
                </a:cubicBezTo>
                <a:lnTo>
                  <a:pt x="8984" y="17969"/>
                </a:lnTo>
                <a:cubicBezTo>
                  <a:pt x="6071" y="17969"/>
                  <a:pt x="4614" y="17969"/>
                  <a:pt x="3476" y="17463"/>
                </a:cubicBezTo>
                <a:cubicBezTo>
                  <a:pt x="2153" y="16873"/>
                  <a:pt x="1095" y="15816"/>
                  <a:pt x="506" y="14493"/>
                </a:cubicBezTo>
                <a:cubicBezTo>
                  <a:pt x="0" y="13355"/>
                  <a:pt x="0" y="11898"/>
                  <a:pt x="0" y="8984"/>
                </a:cubicBezTo>
                <a:lnTo>
                  <a:pt x="0" y="8984"/>
                </a:lnTo>
                <a:cubicBezTo>
                  <a:pt x="0" y="6071"/>
                  <a:pt x="0" y="4614"/>
                  <a:pt x="506" y="3476"/>
                </a:cubicBezTo>
                <a:cubicBezTo>
                  <a:pt x="1095" y="2153"/>
                  <a:pt x="2153" y="1095"/>
                  <a:pt x="3476" y="506"/>
                </a:cubicBezTo>
                <a:cubicBezTo>
                  <a:pt x="4614" y="0"/>
                  <a:pt x="6071" y="0"/>
                  <a:pt x="898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70" name="TextBox 28"/>
          <p:cNvSpPr txBox="1"/>
          <p:nvPr/>
        </p:nvSpPr>
        <p:spPr>
          <a:xfrm>
            <a:off x="825500" y="114300"/>
            <a:ext cx="1219200" cy="292100"/>
          </a:xfrm>
          <a:prstGeom prst="rect">
            <a:avLst/>
          </a:prstGeom>
        </p:spPr>
        <p:txBody>
          <a:bodyPr wrap="square" lIns="0" tIns="0" rIns="0" bIns="0" anchor="ctr">
            <a:noAutofit/>
          </a:bodyPr>
          <a:lstStyle/>
          <a:p>
            <a:pPr>
              <a:lnSpc>
                <a:spcPct val="135000"/>
              </a:lnSpc>
            </a:pPr>
            <a:r>
              <a:rPr sz="660" b="1" spc="0">
                <a:solidFill>
                  <a:srgbClr val="0A0A0A"/>
                </a:solidFill>
                <a:latin typeface="Telegraf"/>
              </a:rPr>
              <a:t>CloudPulse CRM</a:t>
            </a:r>
            <a:endParaRPr sz="660" b="1" spc="0">
              <a:solidFill>
                <a:srgbClr val="0A0A0A"/>
              </a:solidFill>
              <a:latin typeface="Telegraf"/>
            </a:endParaRPr>
          </a:p>
        </p:txBody>
      </p:sp>
      <p:sp>
        <p:nvSpPr>
          <p:cNvPr id="1571" name="Freeform 1571"/>
          <p:cNvSpPr/>
          <p:nvPr/>
        </p:nvSpPr>
        <p:spPr>
          <a:xfrm>
            <a:off x="2148840" y="242570"/>
            <a:ext cx="71120" cy="35560"/>
          </a:xfrm>
          <a:custGeom>
            <a:avLst/>
            <a:gdLst/>
            <a:ahLst/>
            <a:cxnLst/>
            <a:rect l="l" t="t" r="r" b="b"/>
            <a:pathLst>
              <a:path w="100000" h="50000" fill="none">
                <a:moveTo>
                  <a:pt x="0" y="0"/>
                </a:moveTo>
                <a:lnTo>
                  <a:pt x="50000" y="50000"/>
                </a:lnTo>
                <a:lnTo>
                  <a:pt x="100000" y="0"/>
                </a:lnTo>
              </a:path>
            </a:pathLst>
          </a:custGeom>
          <a:noFill/>
          <a:ln w="11430"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572" name="Oval 30"/>
          <p:cNvSpPr/>
          <p:nvPr/>
        </p:nvSpPr>
        <p:spPr>
          <a:xfrm>
            <a:off x="9861550" y="1333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73" name="TextBox 31"/>
          <p:cNvSpPr txBox="1"/>
          <p:nvPr/>
        </p:nvSpPr>
        <p:spPr>
          <a:xfrm>
            <a:off x="9861550" y="1333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1574" name="Rectangle 32"/>
          <p:cNvSpPr/>
          <p:nvPr/>
        </p:nvSpPr>
        <p:spPr>
          <a:xfrm>
            <a:off x="9728200" y="127000"/>
            <a:ext cx="203200" cy="254000"/>
          </a:xfrm>
          <a:custGeom>
            <a:avLst/>
            <a:gdLst/>
            <a:ahLst/>
            <a:cxnLst/>
            <a:rect l="l" t="t" r="r" b="b"/>
            <a:pathLst>
              <a:path w="80000" h="100000">
                <a:moveTo>
                  <a:pt x="40000" y="0"/>
                </a:moveTo>
                <a:cubicBezTo>
                  <a:pt x="54000" y="0"/>
                  <a:pt x="61000" y="0"/>
                  <a:pt x="66350" y="2725"/>
                </a:cubicBezTo>
                <a:cubicBezTo>
                  <a:pt x="71055" y="5120"/>
                  <a:pt x="74880" y="8945"/>
                  <a:pt x="77275" y="13650"/>
                </a:cubicBezTo>
                <a:cubicBezTo>
                  <a:pt x="80000" y="19000"/>
                  <a:pt x="80000" y="26000"/>
                  <a:pt x="80000" y="40000"/>
                </a:cubicBezTo>
                <a:lnTo>
                  <a:pt x="80000" y="60000"/>
                </a:lnTo>
                <a:cubicBezTo>
                  <a:pt x="80000" y="74000"/>
                  <a:pt x="80000" y="81000"/>
                  <a:pt x="77275" y="86350"/>
                </a:cubicBezTo>
                <a:cubicBezTo>
                  <a:pt x="74880" y="91055"/>
                  <a:pt x="71055" y="94880"/>
                  <a:pt x="66350" y="97275"/>
                </a:cubicBezTo>
                <a:cubicBezTo>
                  <a:pt x="61000" y="100000"/>
                  <a:pt x="54000" y="100000"/>
                  <a:pt x="40000" y="100000"/>
                </a:cubicBezTo>
                <a:lnTo>
                  <a:pt x="40000" y="100000"/>
                </a:lnTo>
                <a:cubicBezTo>
                  <a:pt x="26000" y="100000"/>
                  <a:pt x="19000" y="100000"/>
                  <a:pt x="13650" y="97275"/>
                </a:cubicBezTo>
                <a:cubicBezTo>
                  <a:pt x="8945" y="94880"/>
                  <a:pt x="5120" y="91055"/>
                  <a:pt x="2725" y="86350"/>
                </a:cubicBezTo>
                <a:cubicBezTo>
                  <a:pt x="0" y="81000"/>
                  <a:pt x="0" y="74000"/>
                  <a:pt x="0" y="60000"/>
                </a:cubicBezTo>
                <a:lnTo>
                  <a:pt x="0" y="40000"/>
                </a:lnTo>
                <a:cubicBezTo>
                  <a:pt x="0" y="26000"/>
                  <a:pt x="0" y="19000"/>
                  <a:pt x="2725" y="13650"/>
                </a:cubicBezTo>
                <a:cubicBezTo>
                  <a:pt x="5120" y="8945"/>
                  <a:pt x="8945" y="5120"/>
                  <a:pt x="13650" y="2725"/>
                </a:cubicBezTo>
                <a:cubicBezTo>
                  <a:pt x="19000" y="0"/>
                  <a:pt x="26000" y="0"/>
                  <a:pt x="40000"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75" name="TextBox 33"/>
          <p:cNvSpPr txBox="1"/>
          <p:nvPr/>
        </p:nvSpPr>
        <p:spPr>
          <a:xfrm>
            <a:off x="9728200" y="127000"/>
            <a:ext cx="203200" cy="254000"/>
          </a:xfrm>
          <a:prstGeom prst="rect">
            <a:avLst/>
          </a:prstGeom>
        </p:spPr>
        <p:txBody>
          <a:bodyPr wrap="square" lIns="0" tIns="0" rIns="0" bIns="0" anchor="ctr">
            <a:noAutofit/>
          </a:bodyPr>
          <a:lstStyle/>
          <a:p>
            <a:pPr algn="ctr">
              <a:lnSpc>
                <a:spcPct val="135000"/>
              </a:lnSpc>
            </a:pPr>
            <a:r>
              <a:rPr sz="640" spc="0">
                <a:solidFill>
                  <a:srgbClr val="67676E"/>
                </a:solidFill>
                <a:latin typeface="Telegraf"/>
              </a:rPr>
              <a:t>↺</a:t>
            </a:r>
            <a:endParaRPr sz="640" spc="0">
              <a:solidFill>
                <a:srgbClr val="67676E"/>
              </a:solidFill>
              <a:latin typeface="Telegraf"/>
            </a:endParaRPr>
          </a:p>
        </p:txBody>
      </p:sp>
      <p:sp>
        <p:nvSpPr>
          <p:cNvPr id="1576" name="Rectangle 34"/>
          <p:cNvSpPr/>
          <p:nvPr/>
        </p:nvSpPr>
        <p:spPr>
          <a:xfrm>
            <a:off x="8612632" y="114300"/>
            <a:ext cx="988568" cy="292100"/>
          </a:xfrm>
          <a:custGeom>
            <a:avLst/>
            <a:gdLst/>
            <a:ahLst/>
            <a:cxnLst/>
            <a:rect l="l" t="t" r="r" b="b"/>
            <a:pathLst>
              <a:path w="100000" h="29548">
                <a:moveTo>
                  <a:pt x="85226" y="0"/>
                </a:moveTo>
                <a:cubicBezTo>
                  <a:pt x="85226" y="0"/>
                  <a:pt x="85226" y="0"/>
                  <a:pt x="85226" y="0"/>
                </a:cubicBezTo>
                <a:cubicBezTo>
                  <a:pt x="93385" y="0"/>
                  <a:pt x="100000" y="6615"/>
                  <a:pt x="100000" y="14774"/>
                </a:cubicBezTo>
                <a:cubicBezTo>
                  <a:pt x="100000" y="14774"/>
                  <a:pt x="100000" y="14774"/>
                  <a:pt x="100000" y="14774"/>
                </a:cubicBezTo>
                <a:lnTo>
                  <a:pt x="100000" y="14774"/>
                </a:lnTo>
                <a:cubicBezTo>
                  <a:pt x="100000" y="14774"/>
                  <a:pt x="100000" y="14774"/>
                  <a:pt x="100000" y="14774"/>
                </a:cubicBezTo>
                <a:cubicBezTo>
                  <a:pt x="100000" y="22933"/>
                  <a:pt x="93385" y="29548"/>
                  <a:pt x="85226" y="29548"/>
                </a:cubicBezTo>
                <a:cubicBezTo>
                  <a:pt x="85226" y="29548"/>
                  <a:pt x="85226" y="29548"/>
                  <a:pt x="85226" y="29548"/>
                </a:cubicBezTo>
                <a:lnTo>
                  <a:pt x="14774" y="29548"/>
                </a:lnTo>
                <a:cubicBezTo>
                  <a:pt x="14774" y="29548"/>
                  <a:pt x="14774" y="29548"/>
                  <a:pt x="14774" y="29548"/>
                </a:cubicBezTo>
                <a:cubicBezTo>
                  <a:pt x="6615" y="29548"/>
                  <a:pt x="0" y="22933"/>
                  <a:pt x="0" y="14774"/>
                </a:cubicBezTo>
                <a:cubicBezTo>
                  <a:pt x="0" y="14774"/>
                  <a:pt x="0" y="14774"/>
                  <a:pt x="0" y="14774"/>
                </a:cubicBezTo>
                <a:lnTo>
                  <a:pt x="0" y="14774"/>
                </a:lnTo>
                <a:cubicBezTo>
                  <a:pt x="0" y="14774"/>
                  <a:pt x="0" y="14774"/>
                  <a:pt x="0" y="14774"/>
                </a:cubicBezTo>
                <a:cubicBezTo>
                  <a:pt x="0" y="6615"/>
                  <a:pt x="6615" y="0"/>
                  <a:pt x="14774" y="0"/>
                </a:cubicBezTo>
                <a:cubicBezTo>
                  <a:pt x="14774" y="0"/>
                  <a:pt x="14774" y="0"/>
                  <a:pt x="1477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77" name="Oval 35"/>
          <p:cNvSpPr/>
          <p:nvPr/>
        </p:nvSpPr>
        <p:spPr>
          <a:xfrm>
            <a:off x="8674862" y="24130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78" name="TextBox 36"/>
          <p:cNvSpPr txBox="1"/>
          <p:nvPr/>
        </p:nvSpPr>
        <p:spPr>
          <a:xfrm>
            <a:off x="8777732" y="114300"/>
            <a:ext cx="772668" cy="2921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Test my AI agent</a:t>
            </a:r>
            <a:endParaRPr sz="580" b="1" spc="10">
              <a:solidFill>
                <a:srgbClr val="FFFFFF"/>
              </a:solidFill>
              <a:latin typeface="Telegraf"/>
            </a:endParaRPr>
          </a:p>
        </p:txBody>
      </p:sp>
      <p:sp>
        <p:nvSpPr>
          <p:cNvPr id="1579" name="Rectangle 37"/>
          <p:cNvSpPr/>
          <p:nvPr/>
        </p:nvSpPr>
        <p:spPr>
          <a:xfrm>
            <a:off x="7215632" y="114300"/>
            <a:ext cx="1168400" cy="2921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80" name="Oval 38"/>
          <p:cNvSpPr/>
          <p:nvPr/>
        </p:nvSpPr>
        <p:spPr>
          <a:xfrm>
            <a:off x="7276719" y="219837"/>
            <a:ext cx="59817" cy="59817"/>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81" name="Freeform 1581"/>
          <p:cNvSpPr/>
          <p:nvPr/>
        </p:nvSpPr>
        <p:spPr>
          <a:xfrm>
            <a:off x="7330694" y="273812"/>
            <a:ext cx="28067" cy="28067"/>
          </a:xfrm>
          <a:custGeom>
            <a:avLst/>
            <a:gdLst/>
            <a:ahLst/>
            <a:cxnLst/>
            <a:rect l="l" t="t" r="r" b="b"/>
            <a:pathLst>
              <a:path w="100000" h="100000" fill="none">
                <a:moveTo>
                  <a:pt x="0" y="0"/>
                </a:moveTo>
                <a:lnTo>
                  <a:pt x="100000" y="100000"/>
                </a:lnTo>
              </a:path>
            </a:pathLst>
          </a:custGeom>
          <a:noFill/>
          <a:ln w="1206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582" name="TextBox 40"/>
          <p:cNvSpPr txBox="1"/>
          <p:nvPr/>
        </p:nvSpPr>
        <p:spPr>
          <a:xfrm>
            <a:off x="7418832" y="114300"/>
            <a:ext cx="889000" cy="292100"/>
          </a:xfrm>
          <a:prstGeom prst="rect">
            <a:avLst/>
          </a:prstGeom>
        </p:spPr>
        <p:txBody>
          <a:bodyPr wrap="square" lIns="0" tIns="0" rIns="0" bIns="0" anchor="ctr">
            <a:noAutofit/>
          </a:bodyPr>
          <a:lstStyle/>
          <a:p>
            <a:pPr>
              <a:lnSpc>
                <a:spcPct val="135000"/>
              </a:lnSpc>
            </a:pPr>
            <a:r>
              <a:rPr sz="560" spc="0">
                <a:solidFill>
                  <a:srgbClr val="A2A2A8"/>
                </a:solidFill>
                <a:latin typeface="Telegraf"/>
              </a:rPr>
              <a:t>Search tickets</a:t>
            </a:r>
            <a:endParaRPr sz="560" spc="0">
              <a:solidFill>
                <a:srgbClr val="A2A2A8"/>
              </a:solidFill>
              <a:latin typeface="Telegraf"/>
            </a:endParaRPr>
          </a:p>
        </p:txBody>
      </p:sp>
      <p:sp>
        <p:nvSpPr>
          <p:cNvPr id="1583" name="TextBox 41"/>
          <p:cNvSpPr txBox="1"/>
          <p:nvPr/>
        </p:nvSpPr>
        <p:spPr>
          <a:xfrm>
            <a:off x="762000" y="685800"/>
            <a:ext cx="3302000" cy="114300"/>
          </a:xfrm>
          <a:prstGeom prst="rect">
            <a:avLst/>
          </a:prstGeom>
        </p:spPr>
        <p:txBody>
          <a:bodyPr wrap="square" lIns="0" tIns="0" rIns="0" bIns="0">
            <a:noAutofit/>
          </a:bodyPr>
          <a:lstStyle/>
          <a:p>
            <a:r>
              <a:rPr sz="460" b="1" spc="110">
                <a:solidFill>
                  <a:srgbClr val="A2A2A8"/>
                </a:solidFill>
                <a:latin typeface="Telegraf"/>
              </a:rPr>
              <a:t>QUEUE  /  TKT_CP_042  ·  WHATSAPP</a:t>
            </a:r>
            <a:endParaRPr sz="460" b="1" spc="110">
              <a:solidFill>
                <a:srgbClr val="A2A2A8"/>
              </a:solidFill>
              <a:latin typeface="Telegraf"/>
            </a:endParaRPr>
          </a:p>
        </p:txBody>
      </p:sp>
      <p:sp>
        <p:nvSpPr>
          <p:cNvPr id="1584" name="Oval 42"/>
          <p:cNvSpPr/>
          <p:nvPr/>
        </p:nvSpPr>
        <p:spPr>
          <a:xfrm>
            <a:off x="787400" y="914400"/>
            <a:ext cx="304800" cy="3048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85" name="TextBox 43"/>
          <p:cNvSpPr txBox="1"/>
          <p:nvPr/>
        </p:nvSpPr>
        <p:spPr>
          <a:xfrm>
            <a:off x="787400" y="914400"/>
            <a:ext cx="304800" cy="304800"/>
          </a:xfrm>
          <a:prstGeom prst="rect">
            <a:avLst/>
          </a:prstGeom>
        </p:spPr>
        <p:txBody>
          <a:bodyPr wrap="square" lIns="0" tIns="0" rIns="0" bIns="0" anchor="ctr">
            <a:noAutofit/>
          </a:bodyPr>
          <a:lstStyle/>
          <a:p>
            <a:pPr algn="ctr">
              <a:lnSpc>
                <a:spcPct val="135000"/>
              </a:lnSpc>
            </a:pPr>
            <a:r>
              <a:rPr sz="600" b="1" spc="0">
                <a:solidFill>
                  <a:srgbClr val="0E6B5F"/>
                </a:solidFill>
                <a:latin typeface="Telegraf"/>
              </a:rPr>
              <a:t>AM</a:t>
            </a:r>
            <a:endParaRPr sz="600" b="1" spc="0">
              <a:solidFill>
                <a:srgbClr val="0E6B5F"/>
              </a:solidFill>
              <a:latin typeface="Telegraf"/>
            </a:endParaRPr>
          </a:p>
        </p:txBody>
      </p:sp>
      <p:sp>
        <p:nvSpPr>
          <p:cNvPr id="1586" name="TextBox 44"/>
          <p:cNvSpPr txBox="1"/>
          <p:nvPr/>
        </p:nvSpPr>
        <p:spPr>
          <a:xfrm>
            <a:off x="1193800" y="914400"/>
            <a:ext cx="2540000" cy="152400"/>
          </a:xfrm>
          <a:prstGeom prst="rect">
            <a:avLst/>
          </a:prstGeom>
        </p:spPr>
        <p:txBody>
          <a:bodyPr wrap="square" lIns="0" tIns="0" rIns="0" bIns="0">
            <a:noAutofit/>
          </a:bodyPr>
          <a:lstStyle/>
          <a:p>
            <a:pPr>
              <a:lnSpc>
                <a:spcPct val="135000"/>
              </a:lnSpc>
            </a:pPr>
            <a:r>
              <a:rPr sz="760" b="1" spc="0">
                <a:solidFill>
                  <a:srgbClr val="0A0A0A"/>
                </a:solidFill>
                <a:latin typeface="Telegraf"/>
              </a:rPr>
              <a:t>Aarav Mehta</a:t>
            </a:r>
            <a:endParaRPr sz="760" b="1" spc="0">
              <a:solidFill>
                <a:srgbClr val="0A0A0A"/>
              </a:solidFill>
              <a:latin typeface="Telegraf"/>
            </a:endParaRPr>
          </a:p>
        </p:txBody>
      </p:sp>
      <p:sp>
        <p:nvSpPr>
          <p:cNvPr id="1587" name="TextBox 45"/>
          <p:cNvSpPr txBox="1"/>
          <p:nvPr/>
        </p:nvSpPr>
        <p:spPr>
          <a:xfrm>
            <a:off x="1193800" y="1079500"/>
            <a:ext cx="3048000" cy="127000"/>
          </a:xfrm>
          <a:prstGeom prst="rect">
            <a:avLst/>
          </a:prstGeom>
        </p:spPr>
        <p:txBody>
          <a:bodyPr wrap="square" lIns="0" tIns="0" rIns="0" bIns="0">
            <a:noAutofit/>
          </a:bodyPr>
          <a:lstStyle/>
          <a:p>
            <a:pPr>
              <a:lnSpc>
                <a:spcPct val="135000"/>
              </a:lnSpc>
            </a:pPr>
            <a:r>
              <a:rPr sz="480" spc="0">
                <a:solidFill>
                  <a:srgbClr val="67676E"/>
                </a:solidFill>
                <a:latin typeface="Telegraf"/>
              </a:rPr>
              <a:t>@aarav  ·  +91 98123 45678  ·  first contact</a:t>
            </a:r>
            <a:endParaRPr sz="480" spc="0">
              <a:solidFill>
                <a:srgbClr val="67676E"/>
              </a:solidFill>
              <a:latin typeface="Telegraf"/>
            </a:endParaRPr>
          </a:p>
        </p:txBody>
      </p:sp>
      <p:sp>
        <p:nvSpPr>
          <p:cNvPr id="1588" name="Rectangle 46"/>
          <p:cNvSpPr/>
          <p:nvPr/>
        </p:nvSpPr>
        <p:spPr>
          <a:xfrm>
            <a:off x="4978400" y="939800"/>
            <a:ext cx="440436" cy="152400"/>
          </a:xfrm>
          <a:custGeom>
            <a:avLst/>
            <a:gdLst/>
            <a:ahLst/>
            <a:cxnLst/>
            <a:rect l="l" t="t" r="r" b="b"/>
            <a:pathLst>
              <a:path w="100000" h="34602">
                <a:moveTo>
                  <a:pt x="82699" y="0"/>
                </a:moveTo>
                <a:cubicBezTo>
                  <a:pt x="82699" y="0"/>
                  <a:pt x="82699" y="0"/>
                  <a:pt x="82699" y="0"/>
                </a:cubicBezTo>
                <a:cubicBezTo>
                  <a:pt x="92255" y="0"/>
                  <a:pt x="100000" y="7745"/>
                  <a:pt x="100000" y="17301"/>
                </a:cubicBezTo>
                <a:cubicBezTo>
                  <a:pt x="100000" y="17301"/>
                  <a:pt x="100000" y="17301"/>
                  <a:pt x="100000" y="17301"/>
                </a:cubicBezTo>
                <a:lnTo>
                  <a:pt x="100000" y="17301"/>
                </a:lnTo>
                <a:cubicBezTo>
                  <a:pt x="100000" y="17301"/>
                  <a:pt x="100000" y="17301"/>
                  <a:pt x="100000" y="17301"/>
                </a:cubicBezTo>
                <a:cubicBezTo>
                  <a:pt x="100000" y="26857"/>
                  <a:pt x="92255" y="34602"/>
                  <a:pt x="82699" y="34602"/>
                </a:cubicBezTo>
                <a:cubicBezTo>
                  <a:pt x="82699" y="34602"/>
                  <a:pt x="82699" y="34602"/>
                  <a:pt x="82699" y="34602"/>
                </a:cubicBezTo>
                <a:lnTo>
                  <a:pt x="17301" y="34602"/>
                </a:lnTo>
                <a:cubicBezTo>
                  <a:pt x="17301" y="34602"/>
                  <a:pt x="17301" y="34602"/>
                  <a:pt x="17301" y="34602"/>
                </a:cubicBezTo>
                <a:cubicBezTo>
                  <a:pt x="7745" y="34602"/>
                  <a:pt x="0" y="26857"/>
                  <a:pt x="0" y="17301"/>
                </a:cubicBezTo>
                <a:cubicBezTo>
                  <a:pt x="0" y="17301"/>
                  <a:pt x="0" y="17301"/>
                  <a:pt x="0" y="17301"/>
                </a:cubicBezTo>
                <a:lnTo>
                  <a:pt x="0" y="17301"/>
                </a:lnTo>
                <a:cubicBezTo>
                  <a:pt x="0" y="17301"/>
                  <a:pt x="0" y="17301"/>
                  <a:pt x="0" y="17301"/>
                </a:cubicBezTo>
                <a:cubicBezTo>
                  <a:pt x="0" y="7745"/>
                  <a:pt x="7745" y="0"/>
                  <a:pt x="17301" y="0"/>
                </a:cubicBezTo>
                <a:cubicBezTo>
                  <a:pt x="17301" y="0"/>
                  <a:pt x="17301" y="0"/>
                  <a:pt x="17301"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89" name="Oval 47"/>
          <p:cNvSpPr/>
          <p:nvPr/>
        </p:nvSpPr>
        <p:spPr>
          <a:xfrm>
            <a:off x="5030470" y="994410"/>
            <a:ext cx="43180" cy="4318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90" name="TextBox 48"/>
          <p:cNvSpPr txBox="1"/>
          <p:nvPr/>
        </p:nvSpPr>
        <p:spPr>
          <a:xfrm>
            <a:off x="5107940" y="939800"/>
            <a:ext cx="288036" cy="152400"/>
          </a:xfrm>
          <a:prstGeom prst="rect">
            <a:avLst/>
          </a:prstGeom>
        </p:spPr>
        <p:txBody>
          <a:bodyPr wrap="square" lIns="0" tIns="0" rIns="0" bIns="0" anchor="ctr">
            <a:noAutofit/>
          </a:bodyPr>
          <a:lstStyle/>
          <a:p>
            <a:pPr>
              <a:lnSpc>
                <a:spcPct val="135000"/>
              </a:lnSpc>
            </a:pPr>
            <a:r>
              <a:rPr sz="460" b="1" spc="0">
                <a:solidFill>
                  <a:srgbClr val="0E6B5F"/>
                </a:solidFill>
                <a:latin typeface="Telegraf"/>
              </a:rPr>
              <a:t>triaged</a:t>
            </a:r>
            <a:endParaRPr sz="460" b="1" spc="0">
              <a:solidFill>
                <a:srgbClr val="0E6B5F"/>
              </a:solidFill>
              <a:latin typeface="Telegraf"/>
            </a:endParaRPr>
          </a:p>
        </p:txBody>
      </p:sp>
      <p:sp>
        <p:nvSpPr>
          <p:cNvPr id="1591" name="Rectangle 49"/>
          <p:cNvSpPr/>
          <p:nvPr/>
        </p:nvSpPr>
        <p:spPr>
          <a:xfrm>
            <a:off x="5689600" y="939800"/>
            <a:ext cx="542036" cy="152400"/>
          </a:xfrm>
          <a:custGeom>
            <a:avLst/>
            <a:gdLst/>
            <a:ahLst/>
            <a:cxnLst/>
            <a:rect l="l" t="t" r="r" b="b"/>
            <a:pathLst>
              <a:path w="100000" h="28116">
                <a:moveTo>
                  <a:pt x="85942" y="0"/>
                </a:moveTo>
                <a:cubicBezTo>
                  <a:pt x="85942" y="0"/>
                  <a:pt x="85942" y="0"/>
                  <a:pt x="85942" y="0"/>
                </a:cubicBezTo>
                <a:cubicBezTo>
                  <a:pt x="93707" y="0"/>
                  <a:pt x="100000" y="6293"/>
                  <a:pt x="100000" y="14058"/>
                </a:cubicBezTo>
                <a:cubicBezTo>
                  <a:pt x="100000" y="14058"/>
                  <a:pt x="100000" y="14058"/>
                  <a:pt x="100000" y="14058"/>
                </a:cubicBezTo>
                <a:lnTo>
                  <a:pt x="100000" y="14058"/>
                </a:lnTo>
                <a:cubicBezTo>
                  <a:pt x="100000" y="14058"/>
                  <a:pt x="100000" y="14058"/>
                  <a:pt x="100000" y="14058"/>
                </a:cubicBezTo>
                <a:cubicBezTo>
                  <a:pt x="100000" y="21823"/>
                  <a:pt x="93707" y="28116"/>
                  <a:pt x="85942" y="28116"/>
                </a:cubicBezTo>
                <a:cubicBezTo>
                  <a:pt x="85942" y="28116"/>
                  <a:pt x="85942" y="28116"/>
                  <a:pt x="85942" y="28116"/>
                </a:cubicBezTo>
                <a:lnTo>
                  <a:pt x="14058" y="28116"/>
                </a:lnTo>
                <a:cubicBezTo>
                  <a:pt x="14058" y="28116"/>
                  <a:pt x="14058" y="28116"/>
                  <a:pt x="14058" y="28116"/>
                </a:cubicBezTo>
                <a:cubicBezTo>
                  <a:pt x="6293" y="28116"/>
                  <a:pt x="0" y="21823"/>
                  <a:pt x="0" y="14058"/>
                </a:cubicBezTo>
                <a:cubicBezTo>
                  <a:pt x="0" y="14058"/>
                  <a:pt x="0" y="14058"/>
                  <a:pt x="0" y="14058"/>
                </a:cubicBezTo>
                <a:lnTo>
                  <a:pt x="0" y="14058"/>
                </a:lnTo>
                <a:cubicBezTo>
                  <a:pt x="0" y="14058"/>
                  <a:pt x="0" y="14058"/>
                  <a:pt x="0" y="14058"/>
                </a:cubicBezTo>
                <a:cubicBezTo>
                  <a:pt x="0" y="6293"/>
                  <a:pt x="6293" y="0"/>
                  <a:pt x="14058" y="0"/>
                </a:cubicBezTo>
                <a:cubicBezTo>
                  <a:pt x="14058" y="0"/>
                  <a:pt x="14058" y="0"/>
                  <a:pt x="14058"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92" name="Oval 50"/>
          <p:cNvSpPr/>
          <p:nvPr/>
        </p:nvSpPr>
        <p:spPr>
          <a:xfrm>
            <a:off x="5741670" y="994410"/>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93" name="TextBox 51"/>
          <p:cNvSpPr txBox="1"/>
          <p:nvPr/>
        </p:nvSpPr>
        <p:spPr>
          <a:xfrm>
            <a:off x="5819140" y="939800"/>
            <a:ext cx="389636" cy="152400"/>
          </a:xfrm>
          <a:prstGeom prst="rect">
            <a:avLst/>
          </a:prstGeom>
        </p:spPr>
        <p:txBody>
          <a:bodyPr wrap="square" lIns="0" tIns="0" rIns="0" bIns="0" anchor="ctr">
            <a:noAutofit/>
          </a:bodyPr>
          <a:lstStyle/>
          <a:p>
            <a:pPr>
              <a:lnSpc>
                <a:spcPct val="135000"/>
              </a:lnSpc>
            </a:pPr>
            <a:r>
              <a:rPr sz="460" b="1" spc="0">
                <a:solidFill>
                  <a:srgbClr val="8A4B08"/>
                </a:solidFill>
                <a:latin typeface="Telegraf"/>
              </a:rPr>
              <a:t>frustrated</a:t>
            </a:r>
            <a:endParaRPr sz="460" b="1" spc="0">
              <a:solidFill>
                <a:srgbClr val="8A4B08"/>
              </a:solidFill>
              <a:latin typeface="Telegraf"/>
            </a:endParaRPr>
          </a:p>
        </p:txBody>
      </p:sp>
      <p:sp>
        <p:nvSpPr>
          <p:cNvPr id="1594" name="Rectangle 52"/>
          <p:cNvSpPr/>
          <p:nvPr/>
        </p:nvSpPr>
        <p:spPr>
          <a:xfrm>
            <a:off x="762000" y="1320800"/>
            <a:ext cx="55880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95" name="Rectangle 53"/>
          <p:cNvSpPr/>
          <p:nvPr/>
        </p:nvSpPr>
        <p:spPr>
          <a:xfrm>
            <a:off x="762000" y="1447800"/>
            <a:ext cx="3886200" cy="584200"/>
          </a:xfrm>
          <a:custGeom>
            <a:avLst/>
            <a:gdLst/>
            <a:ahLst/>
            <a:cxnLst/>
            <a:rect l="l" t="t" r="r" b="b"/>
            <a:pathLst>
              <a:path w="100000" h="15033">
                <a:moveTo>
                  <a:pt x="93464" y="0"/>
                </a:moveTo>
                <a:cubicBezTo>
                  <a:pt x="96545" y="0"/>
                  <a:pt x="98086" y="0"/>
                  <a:pt x="99043" y="957"/>
                </a:cubicBezTo>
                <a:cubicBezTo>
                  <a:pt x="99043" y="957"/>
                  <a:pt x="99043" y="957"/>
                  <a:pt x="99043" y="957"/>
                </a:cubicBezTo>
                <a:cubicBezTo>
                  <a:pt x="100000" y="1914"/>
                  <a:pt x="100000" y="3455"/>
                  <a:pt x="100000" y="6536"/>
                </a:cubicBezTo>
                <a:lnTo>
                  <a:pt x="100000" y="8497"/>
                </a:lnTo>
                <a:cubicBezTo>
                  <a:pt x="100000" y="11578"/>
                  <a:pt x="100000" y="13118"/>
                  <a:pt x="99043" y="14075"/>
                </a:cubicBezTo>
                <a:cubicBezTo>
                  <a:pt x="99043" y="14075"/>
                  <a:pt x="99043" y="14075"/>
                  <a:pt x="99043" y="14075"/>
                </a:cubicBezTo>
                <a:cubicBezTo>
                  <a:pt x="98086" y="15033"/>
                  <a:pt x="96545" y="15033"/>
                  <a:pt x="93464" y="15033"/>
                </a:cubicBezTo>
                <a:lnTo>
                  <a:pt x="6536" y="15033"/>
                </a:lnTo>
                <a:cubicBezTo>
                  <a:pt x="3455" y="15033"/>
                  <a:pt x="1914" y="15033"/>
                  <a:pt x="957" y="14075"/>
                </a:cubicBezTo>
                <a:cubicBezTo>
                  <a:pt x="957" y="14075"/>
                  <a:pt x="957" y="14075"/>
                  <a:pt x="957" y="14075"/>
                </a:cubicBezTo>
                <a:cubicBezTo>
                  <a:pt x="0" y="13118"/>
                  <a:pt x="0" y="11578"/>
                  <a:pt x="0" y="8497"/>
                </a:cubicBezTo>
                <a:lnTo>
                  <a:pt x="0" y="6536"/>
                </a:lnTo>
                <a:cubicBezTo>
                  <a:pt x="0" y="3455"/>
                  <a:pt x="0" y="1914"/>
                  <a:pt x="957" y="957"/>
                </a:cubicBezTo>
                <a:cubicBezTo>
                  <a:pt x="957" y="957"/>
                  <a:pt x="957" y="957"/>
                  <a:pt x="957" y="957"/>
                </a:cubicBezTo>
                <a:cubicBezTo>
                  <a:pt x="1914" y="0"/>
                  <a:pt x="3455" y="0"/>
                  <a:pt x="6536"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96" name="TextBox 54"/>
          <p:cNvSpPr txBox="1"/>
          <p:nvPr/>
        </p:nvSpPr>
        <p:spPr>
          <a:xfrm>
            <a:off x="914400" y="1549400"/>
            <a:ext cx="3581400" cy="381000"/>
          </a:xfrm>
          <a:prstGeom prst="rect">
            <a:avLst/>
          </a:prstGeom>
        </p:spPr>
        <p:txBody>
          <a:bodyPr wrap="square" lIns="0" tIns="0" rIns="0" bIns="0">
            <a:noAutofit/>
          </a:bodyPr>
          <a:lstStyle/>
          <a:p>
            <a:pPr>
              <a:lnSpc>
                <a:spcPct val="145000"/>
              </a:lnSpc>
            </a:pPr>
            <a:r>
              <a:rPr sz="520" spc="0">
                <a:solidFill>
                  <a:srgbClr val="0A0A0A"/>
                </a:solidFill>
                <a:latin typeface="Telegraf"/>
              </a:rPr>
              <a:t>I ordered the ceramic crown last Tuesday and paid ₹6,000. The tracking has not moved since.</a:t>
            </a:r>
            <a:endParaRPr sz="520" spc="0">
              <a:solidFill>
                <a:srgbClr val="0A0A0A"/>
              </a:solidFill>
              <a:latin typeface="Telegraf"/>
            </a:endParaRPr>
          </a:p>
        </p:txBody>
      </p:sp>
      <p:sp>
        <p:nvSpPr>
          <p:cNvPr id="1597" name="TextBox 55"/>
          <p:cNvSpPr txBox="1"/>
          <p:nvPr/>
        </p:nvSpPr>
        <p:spPr>
          <a:xfrm>
            <a:off x="914400" y="1879600"/>
            <a:ext cx="1524000" cy="101600"/>
          </a:xfrm>
          <a:prstGeom prst="rect">
            <a:avLst/>
          </a:prstGeom>
        </p:spPr>
        <p:txBody>
          <a:bodyPr wrap="square" lIns="0" tIns="0" rIns="0" bIns="0">
            <a:noAutofit/>
          </a:bodyPr>
          <a:lstStyle/>
          <a:p>
            <a:pPr>
              <a:lnSpc>
                <a:spcPct val="135000"/>
              </a:lnSpc>
            </a:pPr>
            <a:r>
              <a:rPr sz="420" spc="0">
                <a:solidFill>
                  <a:srgbClr val="A2A2A8"/>
                </a:solidFill>
                <a:latin typeface="Telegraf"/>
              </a:rPr>
              <a:t>Aarav  ·  09:41</a:t>
            </a:r>
            <a:endParaRPr sz="420" spc="0">
              <a:solidFill>
                <a:srgbClr val="A2A2A8"/>
              </a:solidFill>
              <a:latin typeface="Telegraf"/>
            </a:endParaRPr>
          </a:p>
        </p:txBody>
      </p:sp>
      <p:sp>
        <p:nvSpPr>
          <p:cNvPr id="1598" name="Rectangle 56"/>
          <p:cNvSpPr/>
          <p:nvPr/>
        </p:nvSpPr>
        <p:spPr>
          <a:xfrm>
            <a:off x="1778000" y="2133600"/>
            <a:ext cx="4572000" cy="787400"/>
          </a:xfrm>
          <a:custGeom>
            <a:avLst/>
            <a:gdLst/>
            <a:ahLst/>
            <a:cxnLst/>
            <a:rect l="l" t="t" r="r" b="b"/>
            <a:pathLst>
              <a:path w="100000" h="17222">
                <a:moveTo>
                  <a:pt x="94444" y="0"/>
                </a:moveTo>
                <a:cubicBezTo>
                  <a:pt x="97063" y="0"/>
                  <a:pt x="98373" y="0"/>
                  <a:pt x="99186" y="814"/>
                </a:cubicBezTo>
                <a:cubicBezTo>
                  <a:pt x="99186" y="814"/>
                  <a:pt x="99186" y="814"/>
                  <a:pt x="99186" y="814"/>
                </a:cubicBezTo>
                <a:cubicBezTo>
                  <a:pt x="100000" y="1627"/>
                  <a:pt x="100000" y="2937"/>
                  <a:pt x="100000" y="5556"/>
                </a:cubicBezTo>
                <a:lnTo>
                  <a:pt x="100000" y="11667"/>
                </a:lnTo>
                <a:cubicBezTo>
                  <a:pt x="100000" y="14286"/>
                  <a:pt x="100000" y="15595"/>
                  <a:pt x="99186" y="16409"/>
                </a:cubicBezTo>
                <a:cubicBezTo>
                  <a:pt x="99186" y="16409"/>
                  <a:pt x="99186" y="16409"/>
                  <a:pt x="99186" y="16409"/>
                </a:cubicBezTo>
                <a:cubicBezTo>
                  <a:pt x="98373" y="17222"/>
                  <a:pt x="97063" y="17222"/>
                  <a:pt x="94444" y="17222"/>
                </a:cubicBezTo>
                <a:lnTo>
                  <a:pt x="5556" y="17222"/>
                </a:lnTo>
                <a:cubicBezTo>
                  <a:pt x="2937" y="17222"/>
                  <a:pt x="1627" y="17222"/>
                  <a:pt x="814" y="16409"/>
                </a:cubicBezTo>
                <a:cubicBezTo>
                  <a:pt x="814" y="16409"/>
                  <a:pt x="814" y="16409"/>
                  <a:pt x="814" y="16409"/>
                </a:cubicBezTo>
                <a:cubicBezTo>
                  <a:pt x="0" y="15595"/>
                  <a:pt x="0" y="14286"/>
                  <a:pt x="0" y="11667"/>
                </a:cubicBezTo>
                <a:lnTo>
                  <a:pt x="0" y="5556"/>
                </a:lnTo>
                <a:cubicBezTo>
                  <a:pt x="0" y="2937"/>
                  <a:pt x="0" y="1627"/>
                  <a:pt x="814" y="814"/>
                </a:cubicBezTo>
                <a:cubicBezTo>
                  <a:pt x="814" y="814"/>
                  <a:pt x="814" y="814"/>
                  <a:pt x="814" y="814"/>
                </a:cubicBezTo>
                <a:cubicBezTo>
                  <a:pt x="1627" y="0"/>
                  <a:pt x="2937" y="0"/>
                  <a:pt x="555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599" name="Rectangle 57"/>
          <p:cNvSpPr/>
          <p:nvPr/>
        </p:nvSpPr>
        <p:spPr>
          <a:xfrm>
            <a:off x="1778000" y="2133600"/>
            <a:ext cx="27940" cy="787400"/>
          </a:xfrm>
          <a:prstGeom prst="roundRect">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00" name="TextBox 58"/>
          <p:cNvSpPr txBox="1"/>
          <p:nvPr/>
        </p:nvSpPr>
        <p:spPr>
          <a:xfrm>
            <a:off x="1955800" y="2235200"/>
            <a:ext cx="3302000" cy="101600"/>
          </a:xfrm>
          <a:prstGeom prst="rect">
            <a:avLst/>
          </a:prstGeom>
        </p:spPr>
        <p:txBody>
          <a:bodyPr wrap="square" lIns="0" tIns="0" rIns="0" bIns="0">
            <a:noAutofit/>
          </a:bodyPr>
          <a:lstStyle/>
          <a:p>
            <a:r>
              <a:rPr sz="420" b="1" spc="100">
                <a:solidFill>
                  <a:srgbClr val="0E6B5F"/>
                </a:solidFill>
                <a:latin typeface="Telegraf"/>
              </a:rPr>
              <a:t>AI DRAFT  ·  CITES CHK_CP_06</a:t>
            </a:r>
            <a:endParaRPr sz="420" b="1" spc="100">
              <a:solidFill>
                <a:srgbClr val="0E6B5F"/>
              </a:solidFill>
              <a:latin typeface="Telegraf"/>
            </a:endParaRPr>
          </a:p>
        </p:txBody>
      </p:sp>
      <p:sp>
        <p:nvSpPr>
          <p:cNvPr id="1601" name="TextBox 59"/>
          <p:cNvSpPr txBox="1"/>
          <p:nvPr/>
        </p:nvSpPr>
        <p:spPr>
          <a:xfrm>
            <a:off x="1955800" y="2387600"/>
            <a:ext cx="4191000" cy="482600"/>
          </a:xfrm>
          <a:prstGeom prst="rect">
            <a:avLst/>
          </a:prstGeom>
        </p:spPr>
        <p:txBody>
          <a:bodyPr wrap="square" lIns="0" tIns="0" rIns="0" bIns="0">
            <a:noAutofit/>
          </a:bodyPr>
          <a:lstStyle/>
          <a:p>
            <a:pPr>
              <a:lnSpc>
                <a:spcPct val="145000"/>
              </a:lnSpc>
            </a:pPr>
            <a:r>
              <a:rPr sz="520" spc="0">
                <a:solidFill>
                  <a:srgbClr val="0A0A0A"/>
                </a:solidFill>
                <a:latin typeface="Telegraf"/>
              </a:rPr>
              <a:t>Your crown was dispatched on Tuesday and is with BlueDart — the tracking stops updating until the clinic scan is logged. It reaches you tomorrow before 6 PM.</a:t>
            </a:r>
            <a:endParaRPr sz="520" spc="0">
              <a:solidFill>
                <a:srgbClr val="0A0A0A"/>
              </a:solidFill>
              <a:latin typeface="Telegraf"/>
            </a:endParaRPr>
          </a:p>
        </p:txBody>
      </p:sp>
      <p:sp>
        <p:nvSpPr>
          <p:cNvPr id="1602" name="Rectangle 60"/>
          <p:cNvSpPr/>
          <p:nvPr/>
        </p:nvSpPr>
        <p:spPr>
          <a:xfrm>
            <a:off x="762000" y="3022600"/>
            <a:ext cx="3403600" cy="431800"/>
          </a:xfrm>
          <a:custGeom>
            <a:avLst/>
            <a:gdLst/>
            <a:ahLst/>
            <a:cxnLst/>
            <a:rect l="l" t="t" r="r" b="b"/>
            <a:pathLst>
              <a:path w="100000" h="12687">
                <a:moveTo>
                  <a:pt x="93657" y="0"/>
                </a:moveTo>
                <a:cubicBezTo>
                  <a:pt x="96100" y="0"/>
                  <a:pt x="97321" y="0"/>
                  <a:pt x="98218" y="550"/>
                </a:cubicBezTo>
                <a:cubicBezTo>
                  <a:pt x="98721" y="857"/>
                  <a:pt x="99143" y="1279"/>
                  <a:pt x="99450" y="1782"/>
                </a:cubicBezTo>
                <a:cubicBezTo>
                  <a:pt x="100000" y="2679"/>
                  <a:pt x="100000" y="3900"/>
                  <a:pt x="100000" y="6343"/>
                </a:cubicBezTo>
                <a:lnTo>
                  <a:pt x="100000" y="6343"/>
                </a:lnTo>
                <a:cubicBezTo>
                  <a:pt x="100000" y="8786"/>
                  <a:pt x="100000" y="10007"/>
                  <a:pt x="99450" y="10905"/>
                </a:cubicBezTo>
                <a:cubicBezTo>
                  <a:pt x="99143" y="11407"/>
                  <a:pt x="98721" y="11829"/>
                  <a:pt x="98218" y="12137"/>
                </a:cubicBezTo>
                <a:cubicBezTo>
                  <a:pt x="97321" y="12687"/>
                  <a:pt x="96100" y="12687"/>
                  <a:pt x="93657" y="12687"/>
                </a:cubicBezTo>
                <a:lnTo>
                  <a:pt x="6343" y="12687"/>
                </a:lnTo>
                <a:cubicBezTo>
                  <a:pt x="3900" y="12687"/>
                  <a:pt x="2679" y="12687"/>
                  <a:pt x="1782" y="12137"/>
                </a:cubicBezTo>
                <a:cubicBezTo>
                  <a:pt x="1279" y="11829"/>
                  <a:pt x="857" y="11407"/>
                  <a:pt x="550" y="10905"/>
                </a:cubicBezTo>
                <a:cubicBezTo>
                  <a:pt x="0" y="10007"/>
                  <a:pt x="0" y="8786"/>
                  <a:pt x="0" y="6343"/>
                </a:cubicBezTo>
                <a:lnTo>
                  <a:pt x="0" y="6343"/>
                </a:lnTo>
                <a:cubicBezTo>
                  <a:pt x="0" y="3900"/>
                  <a:pt x="0" y="2679"/>
                  <a:pt x="550" y="1782"/>
                </a:cubicBezTo>
                <a:cubicBezTo>
                  <a:pt x="857" y="1279"/>
                  <a:pt x="1279" y="857"/>
                  <a:pt x="1782" y="550"/>
                </a:cubicBezTo>
                <a:cubicBezTo>
                  <a:pt x="2679" y="0"/>
                  <a:pt x="3900" y="0"/>
                  <a:pt x="6343"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03" name="TextBox 61"/>
          <p:cNvSpPr txBox="1"/>
          <p:nvPr/>
        </p:nvSpPr>
        <p:spPr>
          <a:xfrm>
            <a:off x="914400" y="3111500"/>
            <a:ext cx="3124200" cy="279400"/>
          </a:xfrm>
          <a:prstGeom prst="rect">
            <a:avLst/>
          </a:prstGeom>
        </p:spPr>
        <p:txBody>
          <a:bodyPr wrap="square" lIns="0" tIns="0" rIns="0" bIns="0">
            <a:noAutofit/>
          </a:bodyPr>
          <a:lstStyle/>
          <a:p>
            <a:pPr>
              <a:lnSpc>
                <a:spcPct val="145000"/>
              </a:lnSpc>
            </a:pPr>
            <a:r>
              <a:rPr sz="520" spc="0">
                <a:solidFill>
                  <a:srgbClr val="0A0A0A"/>
                </a:solidFill>
                <a:latin typeface="Telegraf"/>
              </a:rPr>
              <a:t>ok — and does that include the follow-up visit?</a:t>
            </a:r>
            <a:endParaRPr sz="520" spc="0">
              <a:solidFill>
                <a:srgbClr val="0A0A0A"/>
              </a:solidFill>
              <a:latin typeface="Telegraf"/>
            </a:endParaRPr>
          </a:p>
        </p:txBody>
      </p:sp>
      <p:sp>
        <p:nvSpPr>
          <p:cNvPr id="1604" name="TextBox 62"/>
          <p:cNvSpPr txBox="1"/>
          <p:nvPr/>
        </p:nvSpPr>
        <p:spPr>
          <a:xfrm>
            <a:off x="914400" y="3302000"/>
            <a:ext cx="1524000" cy="101600"/>
          </a:xfrm>
          <a:prstGeom prst="rect">
            <a:avLst/>
          </a:prstGeom>
        </p:spPr>
        <p:txBody>
          <a:bodyPr wrap="square" lIns="0" tIns="0" rIns="0" bIns="0">
            <a:noAutofit/>
          </a:bodyPr>
          <a:lstStyle/>
          <a:p>
            <a:pPr>
              <a:lnSpc>
                <a:spcPct val="135000"/>
              </a:lnSpc>
            </a:pPr>
            <a:r>
              <a:rPr sz="420" spc="0">
                <a:solidFill>
                  <a:srgbClr val="A2A2A8"/>
                </a:solidFill>
                <a:latin typeface="Telegraf"/>
              </a:rPr>
              <a:t>Aarav  ·  09:44</a:t>
            </a:r>
            <a:endParaRPr sz="420" spc="0">
              <a:solidFill>
                <a:srgbClr val="A2A2A8"/>
              </a:solidFill>
              <a:latin typeface="Telegraf"/>
            </a:endParaRPr>
          </a:p>
        </p:txBody>
      </p:sp>
      <p:sp>
        <p:nvSpPr>
          <p:cNvPr id="1605" name="TextBox 63"/>
          <p:cNvSpPr txBox="1"/>
          <p:nvPr/>
        </p:nvSpPr>
        <p:spPr>
          <a:xfrm>
            <a:off x="762000" y="3632200"/>
            <a:ext cx="1524000" cy="114300"/>
          </a:xfrm>
          <a:prstGeom prst="rect">
            <a:avLst/>
          </a:prstGeom>
        </p:spPr>
        <p:txBody>
          <a:bodyPr wrap="square" lIns="0" tIns="0" rIns="0" bIns="0">
            <a:noAutofit/>
          </a:bodyPr>
          <a:lstStyle/>
          <a:p>
            <a:r>
              <a:rPr sz="440" b="1" spc="100">
                <a:solidFill>
                  <a:srgbClr val="A2A2A8"/>
                </a:solidFill>
                <a:latin typeface="Telegraf"/>
              </a:rPr>
              <a:t>REPLY</a:t>
            </a:r>
            <a:endParaRPr sz="440" b="1" spc="100">
              <a:solidFill>
                <a:srgbClr val="A2A2A8"/>
              </a:solidFill>
              <a:latin typeface="Telegraf"/>
            </a:endParaRPr>
          </a:p>
        </p:txBody>
      </p:sp>
      <p:sp>
        <p:nvSpPr>
          <p:cNvPr id="1606" name="Rectangle 64"/>
          <p:cNvSpPr/>
          <p:nvPr/>
        </p:nvSpPr>
        <p:spPr>
          <a:xfrm>
            <a:off x="762000" y="3759200"/>
            <a:ext cx="5588000" cy="787400"/>
          </a:xfrm>
          <a:custGeom>
            <a:avLst/>
            <a:gdLst/>
            <a:ahLst/>
            <a:cxnLst/>
            <a:rect l="l" t="t" r="r" b="b"/>
            <a:pathLst>
              <a:path w="100000" h="14091">
                <a:moveTo>
                  <a:pt x="95455" y="0"/>
                </a:moveTo>
                <a:cubicBezTo>
                  <a:pt x="97597" y="0"/>
                  <a:pt x="98669" y="0"/>
                  <a:pt x="99334" y="666"/>
                </a:cubicBezTo>
                <a:cubicBezTo>
                  <a:pt x="99334" y="666"/>
                  <a:pt x="99334" y="666"/>
                  <a:pt x="99334" y="666"/>
                </a:cubicBezTo>
                <a:cubicBezTo>
                  <a:pt x="100000" y="1331"/>
                  <a:pt x="100000" y="2403"/>
                  <a:pt x="100000" y="4545"/>
                </a:cubicBezTo>
                <a:lnTo>
                  <a:pt x="100000" y="9545"/>
                </a:lnTo>
                <a:cubicBezTo>
                  <a:pt x="100000" y="11688"/>
                  <a:pt x="100000" y="12760"/>
                  <a:pt x="99334" y="13425"/>
                </a:cubicBezTo>
                <a:cubicBezTo>
                  <a:pt x="99334" y="13425"/>
                  <a:pt x="99334" y="13425"/>
                  <a:pt x="99334" y="13425"/>
                </a:cubicBezTo>
                <a:cubicBezTo>
                  <a:pt x="98669" y="14091"/>
                  <a:pt x="97597" y="14091"/>
                  <a:pt x="95455" y="14091"/>
                </a:cubicBezTo>
                <a:lnTo>
                  <a:pt x="4545" y="14091"/>
                </a:lnTo>
                <a:cubicBezTo>
                  <a:pt x="2403" y="14091"/>
                  <a:pt x="1331" y="14091"/>
                  <a:pt x="666" y="13425"/>
                </a:cubicBezTo>
                <a:cubicBezTo>
                  <a:pt x="666" y="13425"/>
                  <a:pt x="666" y="13425"/>
                  <a:pt x="666" y="13425"/>
                </a:cubicBezTo>
                <a:cubicBezTo>
                  <a:pt x="0" y="12760"/>
                  <a:pt x="0" y="11688"/>
                  <a:pt x="0" y="9545"/>
                </a:cubicBezTo>
                <a:lnTo>
                  <a:pt x="0" y="4545"/>
                </a:lnTo>
                <a:cubicBezTo>
                  <a:pt x="0" y="2403"/>
                  <a:pt x="0" y="1331"/>
                  <a:pt x="666" y="666"/>
                </a:cubicBezTo>
                <a:cubicBezTo>
                  <a:pt x="666" y="666"/>
                  <a:pt x="666" y="666"/>
                  <a:pt x="666" y="666"/>
                </a:cubicBezTo>
                <a:cubicBezTo>
                  <a:pt x="1331" y="0"/>
                  <a:pt x="2403" y="0"/>
                  <a:pt x="4545"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07" name="TextBox 65"/>
          <p:cNvSpPr txBox="1"/>
          <p:nvPr/>
        </p:nvSpPr>
        <p:spPr>
          <a:xfrm>
            <a:off x="914400" y="3860800"/>
            <a:ext cx="5080000" cy="381000"/>
          </a:xfrm>
          <a:prstGeom prst="rect">
            <a:avLst/>
          </a:prstGeom>
        </p:spPr>
        <p:txBody>
          <a:bodyPr wrap="square" lIns="0" tIns="0" rIns="0" bIns="0">
            <a:noAutofit/>
          </a:bodyPr>
          <a:lstStyle/>
          <a:p>
            <a:pPr>
              <a:lnSpc>
                <a:spcPct val="145000"/>
              </a:lnSpc>
            </a:pPr>
            <a:r>
              <a:rPr sz="520" spc="0">
                <a:solidFill>
                  <a:srgbClr val="0A0A0A"/>
                </a:solidFill>
                <a:latin typeface="Telegraf"/>
              </a:rPr>
              <a:t>Yes — the follow-up fitting is included in the ₹6,000. Shall I book you for Saturday?</a:t>
            </a:r>
            <a:endParaRPr sz="520" spc="0">
              <a:solidFill>
                <a:srgbClr val="0A0A0A"/>
              </a:solidFill>
              <a:latin typeface="Telegraf"/>
            </a:endParaRPr>
          </a:p>
        </p:txBody>
      </p:sp>
      <p:sp>
        <p:nvSpPr>
          <p:cNvPr id="1608" name="Rectangle 66"/>
          <p:cNvSpPr/>
          <p:nvPr/>
        </p:nvSpPr>
        <p:spPr>
          <a:xfrm>
            <a:off x="762000" y="4165600"/>
            <a:ext cx="5588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09" name="Rectangle 67"/>
          <p:cNvSpPr/>
          <p:nvPr/>
        </p:nvSpPr>
        <p:spPr>
          <a:xfrm>
            <a:off x="838200" y="4241800"/>
            <a:ext cx="1066800" cy="228600"/>
          </a:xfrm>
          <a:custGeom>
            <a:avLst/>
            <a:gdLst/>
            <a:ahLst/>
            <a:cxnLst/>
            <a:rect l="l" t="t" r="r" b="b"/>
            <a:pathLst>
              <a:path w="100000" h="21429">
                <a:moveTo>
                  <a:pt x="89286" y="0"/>
                </a:moveTo>
                <a:cubicBezTo>
                  <a:pt x="89286" y="0"/>
                  <a:pt x="89286" y="0"/>
                  <a:pt x="89286" y="0"/>
                </a:cubicBezTo>
                <a:cubicBezTo>
                  <a:pt x="95204" y="0"/>
                  <a:pt x="100000" y="4796"/>
                  <a:pt x="100000" y="10714"/>
                </a:cubicBezTo>
                <a:cubicBezTo>
                  <a:pt x="100000" y="10714"/>
                  <a:pt x="100000" y="10714"/>
                  <a:pt x="100000" y="10714"/>
                </a:cubicBezTo>
                <a:lnTo>
                  <a:pt x="100000" y="10714"/>
                </a:lnTo>
                <a:cubicBezTo>
                  <a:pt x="100000" y="10714"/>
                  <a:pt x="100000" y="10714"/>
                  <a:pt x="100000" y="10714"/>
                </a:cubicBezTo>
                <a:cubicBezTo>
                  <a:pt x="100000" y="16632"/>
                  <a:pt x="95204" y="21429"/>
                  <a:pt x="89286" y="21429"/>
                </a:cubicBezTo>
                <a:cubicBezTo>
                  <a:pt x="89286" y="21429"/>
                  <a:pt x="89286" y="21429"/>
                  <a:pt x="89286" y="21429"/>
                </a:cubicBezTo>
                <a:lnTo>
                  <a:pt x="10714" y="21429"/>
                </a:lnTo>
                <a:cubicBezTo>
                  <a:pt x="10714" y="21429"/>
                  <a:pt x="10714" y="21429"/>
                  <a:pt x="10714" y="21429"/>
                </a:cubicBezTo>
                <a:cubicBezTo>
                  <a:pt x="4796" y="21429"/>
                  <a:pt x="0" y="16632"/>
                  <a:pt x="0" y="10714"/>
                </a:cubicBezTo>
                <a:cubicBezTo>
                  <a:pt x="0" y="10714"/>
                  <a:pt x="0" y="10714"/>
                  <a:pt x="0" y="10714"/>
                </a:cubicBezTo>
                <a:lnTo>
                  <a:pt x="0" y="10714"/>
                </a:lnTo>
                <a:cubicBezTo>
                  <a:pt x="0" y="10714"/>
                  <a:pt x="0" y="10714"/>
                  <a:pt x="0" y="10714"/>
                </a:cubicBezTo>
                <a:cubicBezTo>
                  <a:pt x="0" y="4796"/>
                  <a:pt x="4796" y="0"/>
                  <a:pt x="10714" y="0"/>
                </a:cubicBezTo>
                <a:cubicBezTo>
                  <a:pt x="10714" y="0"/>
                  <a:pt x="10714" y="0"/>
                  <a:pt x="1071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10" name="TextBox 68"/>
          <p:cNvSpPr txBox="1"/>
          <p:nvPr/>
        </p:nvSpPr>
        <p:spPr>
          <a:xfrm>
            <a:off x="914400" y="4241800"/>
            <a:ext cx="939800" cy="228600"/>
          </a:xfrm>
          <a:prstGeom prst="rect">
            <a:avLst/>
          </a:prstGeom>
        </p:spPr>
        <p:txBody>
          <a:bodyPr wrap="square" lIns="0" tIns="0" rIns="0" bIns="0" anchor="ctr">
            <a:noAutofit/>
          </a:bodyPr>
          <a:lstStyle/>
          <a:p>
            <a:pPr>
              <a:lnSpc>
                <a:spcPct val="135000"/>
              </a:lnSpc>
            </a:pPr>
            <a:r>
              <a:rPr sz="450" b="1" spc="10">
                <a:solidFill>
                  <a:srgbClr val="FFFFFF"/>
                </a:solidFill>
                <a:latin typeface="Telegraf"/>
              </a:rPr>
              <a:t>Approve &amp; send</a:t>
            </a:r>
            <a:endParaRPr sz="450" b="1" spc="10">
              <a:solidFill>
                <a:srgbClr val="FFFFFF"/>
              </a:solidFill>
              <a:latin typeface="Telegraf"/>
            </a:endParaRPr>
          </a:p>
        </p:txBody>
      </p:sp>
      <p:sp>
        <p:nvSpPr>
          <p:cNvPr id="1611" name="Rectangle 69"/>
          <p:cNvSpPr/>
          <p:nvPr/>
        </p:nvSpPr>
        <p:spPr>
          <a:xfrm>
            <a:off x="1981200" y="4241800"/>
            <a:ext cx="736600" cy="228600"/>
          </a:xfrm>
          <a:custGeom>
            <a:avLst/>
            <a:gdLst/>
            <a:ahLst/>
            <a:cxnLst/>
            <a:rect l="l" t="t" r="r" b="b"/>
            <a:pathLst>
              <a:path w="100000" h="31034">
                <a:moveTo>
                  <a:pt x="84483" y="0"/>
                </a:moveTo>
                <a:cubicBezTo>
                  <a:pt x="84483" y="0"/>
                  <a:pt x="84483" y="0"/>
                  <a:pt x="84483" y="0"/>
                </a:cubicBezTo>
                <a:cubicBezTo>
                  <a:pt x="93053" y="0"/>
                  <a:pt x="100000" y="6947"/>
                  <a:pt x="100000" y="15517"/>
                </a:cubicBezTo>
                <a:cubicBezTo>
                  <a:pt x="100000" y="15517"/>
                  <a:pt x="100000" y="15517"/>
                  <a:pt x="100000" y="15517"/>
                </a:cubicBezTo>
                <a:lnTo>
                  <a:pt x="100000" y="15517"/>
                </a:lnTo>
                <a:cubicBezTo>
                  <a:pt x="100000" y="15517"/>
                  <a:pt x="100000" y="15517"/>
                  <a:pt x="100000" y="15517"/>
                </a:cubicBezTo>
                <a:cubicBezTo>
                  <a:pt x="100000" y="24088"/>
                  <a:pt x="93053" y="31034"/>
                  <a:pt x="84483" y="31034"/>
                </a:cubicBezTo>
                <a:cubicBezTo>
                  <a:pt x="84483" y="31034"/>
                  <a:pt x="84483" y="31034"/>
                  <a:pt x="84483" y="31034"/>
                </a:cubicBezTo>
                <a:lnTo>
                  <a:pt x="15517" y="31034"/>
                </a:lnTo>
                <a:cubicBezTo>
                  <a:pt x="15517" y="31034"/>
                  <a:pt x="15517" y="31034"/>
                  <a:pt x="15517" y="31034"/>
                </a:cubicBezTo>
                <a:cubicBezTo>
                  <a:pt x="6947" y="31034"/>
                  <a:pt x="0" y="24088"/>
                  <a:pt x="0" y="15517"/>
                </a:cubicBezTo>
                <a:cubicBezTo>
                  <a:pt x="0" y="15517"/>
                  <a:pt x="0" y="15517"/>
                  <a:pt x="0" y="15517"/>
                </a:cubicBezTo>
                <a:lnTo>
                  <a:pt x="0" y="15517"/>
                </a:lnTo>
                <a:cubicBezTo>
                  <a:pt x="0" y="15517"/>
                  <a:pt x="0" y="15517"/>
                  <a:pt x="0" y="15517"/>
                </a:cubicBezTo>
                <a:cubicBezTo>
                  <a:pt x="0" y="6947"/>
                  <a:pt x="6947" y="0"/>
                  <a:pt x="15517" y="0"/>
                </a:cubicBezTo>
                <a:cubicBezTo>
                  <a:pt x="15517" y="0"/>
                  <a:pt x="15517" y="0"/>
                  <a:pt x="1551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12" name="TextBox 70"/>
          <p:cNvSpPr txBox="1"/>
          <p:nvPr/>
        </p:nvSpPr>
        <p:spPr>
          <a:xfrm>
            <a:off x="2057400" y="4241800"/>
            <a:ext cx="609600" cy="228600"/>
          </a:xfrm>
          <a:prstGeom prst="rect">
            <a:avLst/>
          </a:prstGeom>
        </p:spPr>
        <p:txBody>
          <a:bodyPr wrap="square" lIns="0" tIns="0" rIns="0" bIns="0" anchor="ctr">
            <a:noAutofit/>
          </a:bodyPr>
          <a:lstStyle/>
          <a:p>
            <a:pPr>
              <a:lnSpc>
                <a:spcPct val="135000"/>
              </a:lnSpc>
            </a:pPr>
            <a:r>
              <a:rPr sz="450" b="1" spc="10">
                <a:solidFill>
                  <a:srgbClr val="67676E"/>
                </a:solidFill>
                <a:latin typeface="Telegraf"/>
              </a:rPr>
              <a:t>Edit</a:t>
            </a:r>
            <a:endParaRPr sz="450" b="1" spc="10">
              <a:solidFill>
                <a:srgbClr val="67676E"/>
              </a:solidFill>
              <a:latin typeface="Telegraf"/>
            </a:endParaRPr>
          </a:p>
        </p:txBody>
      </p:sp>
      <p:sp>
        <p:nvSpPr>
          <p:cNvPr id="1613" name="TextBox 71"/>
          <p:cNvSpPr txBox="1"/>
          <p:nvPr/>
        </p:nvSpPr>
        <p:spPr>
          <a:xfrm>
            <a:off x="2819400" y="4241800"/>
            <a:ext cx="889000" cy="228600"/>
          </a:xfrm>
          <a:prstGeom prst="rect">
            <a:avLst/>
          </a:prstGeom>
        </p:spPr>
        <p:txBody>
          <a:bodyPr wrap="square" lIns="0" tIns="0" rIns="0" bIns="0" anchor="ctr">
            <a:noAutofit/>
          </a:bodyPr>
          <a:lstStyle/>
          <a:p>
            <a:pPr>
              <a:lnSpc>
                <a:spcPct val="135000"/>
              </a:lnSpc>
            </a:pPr>
            <a:r>
              <a:rPr sz="450" spc="0">
                <a:solidFill>
                  <a:srgbClr val="99201C"/>
                </a:solidFill>
                <a:latin typeface="Telegraf"/>
              </a:rPr>
              <a:t>Escalate</a:t>
            </a:r>
            <a:endParaRPr sz="450" spc="0">
              <a:solidFill>
                <a:srgbClr val="99201C"/>
              </a:solidFill>
              <a:latin typeface="Telegraf"/>
            </a:endParaRPr>
          </a:p>
        </p:txBody>
      </p:sp>
      <p:sp>
        <p:nvSpPr>
          <p:cNvPr id="1614" name="TextBox 72"/>
          <p:cNvSpPr txBox="1"/>
          <p:nvPr/>
        </p:nvSpPr>
        <p:spPr>
          <a:xfrm>
            <a:off x="3810000" y="4241800"/>
            <a:ext cx="2413000" cy="228600"/>
          </a:xfrm>
          <a:prstGeom prst="rect">
            <a:avLst/>
          </a:prstGeom>
        </p:spPr>
        <p:txBody>
          <a:bodyPr wrap="square" lIns="0" tIns="0" rIns="0" bIns="0" anchor="ctr">
            <a:noAutofit/>
          </a:bodyPr>
          <a:lstStyle/>
          <a:p>
            <a:pPr algn="r">
              <a:lnSpc>
                <a:spcPct val="135000"/>
              </a:lnSpc>
            </a:pPr>
            <a:r>
              <a:rPr sz="430" spc="0">
                <a:solidFill>
                  <a:srgbClr val="A2A2A8"/>
                </a:solidFill>
                <a:latin typeface="Telegraf"/>
              </a:rPr>
              <a:t>Adds one auto-send event, R6</a:t>
            </a:r>
            <a:endParaRPr sz="430" spc="0">
              <a:solidFill>
                <a:srgbClr val="A2A2A8"/>
              </a:solidFill>
              <a:latin typeface="Telegraf"/>
            </a:endParaRPr>
          </a:p>
        </p:txBody>
      </p:sp>
      <p:sp>
        <p:nvSpPr>
          <p:cNvPr id="1615" name="TextBox 73"/>
          <p:cNvSpPr txBox="1"/>
          <p:nvPr/>
        </p:nvSpPr>
        <p:spPr>
          <a:xfrm>
            <a:off x="762000" y="4749800"/>
            <a:ext cx="1270000" cy="114300"/>
          </a:xfrm>
          <a:prstGeom prst="rect">
            <a:avLst/>
          </a:prstGeom>
        </p:spPr>
        <p:txBody>
          <a:bodyPr wrap="square" lIns="0" tIns="0" rIns="0" bIns="0">
            <a:noAutofit/>
          </a:bodyPr>
          <a:lstStyle/>
          <a:p>
            <a:r>
              <a:rPr sz="440" b="1" spc="100">
                <a:solidFill>
                  <a:srgbClr val="A2A2A8"/>
                </a:solidFill>
                <a:latin typeface="Telegraf"/>
              </a:rPr>
              <a:t>SOURCES</a:t>
            </a:r>
            <a:endParaRPr sz="440" b="1" spc="100">
              <a:solidFill>
                <a:srgbClr val="A2A2A8"/>
              </a:solidFill>
              <a:latin typeface="Telegraf"/>
            </a:endParaRPr>
          </a:p>
        </p:txBody>
      </p:sp>
      <p:sp>
        <p:nvSpPr>
          <p:cNvPr id="1616" name="Rectangle 74"/>
          <p:cNvSpPr/>
          <p:nvPr/>
        </p:nvSpPr>
        <p:spPr>
          <a:xfrm>
            <a:off x="762000" y="4902200"/>
            <a:ext cx="2717800" cy="965200"/>
          </a:xfrm>
          <a:custGeom>
            <a:avLst/>
            <a:gdLst/>
            <a:ahLst/>
            <a:cxnLst/>
            <a:rect l="l" t="t" r="r" b="b"/>
            <a:pathLst>
              <a:path w="100000" h="35514">
                <a:moveTo>
                  <a:pt x="90654" y="0"/>
                </a:moveTo>
                <a:cubicBezTo>
                  <a:pt x="95060" y="0"/>
                  <a:pt x="97263" y="0"/>
                  <a:pt x="98631" y="1369"/>
                </a:cubicBezTo>
                <a:cubicBezTo>
                  <a:pt x="98631" y="1369"/>
                  <a:pt x="98631" y="1369"/>
                  <a:pt x="98631" y="1369"/>
                </a:cubicBezTo>
                <a:cubicBezTo>
                  <a:pt x="100000" y="2737"/>
                  <a:pt x="100000" y="4940"/>
                  <a:pt x="100000" y="9346"/>
                </a:cubicBezTo>
                <a:lnTo>
                  <a:pt x="100000" y="26168"/>
                </a:lnTo>
                <a:cubicBezTo>
                  <a:pt x="100000" y="30574"/>
                  <a:pt x="100000" y="32777"/>
                  <a:pt x="98631" y="34145"/>
                </a:cubicBezTo>
                <a:cubicBezTo>
                  <a:pt x="98631" y="34145"/>
                  <a:pt x="98631" y="34145"/>
                  <a:pt x="98631" y="34145"/>
                </a:cubicBezTo>
                <a:cubicBezTo>
                  <a:pt x="97263" y="35514"/>
                  <a:pt x="95060" y="35514"/>
                  <a:pt x="90654" y="35514"/>
                </a:cubicBezTo>
                <a:lnTo>
                  <a:pt x="9346" y="35514"/>
                </a:lnTo>
                <a:cubicBezTo>
                  <a:pt x="4940" y="35514"/>
                  <a:pt x="2737" y="35514"/>
                  <a:pt x="1369" y="34145"/>
                </a:cubicBezTo>
                <a:cubicBezTo>
                  <a:pt x="1369" y="34145"/>
                  <a:pt x="1369" y="34145"/>
                  <a:pt x="1369" y="34145"/>
                </a:cubicBezTo>
                <a:cubicBezTo>
                  <a:pt x="0" y="32777"/>
                  <a:pt x="0" y="30574"/>
                  <a:pt x="0" y="26168"/>
                </a:cubicBezTo>
                <a:lnTo>
                  <a:pt x="0" y="9346"/>
                </a:lnTo>
                <a:cubicBezTo>
                  <a:pt x="0" y="4940"/>
                  <a:pt x="0" y="2737"/>
                  <a:pt x="1369" y="1369"/>
                </a:cubicBezTo>
                <a:cubicBezTo>
                  <a:pt x="1369" y="1369"/>
                  <a:pt x="1369" y="1369"/>
                  <a:pt x="1369" y="1369"/>
                </a:cubicBezTo>
                <a:cubicBezTo>
                  <a:pt x="2737" y="0"/>
                  <a:pt x="4940" y="0"/>
                  <a:pt x="9346" y="0"/>
                </a:cubicBezTo>
                <a:close/>
              </a:path>
            </a:pathLst>
          </a:custGeom>
          <a:solidFill>
            <a:srgbClr val="FBFBF9"/>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17" name="TextBox 75"/>
          <p:cNvSpPr txBox="1"/>
          <p:nvPr/>
        </p:nvSpPr>
        <p:spPr>
          <a:xfrm>
            <a:off x="914400" y="5029200"/>
            <a:ext cx="1143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chk_cp_06</a:t>
            </a:r>
            <a:endParaRPr sz="460" b="1" spc="0">
              <a:solidFill>
                <a:srgbClr val="0E6B5F"/>
              </a:solidFill>
              <a:latin typeface="Telegraf"/>
            </a:endParaRPr>
          </a:p>
        </p:txBody>
      </p:sp>
      <p:sp>
        <p:nvSpPr>
          <p:cNvPr id="1618" name="TextBox 76"/>
          <p:cNvSpPr txBox="1"/>
          <p:nvPr/>
        </p:nvSpPr>
        <p:spPr>
          <a:xfrm>
            <a:off x="914400" y="5156200"/>
            <a:ext cx="1524000" cy="127000"/>
          </a:xfrm>
          <a:prstGeom prst="rect">
            <a:avLst/>
          </a:prstGeom>
        </p:spPr>
        <p:txBody>
          <a:bodyPr wrap="square" lIns="0" tIns="0" rIns="0" bIns="0">
            <a:noAutofit/>
          </a:bodyPr>
          <a:lstStyle/>
          <a:p>
            <a:pPr>
              <a:lnSpc>
                <a:spcPct val="135000"/>
              </a:lnSpc>
            </a:pPr>
            <a:r>
              <a:rPr sz="450" spc="0">
                <a:solidFill>
                  <a:srgbClr val="0A0A0A"/>
                </a:solidFill>
                <a:latin typeface="Telegraf"/>
              </a:rPr>
              <a:t>Delivery &amp; dispatch</a:t>
            </a:r>
            <a:endParaRPr sz="450" spc="0">
              <a:solidFill>
                <a:srgbClr val="0A0A0A"/>
              </a:solidFill>
              <a:latin typeface="Telegraf"/>
            </a:endParaRPr>
          </a:p>
        </p:txBody>
      </p:sp>
      <p:sp>
        <p:nvSpPr>
          <p:cNvPr id="1619" name="TextBox 77"/>
          <p:cNvSpPr txBox="1"/>
          <p:nvPr/>
        </p:nvSpPr>
        <p:spPr>
          <a:xfrm>
            <a:off x="914400" y="5308600"/>
            <a:ext cx="2413000" cy="381000"/>
          </a:xfrm>
          <a:prstGeom prst="rect">
            <a:avLst/>
          </a:prstGeom>
        </p:spPr>
        <p:txBody>
          <a:bodyPr wrap="square" lIns="0" tIns="0" rIns="0" bIns="0">
            <a:noAutofit/>
          </a:bodyPr>
          <a:lstStyle/>
          <a:p>
            <a:pPr>
              <a:lnSpc>
                <a:spcPct val="140000"/>
              </a:lnSpc>
            </a:pPr>
            <a:r>
              <a:rPr sz="450" spc="0">
                <a:solidFill>
                  <a:srgbClr val="67676E"/>
                </a:solidFill>
                <a:latin typeface="Telegraf"/>
              </a:rPr>
              <a:t>Crowns ship BlueDart; tracking updates on clinic scan; next-day delivery.</a:t>
            </a:r>
            <a:endParaRPr sz="450" spc="0">
              <a:solidFill>
                <a:srgbClr val="67676E"/>
              </a:solidFill>
              <a:latin typeface="Telegraf"/>
            </a:endParaRPr>
          </a:p>
        </p:txBody>
      </p:sp>
      <p:sp>
        <p:nvSpPr>
          <p:cNvPr id="1620" name="TextBox 78"/>
          <p:cNvSpPr txBox="1"/>
          <p:nvPr/>
        </p:nvSpPr>
        <p:spPr>
          <a:xfrm>
            <a:off x="2844800" y="5029200"/>
            <a:ext cx="508000" cy="127000"/>
          </a:xfrm>
          <a:prstGeom prst="rect">
            <a:avLst/>
          </a:prstGeom>
        </p:spPr>
        <p:txBody>
          <a:bodyPr wrap="square" lIns="0" tIns="0" rIns="0" bIns="0">
            <a:noAutofit/>
          </a:bodyPr>
          <a:lstStyle/>
          <a:p>
            <a:pPr algn="r">
              <a:lnSpc>
                <a:spcPct val="135000"/>
              </a:lnSpc>
            </a:pPr>
            <a:r>
              <a:rPr sz="450" spc="0">
                <a:solidFill>
                  <a:srgbClr val="A2A2A8"/>
                </a:solidFill>
                <a:latin typeface="Telegraf"/>
              </a:rPr>
              <a:t>0.91</a:t>
            </a:r>
            <a:endParaRPr sz="450" spc="0">
              <a:solidFill>
                <a:srgbClr val="A2A2A8"/>
              </a:solidFill>
              <a:latin typeface="Telegraf"/>
            </a:endParaRPr>
          </a:p>
        </p:txBody>
      </p:sp>
      <p:sp>
        <p:nvSpPr>
          <p:cNvPr id="1621" name="Rectangle 79"/>
          <p:cNvSpPr/>
          <p:nvPr/>
        </p:nvSpPr>
        <p:spPr>
          <a:xfrm>
            <a:off x="3606800" y="4902200"/>
            <a:ext cx="2717800" cy="965200"/>
          </a:xfrm>
          <a:custGeom>
            <a:avLst/>
            <a:gdLst/>
            <a:ahLst/>
            <a:cxnLst/>
            <a:rect l="l" t="t" r="r" b="b"/>
            <a:pathLst>
              <a:path w="100000" h="35514">
                <a:moveTo>
                  <a:pt x="90654" y="0"/>
                </a:moveTo>
                <a:cubicBezTo>
                  <a:pt x="95060" y="0"/>
                  <a:pt x="97263" y="0"/>
                  <a:pt x="98631" y="1369"/>
                </a:cubicBezTo>
                <a:cubicBezTo>
                  <a:pt x="98631" y="1369"/>
                  <a:pt x="98631" y="1369"/>
                  <a:pt x="98631" y="1369"/>
                </a:cubicBezTo>
                <a:cubicBezTo>
                  <a:pt x="100000" y="2737"/>
                  <a:pt x="100000" y="4940"/>
                  <a:pt x="100000" y="9346"/>
                </a:cubicBezTo>
                <a:lnTo>
                  <a:pt x="100000" y="26168"/>
                </a:lnTo>
                <a:cubicBezTo>
                  <a:pt x="100000" y="30574"/>
                  <a:pt x="100000" y="32777"/>
                  <a:pt x="98631" y="34145"/>
                </a:cubicBezTo>
                <a:cubicBezTo>
                  <a:pt x="98631" y="34145"/>
                  <a:pt x="98631" y="34145"/>
                  <a:pt x="98631" y="34145"/>
                </a:cubicBezTo>
                <a:cubicBezTo>
                  <a:pt x="97263" y="35514"/>
                  <a:pt x="95060" y="35514"/>
                  <a:pt x="90654" y="35514"/>
                </a:cubicBezTo>
                <a:lnTo>
                  <a:pt x="9346" y="35514"/>
                </a:lnTo>
                <a:cubicBezTo>
                  <a:pt x="4940" y="35514"/>
                  <a:pt x="2737" y="35514"/>
                  <a:pt x="1369" y="34145"/>
                </a:cubicBezTo>
                <a:cubicBezTo>
                  <a:pt x="1369" y="34145"/>
                  <a:pt x="1369" y="34145"/>
                  <a:pt x="1369" y="34145"/>
                </a:cubicBezTo>
                <a:cubicBezTo>
                  <a:pt x="0" y="32777"/>
                  <a:pt x="0" y="30574"/>
                  <a:pt x="0" y="26168"/>
                </a:cubicBezTo>
                <a:lnTo>
                  <a:pt x="0" y="9346"/>
                </a:lnTo>
                <a:cubicBezTo>
                  <a:pt x="0" y="4940"/>
                  <a:pt x="0" y="2737"/>
                  <a:pt x="1369" y="1369"/>
                </a:cubicBezTo>
                <a:cubicBezTo>
                  <a:pt x="1369" y="1369"/>
                  <a:pt x="1369" y="1369"/>
                  <a:pt x="1369" y="1369"/>
                </a:cubicBezTo>
                <a:cubicBezTo>
                  <a:pt x="2737" y="0"/>
                  <a:pt x="4940" y="0"/>
                  <a:pt x="9346" y="0"/>
                </a:cubicBezTo>
                <a:close/>
              </a:path>
            </a:pathLst>
          </a:custGeom>
          <a:solidFill>
            <a:srgbClr val="FBFBF9"/>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22" name="TextBox 80"/>
          <p:cNvSpPr txBox="1"/>
          <p:nvPr/>
        </p:nvSpPr>
        <p:spPr>
          <a:xfrm>
            <a:off x="3759200" y="5029200"/>
            <a:ext cx="1143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chk_cp_02</a:t>
            </a:r>
            <a:endParaRPr sz="460" b="1" spc="0">
              <a:solidFill>
                <a:srgbClr val="0E6B5F"/>
              </a:solidFill>
              <a:latin typeface="Telegraf"/>
            </a:endParaRPr>
          </a:p>
        </p:txBody>
      </p:sp>
      <p:sp>
        <p:nvSpPr>
          <p:cNvPr id="1623" name="TextBox 81"/>
          <p:cNvSpPr txBox="1"/>
          <p:nvPr/>
        </p:nvSpPr>
        <p:spPr>
          <a:xfrm>
            <a:off x="3759200" y="5156200"/>
            <a:ext cx="1524000" cy="127000"/>
          </a:xfrm>
          <a:prstGeom prst="rect">
            <a:avLst/>
          </a:prstGeom>
        </p:spPr>
        <p:txBody>
          <a:bodyPr wrap="square" lIns="0" tIns="0" rIns="0" bIns="0">
            <a:noAutofit/>
          </a:bodyPr>
          <a:lstStyle/>
          <a:p>
            <a:pPr>
              <a:lnSpc>
                <a:spcPct val="135000"/>
              </a:lnSpc>
            </a:pPr>
            <a:r>
              <a:rPr sz="450" spc="0">
                <a:solidFill>
                  <a:srgbClr val="0A0A0A"/>
                </a:solidFill>
                <a:latin typeface="Telegraf"/>
              </a:rPr>
              <a:t>Products &amp; pricing</a:t>
            </a:r>
            <a:endParaRPr sz="450" spc="0">
              <a:solidFill>
                <a:srgbClr val="0A0A0A"/>
              </a:solidFill>
              <a:latin typeface="Telegraf"/>
            </a:endParaRPr>
          </a:p>
        </p:txBody>
      </p:sp>
      <p:sp>
        <p:nvSpPr>
          <p:cNvPr id="1624" name="TextBox 82"/>
          <p:cNvSpPr txBox="1"/>
          <p:nvPr/>
        </p:nvSpPr>
        <p:spPr>
          <a:xfrm>
            <a:off x="3759200" y="5308600"/>
            <a:ext cx="2413000" cy="381000"/>
          </a:xfrm>
          <a:prstGeom prst="rect">
            <a:avLst/>
          </a:prstGeom>
        </p:spPr>
        <p:txBody>
          <a:bodyPr wrap="square" lIns="0" tIns="0" rIns="0" bIns="0">
            <a:noAutofit/>
          </a:bodyPr>
          <a:lstStyle/>
          <a:p>
            <a:pPr>
              <a:lnSpc>
                <a:spcPct val="140000"/>
              </a:lnSpc>
            </a:pPr>
            <a:r>
              <a:rPr sz="450" spc="0">
                <a:solidFill>
                  <a:srgbClr val="67676E"/>
                </a:solidFill>
                <a:latin typeface="Telegraf"/>
              </a:rPr>
              <a:t>Ceramic crown ₹6,000 incl. fitting and one follow-up.</a:t>
            </a:r>
            <a:endParaRPr sz="450" spc="0">
              <a:solidFill>
                <a:srgbClr val="67676E"/>
              </a:solidFill>
              <a:latin typeface="Telegraf"/>
            </a:endParaRPr>
          </a:p>
        </p:txBody>
      </p:sp>
      <p:sp>
        <p:nvSpPr>
          <p:cNvPr id="1625" name="TextBox 83"/>
          <p:cNvSpPr txBox="1"/>
          <p:nvPr/>
        </p:nvSpPr>
        <p:spPr>
          <a:xfrm>
            <a:off x="5689600" y="5029200"/>
            <a:ext cx="508000" cy="127000"/>
          </a:xfrm>
          <a:prstGeom prst="rect">
            <a:avLst/>
          </a:prstGeom>
        </p:spPr>
        <p:txBody>
          <a:bodyPr wrap="square" lIns="0" tIns="0" rIns="0" bIns="0">
            <a:noAutofit/>
          </a:bodyPr>
          <a:lstStyle/>
          <a:p>
            <a:pPr algn="r">
              <a:lnSpc>
                <a:spcPct val="135000"/>
              </a:lnSpc>
            </a:pPr>
            <a:r>
              <a:rPr sz="450" spc="0">
                <a:solidFill>
                  <a:srgbClr val="A2A2A8"/>
                </a:solidFill>
                <a:latin typeface="Telegraf"/>
              </a:rPr>
              <a:t>0.84</a:t>
            </a:r>
            <a:endParaRPr sz="450" spc="0">
              <a:solidFill>
                <a:srgbClr val="A2A2A8"/>
              </a:solidFill>
              <a:latin typeface="Telegraf"/>
            </a:endParaRPr>
          </a:p>
        </p:txBody>
      </p:sp>
      <p:sp>
        <p:nvSpPr>
          <p:cNvPr id="1626" name="TextBox 84"/>
          <p:cNvSpPr txBox="1"/>
          <p:nvPr/>
        </p:nvSpPr>
        <p:spPr>
          <a:xfrm>
            <a:off x="762000" y="5994400"/>
            <a:ext cx="5588000" cy="127000"/>
          </a:xfrm>
          <a:prstGeom prst="rect">
            <a:avLst/>
          </a:prstGeom>
        </p:spPr>
        <p:txBody>
          <a:bodyPr wrap="square" lIns="0" tIns="0" rIns="0" bIns="0">
            <a:noAutofit/>
          </a:bodyPr>
          <a:lstStyle/>
          <a:p>
            <a:pPr>
              <a:lnSpc>
                <a:spcPct val="135000"/>
              </a:lnSpc>
            </a:pPr>
            <a:r>
              <a:rPr sz="440" spc="0">
                <a:solidFill>
                  <a:srgbClr val="A2A2A8"/>
                </a:solidFill>
                <a:latin typeface="Telegraf"/>
              </a:rPr>
              <a:t>Verbatim excerpt, never a paraphrase — AT-09 checks the id, not the wording.</a:t>
            </a:r>
            <a:endParaRPr sz="440" spc="0">
              <a:solidFill>
                <a:srgbClr val="A2A2A8"/>
              </a:solidFill>
              <a:latin typeface="Telegraf"/>
            </a:endParaRPr>
          </a:p>
        </p:txBody>
      </p:sp>
      <p:sp>
        <p:nvSpPr>
          <p:cNvPr id="1627" name="Rectangle 85"/>
          <p:cNvSpPr/>
          <p:nvPr/>
        </p:nvSpPr>
        <p:spPr>
          <a:xfrm>
            <a:off x="6553200" y="762000"/>
            <a:ext cx="3556000" cy="5943600"/>
          </a:xfrm>
          <a:custGeom>
            <a:avLst/>
            <a:gdLst/>
            <a:ahLst/>
            <a:cxnLst/>
            <a:rect l="l" t="t" r="r" b="b"/>
            <a:pathLst>
              <a:path w="59829" h="100000">
                <a:moveTo>
                  <a:pt x="54701" y="0"/>
                </a:moveTo>
                <a:cubicBezTo>
                  <a:pt x="57118" y="0"/>
                  <a:pt x="58327" y="0"/>
                  <a:pt x="59078" y="751"/>
                </a:cubicBezTo>
                <a:cubicBezTo>
                  <a:pt x="59078" y="751"/>
                  <a:pt x="59078" y="751"/>
                  <a:pt x="59078" y="751"/>
                </a:cubicBezTo>
                <a:cubicBezTo>
                  <a:pt x="59829" y="1502"/>
                  <a:pt x="59829" y="2711"/>
                  <a:pt x="59829" y="5128"/>
                </a:cubicBezTo>
                <a:lnTo>
                  <a:pt x="59829" y="94872"/>
                </a:lnTo>
                <a:cubicBezTo>
                  <a:pt x="59829" y="97289"/>
                  <a:pt x="59829" y="98498"/>
                  <a:pt x="59078" y="99249"/>
                </a:cubicBezTo>
                <a:cubicBezTo>
                  <a:pt x="59078" y="99249"/>
                  <a:pt x="59078" y="99249"/>
                  <a:pt x="59078" y="99249"/>
                </a:cubicBezTo>
                <a:cubicBezTo>
                  <a:pt x="58327" y="100000"/>
                  <a:pt x="57118" y="100000"/>
                  <a:pt x="54701" y="100000"/>
                </a:cubicBezTo>
                <a:lnTo>
                  <a:pt x="5128" y="100000"/>
                </a:lnTo>
                <a:cubicBezTo>
                  <a:pt x="2711" y="100000"/>
                  <a:pt x="1502" y="100000"/>
                  <a:pt x="751" y="99249"/>
                </a:cubicBezTo>
                <a:cubicBezTo>
                  <a:pt x="751" y="99249"/>
                  <a:pt x="751" y="99249"/>
                  <a:pt x="751" y="99249"/>
                </a:cubicBezTo>
                <a:cubicBezTo>
                  <a:pt x="0" y="98498"/>
                  <a:pt x="0" y="97289"/>
                  <a:pt x="0" y="94872"/>
                </a:cubicBezTo>
                <a:lnTo>
                  <a:pt x="0" y="5128"/>
                </a:lnTo>
                <a:cubicBezTo>
                  <a:pt x="0" y="2711"/>
                  <a:pt x="0" y="1502"/>
                  <a:pt x="751" y="751"/>
                </a:cubicBezTo>
                <a:cubicBezTo>
                  <a:pt x="751" y="751"/>
                  <a:pt x="751" y="751"/>
                  <a:pt x="751" y="751"/>
                </a:cubicBezTo>
                <a:cubicBezTo>
                  <a:pt x="1502" y="0"/>
                  <a:pt x="2711" y="0"/>
                  <a:pt x="5128" y="0"/>
                </a:cubicBezTo>
                <a:close/>
              </a:path>
            </a:pathLst>
          </a:custGeom>
          <a:solidFill>
            <a:srgbClr val="FBFBF9"/>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28" name="TextBox 86"/>
          <p:cNvSpPr txBox="1"/>
          <p:nvPr/>
        </p:nvSpPr>
        <p:spPr>
          <a:xfrm>
            <a:off x="6731000" y="914400"/>
            <a:ext cx="1778000" cy="114300"/>
          </a:xfrm>
          <a:prstGeom prst="rect">
            <a:avLst/>
          </a:prstGeom>
        </p:spPr>
        <p:txBody>
          <a:bodyPr wrap="square" lIns="0" tIns="0" rIns="0" bIns="0">
            <a:noAutofit/>
          </a:bodyPr>
          <a:lstStyle/>
          <a:p>
            <a:r>
              <a:rPr sz="450" b="1" spc="110">
                <a:solidFill>
                  <a:srgbClr val="A2A2A8"/>
                </a:solidFill>
                <a:latin typeface="Telegraf"/>
              </a:rPr>
              <a:t>DECISION TRACE</a:t>
            </a:r>
            <a:endParaRPr sz="450" b="1" spc="110">
              <a:solidFill>
                <a:srgbClr val="A2A2A8"/>
              </a:solidFill>
              <a:latin typeface="Telegraf"/>
            </a:endParaRPr>
          </a:p>
        </p:txBody>
      </p:sp>
      <p:sp>
        <p:nvSpPr>
          <p:cNvPr id="1629" name="TextBox 87"/>
          <p:cNvSpPr txBox="1"/>
          <p:nvPr/>
        </p:nvSpPr>
        <p:spPr>
          <a:xfrm>
            <a:off x="8890000" y="914400"/>
            <a:ext cx="1066800" cy="114300"/>
          </a:xfrm>
          <a:prstGeom prst="rect">
            <a:avLst/>
          </a:prstGeom>
        </p:spPr>
        <p:txBody>
          <a:bodyPr wrap="square" lIns="0" tIns="0" rIns="0" bIns="0">
            <a:noAutofit/>
          </a:bodyPr>
          <a:lstStyle/>
          <a:p>
            <a:pPr algn="r">
              <a:lnSpc>
                <a:spcPct val="135000"/>
              </a:lnSpc>
            </a:pPr>
            <a:r>
              <a:rPr sz="440" spc="0">
                <a:solidFill>
                  <a:srgbClr val="A2A2A8"/>
                </a:solidFill>
                <a:latin typeface="Telegraf"/>
              </a:rPr>
              <a:t>tkt_cp_042</a:t>
            </a:r>
            <a:endParaRPr sz="440" spc="0">
              <a:solidFill>
                <a:srgbClr val="A2A2A8"/>
              </a:solidFill>
              <a:latin typeface="Telegraf"/>
            </a:endParaRPr>
          </a:p>
        </p:txBody>
      </p:sp>
      <p:sp>
        <p:nvSpPr>
          <p:cNvPr id="1630" name="TextBox 88"/>
          <p:cNvSpPr txBox="1"/>
          <p:nvPr/>
        </p:nvSpPr>
        <p:spPr>
          <a:xfrm>
            <a:off x="6731000" y="1092200"/>
            <a:ext cx="889000" cy="127000"/>
          </a:xfrm>
          <a:prstGeom prst="rect">
            <a:avLst/>
          </a:prstGeom>
        </p:spPr>
        <p:txBody>
          <a:bodyPr wrap="square" lIns="0" tIns="0" rIns="0" bIns="0">
            <a:noAutofit/>
          </a:bodyPr>
          <a:lstStyle/>
          <a:p>
            <a:pPr>
              <a:lnSpc>
                <a:spcPct val="135000"/>
              </a:lnSpc>
            </a:pPr>
            <a:r>
              <a:rPr sz="480" spc="0">
                <a:solidFill>
                  <a:srgbClr val="67676E"/>
                </a:solidFill>
                <a:latin typeface="Telegraf"/>
              </a:rPr>
              <a:t>Confidence</a:t>
            </a:r>
            <a:endParaRPr sz="480" spc="0">
              <a:solidFill>
                <a:srgbClr val="67676E"/>
              </a:solidFill>
              <a:latin typeface="Telegraf"/>
            </a:endParaRPr>
          </a:p>
        </p:txBody>
      </p:sp>
      <p:sp>
        <p:nvSpPr>
          <p:cNvPr id="1631" name="TextBox 89"/>
          <p:cNvSpPr txBox="1"/>
          <p:nvPr/>
        </p:nvSpPr>
        <p:spPr>
          <a:xfrm>
            <a:off x="8407400" y="1079500"/>
            <a:ext cx="330200" cy="127000"/>
          </a:xfrm>
          <a:prstGeom prst="rect">
            <a:avLst/>
          </a:prstGeom>
        </p:spPr>
        <p:txBody>
          <a:bodyPr wrap="square" lIns="0" tIns="0" rIns="0" bIns="0">
            <a:noAutofit/>
          </a:bodyPr>
          <a:lstStyle/>
          <a:p>
            <a:pPr algn="r">
              <a:lnSpc>
                <a:spcPct val="135000"/>
              </a:lnSpc>
            </a:pPr>
            <a:r>
              <a:rPr sz="600" b="1" spc="0">
                <a:solidFill>
                  <a:srgbClr val="0A0A0A"/>
                </a:solidFill>
                <a:latin typeface="Telegraf"/>
              </a:rPr>
              <a:t>71</a:t>
            </a:r>
            <a:endParaRPr sz="600" b="1" spc="0">
              <a:solidFill>
                <a:srgbClr val="0A0A0A"/>
              </a:solidFill>
              <a:latin typeface="Telegraf"/>
            </a:endParaRPr>
          </a:p>
        </p:txBody>
      </p:sp>
      <p:sp>
        <p:nvSpPr>
          <p:cNvPr id="1632" name="Rectangle 90"/>
          <p:cNvSpPr/>
          <p:nvPr/>
        </p:nvSpPr>
        <p:spPr>
          <a:xfrm>
            <a:off x="6731000" y="1219200"/>
            <a:ext cx="2006600" cy="38100"/>
          </a:xfrm>
          <a:custGeom>
            <a:avLst/>
            <a:gdLst/>
            <a:ahLst/>
            <a:cxnLst/>
            <a:rect l="l" t="t" r="r" b="b"/>
            <a:pathLst>
              <a:path w="100000" h="1899">
                <a:moveTo>
                  <a:pt x="99051" y="0"/>
                </a:moveTo>
                <a:cubicBezTo>
                  <a:pt x="99051" y="0"/>
                  <a:pt x="99051" y="0"/>
                  <a:pt x="99051" y="0"/>
                </a:cubicBezTo>
                <a:cubicBezTo>
                  <a:pt x="99575" y="0"/>
                  <a:pt x="100000" y="425"/>
                  <a:pt x="100000" y="949"/>
                </a:cubicBezTo>
                <a:cubicBezTo>
                  <a:pt x="100000" y="949"/>
                  <a:pt x="100000" y="949"/>
                  <a:pt x="100000" y="949"/>
                </a:cubicBezTo>
                <a:lnTo>
                  <a:pt x="100000" y="949"/>
                </a:lnTo>
                <a:cubicBezTo>
                  <a:pt x="100000" y="949"/>
                  <a:pt x="100000" y="949"/>
                  <a:pt x="100000" y="949"/>
                </a:cubicBezTo>
                <a:cubicBezTo>
                  <a:pt x="100000" y="1473"/>
                  <a:pt x="99575" y="1899"/>
                  <a:pt x="99051" y="1899"/>
                </a:cubicBezTo>
                <a:cubicBezTo>
                  <a:pt x="99051" y="1899"/>
                  <a:pt x="99051" y="1899"/>
                  <a:pt x="99051" y="1899"/>
                </a:cubicBezTo>
                <a:lnTo>
                  <a:pt x="949" y="1899"/>
                </a:lnTo>
                <a:cubicBezTo>
                  <a:pt x="949" y="1899"/>
                  <a:pt x="949" y="1899"/>
                  <a:pt x="949" y="1899"/>
                </a:cubicBezTo>
                <a:cubicBezTo>
                  <a:pt x="425" y="1899"/>
                  <a:pt x="0" y="1473"/>
                  <a:pt x="0" y="949"/>
                </a:cubicBezTo>
                <a:cubicBezTo>
                  <a:pt x="0" y="949"/>
                  <a:pt x="0" y="949"/>
                  <a:pt x="0" y="949"/>
                </a:cubicBezTo>
                <a:lnTo>
                  <a:pt x="0" y="949"/>
                </a:lnTo>
                <a:cubicBezTo>
                  <a:pt x="0" y="949"/>
                  <a:pt x="0" y="949"/>
                  <a:pt x="0" y="949"/>
                </a:cubicBezTo>
                <a:cubicBezTo>
                  <a:pt x="0" y="425"/>
                  <a:pt x="425" y="0"/>
                  <a:pt x="949" y="0"/>
                </a:cubicBezTo>
                <a:cubicBezTo>
                  <a:pt x="949" y="0"/>
                  <a:pt x="949" y="0"/>
                  <a:pt x="949"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33" name="Rectangle 91"/>
          <p:cNvSpPr/>
          <p:nvPr/>
        </p:nvSpPr>
        <p:spPr>
          <a:xfrm>
            <a:off x="6731000" y="1219200"/>
            <a:ext cx="1424686" cy="38100"/>
          </a:xfrm>
          <a:custGeom>
            <a:avLst/>
            <a:gdLst/>
            <a:ahLst/>
            <a:cxnLst/>
            <a:rect l="l" t="t" r="r" b="b"/>
            <a:pathLst>
              <a:path w="100000" h="2674">
                <a:moveTo>
                  <a:pt x="98663" y="0"/>
                </a:moveTo>
                <a:cubicBezTo>
                  <a:pt x="98663" y="0"/>
                  <a:pt x="98663" y="0"/>
                  <a:pt x="98663" y="0"/>
                </a:cubicBezTo>
                <a:cubicBezTo>
                  <a:pt x="99401" y="0"/>
                  <a:pt x="100000" y="599"/>
                  <a:pt x="100000" y="1337"/>
                </a:cubicBezTo>
                <a:cubicBezTo>
                  <a:pt x="100000" y="1337"/>
                  <a:pt x="100000" y="1337"/>
                  <a:pt x="100000" y="1337"/>
                </a:cubicBezTo>
                <a:lnTo>
                  <a:pt x="100000" y="1337"/>
                </a:lnTo>
                <a:cubicBezTo>
                  <a:pt x="100000" y="1337"/>
                  <a:pt x="100000" y="1337"/>
                  <a:pt x="100000" y="1337"/>
                </a:cubicBezTo>
                <a:cubicBezTo>
                  <a:pt x="100000" y="2075"/>
                  <a:pt x="99401" y="2674"/>
                  <a:pt x="98663" y="2674"/>
                </a:cubicBezTo>
                <a:cubicBezTo>
                  <a:pt x="98663" y="2674"/>
                  <a:pt x="98663" y="2674"/>
                  <a:pt x="98663" y="2674"/>
                </a:cubicBezTo>
                <a:lnTo>
                  <a:pt x="1337" y="2674"/>
                </a:lnTo>
                <a:cubicBezTo>
                  <a:pt x="1337" y="2674"/>
                  <a:pt x="1337" y="2674"/>
                  <a:pt x="1337" y="2674"/>
                </a:cubicBezTo>
                <a:cubicBezTo>
                  <a:pt x="599" y="2674"/>
                  <a:pt x="0" y="2075"/>
                  <a:pt x="0" y="1337"/>
                </a:cubicBezTo>
                <a:cubicBezTo>
                  <a:pt x="0" y="1337"/>
                  <a:pt x="0" y="1337"/>
                  <a:pt x="0" y="1337"/>
                </a:cubicBezTo>
                <a:lnTo>
                  <a:pt x="0" y="1337"/>
                </a:lnTo>
                <a:cubicBezTo>
                  <a:pt x="0" y="1337"/>
                  <a:pt x="0" y="1337"/>
                  <a:pt x="0" y="1337"/>
                </a:cubicBezTo>
                <a:cubicBezTo>
                  <a:pt x="0" y="599"/>
                  <a:pt x="599" y="0"/>
                  <a:pt x="1337" y="0"/>
                </a:cubicBezTo>
                <a:cubicBezTo>
                  <a:pt x="1337" y="0"/>
                  <a:pt x="1337" y="0"/>
                  <a:pt x="1337"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34" name="TextBox 92"/>
          <p:cNvSpPr txBox="1"/>
          <p:nvPr/>
        </p:nvSpPr>
        <p:spPr>
          <a:xfrm>
            <a:off x="8813800" y="1092200"/>
            <a:ext cx="1143000" cy="127000"/>
          </a:xfrm>
          <a:prstGeom prst="rect">
            <a:avLst/>
          </a:prstGeom>
        </p:spPr>
        <p:txBody>
          <a:bodyPr wrap="square" lIns="0" tIns="0" rIns="0" bIns="0">
            <a:noAutofit/>
          </a:bodyPr>
          <a:lstStyle/>
          <a:p>
            <a:pPr>
              <a:lnSpc>
                <a:spcPct val="135000"/>
              </a:lnSpc>
            </a:pPr>
            <a:r>
              <a:rPr sz="430" spc="0">
                <a:solidFill>
                  <a:srgbClr val="A2A2A8"/>
                </a:solidFill>
                <a:latin typeface="Telegraf"/>
              </a:rPr>
              <a:t>≥ 50 · one verified chunk</a:t>
            </a:r>
            <a:endParaRPr sz="430" spc="0">
              <a:solidFill>
                <a:srgbClr val="A2A2A8"/>
              </a:solidFill>
              <a:latin typeface="Telegraf"/>
            </a:endParaRPr>
          </a:p>
        </p:txBody>
      </p:sp>
      <p:sp>
        <p:nvSpPr>
          <p:cNvPr id="1635" name="TextBox 93"/>
          <p:cNvSpPr txBox="1"/>
          <p:nvPr/>
        </p:nvSpPr>
        <p:spPr>
          <a:xfrm>
            <a:off x="6731000" y="1422400"/>
            <a:ext cx="889000" cy="127000"/>
          </a:xfrm>
          <a:prstGeom prst="rect">
            <a:avLst/>
          </a:prstGeom>
        </p:spPr>
        <p:txBody>
          <a:bodyPr wrap="square" lIns="0" tIns="0" rIns="0" bIns="0">
            <a:noAutofit/>
          </a:bodyPr>
          <a:lstStyle/>
          <a:p>
            <a:pPr>
              <a:lnSpc>
                <a:spcPct val="135000"/>
              </a:lnSpc>
            </a:pPr>
            <a:r>
              <a:rPr sz="480" spc="0">
                <a:solidFill>
                  <a:srgbClr val="67676E"/>
                </a:solidFill>
                <a:latin typeface="Telegraf"/>
              </a:rPr>
              <a:t>Urgency</a:t>
            </a:r>
            <a:endParaRPr sz="480" spc="0">
              <a:solidFill>
                <a:srgbClr val="67676E"/>
              </a:solidFill>
              <a:latin typeface="Telegraf"/>
            </a:endParaRPr>
          </a:p>
        </p:txBody>
      </p:sp>
      <p:sp>
        <p:nvSpPr>
          <p:cNvPr id="1636" name="TextBox 94"/>
          <p:cNvSpPr txBox="1"/>
          <p:nvPr/>
        </p:nvSpPr>
        <p:spPr>
          <a:xfrm>
            <a:off x="8407400" y="1409700"/>
            <a:ext cx="330200" cy="127000"/>
          </a:xfrm>
          <a:prstGeom prst="rect">
            <a:avLst/>
          </a:prstGeom>
        </p:spPr>
        <p:txBody>
          <a:bodyPr wrap="square" lIns="0" tIns="0" rIns="0" bIns="0">
            <a:noAutofit/>
          </a:bodyPr>
          <a:lstStyle/>
          <a:p>
            <a:pPr algn="r">
              <a:lnSpc>
                <a:spcPct val="135000"/>
              </a:lnSpc>
            </a:pPr>
            <a:r>
              <a:rPr sz="600" b="1" spc="0">
                <a:solidFill>
                  <a:srgbClr val="0A0A0A"/>
                </a:solidFill>
                <a:latin typeface="Telegraf"/>
              </a:rPr>
              <a:t>62</a:t>
            </a:r>
            <a:endParaRPr sz="600" b="1" spc="0">
              <a:solidFill>
                <a:srgbClr val="0A0A0A"/>
              </a:solidFill>
              <a:latin typeface="Telegraf"/>
            </a:endParaRPr>
          </a:p>
        </p:txBody>
      </p:sp>
      <p:sp>
        <p:nvSpPr>
          <p:cNvPr id="1637" name="Rectangle 95"/>
          <p:cNvSpPr/>
          <p:nvPr/>
        </p:nvSpPr>
        <p:spPr>
          <a:xfrm>
            <a:off x="6731000" y="1549400"/>
            <a:ext cx="2006600" cy="38100"/>
          </a:xfrm>
          <a:custGeom>
            <a:avLst/>
            <a:gdLst/>
            <a:ahLst/>
            <a:cxnLst/>
            <a:rect l="l" t="t" r="r" b="b"/>
            <a:pathLst>
              <a:path w="100000" h="1899">
                <a:moveTo>
                  <a:pt x="99051" y="0"/>
                </a:moveTo>
                <a:cubicBezTo>
                  <a:pt x="99051" y="0"/>
                  <a:pt x="99051" y="0"/>
                  <a:pt x="99051" y="0"/>
                </a:cubicBezTo>
                <a:cubicBezTo>
                  <a:pt x="99575" y="0"/>
                  <a:pt x="100000" y="425"/>
                  <a:pt x="100000" y="949"/>
                </a:cubicBezTo>
                <a:cubicBezTo>
                  <a:pt x="100000" y="949"/>
                  <a:pt x="100000" y="949"/>
                  <a:pt x="100000" y="949"/>
                </a:cubicBezTo>
                <a:lnTo>
                  <a:pt x="100000" y="949"/>
                </a:lnTo>
                <a:cubicBezTo>
                  <a:pt x="100000" y="949"/>
                  <a:pt x="100000" y="949"/>
                  <a:pt x="100000" y="949"/>
                </a:cubicBezTo>
                <a:cubicBezTo>
                  <a:pt x="100000" y="1473"/>
                  <a:pt x="99575" y="1899"/>
                  <a:pt x="99051" y="1899"/>
                </a:cubicBezTo>
                <a:cubicBezTo>
                  <a:pt x="99051" y="1899"/>
                  <a:pt x="99051" y="1899"/>
                  <a:pt x="99051" y="1899"/>
                </a:cubicBezTo>
                <a:lnTo>
                  <a:pt x="949" y="1899"/>
                </a:lnTo>
                <a:cubicBezTo>
                  <a:pt x="949" y="1899"/>
                  <a:pt x="949" y="1899"/>
                  <a:pt x="949" y="1899"/>
                </a:cubicBezTo>
                <a:cubicBezTo>
                  <a:pt x="425" y="1899"/>
                  <a:pt x="0" y="1473"/>
                  <a:pt x="0" y="949"/>
                </a:cubicBezTo>
                <a:cubicBezTo>
                  <a:pt x="0" y="949"/>
                  <a:pt x="0" y="949"/>
                  <a:pt x="0" y="949"/>
                </a:cubicBezTo>
                <a:lnTo>
                  <a:pt x="0" y="949"/>
                </a:lnTo>
                <a:cubicBezTo>
                  <a:pt x="0" y="949"/>
                  <a:pt x="0" y="949"/>
                  <a:pt x="0" y="949"/>
                </a:cubicBezTo>
                <a:cubicBezTo>
                  <a:pt x="0" y="425"/>
                  <a:pt x="425" y="0"/>
                  <a:pt x="949" y="0"/>
                </a:cubicBezTo>
                <a:cubicBezTo>
                  <a:pt x="949" y="0"/>
                  <a:pt x="949" y="0"/>
                  <a:pt x="949"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38" name="Rectangle 96"/>
          <p:cNvSpPr/>
          <p:nvPr/>
        </p:nvSpPr>
        <p:spPr>
          <a:xfrm>
            <a:off x="6731000" y="1549400"/>
            <a:ext cx="1244092" cy="38100"/>
          </a:xfrm>
          <a:custGeom>
            <a:avLst/>
            <a:gdLst/>
            <a:ahLst/>
            <a:cxnLst/>
            <a:rect l="l" t="t" r="r" b="b"/>
            <a:pathLst>
              <a:path w="100000" h="3062">
                <a:moveTo>
                  <a:pt x="98469" y="0"/>
                </a:moveTo>
                <a:cubicBezTo>
                  <a:pt x="98469" y="0"/>
                  <a:pt x="98469" y="0"/>
                  <a:pt x="98469" y="0"/>
                </a:cubicBezTo>
                <a:cubicBezTo>
                  <a:pt x="99314" y="0"/>
                  <a:pt x="100000" y="686"/>
                  <a:pt x="100000" y="1531"/>
                </a:cubicBezTo>
                <a:cubicBezTo>
                  <a:pt x="100000" y="1531"/>
                  <a:pt x="100000" y="1531"/>
                  <a:pt x="100000" y="1531"/>
                </a:cubicBezTo>
                <a:lnTo>
                  <a:pt x="100000" y="1531"/>
                </a:lnTo>
                <a:cubicBezTo>
                  <a:pt x="100000" y="1531"/>
                  <a:pt x="100000" y="1531"/>
                  <a:pt x="100000" y="1531"/>
                </a:cubicBezTo>
                <a:cubicBezTo>
                  <a:pt x="100000" y="2376"/>
                  <a:pt x="99314" y="3062"/>
                  <a:pt x="98469" y="3062"/>
                </a:cubicBezTo>
                <a:cubicBezTo>
                  <a:pt x="98469" y="3062"/>
                  <a:pt x="98469" y="3062"/>
                  <a:pt x="98469" y="3062"/>
                </a:cubicBezTo>
                <a:lnTo>
                  <a:pt x="1531" y="3062"/>
                </a:lnTo>
                <a:cubicBezTo>
                  <a:pt x="1531" y="3062"/>
                  <a:pt x="1531" y="3062"/>
                  <a:pt x="1531" y="3062"/>
                </a:cubicBezTo>
                <a:cubicBezTo>
                  <a:pt x="686" y="3062"/>
                  <a:pt x="0" y="2376"/>
                  <a:pt x="0" y="1531"/>
                </a:cubicBezTo>
                <a:cubicBezTo>
                  <a:pt x="0" y="1531"/>
                  <a:pt x="0" y="1531"/>
                  <a:pt x="0" y="1531"/>
                </a:cubicBezTo>
                <a:lnTo>
                  <a:pt x="0" y="1531"/>
                </a:lnTo>
                <a:cubicBezTo>
                  <a:pt x="0" y="1531"/>
                  <a:pt x="0" y="1531"/>
                  <a:pt x="0" y="1531"/>
                </a:cubicBezTo>
                <a:cubicBezTo>
                  <a:pt x="0" y="686"/>
                  <a:pt x="686" y="0"/>
                  <a:pt x="1531" y="0"/>
                </a:cubicBezTo>
                <a:cubicBezTo>
                  <a:pt x="1531" y="0"/>
                  <a:pt x="1531" y="0"/>
                  <a:pt x="1531" y="0"/>
                </a:cubicBez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39" name="TextBox 97"/>
          <p:cNvSpPr txBox="1"/>
          <p:nvPr/>
        </p:nvSpPr>
        <p:spPr>
          <a:xfrm>
            <a:off x="8813800" y="1422400"/>
            <a:ext cx="1143000" cy="127000"/>
          </a:xfrm>
          <a:prstGeom prst="rect">
            <a:avLst/>
          </a:prstGeom>
        </p:spPr>
        <p:txBody>
          <a:bodyPr wrap="square" lIns="0" tIns="0" rIns="0" bIns="0">
            <a:noAutofit/>
          </a:bodyPr>
          <a:lstStyle/>
          <a:p>
            <a:pPr>
              <a:lnSpc>
                <a:spcPct val="135000"/>
              </a:lnSpc>
            </a:pPr>
            <a:r>
              <a:rPr sz="430" spc="0">
                <a:solidFill>
                  <a:srgbClr val="A2A2A8"/>
                </a:solidFill>
                <a:latin typeface="Telegraf"/>
              </a:rPr>
              <a:t>&lt; 80 · no R4</a:t>
            </a:r>
            <a:endParaRPr sz="430" spc="0">
              <a:solidFill>
                <a:srgbClr val="A2A2A8"/>
              </a:solidFill>
              <a:latin typeface="Telegraf"/>
            </a:endParaRPr>
          </a:p>
        </p:txBody>
      </p:sp>
      <p:sp>
        <p:nvSpPr>
          <p:cNvPr id="1640" name="TextBox 98"/>
          <p:cNvSpPr txBox="1"/>
          <p:nvPr/>
        </p:nvSpPr>
        <p:spPr>
          <a:xfrm>
            <a:off x="6731000" y="1752600"/>
            <a:ext cx="889000" cy="127000"/>
          </a:xfrm>
          <a:prstGeom prst="rect">
            <a:avLst/>
          </a:prstGeom>
        </p:spPr>
        <p:txBody>
          <a:bodyPr wrap="square" lIns="0" tIns="0" rIns="0" bIns="0">
            <a:noAutofit/>
          </a:bodyPr>
          <a:lstStyle/>
          <a:p>
            <a:pPr>
              <a:lnSpc>
                <a:spcPct val="135000"/>
              </a:lnSpc>
            </a:pPr>
            <a:r>
              <a:rPr sz="480" spc="0">
                <a:solidFill>
                  <a:srgbClr val="67676E"/>
                </a:solidFill>
                <a:latin typeface="Telegraf"/>
              </a:rPr>
              <a:t>Sentiment</a:t>
            </a:r>
            <a:endParaRPr sz="480" spc="0">
              <a:solidFill>
                <a:srgbClr val="67676E"/>
              </a:solidFill>
              <a:latin typeface="Telegraf"/>
            </a:endParaRPr>
          </a:p>
        </p:txBody>
      </p:sp>
      <p:sp>
        <p:nvSpPr>
          <p:cNvPr id="1641" name="TextBox 99"/>
          <p:cNvSpPr txBox="1"/>
          <p:nvPr/>
        </p:nvSpPr>
        <p:spPr>
          <a:xfrm>
            <a:off x="8407400" y="1739900"/>
            <a:ext cx="15494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frustrated · not distressed</a:t>
            </a:r>
            <a:endParaRPr sz="460" spc="0">
              <a:solidFill>
                <a:srgbClr val="0A0A0A"/>
              </a:solidFill>
              <a:latin typeface="Telegraf"/>
            </a:endParaRPr>
          </a:p>
        </p:txBody>
      </p:sp>
      <p:sp>
        <p:nvSpPr>
          <p:cNvPr id="1642" name="Rectangle 100"/>
          <p:cNvSpPr/>
          <p:nvPr/>
        </p:nvSpPr>
        <p:spPr>
          <a:xfrm>
            <a:off x="6731000" y="1917700"/>
            <a:ext cx="32258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43" name="TextBox 101"/>
          <p:cNvSpPr txBox="1"/>
          <p:nvPr/>
        </p:nvSpPr>
        <p:spPr>
          <a:xfrm>
            <a:off x="6731000" y="2057400"/>
            <a:ext cx="889000" cy="127000"/>
          </a:xfrm>
          <a:prstGeom prst="rect">
            <a:avLst/>
          </a:prstGeom>
        </p:spPr>
        <p:txBody>
          <a:bodyPr wrap="square" lIns="0" tIns="0" rIns="0" bIns="0">
            <a:noAutofit/>
          </a:bodyPr>
          <a:lstStyle/>
          <a:p>
            <a:pPr>
              <a:lnSpc>
                <a:spcPct val="135000"/>
              </a:lnSpc>
            </a:pPr>
            <a:r>
              <a:rPr sz="480" spc="0">
                <a:solidFill>
                  <a:srgbClr val="67676E"/>
                </a:solidFill>
                <a:latin typeface="Telegraf"/>
              </a:rPr>
              <a:t>Intent</a:t>
            </a:r>
            <a:endParaRPr sz="480" spc="0">
              <a:solidFill>
                <a:srgbClr val="67676E"/>
              </a:solidFill>
              <a:latin typeface="Telegraf"/>
            </a:endParaRPr>
          </a:p>
        </p:txBody>
      </p:sp>
      <p:sp>
        <p:nvSpPr>
          <p:cNvPr id="1644" name="TextBox 102"/>
          <p:cNvSpPr txBox="1"/>
          <p:nvPr/>
        </p:nvSpPr>
        <p:spPr>
          <a:xfrm>
            <a:off x="8407400" y="2044700"/>
            <a:ext cx="15494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delivery_status · sales</a:t>
            </a:r>
            <a:endParaRPr sz="460" spc="0">
              <a:solidFill>
                <a:srgbClr val="0A0A0A"/>
              </a:solidFill>
              <a:latin typeface="Telegraf"/>
            </a:endParaRPr>
          </a:p>
        </p:txBody>
      </p:sp>
      <p:sp>
        <p:nvSpPr>
          <p:cNvPr id="1645" name="Rectangle 103"/>
          <p:cNvSpPr/>
          <p:nvPr/>
        </p:nvSpPr>
        <p:spPr>
          <a:xfrm>
            <a:off x="6731000" y="2222500"/>
            <a:ext cx="32258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46" name="TextBox 104"/>
          <p:cNvSpPr txBox="1"/>
          <p:nvPr/>
        </p:nvSpPr>
        <p:spPr>
          <a:xfrm>
            <a:off x="6731000" y="2514600"/>
            <a:ext cx="2032000" cy="114300"/>
          </a:xfrm>
          <a:prstGeom prst="rect">
            <a:avLst/>
          </a:prstGeom>
        </p:spPr>
        <p:txBody>
          <a:bodyPr wrap="square" lIns="0" tIns="0" rIns="0" bIns="0">
            <a:noAutofit/>
          </a:bodyPr>
          <a:lstStyle/>
          <a:p>
            <a:r>
              <a:rPr sz="450" b="1" spc="105">
                <a:solidFill>
                  <a:srgbClr val="A2A2A8"/>
                </a:solidFill>
                <a:latin typeface="Telegraf"/>
              </a:rPr>
              <a:t>ROUTING · FIRST MATCH WINS</a:t>
            </a:r>
            <a:endParaRPr sz="450" b="1" spc="105">
              <a:solidFill>
                <a:srgbClr val="A2A2A8"/>
              </a:solidFill>
              <a:latin typeface="Telegraf"/>
            </a:endParaRPr>
          </a:p>
        </p:txBody>
      </p:sp>
      <p:sp>
        <p:nvSpPr>
          <p:cNvPr id="1647" name="TextBox 105"/>
          <p:cNvSpPr txBox="1"/>
          <p:nvPr/>
        </p:nvSpPr>
        <p:spPr>
          <a:xfrm>
            <a:off x="6731000" y="2667000"/>
            <a:ext cx="279400" cy="127000"/>
          </a:xfrm>
          <a:prstGeom prst="rect">
            <a:avLst/>
          </a:prstGeom>
        </p:spPr>
        <p:txBody>
          <a:bodyPr wrap="square" lIns="0" tIns="0" rIns="0" bIns="0">
            <a:noAutofit/>
          </a:bodyPr>
          <a:lstStyle/>
          <a:p>
            <a:pPr>
              <a:lnSpc>
                <a:spcPct val="135000"/>
              </a:lnSpc>
            </a:pPr>
            <a:r>
              <a:rPr sz="450" b="1" spc="0">
                <a:solidFill>
                  <a:srgbClr val="A2A2A8"/>
                </a:solidFill>
                <a:latin typeface="Telegraf"/>
              </a:rPr>
              <a:t>R1</a:t>
            </a:r>
            <a:endParaRPr sz="450" b="1" spc="0">
              <a:solidFill>
                <a:srgbClr val="A2A2A8"/>
              </a:solidFill>
              <a:latin typeface="Telegraf"/>
            </a:endParaRPr>
          </a:p>
        </p:txBody>
      </p:sp>
      <p:sp>
        <p:nvSpPr>
          <p:cNvPr id="1648" name="TextBox 106"/>
          <p:cNvSpPr txBox="1"/>
          <p:nvPr/>
        </p:nvSpPr>
        <p:spPr>
          <a:xfrm>
            <a:off x="7061200" y="2667000"/>
            <a:ext cx="1905000" cy="127000"/>
          </a:xfrm>
          <a:prstGeom prst="rect">
            <a:avLst/>
          </a:prstGeom>
        </p:spPr>
        <p:txBody>
          <a:bodyPr wrap="square" lIns="0" tIns="0" rIns="0" bIns="0">
            <a:noAutofit/>
          </a:bodyPr>
          <a:lstStyle/>
          <a:p>
            <a:pPr>
              <a:lnSpc>
                <a:spcPct val="135000"/>
              </a:lnSpc>
            </a:pPr>
            <a:r>
              <a:rPr sz="460" spc="0">
                <a:solidFill>
                  <a:srgbClr val="67676E"/>
                </a:solidFill>
                <a:latin typeface="Telegraf"/>
              </a:rPr>
              <a:t>customer asked for a human</a:t>
            </a:r>
            <a:endParaRPr sz="460" spc="0">
              <a:solidFill>
                <a:srgbClr val="67676E"/>
              </a:solidFill>
              <a:latin typeface="Telegraf"/>
            </a:endParaRPr>
          </a:p>
        </p:txBody>
      </p:sp>
      <p:sp>
        <p:nvSpPr>
          <p:cNvPr id="1649" name="TextBox 107"/>
          <p:cNvSpPr txBox="1"/>
          <p:nvPr/>
        </p:nvSpPr>
        <p:spPr>
          <a:xfrm>
            <a:off x="9448800" y="2667000"/>
            <a:ext cx="304800" cy="127000"/>
          </a:xfrm>
          <a:prstGeom prst="rect">
            <a:avLst/>
          </a:prstGeom>
        </p:spPr>
        <p:txBody>
          <a:bodyPr wrap="square" lIns="0" tIns="0" rIns="0" bIns="0">
            <a:noAutofit/>
          </a:bodyPr>
          <a:lstStyle/>
          <a:p>
            <a:pPr algn="r">
              <a:lnSpc>
                <a:spcPct val="135000"/>
              </a:lnSpc>
            </a:pPr>
            <a:r>
              <a:rPr sz="430" spc="0">
                <a:solidFill>
                  <a:srgbClr val="A2A2A8"/>
                </a:solidFill>
                <a:latin typeface="Telegraf"/>
              </a:rPr>
              <a:t>no</a:t>
            </a:r>
            <a:endParaRPr sz="430" spc="0">
              <a:solidFill>
                <a:srgbClr val="A2A2A8"/>
              </a:solidFill>
              <a:latin typeface="Telegraf"/>
            </a:endParaRPr>
          </a:p>
        </p:txBody>
      </p:sp>
      <p:sp>
        <p:nvSpPr>
          <p:cNvPr id="1650" name="Rectangle 108"/>
          <p:cNvSpPr/>
          <p:nvPr/>
        </p:nvSpPr>
        <p:spPr>
          <a:xfrm>
            <a:off x="6807200" y="2806700"/>
            <a:ext cx="11430" cy="76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51" name="TextBox 109"/>
          <p:cNvSpPr txBox="1"/>
          <p:nvPr/>
        </p:nvSpPr>
        <p:spPr>
          <a:xfrm>
            <a:off x="6731000" y="2882900"/>
            <a:ext cx="279400" cy="127000"/>
          </a:xfrm>
          <a:prstGeom prst="rect">
            <a:avLst/>
          </a:prstGeom>
        </p:spPr>
        <p:txBody>
          <a:bodyPr wrap="square" lIns="0" tIns="0" rIns="0" bIns="0">
            <a:noAutofit/>
          </a:bodyPr>
          <a:lstStyle/>
          <a:p>
            <a:pPr>
              <a:lnSpc>
                <a:spcPct val="135000"/>
              </a:lnSpc>
            </a:pPr>
            <a:r>
              <a:rPr sz="450" b="1" spc="0">
                <a:solidFill>
                  <a:srgbClr val="A2A2A8"/>
                </a:solidFill>
                <a:latin typeface="Telegraf"/>
              </a:rPr>
              <a:t>R2</a:t>
            </a:r>
            <a:endParaRPr sz="450" b="1" spc="0">
              <a:solidFill>
                <a:srgbClr val="A2A2A8"/>
              </a:solidFill>
              <a:latin typeface="Telegraf"/>
            </a:endParaRPr>
          </a:p>
        </p:txBody>
      </p:sp>
      <p:sp>
        <p:nvSpPr>
          <p:cNvPr id="1652" name="TextBox 110"/>
          <p:cNvSpPr txBox="1"/>
          <p:nvPr/>
        </p:nvSpPr>
        <p:spPr>
          <a:xfrm>
            <a:off x="7061200" y="2882900"/>
            <a:ext cx="1905000" cy="127000"/>
          </a:xfrm>
          <a:prstGeom prst="rect">
            <a:avLst/>
          </a:prstGeom>
        </p:spPr>
        <p:txBody>
          <a:bodyPr wrap="square" lIns="0" tIns="0" rIns="0" bIns="0">
            <a:noAutofit/>
          </a:bodyPr>
          <a:lstStyle/>
          <a:p>
            <a:pPr>
              <a:lnSpc>
                <a:spcPct val="135000"/>
              </a:lnSpc>
            </a:pPr>
            <a:r>
              <a:rPr sz="460" spc="0">
                <a:solidFill>
                  <a:srgbClr val="67676E"/>
                </a:solidFill>
                <a:latin typeface="Telegraf"/>
              </a:rPr>
              <a:t>confidence &lt; 50 or no chunk</a:t>
            </a:r>
            <a:endParaRPr sz="460" spc="0">
              <a:solidFill>
                <a:srgbClr val="67676E"/>
              </a:solidFill>
              <a:latin typeface="Telegraf"/>
            </a:endParaRPr>
          </a:p>
        </p:txBody>
      </p:sp>
      <p:sp>
        <p:nvSpPr>
          <p:cNvPr id="1653" name="TextBox 111"/>
          <p:cNvSpPr txBox="1"/>
          <p:nvPr/>
        </p:nvSpPr>
        <p:spPr>
          <a:xfrm>
            <a:off x="9448800" y="2882900"/>
            <a:ext cx="304800" cy="127000"/>
          </a:xfrm>
          <a:prstGeom prst="rect">
            <a:avLst/>
          </a:prstGeom>
        </p:spPr>
        <p:txBody>
          <a:bodyPr wrap="square" lIns="0" tIns="0" rIns="0" bIns="0">
            <a:noAutofit/>
          </a:bodyPr>
          <a:lstStyle/>
          <a:p>
            <a:pPr algn="r">
              <a:lnSpc>
                <a:spcPct val="135000"/>
              </a:lnSpc>
            </a:pPr>
            <a:r>
              <a:rPr sz="430" spc="0">
                <a:solidFill>
                  <a:srgbClr val="A2A2A8"/>
                </a:solidFill>
                <a:latin typeface="Telegraf"/>
              </a:rPr>
              <a:t>no</a:t>
            </a:r>
            <a:endParaRPr sz="430" spc="0">
              <a:solidFill>
                <a:srgbClr val="A2A2A8"/>
              </a:solidFill>
              <a:latin typeface="Telegraf"/>
            </a:endParaRPr>
          </a:p>
        </p:txBody>
      </p:sp>
      <p:sp>
        <p:nvSpPr>
          <p:cNvPr id="1654" name="Rectangle 112"/>
          <p:cNvSpPr/>
          <p:nvPr/>
        </p:nvSpPr>
        <p:spPr>
          <a:xfrm>
            <a:off x="6807200" y="3022600"/>
            <a:ext cx="11430" cy="76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55" name="TextBox 113"/>
          <p:cNvSpPr txBox="1"/>
          <p:nvPr/>
        </p:nvSpPr>
        <p:spPr>
          <a:xfrm>
            <a:off x="6731000" y="3098800"/>
            <a:ext cx="279400" cy="127000"/>
          </a:xfrm>
          <a:prstGeom prst="rect">
            <a:avLst/>
          </a:prstGeom>
        </p:spPr>
        <p:txBody>
          <a:bodyPr wrap="square" lIns="0" tIns="0" rIns="0" bIns="0">
            <a:noAutofit/>
          </a:bodyPr>
          <a:lstStyle/>
          <a:p>
            <a:pPr>
              <a:lnSpc>
                <a:spcPct val="135000"/>
              </a:lnSpc>
            </a:pPr>
            <a:r>
              <a:rPr sz="450" b="1" spc="0">
                <a:solidFill>
                  <a:srgbClr val="A2A2A8"/>
                </a:solidFill>
                <a:latin typeface="Telegraf"/>
              </a:rPr>
              <a:t>R3</a:t>
            </a:r>
            <a:endParaRPr sz="450" b="1" spc="0">
              <a:solidFill>
                <a:srgbClr val="A2A2A8"/>
              </a:solidFill>
              <a:latin typeface="Telegraf"/>
            </a:endParaRPr>
          </a:p>
        </p:txBody>
      </p:sp>
      <p:sp>
        <p:nvSpPr>
          <p:cNvPr id="1656" name="TextBox 114"/>
          <p:cNvSpPr txBox="1"/>
          <p:nvPr/>
        </p:nvSpPr>
        <p:spPr>
          <a:xfrm>
            <a:off x="7061200" y="3098800"/>
            <a:ext cx="1905000" cy="127000"/>
          </a:xfrm>
          <a:prstGeom prst="rect">
            <a:avLst/>
          </a:prstGeom>
        </p:spPr>
        <p:txBody>
          <a:bodyPr wrap="square" lIns="0" tIns="0" rIns="0" bIns="0">
            <a:noAutofit/>
          </a:bodyPr>
          <a:lstStyle/>
          <a:p>
            <a:pPr>
              <a:lnSpc>
                <a:spcPct val="135000"/>
              </a:lnSpc>
            </a:pPr>
            <a:r>
              <a:rPr sz="460" spc="0">
                <a:solidFill>
                  <a:srgbClr val="67676E"/>
                </a:solidFill>
                <a:latin typeface="Telegraf"/>
              </a:rPr>
              <a:t>distress or human judgment</a:t>
            </a:r>
            <a:endParaRPr sz="460" spc="0">
              <a:solidFill>
                <a:srgbClr val="67676E"/>
              </a:solidFill>
              <a:latin typeface="Telegraf"/>
            </a:endParaRPr>
          </a:p>
        </p:txBody>
      </p:sp>
      <p:sp>
        <p:nvSpPr>
          <p:cNvPr id="1657" name="TextBox 115"/>
          <p:cNvSpPr txBox="1"/>
          <p:nvPr/>
        </p:nvSpPr>
        <p:spPr>
          <a:xfrm>
            <a:off x="9448800" y="3098800"/>
            <a:ext cx="304800" cy="127000"/>
          </a:xfrm>
          <a:prstGeom prst="rect">
            <a:avLst/>
          </a:prstGeom>
        </p:spPr>
        <p:txBody>
          <a:bodyPr wrap="square" lIns="0" tIns="0" rIns="0" bIns="0">
            <a:noAutofit/>
          </a:bodyPr>
          <a:lstStyle/>
          <a:p>
            <a:pPr algn="r">
              <a:lnSpc>
                <a:spcPct val="135000"/>
              </a:lnSpc>
            </a:pPr>
            <a:r>
              <a:rPr sz="430" spc="0">
                <a:solidFill>
                  <a:srgbClr val="A2A2A8"/>
                </a:solidFill>
                <a:latin typeface="Telegraf"/>
              </a:rPr>
              <a:t>no</a:t>
            </a:r>
            <a:endParaRPr sz="430" spc="0">
              <a:solidFill>
                <a:srgbClr val="A2A2A8"/>
              </a:solidFill>
              <a:latin typeface="Telegraf"/>
            </a:endParaRPr>
          </a:p>
        </p:txBody>
      </p:sp>
      <p:sp>
        <p:nvSpPr>
          <p:cNvPr id="1658" name="Rectangle 116"/>
          <p:cNvSpPr/>
          <p:nvPr/>
        </p:nvSpPr>
        <p:spPr>
          <a:xfrm>
            <a:off x="6807200" y="3238500"/>
            <a:ext cx="11430" cy="76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59" name="TextBox 117"/>
          <p:cNvSpPr txBox="1"/>
          <p:nvPr/>
        </p:nvSpPr>
        <p:spPr>
          <a:xfrm>
            <a:off x="6731000" y="3314700"/>
            <a:ext cx="279400" cy="127000"/>
          </a:xfrm>
          <a:prstGeom prst="rect">
            <a:avLst/>
          </a:prstGeom>
        </p:spPr>
        <p:txBody>
          <a:bodyPr wrap="square" lIns="0" tIns="0" rIns="0" bIns="0">
            <a:noAutofit/>
          </a:bodyPr>
          <a:lstStyle/>
          <a:p>
            <a:pPr>
              <a:lnSpc>
                <a:spcPct val="135000"/>
              </a:lnSpc>
            </a:pPr>
            <a:r>
              <a:rPr sz="450" b="1" spc="0">
                <a:solidFill>
                  <a:srgbClr val="A2A2A8"/>
                </a:solidFill>
                <a:latin typeface="Telegraf"/>
              </a:rPr>
              <a:t>R4</a:t>
            </a:r>
            <a:endParaRPr sz="450" b="1" spc="0">
              <a:solidFill>
                <a:srgbClr val="A2A2A8"/>
              </a:solidFill>
              <a:latin typeface="Telegraf"/>
            </a:endParaRPr>
          </a:p>
        </p:txBody>
      </p:sp>
      <p:sp>
        <p:nvSpPr>
          <p:cNvPr id="1660" name="TextBox 118"/>
          <p:cNvSpPr txBox="1"/>
          <p:nvPr/>
        </p:nvSpPr>
        <p:spPr>
          <a:xfrm>
            <a:off x="7061200" y="3314700"/>
            <a:ext cx="1905000" cy="127000"/>
          </a:xfrm>
          <a:prstGeom prst="rect">
            <a:avLst/>
          </a:prstGeom>
        </p:spPr>
        <p:txBody>
          <a:bodyPr wrap="square" lIns="0" tIns="0" rIns="0" bIns="0">
            <a:noAutofit/>
          </a:bodyPr>
          <a:lstStyle/>
          <a:p>
            <a:pPr>
              <a:lnSpc>
                <a:spcPct val="135000"/>
              </a:lnSpc>
            </a:pPr>
            <a:r>
              <a:rPr sz="460" spc="0">
                <a:solidFill>
                  <a:srgbClr val="67676E"/>
                </a:solidFill>
                <a:latin typeface="Telegraf"/>
              </a:rPr>
              <a:t>urgency ≥ 80</a:t>
            </a:r>
            <a:endParaRPr sz="460" spc="0">
              <a:solidFill>
                <a:srgbClr val="67676E"/>
              </a:solidFill>
              <a:latin typeface="Telegraf"/>
            </a:endParaRPr>
          </a:p>
        </p:txBody>
      </p:sp>
      <p:sp>
        <p:nvSpPr>
          <p:cNvPr id="1661" name="TextBox 119"/>
          <p:cNvSpPr txBox="1"/>
          <p:nvPr/>
        </p:nvSpPr>
        <p:spPr>
          <a:xfrm>
            <a:off x="9448800" y="3314700"/>
            <a:ext cx="304800" cy="127000"/>
          </a:xfrm>
          <a:prstGeom prst="rect">
            <a:avLst/>
          </a:prstGeom>
        </p:spPr>
        <p:txBody>
          <a:bodyPr wrap="square" lIns="0" tIns="0" rIns="0" bIns="0">
            <a:noAutofit/>
          </a:bodyPr>
          <a:lstStyle/>
          <a:p>
            <a:pPr algn="r">
              <a:lnSpc>
                <a:spcPct val="135000"/>
              </a:lnSpc>
            </a:pPr>
            <a:r>
              <a:rPr sz="430" spc="0">
                <a:solidFill>
                  <a:srgbClr val="A2A2A8"/>
                </a:solidFill>
                <a:latin typeface="Telegraf"/>
              </a:rPr>
              <a:t>no</a:t>
            </a:r>
            <a:endParaRPr sz="430" spc="0">
              <a:solidFill>
                <a:srgbClr val="A2A2A8"/>
              </a:solidFill>
              <a:latin typeface="Telegraf"/>
            </a:endParaRPr>
          </a:p>
        </p:txBody>
      </p:sp>
      <p:sp>
        <p:nvSpPr>
          <p:cNvPr id="1662" name="Rectangle 120"/>
          <p:cNvSpPr/>
          <p:nvPr/>
        </p:nvSpPr>
        <p:spPr>
          <a:xfrm>
            <a:off x="6807200" y="3454400"/>
            <a:ext cx="11430" cy="76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63" name="TextBox 121"/>
          <p:cNvSpPr txBox="1"/>
          <p:nvPr/>
        </p:nvSpPr>
        <p:spPr>
          <a:xfrm>
            <a:off x="6731000" y="3530600"/>
            <a:ext cx="279400" cy="127000"/>
          </a:xfrm>
          <a:prstGeom prst="rect">
            <a:avLst/>
          </a:prstGeom>
        </p:spPr>
        <p:txBody>
          <a:bodyPr wrap="square" lIns="0" tIns="0" rIns="0" bIns="0">
            <a:noAutofit/>
          </a:bodyPr>
          <a:lstStyle/>
          <a:p>
            <a:pPr>
              <a:lnSpc>
                <a:spcPct val="135000"/>
              </a:lnSpc>
            </a:pPr>
            <a:r>
              <a:rPr sz="450" b="1" spc="0">
                <a:solidFill>
                  <a:srgbClr val="A2A2A8"/>
                </a:solidFill>
                <a:latin typeface="Telegraf"/>
              </a:rPr>
              <a:t>R5</a:t>
            </a:r>
            <a:endParaRPr sz="450" b="1" spc="0">
              <a:solidFill>
                <a:srgbClr val="A2A2A8"/>
              </a:solidFill>
              <a:latin typeface="Telegraf"/>
            </a:endParaRPr>
          </a:p>
        </p:txBody>
      </p:sp>
      <p:sp>
        <p:nvSpPr>
          <p:cNvPr id="1664" name="TextBox 122"/>
          <p:cNvSpPr txBox="1"/>
          <p:nvPr/>
        </p:nvSpPr>
        <p:spPr>
          <a:xfrm>
            <a:off x="7061200" y="3530600"/>
            <a:ext cx="1905000" cy="127000"/>
          </a:xfrm>
          <a:prstGeom prst="rect">
            <a:avLst/>
          </a:prstGeom>
        </p:spPr>
        <p:txBody>
          <a:bodyPr wrap="square" lIns="0" tIns="0" rIns="0" bIns="0">
            <a:noAutofit/>
          </a:bodyPr>
          <a:lstStyle/>
          <a:p>
            <a:pPr>
              <a:lnSpc>
                <a:spcPct val="135000"/>
              </a:lnSpc>
            </a:pPr>
            <a:r>
              <a:rPr sz="460" spc="0">
                <a:solidFill>
                  <a:srgbClr val="67676E"/>
                </a:solidFill>
                <a:latin typeface="Telegraf"/>
              </a:rPr>
              <a:t>channel is draft-only</a:t>
            </a:r>
            <a:endParaRPr sz="460" spc="0">
              <a:solidFill>
                <a:srgbClr val="67676E"/>
              </a:solidFill>
              <a:latin typeface="Telegraf"/>
            </a:endParaRPr>
          </a:p>
        </p:txBody>
      </p:sp>
      <p:sp>
        <p:nvSpPr>
          <p:cNvPr id="1665" name="TextBox 123"/>
          <p:cNvSpPr txBox="1"/>
          <p:nvPr/>
        </p:nvSpPr>
        <p:spPr>
          <a:xfrm>
            <a:off x="9448800" y="3530600"/>
            <a:ext cx="304800" cy="127000"/>
          </a:xfrm>
          <a:prstGeom prst="rect">
            <a:avLst/>
          </a:prstGeom>
        </p:spPr>
        <p:txBody>
          <a:bodyPr wrap="square" lIns="0" tIns="0" rIns="0" bIns="0">
            <a:noAutofit/>
          </a:bodyPr>
          <a:lstStyle/>
          <a:p>
            <a:pPr algn="r">
              <a:lnSpc>
                <a:spcPct val="135000"/>
              </a:lnSpc>
            </a:pPr>
            <a:r>
              <a:rPr sz="430" spc="0">
                <a:solidFill>
                  <a:srgbClr val="A2A2A8"/>
                </a:solidFill>
                <a:latin typeface="Telegraf"/>
              </a:rPr>
              <a:t>no</a:t>
            </a:r>
            <a:endParaRPr sz="430" spc="0">
              <a:solidFill>
                <a:srgbClr val="A2A2A8"/>
              </a:solidFill>
              <a:latin typeface="Telegraf"/>
            </a:endParaRPr>
          </a:p>
        </p:txBody>
      </p:sp>
      <p:sp>
        <p:nvSpPr>
          <p:cNvPr id="1666" name="Rectangle 124"/>
          <p:cNvSpPr/>
          <p:nvPr/>
        </p:nvSpPr>
        <p:spPr>
          <a:xfrm>
            <a:off x="6807200" y="3670300"/>
            <a:ext cx="11430" cy="76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67" name="TextBox 125"/>
          <p:cNvSpPr txBox="1"/>
          <p:nvPr/>
        </p:nvSpPr>
        <p:spPr>
          <a:xfrm>
            <a:off x="6731000" y="3746500"/>
            <a:ext cx="279400" cy="127000"/>
          </a:xfrm>
          <a:prstGeom prst="rect">
            <a:avLst/>
          </a:prstGeom>
        </p:spPr>
        <p:txBody>
          <a:bodyPr wrap="square" lIns="0" tIns="0" rIns="0" bIns="0">
            <a:noAutofit/>
          </a:bodyPr>
          <a:lstStyle/>
          <a:p>
            <a:pPr>
              <a:lnSpc>
                <a:spcPct val="135000"/>
              </a:lnSpc>
            </a:pPr>
            <a:r>
              <a:rPr sz="450" b="1" spc="0">
                <a:solidFill>
                  <a:srgbClr val="0E6B5F"/>
                </a:solidFill>
                <a:latin typeface="Telegraf"/>
              </a:rPr>
              <a:t>R6</a:t>
            </a:r>
            <a:endParaRPr sz="450" b="1" spc="0">
              <a:solidFill>
                <a:srgbClr val="0E6B5F"/>
              </a:solidFill>
              <a:latin typeface="Telegraf"/>
            </a:endParaRPr>
          </a:p>
        </p:txBody>
      </p:sp>
      <p:sp>
        <p:nvSpPr>
          <p:cNvPr id="1668" name="TextBox 126"/>
          <p:cNvSpPr txBox="1"/>
          <p:nvPr/>
        </p:nvSpPr>
        <p:spPr>
          <a:xfrm>
            <a:off x="7061200" y="3746500"/>
            <a:ext cx="1905000" cy="127000"/>
          </a:xfrm>
          <a:prstGeom prst="rect">
            <a:avLst/>
          </a:prstGeom>
        </p:spPr>
        <p:txBody>
          <a:bodyPr wrap="square" lIns="0" tIns="0" rIns="0" bIns="0">
            <a:noAutofit/>
          </a:bodyPr>
          <a:lstStyle/>
          <a:p>
            <a:pPr>
              <a:lnSpc>
                <a:spcPct val="135000"/>
              </a:lnSpc>
            </a:pPr>
            <a:r>
              <a:rPr sz="460" spc="0">
                <a:solidFill>
                  <a:srgbClr val="0A0A0A"/>
                </a:solidFill>
                <a:latin typeface="Telegraf"/>
              </a:rPr>
              <a:t>grounded · confident</a:t>
            </a:r>
            <a:endParaRPr sz="460" spc="0">
              <a:solidFill>
                <a:srgbClr val="0A0A0A"/>
              </a:solidFill>
              <a:latin typeface="Telegraf"/>
            </a:endParaRPr>
          </a:p>
        </p:txBody>
      </p:sp>
      <p:sp>
        <p:nvSpPr>
          <p:cNvPr id="1669" name="Rectangle 127"/>
          <p:cNvSpPr/>
          <p:nvPr/>
        </p:nvSpPr>
        <p:spPr>
          <a:xfrm>
            <a:off x="9042400" y="3721100"/>
            <a:ext cx="711200" cy="165100"/>
          </a:xfrm>
          <a:custGeom>
            <a:avLst/>
            <a:gdLst/>
            <a:ahLst/>
            <a:cxnLst/>
            <a:rect l="l" t="t" r="r" b="b"/>
            <a:pathLst>
              <a:path w="100000" h="23214">
                <a:moveTo>
                  <a:pt x="88393" y="0"/>
                </a:moveTo>
                <a:cubicBezTo>
                  <a:pt x="88393" y="0"/>
                  <a:pt x="88393" y="0"/>
                  <a:pt x="88393" y="0"/>
                </a:cubicBezTo>
                <a:cubicBezTo>
                  <a:pt x="94804" y="0"/>
                  <a:pt x="100000" y="5196"/>
                  <a:pt x="100000" y="11607"/>
                </a:cubicBezTo>
                <a:cubicBezTo>
                  <a:pt x="100000" y="11607"/>
                  <a:pt x="100000" y="11607"/>
                  <a:pt x="100000" y="11607"/>
                </a:cubicBezTo>
                <a:lnTo>
                  <a:pt x="100000" y="11607"/>
                </a:lnTo>
                <a:cubicBezTo>
                  <a:pt x="100000" y="11607"/>
                  <a:pt x="100000" y="11607"/>
                  <a:pt x="100000" y="11607"/>
                </a:cubicBezTo>
                <a:cubicBezTo>
                  <a:pt x="100000" y="18018"/>
                  <a:pt x="94804" y="23214"/>
                  <a:pt x="88393" y="23214"/>
                </a:cubicBezTo>
                <a:cubicBezTo>
                  <a:pt x="88393" y="23214"/>
                  <a:pt x="88393" y="23214"/>
                  <a:pt x="88393" y="23214"/>
                </a:cubicBezTo>
                <a:lnTo>
                  <a:pt x="11607" y="23214"/>
                </a:lnTo>
                <a:cubicBezTo>
                  <a:pt x="11607" y="23214"/>
                  <a:pt x="11607" y="23214"/>
                  <a:pt x="11607" y="23214"/>
                </a:cubicBezTo>
                <a:cubicBezTo>
                  <a:pt x="5196" y="23214"/>
                  <a:pt x="0" y="18018"/>
                  <a:pt x="0" y="11607"/>
                </a:cubicBezTo>
                <a:cubicBezTo>
                  <a:pt x="0" y="11607"/>
                  <a:pt x="0" y="11607"/>
                  <a:pt x="0" y="11607"/>
                </a:cubicBezTo>
                <a:lnTo>
                  <a:pt x="0" y="11607"/>
                </a:lnTo>
                <a:cubicBezTo>
                  <a:pt x="0" y="11607"/>
                  <a:pt x="0" y="11607"/>
                  <a:pt x="0" y="11607"/>
                </a:cubicBezTo>
                <a:cubicBezTo>
                  <a:pt x="0" y="5196"/>
                  <a:pt x="5196" y="0"/>
                  <a:pt x="11607" y="0"/>
                </a:cubicBezTo>
                <a:cubicBezTo>
                  <a:pt x="11607" y="0"/>
                  <a:pt x="11607" y="0"/>
                  <a:pt x="11607"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70" name="TextBox 128"/>
          <p:cNvSpPr txBox="1"/>
          <p:nvPr/>
        </p:nvSpPr>
        <p:spPr>
          <a:xfrm>
            <a:off x="9042400" y="3721100"/>
            <a:ext cx="711200" cy="165100"/>
          </a:xfrm>
          <a:prstGeom prst="rect">
            <a:avLst/>
          </a:prstGeom>
        </p:spPr>
        <p:txBody>
          <a:bodyPr wrap="square" lIns="0" tIns="0" rIns="0" bIns="0" anchor="ctr">
            <a:noAutofit/>
          </a:bodyPr>
          <a:lstStyle/>
          <a:p>
            <a:pPr algn="ctr">
              <a:lnSpc>
                <a:spcPct val="135000"/>
              </a:lnSpc>
            </a:pPr>
            <a:r>
              <a:rPr sz="420" b="1" spc="0">
                <a:solidFill>
                  <a:srgbClr val="0E6B5F"/>
                </a:solidFill>
                <a:latin typeface="Telegraf"/>
              </a:rPr>
              <a:t>answered</a:t>
            </a:r>
            <a:endParaRPr sz="420" b="1" spc="0">
              <a:solidFill>
                <a:srgbClr val="0E6B5F"/>
              </a:solidFill>
              <a:latin typeface="Telegraf"/>
            </a:endParaRPr>
          </a:p>
        </p:txBody>
      </p:sp>
      <p:sp>
        <p:nvSpPr>
          <p:cNvPr id="1671" name="Rectangle 129"/>
          <p:cNvSpPr/>
          <p:nvPr/>
        </p:nvSpPr>
        <p:spPr>
          <a:xfrm>
            <a:off x="6731000" y="4013200"/>
            <a:ext cx="32258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72" name="TextBox 130"/>
          <p:cNvSpPr txBox="1"/>
          <p:nvPr/>
        </p:nvSpPr>
        <p:spPr>
          <a:xfrm>
            <a:off x="6731000" y="4089400"/>
            <a:ext cx="3225800" cy="127000"/>
          </a:xfrm>
          <a:prstGeom prst="rect">
            <a:avLst/>
          </a:prstGeom>
        </p:spPr>
        <p:txBody>
          <a:bodyPr wrap="square" lIns="0" tIns="0" rIns="0" bIns="0">
            <a:noAutofit/>
          </a:bodyPr>
          <a:lstStyle/>
          <a:p>
            <a:pPr>
              <a:lnSpc>
                <a:spcPct val="135000"/>
              </a:lnSpc>
            </a:pPr>
            <a:r>
              <a:rPr sz="450" spc="0">
                <a:solidFill>
                  <a:srgbClr val="A2A2A8"/>
                </a:solidFill>
                <a:latin typeface="Telegraf"/>
              </a:rPr>
              <a:t>Action</a:t>
            </a:r>
            <a:endParaRPr sz="450" spc="0">
              <a:solidFill>
                <a:srgbClr val="A2A2A8"/>
              </a:solidFill>
              <a:latin typeface="Telegraf"/>
            </a:endParaRPr>
          </a:p>
        </p:txBody>
      </p:sp>
      <p:sp>
        <p:nvSpPr>
          <p:cNvPr id="1673" name="Rectangle 131"/>
          <p:cNvSpPr/>
          <p:nvPr/>
        </p:nvSpPr>
        <p:spPr>
          <a:xfrm>
            <a:off x="6731000" y="4216400"/>
            <a:ext cx="474218" cy="152400"/>
          </a:xfrm>
          <a:custGeom>
            <a:avLst/>
            <a:gdLst/>
            <a:ahLst/>
            <a:cxnLst/>
            <a:rect l="l" t="t" r="r" b="b"/>
            <a:pathLst>
              <a:path w="100000" h="32137">
                <a:moveTo>
                  <a:pt x="83931" y="0"/>
                </a:moveTo>
                <a:cubicBezTo>
                  <a:pt x="83931" y="0"/>
                  <a:pt x="83931" y="0"/>
                  <a:pt x="83931" y="0"/>
                </a:cubicBezTo>
                <a:cubicBezTo>
                  <a:pt x="92807" y="0"/>
                  <a:pt x="100000" y="7193"/>
                  <a:pt x="100000" y="16069"/>
                </a:cubicBezTo>
                <a:cubicBezTo>
                  <a:pt x="100000" y="16069"/>
                  <a:pt x="100000" y="16069"/>
                  <a:pt x="100000" y="16069"/>
                </a:cubicBezTo>
                <a:lnTo>
                  <a:pt x="100000" y="16069"/>
                </a:lnTo>
                <a:cubicBezTo>
                  <a:pt x="100000" y="16069"/>
                  <a:pt x="100000" y="16069"/>
                  <a:pt x="100000" y="16069"/>
                </a:cubicBezTo>
                <a:cubicBezTo>
                  <a:pt x="100000" y="24944"/>
                  <a:pt x="92807" y="32137"/>
                  <a:pt x="83931" y="32137"/>
                </a:cubicBezTo>
                <a:cubicBezTo>
                  <a:pt x="83931" y="32137"/>
                  <a:pt x="83931" y="32137"/>
                  <a:pt x="83931" y="32137"/>
                </a:cubicBezTo>
                <a:lnTo>
                  <a:pt x="16069" y="32137"/>
                </a:lnTo>
                <a:cubicBezTo>
                  <a:pt x="16069" y="32137"/>
                  <a:pt x="16069" y="32137"/>
                  <a:pt x="16069" y="32137"/>
                </a:cubicBezTo>
                <a:cubicBezTo>
                  <a:pt x="7193" y="32137"/>
                  <a:pt x="0" y="24944"/>
                  <a:pt x="0" y="16069"/>
                </a:cubicBezTo>
                <a:cubicBezTo>
                  <a:pt x="0" y="16069"/>
                  <a:pt x="0" y="16069"/>
                  <a:pt x="0" y="16069"/>
                </a:cubicBezTo>
                <a:lnTo>
                  <a:pt x="0" y="16069"/>
                </a:lnTo>
                <a:cubicBezTo>
                  <a:pt x="0" y="16069"/>
                  <a:pt x="0" y="16069"/>
                  <a:pt x="0" y="16069"/>
                </a:cubicBezTo>
                <a:cubicBezTo>
                  <a:pt x="0" y="7193"/>
                  <a:pt x="7193" y="0"/>
                  <a:pt x="16069" y="0"/>
                </a:cubicBezTo>
                <a:cubicBezTo>
                  <a:pt x="16069" y="0"/>
                  <a:pt x="16069" y="0"/>
                  <a:pt x="16069"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74" name="Oval 132"/>
          <p:cNvSpPr/>
          <p:nvPr/>
        </p:nvSpPr>
        <p:spPr>
          <a:xfrm>
            <a:off x="6783070" y="4271010"/>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75" name="TextBox 133"/>
          <p:cNvSpPr txBox="1"/>
          <p:nvPr/>
        </p:nvSpPr>
        <p:spPr>
          <a:xfrm>
            <a:off x="6860540" y="4216400"/>
            <a:ext cx="321818" cy="152400"/>
          </a:xfrm>
          <a:prstGeom prst="rect">
            <a:avLst/>
          </a:prstGeom>
        </p:spPr>
        <p:txBody>
          <a:bodyPr wrap="square" lIns="0" tIns="0" rIns="0" bIns="0" anchor="ctr">
            <a:noAutofit/>
          </a:bodyPr>
          <a:lstStyle/>
          <a:p>
            <a:pPr>
              <a:lnSpc>
                <a:spcPct val="135000"/>
              </a:lnSpc>
            </a:pPr>
            <a:r>
              <a:rPr sz="460" b="1" spc="0">
                <a:solidFill>
                  <a:srgbClr val="0B5C44"/>
                </a:solidFill>
                <a:latin typeface="Telegraf"/>
              </a:rPr>
              <a:t>answered</a:t>
            </a:r>
            <a:endParaRPr sz="460" b="1" spc="0">
              <a:solidFill>
                <a:srgbClr val="0B5C44"/>
              </a:solidFill>
              <a:latin typeface="Telegraf"/>
            </a:endParaRPr>
          </a:p>
        </p:txBody>
      </p:sp>
      <p:sp>
        <p:nvSpPr>
          <p:cNvPr id="1676" name="TextBox 134"/>
          <p:cNvSpPr txBox="1"/>
          <p:nvPr/>
        </p:nvSpPr>
        <p:spPr>
          <a:xfrm>
            <a:off x="7416800" y="4216400"/>
            <a:ext cx="762000" cy="152400"/>
          </a:xfrm>
          <a:prstGeom prst="rect">
            <a:avLst/>
          </a:prstGeom>
        </p:spPr>
        <p:txBody>
          <a:bodyPr wrap="square" lIns="0" tIns="0" rIns="0" bIns="0">
            <a:noAutofit/>
          </a:bodyPr>
          <a:lstStyle/>
          <a:p>
            <a:pPr>
              <a:lnSpc>
                <a:spcPct val="135000"/>
              </a:lnSpc>
            </a:pPr>
            <a:r>
              <a:rPr sz="500" b="1" spc="0">
                <a:solidFill>
                  <a:srgbClr val="0E6B5F"/>
                </a:solidFill>
                <a:latin typeface="Telegraf"/>
              </a:rPr>
              <a:t>R6</a:t>
            </a:r>
            <a:endParaRPr sz="500" b="1" spc="0">
              <a:solidFill>
                <a:srgbClr val="0E6B5F"/>
              </a:solidFill>
              <a:latin typeface="Telegraf"/>
            </a:endParaRPr>
          </a:p>
        </p:txBody>
      </p:sp>
      <p:sp>
        <p:nvSpPr>
          <p:cNvPr id="1677" name="TextBox 135"/>
          <p:cNvSpPr txBox="1"/>
          <p:nvPr/>
        </p:nvSpPr>
        <p:spPr>
          <a:xfrm>
            <a:off x="7797800" y="4216400"/>
            <a:ext cx="1778000" cy="152400"/>
          </a:xfrm>
          <a:prstGeom prst="rect">
            <a:avLst/>
          </a:prstGeom>
        </p:spPr>
        <p:txBody>
          <a:bodyPr wrap="square" lIns="0" tIns="0" rIns="0" bIns="0">
            <a:noAutofit/>
          </a:bodyPr>
          <a:lstStyle/>
          <a:p>
            <a:pPr>
              <a:lnSpc>
                <a:spcPct val="135000"/>
              </a:lnSpc>
            </a:pPr>
            <a:r>
              <a:rPr sz="450" spc="0">
                <a:solidFill>
                  <a:srgbClr val="67676E"/>
                </a:solidFill>
                <a:latin typeface="Telegraf"/>
              </a:rPr>
              <a:t>auto-send allowed</a:t>
            </a:r>
            <a:endParaRPr sz="450" spc="0">
              <a:solidFill>
                <a:srgbClr val="67676E"/>
              </a:solidFill>
              <a:latin typeface="Telegraf"/>
            </a:endParaRPr>
          </a:p>
        </p:txBody>
      </p:sp>
      <p:sp>
        <p:nvSpPr>
          <p:cNvPr id="1678" name="Rectangle 136"/>
          <p:cNvSpPr/>
          <p:nvPr/>
        </p:nvSpPr>
        <p:spPr>
          <a:xfrm>
            <a:off x="6731000" y="5080000"/>
            <a:ext cx="3225800" cy="1270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79" name="TextBox 137"/>
          <p:cNvSpPr txBox="1"/>
          <p:nvPr/>
        </p:nvSpPr>
        <p:spPr>
          <a:xfrm>
            <a:off x="6731000" y="5207000"/>
            <a:ext cx="2540000" cy="114300"/>
          </a:xfrm>
          <a:prstGeom prst="rect">
            <a:avLst/>
          </a:prstGeom>
        </p:spPr>
        <p:txBody>
          <a:bodyPr wrap="square" lIns="0" tIns="0" rIns="0" bIns="0">
            <a:noAutofit/>
          </a:bodyPr>
          <a:lstStyle/>
          <a:p>
            <a:r>
              <a:rPr sz="440" b="1" spc="100">
                <a:solidFill>
                  <a:srgbClr val="A2A2A8"/>
                </a:solidFill>
                <a:latin typeface="Telegraf"/>
              </a:rPr>
              <a:t>SARVAM / QUEUE CONTRACT</a:t>
            </a:r>
            <a:endParaRPr sz="440" b="1" spc="100">
              <a:solidFill>
                <a:srgbClr val="A2A2A8"/>
              </a:solidFill>
              <a:latin typeface="Telegraf"/>
            </a:endParaRPr>
          </a:p>
        </p:txBody>
      </p:sp>
      <p:sp>
        <p:nvSpPr>
          <p:cNvPr id="1680" name="TextBox 138"/>
          <p:cNvSpPr txBox="1"/>
          <p:nvPr/>
        </p:nvSpPr>
        <p:spPr>
          <a:xfrm>
            <a:off x="6731000" y="5334000"/>
            <a:ext cx="3225800" cy="304800"/>
          </a:xfrm>
          <a:prstGeom prst="rect">
            <a:avLst/>
          </a:prstGeom>
        </p:spPr>
        <p:txBody>
          <a:bodyPr wrap="square" lIns="0" tIns="0" rIns="0" bIns="0">
            <a:noAutofit/>
          </a:bodyPr>
          <a:lstStyle/>
          <a:p>
            <a:pPr>
              <a:lnSpc>
                <a:spcPct val="140000"/>
              </a:lnSpc>
            </a:pPr>
            <a:r>
              <a:rPr sz="450" spc="0">
                <a:solidFill>
                  <a:srgbClr val="67676E"/>
                </a:solidFill>
                <a:latin typeface="Telegraf"/>
              </a:rPr>
              <a:t>POST /api/businesses/[id]/tickets → state, actionStatus, routingRuleHit</a:t>
            </a:r>
            <a:endParaRPr sz="450" spc="0">
              <a:solidFill>
                <a:srgbClr val="67676E"/>
              </a:solidFill>
              <a:latin typeface="Telegraf"/>
            </a:endParaRPr>
          </a:p>
        </p:txBody>
      </p:sp>
      <p:sp>
        <p:nvSpPr>
          <p:cNvPr id="1681" name="Rectangle 139"/>
          <p:cNvSpPr/>
          <p:nvPr/>
        </p:nvSpPr>
        <p:spPr>
          <a:xfrm>
            <a:off x="6731000" y="5740400"/>
            <a:ext cx="1422400" cy="254000"/>
          </a:xfrm>
          <a:custGeom>
            <a:avLst/>
            <a:gdLst/>
            <a:ahLst/>
            <a:cxnLst/>
            <a:rect l="l" t="t" r="r" b="b"/>
            <a:pathLst>
              <a:path w="100000" h="17857">
                <a:moveTo>
                  <a:pt x="91071" y="0"/>
                </a:moveTo>
                <a:cubicBezTo>
                  <a:pt x="91071" y="0"/>
                  <a:pt x="91071" y="0"/>
                  <a:pt x="91071" y="0"/>
                </a:cubicBezTo>
                <a:cubicBezTo>
                  <a:pt x="96003" y="0"/>
                  <a:pt x="100000" y="3997"/>
                  <a:pt x="100000" y="8929"/>
                </a:cubicBezTo>
                <a:cubicBezTo>
                  <a:pt x="100000" y="8929"/>
                  <a:pt x="100000" y="8929"/>
                  <a:pt x="100000" y="8929"/>
                </a:cubicBezTo>
                <a:lnTo>
                  <a:pt x="100000" y="8929"/>
                </a:lnTo>
                <a:cubicBezTo>
                  <a:pt x="100000" y="8929"/>
                  <a:pt x="100000" y="8929"/>
                  <a:pt x="100000" y="8929"/>
                </a:cubicBezTo>
                <a:cubicBezTo>
                  <a:pt x="100000" y="13860"/>
                  <a:pt x="96003" y="17857"/>
                  <a:pt x="91071" y="17857"/>
                </a:cubicBezTo>
                <a:cubicBezTo>
                  <a:pt x="91071" y="17857"/>
                  <a:pt x="91071" y="17857"/>
                  <a:pt x="91071" y="17857"/>
                </a:cubicBezTo>
                <a:lnTo>
                  <a:pt x="8929" y="17857"/>
                </a:lnTo>
                <a:cubicBezTo>
                  <a:pt x="8929" y="17857"/>
                  <a:pt x="8929" y="17857"/>
                  <a:pt x="8929" y="17857"/>
                </a:cubicBezTo>
                <a:cubicBezTo>
                  <a:pt x="3997" y="17857"/>
                  <a:pt x="0" y="13860"/>
                  <a:pt x="0" y="8929"/>
                </a:cubicBezTo>
                <a:cubicBezTo>
                  <a:pt x="0" y="8929"/>
                  <a:pt x="0" y="8929"/>
                  <a:pt x="0" y="8929"/>
                </a:cubicBezTo>
                <a:lnTo>
                  <a:pt x="0" y="8929"/>
                </a:lnTo>
                <a:cubicBezTo>
                  <a:pt x="0" y="8929"/>
                  <a:pt x="0" y="8929"/>
                  <a:pt x="0" y="8929"/>
                </a:cubicBezTo>
                <a:cubicBezTo>
                  <a:pt x="0" y="3997"/>
                  <a:pt x="3997" y="0"/>
                  <a:pt x="8929" y="0"/>
                </a:cubicBezTo>
                <a:cubicBezTo>
                  <a:pt x="8929" y="0"/>
                  <a:pt x="8929" y="0"/>
                  <a:pt x="8929"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82" name="TextBox 140"/>
          <p:cNvSpPr txBox="1"/>
          <p:nvPr/>
        </p:nvSpPr>
        <p:spPr>
          <a:xfrm>
            <a:off x="6807200" y="5740400"/>
            <a:ext cx="1295400" cy="254000"/>
          </a:xfrm>
          <a:prstGeom prst="rect">
            <a:avLst/>
          </a:prstGeom>
        </p:spPr>
        <p:txBody>
          <a:bodyPr wrap="square" lIns="0" tIns="0" rIns="0" bIns="0" anchor="ctr">
            <a:noAutofit/>
          </a:bodyPr>
          <a:lstStyle/>
          <a:p>
            <a:pPr>
              <a:lnSpc>
                <a:spcPct val="135000"/>
              </a:lnSpc>
            </a:pPr>
            <a:r>
              <a:rPr sz="460" b="1" spc="10">
                <a:solidFill>
                  <a:srgbClr val="FFFFFF"/>
                </a:solidFill>
                <a:latin typeface="Telegraf"/>
              </a:rPr>
              <a:t>Approve &amp; send</a:t>
            </a:r>
            <a:endParaRPr sz="460" b="1" spc="10">
              <a:solidFill>
                <a:srgbClr val="FFFFFF"/>
              </a:solidFill>
              <a:latin typeface="Telegraf"/>
            </a:endParaRPr>
          </a:p>
        </p:txBody>
      </p:sp>
      <p:sp>
        <p:nvSpPr>
          <p:cNvPr id="1683" name="Rectangle 141"/>
          <p:cNvSpPr/>
          <p:nvPr/>
        </p:nvSpPr>
        <p:spPr>
          <a:xfrm>
            <a:off x="8229600" y="5740400"/>
            <a:ext cx="787400" cy="254000"/>
          </a:xfrm>
          <a:custGeom>
            <a:avLst/>
            <a:gdLst/>
            <a:ahLst/>
            <a:cxnLst/>
            <a:rect l="l" t="t" r="r" b="b"/>
            <a:pathLst>
              <a:path w="100000" h="32258">
                <a:moveTo>
                  <a:pt x="83871" y="0"/>
                </a:moveTo>
                <a:cubicBezTo>
                  <a:pt x="83871" y="0"/>
                  <a:pt x="83871" y="0"/>
                  <a:pt x="83871" y="0"/>
                </a:cubicBezTo>
                <a:cubicBezTo>
                  <a:pt x="92779" y="0"/>
                  <a:pt x="100000" y="7221"/>
                  <a:pt x="100000" y="16129"/>
                </a:cubicBezTo>
                <a:cubicBezTo>
                  <a:pt x="100000" y="16129"/>
                  <a:pt x="100000" y="16129"/>
                  <a:pt x="100000" y="16129"/>
                </a:cubicBezTo>
                <a:lnTo>
                  <a:pt x="100000" y="16129"/>
                </a:lnTo>
                <a:cubicBezTo>
                  <a:pt x="100000" y="16129"/>
                  <a:pt x="100000" y="16129"/>
                  <a:pt x="100000" y="16129"/>
                </a:cubicBezTo>
                <a:cubicBezTo>
                  <a:pt x="100000" y="25037"/>
                  <a:pt x="92779" y="32258"/>
                  <a:pt x="83871" y="32258"/>
                </a:cubicBezTo>
                <a:cubicBezTo>
                  <a:pt x="83871" y="32258"/>
                  <a:pt x="83871" y="32258"/>
                  <a:pt x="83871" y="32258"/>
                </a:cubicBezTo>
                <a:lnTo>
                  <a:pt x="16129" y="32258"/>
                </a:lnTo>
                <a:cubicBezTo>
                  <a:pt x="16129" y="32258"/>
                  <a:pt x="16129" y="32258"/>
                  <a:pt x="16129" y="32258"/>
                </a:cubicBezTo>
                <a:cubicBezTo>
                  <a:pt x="7221" y="32258"/>
                  <a:pt x="0" y="25037"/>
                  <a:pt x="0" y="16129"/>
                </a:cubicBezTo>
                <a:cubicBezTo>
                  <a:pt x="0" y="16129"/>
                  <a:pt x="0" y="16129"/>
                  <a:pt x="0" y="16129"/>
                </a:cubicBezTo>
                <a:lnTo>
                  <a:pt x="0" y="16129"/>
                </a:lnTo>
                <a:cubicBezTo>
                  <a:pt x="0" y="16129"/>
                  <a:pt x="0" y="16129"/>
                  <a:pt x="0" y="16129"/>
                </a:cubicBezTo>
                <a:cubicBezTo>
                  <a:pt x="0" y="7221"/>
                  <a:pt x="7221" y="0"/>
                  <a:pt x="16129" y="0"/>
                </a:cubicBezTo>
                <a:cubicBezTo>
                  <a:pt x="16129" y="0"/>
                  <a:pt x="16129" y="0"/>
                  <a:pt x="1612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84" name="TextBox 142"/>
          <p:cNvSpPr txBox="1"/>
          <p:nvPr/>
        </p:nvSpPr>
        <p:spPr>
          <a:xfrm>
            <a:off x="8305800" y="5740400"/>
            <a:ext cx="660400" cy="254000"/>
          </a:xfrm>
          <a:prstGeom prst="rect">
            <a:avLst/>
          </a:prstGeom>
        </p:spPr>
        <p:txBody>
          <a:bodyPr wrap="square" lIns="0" tIns="0" rIns="0" bIns="0" anchor="ctr">
            <a:noAutofit/>
          </a:bodyPr>
          <a:lstStyle/>
          <a:p>
            <a:pPr>
              <a:lnSpc>
                <a:spcPct val="135000"/>
              </a:lnSpc>
            </a:pPr>
            <a:r>
              <a:rPr sz="460" b="1" spc="10">
                <a:solidFill>
                  <a:srgbClr val="67676E"/>
                </a:solidFill>
                <a:latin typeface="Telegraf"/>
              </a:rPr>
              <a:t>Assign</a:t>
            </a:r>
            <a:endParaRPr sz="460" b="1" spc="10">
              <a:solidFill>
                <a:srgbClr val="67676E"/>
              </a:solidFill>
              <a:latin typeface="Telegraf"/>
            </a:endParaRPr>
          </a:p>
        </p:txBody>
      </p:sp>
      <p:sp>
        <p:nvSpPr>
          <p:cNvPr id="1685" name="Rectangle 143"/>
          <p:cNvSpPr/>
          <p:nvPr/>
        </p:nvSpPr>
        <p:spPr>
          <a:xfrm>
            <a:off x="9093200" y="5740400"/>
            <a:ext cx="863600" cy="254000"/>
          </a:xfrm>
          <a:custGeom>
            <a:avLst/>
            <a:gdLst/>
            <a:ahLst/>
            <a:cxnLst/>
            <a:rect l="l" t="t" r="r" b="b"/>
            <a:pathLst>
              <a:path w="100000" h="29412">
                <a:moveTo>
                  <a:pt x="85294" y="0"/>
                </a:moveTo>
                <a:cubicBezTo>
                  <a:pt x="85294" y="0"/>
                  <a:pt x="85294" y="0"/>
                  <a:pt x="85294" y="0"/>
                </a:cubicBezTo>
                <a:cubicBezTo>
                  <a:pt x="93416" y="0"/>
                  <a:pt x="100000" y="6584"/>
                  <a:pt x="100000" y="14706"/>
                </a:cubicBezTo>
                <a:cubicBezTo>
                  <a:pt x="100000" y="14706"/>
                  <a:pt x="100000" y="14706"/>
                  <a:pt x="100000" y="14706"/>
                </a:cubicBezTo>
                <a:lnTo>
                  <a:pt x="100000" y="14706"/>
                </a:lnTo>
                <a:cubicBezTo>
                  <a:pt x="100000" y="14706"/>
                  <a:pt x="100000" y="14706"/>
                  <a:pt x="100000" y="14706"/>
                </a:cubicBezTo>
                <a:cubicBezTo>
                  <a:pt x="100000" y="22828"/>
                  <a:pt x="93416" y="29412"/>
                  <a:pt x="85294" y="29412"/>
                </a:cubicBezTo>
                <a:cubicBezTo>
                  <a:pt x="85294" y="29412"/>
                  <a:pt x="85294" y="29412"/>
                  <a:pt x="85294" y="29412"/>
                </a:cubicBezTo>
                <a:lnTo>
                  <a:pt x="14706" y="29412"/>
                </a:lnTo>
                <a:cubicBezTo>
                  <a:pt x="14706" y="29412"/>
                  <a:pt x="14706" y="29412"/>
                  <a:pt x="14706" y="29412"/>
                </a:cubicBezTo>
                <a:cubicBezTo>
                  <a:pt x="6584" y="29412"/>
                  <a:pt x="0" y="22828"/>
                  <a:pt x="0" y="14706"/>
                </a:cubicBezTo>
                <a:cubicBezTo>
                  <a:pt x="0" y="14706"/>
                  <a:pt x="0" y="14706"/>
                  <a:pt x="0" y="14706"/>
                </a:cubicBezTo>
                <a:lnTo>
                  <a:pt x="0" y="14706"/>
                </a:lnTo>
                <a:cubicBezTo>
                  <a:pt x="0" y="14706"/>
                  <a:pt x="0" y="14706"/>
                  <a:pt x="0" y="14706"/>
                </a:cubicBezTo>
                <a:cubicBezTo>
                  <a:pt x="0" y="6584"/>
                  <a:pt x="6584" y="0"/>
                  <a:pt x="14706" y="0"/>
                </a:cubicBezTo>
                <a:cubicBezTo>
                  <a:pt x="14706" y="0"/>
                  <a:pt x="14706" y="0"/>
                  <a:pt x="1470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86" name="TextBox 144"/>
          <p:cNvSpPr txBox="1"/>
          <p:nvPr/>
        </p:nvSpPr>
        <p:spPr>
          <a:xfrm>
            <a:off x="9169400" y="5740400"/>
            <a:ext cx="736600" cy="254000"/>
          </a:xfrm>
          <a:prstGeom prst="rect">
            <a:avLst/>
          </a:prstGeom>
        </p:spPr>
        <p:txBody>
          <a:bodyPr wrap="square" lIns="0" tIns="0" rIns="0" bIns="0" anchor="ctr">
            <a:noAutofit/>
          </a:bodyPr>
          <a:lstStyle/>
          <a:p>
            <a:pPr>
              <a:lnSpc>
                <a:spcPct val="135000"/>
              </a:lnSpc>
            </a:pPr>
            <a:r>
              <a:rPr sz="460" b="1" spc="10">
                <a:solidFill>
                  <a:srgbClr val="67676E"/>
                </a:solidFill>
                <a:latin typeface="Telegraf"/>
              </a:rPr>
              <a:t>Resolve</a:t>
            </a:r>
            <a:endParaRPr sz="460" b="1" spc="10">
              <a:solidFill>
                <a:srgbClr val="67676E"/>
              </a:solidFill>
              <a:latin typeface="Telegraf"/>
            </a:endParaRPr>
          </a:p>
        </p:txBody>
      </p:sp>
      <p:sp>
        <p:nvSpPr>
          <p:cNvPr id="1687" name="TextBox 145"/>
          <p:cNvSpPr txBox="1"/>
          <p:nvPr/>
        </p:nvSpPr>
        <p:spPr>
          <a:xfrm>
            <a:off x="6731000" y="6070600"/>
            <a:ext cx="3225800" cy="127000"/>
          </a:xfrm>
          <a:prstGeom prst="rect">
            <a:avLst/>
          </a:prstGeom>
        </p:spPr>
        <p:txBody>
          <a:bodyPr wrap="square" lIns="0" tIns="0" rIns="0" bIns="0">
            <a:noAutofit/>
          </a:bodyPr>
          <a:lstStyle/>
          <a:p>
            <a:pPr>
              <a:lnSpc>
                <a:spcPct val="135000"/>
              </a:lnSpc>
            </a:pPr>
            <a:r>
              <a:rPr sz="440" spc="0">
                <a:solidFill>
                  <a:srgbClr val="A2A2A8"/>
                </a:solidFill>
                <a:latin typeface="Telegraf"/>
              </a:rPr>
              <a:t>Escalated tickets get the same three actions, plus a reason field.</a:t>
            </a:r>
            <a:endParaRPr sz="440" spc="0">
              <a:solidFill>
                <a:srgbClr val="A2A2A8"/>
              </a:solidFill>
              <a:latin typeface="Telegraf"/>
            </a:endParaRPr>
          </a:p>
        </p:txBody>
      </p:sp>
      <p:sp>
        <p:nvSpPr>
          <p:cNvPr id="1688" name="Oval 146"/>
          <p:cNvSpPr/>
          <p:nvPr/>
        </p:nvSpPr>
        <p:spPr>
          <a:xfrm>
            <a:off x="574040" y="828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89" name="Oval 147"/>
          <p:cNvSpPr/>
          <p:nvPr/>
        </p:nvSpPr>
        <p:spPr>
          <a:xfrm>
            <a:off x="598170" y="852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0" name="TextBox 148"/>
          <p:cNvSpPr txBox="1"/>
          <p:nvPr/>
        </p:nvSpPr>
        <p:spPr>
          <a:xfrm>
            <a:off x="598170" y="852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1691" name="Oval 149"/>
          <p:cNvSpPr/>
          <p:nvPr/>
        </p:nvSpPr>
        <p:spPr>
          <a:xfrm>
            <a:off x="574040" y="3672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2" name="Oval 150"/>
          <p:cNvSpPr/>
          <p:nvPr/>
        </p:nvSpPr>
        <p:spPr>
          <a:xfrm>
            <a:off x="598170" y="3696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3" name="TextBox 151"/>
          <p:cNvSpPr txBox="1"/>
          <p:nvPr/>
        </p:nvSpPr>
        <p:spPr>
          <a:xfrm>
            <a:off x="598170" y="3696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1694" name="Oval 152"/>
          <p:cNvSpPr/>
          <p:nvPr/>
        </p:nvSpPr>
        <p:spPr>
          <a:xfrm>
            <a:off x="574040" y="4815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5" name="Oval 153"/>
          <p:cNvSpPr/>
          <p:nvPr/>
        </p:nvSpPr>
        <p:spPr>
          <a:xfrm>
            <a:off x="598170" y="4839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6" name="TextBox 154"/>
          <p:cNvSpPr txBox="1"/>
          <p:nvPr/>
        </p:nvSpPr>
        <p:spPr>
          <a:xfrm>
            <a:off x="598170" y="4839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1697" name="Oval 155"/>
          <p:cNvSpPr/>
          <p:nvPr/>
        </p:nvSpPr>
        <p:spPr>
          <a:xfrm>
            <a:off x="6365240" y="675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8" name="Oval 156"/>
          <p:cNvSpPr/>
          <p:nvPr/>
        </p:nvSpPr>
        <p:spPr>
          <a:xfrm>
            <a:off x="6389370" y="699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699" name="TextBox 157"/>
          <p:cNvSpPr txBox="1"/>
          <p:nvPr/>
        </p:nvSpPr>
        <p:spPr>
          <a:xfrm>
            <a:off x="6389370" y="699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1700" name="Rectangle 158"/>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01" name="TextBox 159"/>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12  —  DASHBOARD · TICKET</a:t>
            </a:r>
            <a:endParaRPr sz="490" b="1" spc="120">
              <a:solidFill>
                <a:srgbClr val="8FE0CE"/>
              </a:solidFill>
              <a:latin typeface="Telegraf"/>
            </a:endParaRPr>
          </a:p>
        </p:txBody>
      </p:sp>
      <p:sp>
        <p:nvSpPr>
          <p:cNvPr id="1702" name="TextBox 160"/>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One ticket,</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the whole chain.</a:t>
            </a:r>
            <a:endParaRPr sz="1650" spc="-50">
              <a:solidFill>
                <a:srgbClr val="FFFFFF"/>
              </a:solidFill>
              <a:latin typeface="PP Editorial New Ultralight"/>
            </a:endParaRPr>
          </a:p>
        </p:txBody>
      </p:sp>
      <p:sp>
        <p:nvSpPr>
          <p:cNvPr id="1703" name="Rectangle 161"/>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04" name="TextBox 162"/>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1705" name="TextBox 163"/>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Conversation</a:t>
            </a:r>
            <a:endParaRPr sz="590" b="1" spc="0">
              <a:solidFill>
                <a:srgbClr val="FFFFFF"/>
              </a:solidFill>
              <a:latin typeface="Telegraf"/>
            </a:endParaRPr>
          </a:p>
        </p:txBody>
      </p:sp>
      <p:sp>
        <p:nvSpPr>
          <p:cNvPr id="1706" name="TextBox 164"/>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Customer and draft share one thread; the draft is the only teal edge.</a:t>
            </a:r>
            <a:endParaRPr sz="550" spc="0">
              <a:solidFill>
                <a:srgbClr val="A8A8A8"/>
              </a:solidFill>
              <a:latin typeface="Telegraf"/>
            </a:endParaRPr>
          </a:p>
        </p:txBody>
      </p:sp>
      <p:sp>
        <p:nvSpPr>
          <p:cNvPr id="1707" name="TextBox 165"/>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1708" name="TextBox 166"/>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Composer</a:t>
            </a:r>
            <a:endParaRPr sz="590" b="1" spc="0">
              <a:solidFill>
                <a:srgbClr val="FFFFFF"/>
              </a:solidFill>
              <a:latin typeface="Telegraf"/>
            </a:endParaRPr>
          </a:p>
        </p:txBody>
      </p:sp>
      <p:sp>
        <p:nvSpPr>
          <p:cNvPr id="1709" name="TextBox 167"/>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Approve &amp; send is black because it is the irreversible action.</a:t>
            </a:r>
            <a:endParaRPr sz="550" spc="0">
              <a:solidFill>
                <a:srgbClr val="A8A8A8"/>
              </a:solidFill>
              <a:latin typeface="Telegraf"/>
            </a:endParaRPr>
          </a:p>
        </p:txBody>
      </p:sp>
      <p:sp>
        <p:nvSpPr>
          <p:cNvPr id="1710" name="TextBox 168"/>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1711" name="TextBox 169"/>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Sources</a:t>
            </a:r>
            <a:endParaRPr sz="590" b="1" spc="0">
              <a:solidFill>
                <a:srgbClr val="FFFFFF"/>
              </a:solidFill>
              <a:latin typeface="Telegraf"/>
            </a:endParaRPr>
          </a:p>
        </p:txBody>
      </p:sp>
      <p:sp>
        <p:nvSpPr>
          <p:cNvPr id="1712" name="TextBox 170"/>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Chunk id, section, excerpt, score — the citation the API returns.</a:t>
            </a:r>
            <a:endParaRPr sz="550" spc="0">
              <a:solidFill>
                <a:srgbClr val="A8A8A8"/>
              </a:solidFill>
              <a:latin typeface="Telegraf"/>
            </a:endParaRPr>
          </a:p>
        </p:txBody>
      </p:sp>
      <p:sp>
        <p:nvSpPr>
          <p:cNvPr id="1713" name="TextBox 171"/>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1714" name="TextBox 172"/>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Trace</a:t>
            </a:r>
            <a:endParaRPr sz="590" b="1" spc="0">
              <a:solidFill>
                <a:srgbClr val="FFFFFF"/>
              </a:solidFill>
              <a:latin typeface="Telegraf"/>
            </a:endParaRPr>
          </a:p>
        </p:txBody>
      </p:sp>
      <p:sp>
        <p:nvSpPr>
          <p:cNvPr id="1715" name="TextBox 173"/>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Every rule is listed with its verdict, so R6 is shown, not implied.</a:t>
            </a:r>
            <a:endParaRPr sz="550" spc="0">
              <a:solidFill>
                <a:srgbClr val="A8A8A8"/>
              </a:solidFill>
              <a:latin typeface="Telegraf"/>
            </a:endParaRPr>
          </a:p>
        </p:txBody>
      </p:sp>
      <p:sp>
        <p:nvSpPr>
          <p:cNvPr id="1716" name="TextBox 174"/>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1717" name="TextBox 175"/>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/dashboard?tab=queue  →  drawer</a:t>
            </a:r>
            <a:endParaRPr sz="560" spc="0">
              <a:solidFill>
                <a:srgbClr val="FFFFFF"/>
              </a:solidFill>
              <a:latin typeface="Telegraf"/>
            </a:endParaRPr>
          </a:p>
        </p:txBody>
      </p:sp>
      <p:sp>
        <p:nvSpPr>
          <p:cNvPr id="1718" name="TextBox 176"/>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1719" name="TextBox 177"/>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components/dashboard/TicketDetailDrawer.tsx; SourceCard.tsx; RuleChain.tsx</a:t>
            </a:r>
            <a:endParaRPr sz="530" spc="0">
              <a:solidFill>
                <a:srgbClr val="CFCFCF"/>
              </a:solidFill>
              <a:latin typeface="Telegraf"/>
            </a:endParaRPr>
          </a:p>
        </p:txBody>
      </p:sp>
      <p:sp>
        <p:nvSpPr>
          <p:cNvPr id="1720" name="Rectangle 178"/>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21" name="TextBox 179"/>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4F1"/>
        </a:solidFill>
        <a:effectLst/>
      </p:bgPr>
    </p:bg>
    <p:spTree>
      <p:nvGrpSpPr>
        <p:cNvPr id="1" name=""/>
        <p:cNvGrpSpPr/>
        <p:nvPr/>
      </p:nvGrpSpPr>
      <p:grpSpPr>
        <a:xfrm>
          <a:off x="0" y="0"/>
          <a:ext cx="0" cy="0"/>
          <a:chOff x="0" y="0"/>
          <a:chExt cx="0" cy="0"/>
        </a:xfrm>
      </p:grpSpPr>
      <p:sp>
        <p:nvSpPr>
          <p:cNvPr id="1723" name="Rectangle 1"/>
          <p:cNvSpPr/>
          <p:nvPr/>
        </p:nvSpPr>
        <p:spPr>
          <a:xfrm>
            <a:off x="0" y="0"/>
            <a:ext cx="558800" cy="6858000"/>
          </a:xfrm>
          <a:prstGeom prst="roundRect">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24" name="Rectangle 2"/>
          <p:cNvSpPr/>
          <p:nvPr/>
        </p:nvSpPr>
        <p:spPr>
          <a:xfrm>
            <a:off x="548640" y="0"/>
            <a:ext cx="11430" cy="685800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25" name="Rectangle 3"/>
          <p:cNvSpPr/>
          <p:nvPr/>
        </p:nvSpPr>
        <p:spPr>
          <a:xfrm>
            <a:off x="558800" y="0"/>
            <a:ext cx="9753600" cy="508000"/>
          </a:xfrm>
          <a:prstGeom prst="roundRect">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26" name="Rectangle 4"/>
          <p:cNvSpPr/>
          <p:nvPr/>
        </p:nvSpPr>
        <p:spPr>
          <a:xfrm>
            <a:off x="558800" y="497840"/>
            <a:ext cx="9753600" cy="1143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27" name="TextBox 5"/>
          <p:cNvSpPr txBox="1"/>
          <p:nvPr/>
        </p:nvSpPr>
        <p:spPr>
          <a:xfrm>
            <a:off x="711200" y="152400"/>
            <a:ext cx="2540000" cy="228600"/>
          </a:xfrm>
          <a:prstGeom prst="rect">
            <a:avLst/>
          </a:prstGeom>
        </p:spPr>
        <p:txBody>
          <a:bodyPr wrap="square" lIns="0" tIns="0" rIns="0" bIns="0">
            <a:noAutofit/>
          </a:bodyPr>
          <a:lstStyle/>
          <a:p>
            <a:pPr>
              <a:lnSpc>
                <a:spcPct val="135000"/>
              </a:lnSpc>
            </a:pPr>
            <a:r>
              <a:rPr sz="640" b="1" spc="0">
                <a:solidFill>
                  <a:srgbClr val="C4C4BD"/>
                </a:solidFill>
                <a:latin typeface="Telegraf"/>
              </a:rPr>
              <a:t>CloudPulse CRM</a:t>
            </a:r>
            <a:endParaRPr sz="640" b="1" spc="0">
              <a:solidFill>
                <a:srgbClr val="C4C4BD"/>
              </a:solidFill>
              <a:latin typeface="Telegraf"/>
            </a:endParaRPr>
          </a:p>
        </p:txBody>
      </p:sp>
      <p:sp>
        <p:nvSpPr>
          <p:cNvPr id="1728" name="Rectangle 6"/>
          <p:cNvSpPr/>
          <p:nvPr/>
        </p:nvSpPr>
        <p:spPr>
          <a:xfrm>
            <a:off x="8204200" y="114300"/>
            <a:ext cx="1549400" cy="292100"/>
          </a:xfrm>
          <a:custGeom>
            <a:avLst/>
            <a:gdLst/>
            <a:ahLst/>
            <a:cxnLst/>
            <a:rect l="l" t="t" r="r" b="b"/>
            <a:pathLst>
              <a:path w="100000" h="18852">
                <a:moveTo>
                  <a:pt x="90574" y="0"/>
                </a:moveTo>
                <a:cubicBezTo>
                  <a:pt x="90574" y="0"/>
                  <a:pt x="90574" y="0"/>
                  <a:pt x="90574" y="0"/>
                </a:cubicBezTo>
                <a:cubicBezTo>
                  <a:pt x="95780" y="0"/>
                  <a:pt x="100000" y="4220"/>
                  <a:pt x="100000" y="9426"/>
                </a:cubicBezTo>
                <a:cubicBezTo>
                  <a:pt x="100000" y="9426"/>
                  <a:pt x="100000" y="9426"/>
                  <a:pt x="100000" y="9426"/>
                </a:cubicBezTo>
                <a:lnTo>
                  <a:pt x="100000" y="9426"/>
                </a:lnTo>
                <a:cubicBezTo>
                  <a:pt x="100000" y="9426"/>
                  <a:pt x="100000" y="9426"/>
                  <a:pt x="100000" y="9426"/>
                </a:cubicBezTo>
                <a:cubicBezTo>
                  <a:pt x="100000" y="14632"/>
                  <a:pt x="95780" y="18852"/>
                  <a:pt x="90574" y="18852"/>
                </a:cubicBezTo>
                <a:cubicBezTo>
                  <a:pt x="90574" y="18852"/>
                  <a:pt x="90574" y="18852"/>
                  <a:pt x="90574" y="18852"/>
                </a:cubicBezTo>
                <a:lnTo>
                  <a:pt x="9426" y="18852"/>
                </a:lnTo>
                <a:cubicBezTo>
                  <a:pt x="9426" y="18852"/>
                  <a:pt x="9426" y="18852"/>
                  <a:pt x="9426" y="18852"/>
                </a:cubicBezTo>
                <a:cubicBezTo>
                  <a:pt x="4220" y="18852"/>
                  <a:pt x="0" y="14632"/>
                  <a:pt x="0" y="9426"/>
                </a:cubicBezTo>
                <a:cubicBezTo>
                  <a:pt x="0" y="9426"/>
                  <a:pt x="0" y="9426"/>
                  <a:pt x="0" y="9426"/>
                </a:cubicBezTo>
                <a:lnTo>
                  <a:pt x="0" y="9426"/>
                </a:lnTo>
                <a:cubicBezTo>
                  <a:pt x="0" y="9426"/>
                  <a:pt x="0" y="9426"/>
                  <a:pt x="0" y="9426"/>
                </a:cubicBezTo>
                <a:cubicBezTo>
                  <a:pt x="0" y="4220"/>
                  <a:pt x="4220" y="0"/>
                  <a:pt x="9426" y="0"/>
                </a:cubicBezTo>
                <a:cubicBezTo>
                  <a:pt x="9426" y="0"/>
                  <a:pt x="9426" y="0"/>
                  <a:pt x="9426" y="0"/>
                </a:cubicBezTo>
                <a:close/>
              </a:path>
            </a:pathLst>
          </a:cu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29" name="TextBox 7"/>
          <p:cNvSpPr txBox="1"/>
          <p:nvPr/>
        </p:nvSpPr>
        <p:spPr>
          <a:xfrm>
            <a:off x="8280400" y="114300"/>
            <a:ext cx="1422400" cy="292100"/>
          </a:xfrm>
          <a:prstGeom prst="rect">
            <a:avLst/>
          </a:prstGeom>
        </p:spPr>
        <p:txBody>
          <a:bodyPr wrap="square" lIns="0" tIns="0" rIns="0" bIns="0" anchor="ctr">
            <a:noAutofit/>
          </a:bodyPr>
          <a:lstStyle/>
          <a:p>
            <a:pPr>
              <a:lnSpc>
                <a:spcPct val="135000"/>
              </a:lnSpc>
            </a:pPr>
            <a:r>
              <a:rPr sz="560" b="1" spc="10">
                <a:solidFill>
                  <a:srgbClr val="B9B9B2"/>
                </a:solidFill>
                <a:latin typeface="Telegraf"/>
              </a:rPr>
              <a:t>Test my AI agent</a:t>
            </a:r>
            <a:endParaRPr sz="560" b="1" spc="10">
              <a:solidFill>
                <a:srgbClr val="B9B9B2"/>
              </a:solidFill>
              <a:latin typeface="Telegraf"/>
            </a:endParaRPr>
          </a:p>
        </p:txBody>
      </p:sp>
      <p:sp>
        <p:nvSpPr>
          <p:cNvPr id="1730" name="TextBox 8"/>
          <p:cNvSpPr txBox="1"/>
          <p:nvPr/>
        </p:nvSpPr>
        <p:spPr>
          <a:xfrm>
            <a:off x="762000" y="685800"/>
            <a:ext cx="3810000" cy="381000"/>
          </a:xfrm>
          <a:prstGeom prst="rect">
            <a:avLst/>
          </a:prstGeom>
        </p:spPr>
        <p:txBody>
          <a:bodyPr wrap="square" lIns="0" tIns="0" rIns="0" bIns="0">
            <a:noAutofit/>
          </a:bodyPr>
          <a:lstStyle/>
          <a:p>
            <a:pPr>
              <a:lnSpc>
                <a:spcPct val="102000"/>
              </a:lnSpc>
            </a:pPr>
            <a:r>
              <a:rPr sz="2500" spc="-100">
                <a:solidFill>
                  <a:srgbClr val="CFCFC8"/>
                </a:solidFill>
                <a:latin typeface="PP Editorial New Ultralight"/>
              </a:rPr>
              <a:t>Live queue.</a:t>
            </a:r>
            <a:endParaRPr sz="2500" spc="-100">
              <a:solidFill>
                <a:srgbClr val="CFCFC8"/>
              </a:solidFill>
              <a:latin typeface="PP Editorial New Ultralight"/>
            </a:endParaRPr>
          </a:p>
        </p:txBody>
      </p:sp>
      <p:sp>
        <p:nvSpPr>
          <p:cNvPr id="1731" name="Oval 9"/>
          <p:cNvSpPr/>
          <p:nvPr/>
        </p:nvSpPr>
        <p:spPr>
          <a:xfrm>
            <a:off x="936879" y="1833499"/>
            <a:ext cx="107442" cy="107442"/>
          </a:xfrm>
          <a:prstGeom prst="ellipse">
            <a:avLst/>
          </a:pr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32" name="Freeform 1732"/>
          <p:cNvSpPr/>
          <p:nvPr/>
        </p:nvSpPr>
        <p:spPr>
          <a:xfrm>
            <a:off x="958469" y="1922018"/>
            <a:ext cx="49657" cy="51562"/>
          </a:xfrm>
          <a:custGeom>
            <a:avLst/>
            <a:gdLst/>
            <a:ahLst/>
            <a:cxnLst/>
            <a:rect l="l" t="t" r="r" b="b"/>
            <a:pathLst>
              <a:path w="96305" h="100000">
                <a:moveTo>
                  <a:pt x="0" y="50000"/>
                </a:moveTo>
                <a:lnTo>
                  <a:pt x="96305" y="0"/>
                </a:lnTo>
                <a:lnTo>
                  <a:pt x="96305" y="100000"/>
                </a:lnTo>
                <a:close/>
              </a:path>
            </a:pathLst>
          </a:cu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33" name="TextBox 11"/>
          <p:cNvSpPr txBox="1"/>
          <p:nvPr/>
        </p:nvSpPr>
        <p:spPr>
          <a:xfrm>
            <a:off x="1168400" y="1765300"/>
            <a:ext cx="1397000" cy="127000"/>
          </a:xfrm>
          <a:prstGeom prst="rect">
            <a:avLst/>
          </a:prstGeom>
        </p:spPr>
        <p:txBody>
          <a:bodyPr wrap="square" lIns="0" tIns="0" rIns="0" bIns="0">
            <a:noAutofit/>
          </a:bodyPr>
          <a:lstStyle/>
          <a:p>
            <a:pPr>
              <a:lnSpc>
                <a:spcPct val="135000"/>
              </a:lnSpc>
            </a:pPr>
            <a:r>
              <a:rPr sz="570" b="1" spc="0">
                <a:solidFill>
                  <a:srgbClr val="C4C4BD"/>
                </a:solidFill>
                <a:latin typeface="Telegraf"/>
              </a:rPr>
              <a:t>Aarav Mehta</a:t>
            </a:r>
            <a:endParaRPr sz="570" b="1" spc="0">
              <a:solidFill>
                <a:srgbClr val="C4C4BD"/>
              </a:solidFill>
              <a:latin typeface="Telegraf"/>
            </a:endParaRPr>
          </a:p>
        </p:txBody>
      </p:sp>
      <p:sp>
        <p:nvSpPr>
          <p:cNvPr id="1734" name="TextBox 12"/>
          <p:cNvSpPr txBox="1"/>
          <p:nvPr/>
        </p:nvSpPr>
        <p:spPr>
          <a:xfrm>
            <a:off x="1168400" y="1905000"/>
            <a:ext cx="1905000" cy="127000"/>
          </a:xfrm>
          <a:prstGeom prst="rect">
            <a:avLst/>
          </a:prstGeom>
        </p:spPr>
        <p:txBody>
          <a:bodyPr wrap="square" lIns="0" tIns="0" rIns="0" bIns="0">
            <a:noAutofit/>
          </a:bodyPr>
          <a:lstStyle/>
          <a:p>
            <a:pPr>
              <a:lnSpc>
                <a:spcPct val="135000"/>
              </a:lnSpc>
            </a:pPr>
            <a:r>
              <a:rPr sz="470" spc="0">
                <a:solidFill>
                  <a:srgbClr val="D2D2CB"/>
                </a:solidFill>
                <a:latin typeface="Telegraf"/>
              </a:rPr>
              <a:t>Where is my ₹6,000 crown order?</a:t>
            </a:r>
            <a:endParaRPr sz="470" spc="0">
              <a:solidFill>
                <a:srgbClr val="D2D2CB"/>
              </a:solidFill>
              <a:latin typeface="Telegraf"/>
            </a:endParaRPr>
          </a:p>
        </p:txBody>
      </p:sp>
      <p:sp>
        <p:nvSpPr>
          <p:cNvPr id="1735" name="TextBox 13"/>
          <p:cNvSpPr txBox="1"/>
          <p:nvPr/>
        </p:nvSpPr>
        <p:spPr>
          <a:xfrm>
            <a:off x="4851400" y="1778000"/>
            <a:ext cx="304800" cy="127000"/>
          </a:xfrm>
          <a:prstGeom prst="rect">
            <a:avLst/>
          </a:prstGeom>
        </p:spPr>
        <p:txBody>
          <a:bodyPr wrap="square" lIns="0" tIns="0" rIns="0" bIns="0">
            <a:noAutofit/>
          </a:bodyPr>
          <a:lstStyle/>
          <a:p>
            <a:pPr>
              <a:lnSpc>
                <a:spcPct val="135000"/>
              </a:lnSpc>
            </a:pPr>
            <a:r>
              <a:rPr sz="560" b="1" spc="0">
                <a:solidFill>
                  <a:srgbClr val="C4C4BD"/>
                </a:solidFill>
                <a:latin typeface="Telegraf"/>
              </a:rPr>
              <a:t>71</a:t>
            </a:r>
            <a:endParaRPr sz="560" b="1" spc="0">
              <a:solidFill>
                <a:srgbClr val="C4C4BD"/>
              </a:solidFill>
              <a:latin typeface="Telegraf"/>
            </a:endParaRPr>
          </a:p>
        </p:txBody>
      </p:sp>
      <p:sp>
        <p:nvSpPr>
          <p:cNvPr id="1736" name="Rectangle 14"/>
          <p:cNvSpPr/>
          <p:nvPr/>
        </p:nvSpPr>
        <p:spPr>
          <a:xfrm>
            <a:off x="4851400" y="19304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37" name="Rectangle 15"/>
          <p:cNvSpPr/>
          <p:nvPr/>
        </p:nvSpPr>
        <p:spPr>
          <a:xfrm>
            <a:off x="4851400" y="1930400"/>
            <a:ext cx="306578" cy="38100"/>
          </a:xfrm>
          <a:custGeom>
            <a:avLst/>
            <a:gdLst/>
            <a:ahLst/>
            <a:cxnLst/>
            <a:rect l="l" t="t" r="r" b="b"/>
            <a:pathLst>
              <a:path w="100000" h="12428">
                <a:moveTo>
                  <a:pt x="93786" y="0"/>
                </a:moveTo>
                <a:cubicBezTo>
                  <a:pt x="93786" y="0"/>
                  <a:pt x="93786" y="0"/>
                  <a:pt x="93786" y="0"/>
                </a:cubicBezTo>
                <a:cubicBezTo>
                  <a:pt x="97216" y="0"/>
                  <a:pt x="100000" y="2784"/>
                  <a:pt x="100000" y="6214"/>
                </a:cubicBezTo>
                <a:cubicBezTo>
                  <a:pt x="100000" y="6214"/>
                  <a:pt x="100000" y="6214"/>
                  <a:pt x="100000" y="6214"/>
                </a:cubicBezTo>
                <a:lnTo>
                  <a:pt x="100000" y="6214"/>
                </a:lnTo>
                <a:cubicBezTo>
                  <a:pt x="100000" y="6214"/>
                  <a:pt x="100000" y="6214"/>
                  <a:pt x="100000" y="6214"/>
                </a:cubicBezTo>
                <a:cubicBezTo>
                  <a:pt x="100000" y="9644"/>
                  <a:pt x="97216" y="12428"/>
                  <a:pt x="93786" y="12428"/>
                </a:cubicBezTo>
                <a:cubicBezTo>
                  <a:pt x="93786" y="12428"/>
                  <a:pt x="93786" y="12428"/>
                  <a:pt x="93786" y="12428"/>
                </a:cubicBezTo>
                <a:lnTo>
                  <a:pt x="6214" y="12428"/>
                </a:lnTo>
                <a:cubicBezTo>
                  <a:pt x="6214" y="12428"/>
                  <a:pt x="6214" y="12428"/>
                  <a:pt x="6214" y="12428"/>
                </a:cubicBezTo>
                <a:cubicBezTo>
                  <a:pt x="2784" y="12428"/>
                  <a:pt x="0" y="9644"/>
                  <a:pt x="0" y="6214"/>
                </a:cubicBezTo>
                <a:cubicBezTo>
                  <a:pt x="0" y="6214"/>
                  <a:pt x="0" y="6214"/>
                  <a:pt x="0" y="6214"/>
                </a:cubicBezTo>
                <a:lnTo>
                  <a:pt x="0" y="6214"/>
                </a:lnTo>
                <a:cubicBezTo>
                  <a:pt x="0" y="6214"/>
                  <a:pt x="0" y="6214"/>
                  <a:pt x="0" y="6214"/>
                </a:cubicBezTo>
                <a:cubicBezTo>
                  <a:pt x="0" y="2784"/>
                  <a:pt x="2784" y="0"/>
                  <a:pt x="6214" y="0"/>
                </a:cubicBezTo>
                <a:cubicBezTo>
                  <a:pt x="6214" y="0"/>
                  <a:pt x="6214" y="0"/>
                  <a:pt x="6214" y="0"/>
                </a:cubicBezTo>
                <a:close/>
              </a:path>
            </a:pathLst>
          </a:custGeom>
          <a:solidFill>
            <a:srgbClr val="DCDC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38" name="Rectangle 16"/>
          <p:cNvSpPr/>
          <p:nvPr/>
        </p:nvSpPr>
        <p:spPr>
          <a:xfrm>
            <a:off x="762000" y="2108200"/>
            <a:ext cx="6705600" cy="1143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39" name="Rectangle 17"/>
          <p:cNvSpPr/>
          <p:nvPr/>
        </p:nvSpPr>
        <p:spPr>
          <a:xfrm>
            <a:off x="932180" y="2291080"/>
            <a:ext cx="116840" cy="116840"/>
          </a:xfrm>
          <a:custGeom>
            <a:avLst/>
            <a:gdLst/>
            <a:ahLst/>
            <a:cxnLst/>
            <a:rect l="l" t="t" r="r" b="b"/>
            <a:pathLst>
              <a:path w="100000" h="100000">
                <a:moveTo>
                  <a:pt x="50000" y="0"/>
                </a:moveTo>
                <a:cubicBezTo>
                  <a:pt x="67739" y="0"/>
                  <a:pt x="76609" y="0"/>
                  <a:pt x="83348" y="3522"/>
                </a:cubicBezTo>
                <a:cubicBezTo>
                  <a:pt x="88967" y="6457"/>
                  <a:pt x="93543" y="11033"/>
                  <a:pt x="96478" y="16652"/>
                </a:cubicBezTo>
                <a:cubicBezTo>
                  <a:pt x="100000" y="23391"/>
                  <a:pt x="100000" y="32261"/>
                  <a:pt x="100000" y="50000"/>
                </a:cubicBezTo>
                <a:lnTo>
                  <a:pt x="100000" y="50000"/>
                </a:lnTo>
                <a:cubicBezTo>
                  <a:pt x="100000" y="67739"/>
                  <a:pt x="100000" y="76609"/>
                  <a:pt x="96478" y="83348"/>
                </a:cubicBezTo>
                <a:cubicBezTo>
                  <a:pt x="93543" y="88967"/>
                  <a:pt x="88967" y="93543"/>
                  <a:pt x="83348" y="96478"/>
                </a:cubicBezTo>
                <a:cubicBezTo>
                  <a:pt x="76609" y="100000"/>
                  <a:pt x="67739" y="100000"/>
                  <a:pt x="50000" y="100000"/>
                </a:cubicBezTo>
                <a:lnTo>
                  <a:pt x="50000" y="100000"/>
                </a:lnTo>
                <a:cubicBezTo>
                  <a:pt x="32261" y="100000"/>
                  <a:pt x="23391" y="100000"/>
                  <a:pt x="16652" y="96478"/>
                </a:cubicBezTo>
                <a:cubicBezTo>
                  <a:pt x="11033" y="93543"/>
                  <a:pt x="6457" y="88967"/>
                  <a:pt x="3522" y="83348"/>
                </a:cubicBezTo>
                <a:cubicBezTo>
                  <a:pt x="0" y="76609"/>
                  <a:pt x="0" y="67739"/>
                  <a:pt x="0" y="50000"/>
                </a:cubicBezTo>
                <a:lnTo>
                  <a:pt x="0" y="50000"/>
                </a:lnTo>
                <a:cubicBezTo>
                  <a:pt x="0" y="32261"/>
                  <a:pt x="0" y="23391"/>
                  <a:pt x="3522" y="16652"/>
                </a:cubicBezTo>
                <a:cubicBezTo>
                  <a:pt x="6457" y="11033"/>
                  <a:pt x="11033" y="6457"/>
                  <a:pt x="16652" y="3522"/>
                </a:cubicBezTo>
                <a:cubicBezTo>
                  <a:pt x="23391" y="0"/>
                  <a:pt x="32261" y="0"/>
                  <a:pt x="50000" y="0"/>
                </a:cubicBezTo>
                <a:close/>
              </a:path>
            </a:pathLst>
          </a:custGeom>
          <a:noFill/>
          <a:ln w="11430">
            <a:solidFill>
              <a:srgbClr val="D2D2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0" name="Oval 18"/>
          <p:cNvSpPr/>
          <p:nvPr/>
        </p:nvSpPr>
        <p:spPr>
          <a:xfrm>
            <a:off x="970788" y="2329688"/>
            <a:ext cx="39751" cy="39751"/>
          </a:xfrm>
          <a:prstGeom prst="ellipse">
            <a:avLst/>
          </a:pr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1" name="Oval 19"/>
          <p:cNvSpPr/>
          <p:nvPr/>
        </p:nvSpPr>
        <p:spPr>
          <a:xfrm>
            <a:off x="1011301" y="2305939"/>
            <a:ext cx="22860" cy="22860"/>
          </a:xfrm>
          <a:prstGeom prst="ellipse">
            <a:avLst/>
          </a:pr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2" name="TextBox 20"/>
          <p:cNvSpPr txBox="1"/>
          <p:nvPr/>
        </p:nvSpPr>
        <p:spPr>
          <a:xfrm>
            <a:off x="1168400" y="2222500"/>
            <a:ext cx="1397000" cy="127000"/>
          </a:xfrm>
          <a:prstGeom prst="rect">
            <a:avLst/>
          </a:prstGeom>
        </p:spPr>
        <p:txBody>
          <a:bodyPr wrap="square" lIns="0" tIns="0" rIns="0" bIns="0">
            <a:noAutofit/>
          </a:bodyPr>
          <a:lstStyle/>
          <a:p>
            <a:pPr>
              <a:lnSpc>
                <a:spcPct val="135000"/>
              </a:lnSpc>
            </a:pPr>
            <a:r>
              <a:rPr sz="570" b="1" spc="0">
                <a:solidFill>
                  <a:srgbClr val="C4C4BD"/>
                </a:solidFill>
                <a:latin typeface="Telegraf"/>
              </a:rPr>
              <a:t>Riya S.</a:t>
            </a:r>
            <a:endParaRPr sz="570" b="1" spc="0">
              <a:solidFill>
                <a:srgbClr val="C4C4BD"/>
              </a:solidFill>
              <a:latin typeface="Telegraf"/>
            </a:endParaRPr>
          </a:p>
        </p:txBody>
      </p:sp>
      <p:sp>
        <p:nvSpPr>
          <p:cNvPr id="1743" name="TextBox 21"/>
          <p:cNvSpPr txBox="1"/>
          <p:nvPr/>
        </p:nvSpPr>
        <p:spPr>
          <a:xfrm>
            <a:off x="1168400" y="2362200"/>
            <a:ext cx="1905000" cy="127000"/>
          </a:xfrm>
          <a:prstGeom prst="rect">
            <a:avLst/>
          </a:prstGeom>
        </p:spPr>
        <p:txBody>
          <a:bodyPr wrap="square" lIns="0" tIns="0" rIns="0" bIns="0">
            <a:noAutofit/>
          </a:bodyPr>
          <a:lstStyle/>
          <a:p>
            <a:pPr>
              <a:lnSpc>
                <a:spcPct val="135000"/>
              </a:lnSpc>
            </a:pPr>
            <a:r>
              <a:rPr sz="470" spc="0">
                <a:solidFill>
                  <a:srgbClr val="D2D2CB"/>
                </a:solidFill>
                <a:latin typeface="Telegraf"/>
              </a:rPr>
              <a:t>Is the ₹499 plan GST-inclusive?</a:t>
            </a:r>
            <a:endParaRPr sz="470" spc="0">
              <a:solidFill>
                <a:srgbClr val="D2D2CB"/>
              </a:solidFill>
              <a:latin typeface="Telegraf"/>
            </a:endParaRPr>
          </a:p>
        </p:txBody>
      </p:sp>
      <p:sp>
        <p:nvSpPr>
          <p:cNvPr id="1744" name="TextBox 22"/>
          <p:cNvSpPr txBox="1"/>
          <p:nvPr/>
        </p:nvSpPr>
        <p:spPr>
          <a:xfrm>
            <a:off x="4851400" y="2235200"/>
            <a:ext cx="304800" cy="127000"/>
          </a:xfrm>
          <a:prstGeom prst="rect">
            <a:avLst/>
          </a:prstGeom>
        </p:spPr>
        <p:txBody>
          <a:bodyPr wrap="square" lIns="0" tIns="0" rIns="0" bIns="0">
            <a:noAutofit/>
          </a:bodyPr>
          <a:lstStyle/>
          <a:p>
            <a:pPr>
              <a:lnSpc>
                <a:spcPct val="135000"/>
              </a:lnSpc>
            </a:pPr>
            <a:r>
              <a:rPr sz="560" b="1" spc="0">
                <a:solidFill>
                  <a:srgbClr val="C4C4BD"/>
                </a:solidFill>
                <a:latin typeface="Telegraf"/>
              </a:rPr>
              <a:t>94</a:t>
            </a:r>
            <a:endParaRPr sz="560" b="1" spc="0">
              <a:solidFill>
                <a:srgbClr val="C4C4BD"/>
              </a:solidFill>
              <a:latin typeface="Telegraf"/>
            </a:endParaRPr>
          </a:p>
        </p:txBody>
      </p:sp>
      <p:sp>
        <p:nvSpPr>
          <p:cNvPr id="1745" name="Rectangle 23"/>
          <p:cNvSpPr/>
          <p:nvPr/>
        </p:nvSpPr>
        <p:spPr>
          <a:xfrm>
            <a:off x="4851400" y="23876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6" name="Rectangle 24"/>
          <p:cNvSpPr/>
          <p:nvPr/>
        </p:nvSpPr>
        <p:spPr>
          <a:xfrm>
            <a:off x="4851400" y="2387600"/>
            <a:ext cx="405892" cy="38100"/>
          </a:xfrm>
          <a:custGeom>
            <a:avLst/>
            <a:gdLst/>
            <a:ahLst/>
            <a:cxnLst/>
            <a:rect l="l" t="t" r="r" b="b"/>
            <a:pathLst>
              <a:path w="100000" h="9387">
                <a:moveTo>
                  <a:pt x="95307" y="0"/>
                </a:moveTo>
                <a:cubicBezTo>
                  <a:pt x="95307" y="0"/>
                  <a:pt x="95307" y="0"/>
                  <a:pt x="95307" y="0"/>
                </a:cubicBezTo>
                <a:cubicBezTo>
                  <a:pt x="97897" y="0"/>
                  <a:pt x="100000" y="2103"/>
                  <a:pt x="100000" y="4693"/>
                </a:cubicBezTo>
                <a:cubicBezTo>
                  <a:pt x="100000" y="4693"/>
                  <a:pt x="100000" y="4693"/>
                  <a:pt x="100000" y="4693"/>
                </a:cubicBezTo>
                <a:lnTo>
                  <a:pt x="100000" y="4693"/>
                </a:lnTo>
                <a:cubicBezTo>
                  <a:pt x="100000" y="4693"/>
                  <a:pt x="100000" y="4693"/>
                  <a:pt x="100000" y="4693"/>
                </a:cubicBezTo>
                <a:cubicBezTo>
                  <a:pt x="100000" y="7284"/>
                  <a:pt x="97897" y="9387"/>
                  <a:pt x="95307" y="9387"/>
                </a:cubicBezTo>
                <a:cubicBezTo>
                  <a:pt x="95307" y="9387"/>
                  <a:pt x="95307" y="9387"/>
                  <a:pt x="95307" y="9387"/>
                </a:cubicBezTo>
                <a:lnTo>
                  <a:pt x="4693" y="9387"/>
                </a:lnTo>
                <a:cubicBezTo>
                  <a:pt x="4693" y="9387"/>
                  <a:pt x="4693" y="9387"/>
                  <a:pt x="4693" y="9387"/>
                </a:cubicBezTo>
                <a:cubicBezTo>
                  <a:pt x="2103" y="9387"/>
                  <a:pt x="0" y="7284"/>
                  <a:pt x="0" y="4693"/>
                </a:cubicBezTo>
                <a:cubicBezTo>
                  <a:pt x="0" y="4693"/>
                  <a:pt x="0" y="4693"/>
                  <a:pt x="0" y="4693"/>
                </a:cubicBezTo>
                <a:lnTo>
                  <a:pt x="0" y="4693"/>
                </a:lnTo>
                <a:cubicBezTo>
                  <a:pt x="0" y="4693"/>
                  <a:pt x="0" y="4693"/>
                  <a:pt x="0" y="4693"/>
                </a:cubicBezTo>
                <a:cubicBezTo>
                  <a:pt x="0" y="2103"/>
                  <a:pt x="2103" y="0"/>
                  <a:pt x="4693" y="0"/>
                </a:cubicBezTo>
                <a:cubicBezTo>
                  <a:pt x="4693" y="0"/>
                  <a:pt x="4693" y="0"/>
                  <a:pt x="4693" y="0"/>
                </a:cubicBezTo>
                <a:close/>
              </a:path>
            </a:pathLst>
          </a:custGeom>
          <a:solidFill>
            <a:srgbClr val="DCDC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7" name="Rectangle 25"/>
          <p:cNvSpPr/>
          <p:nvPr/>
        </p:nvSpPr>
        <p:spPr>
          <a:xfrm>
            <a:off x="762000" y="2565400"/>
            <a:ext cx="6705600" cy="1143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8" name="Rectangle 26"/>
          <p:cNvSpPr/>
          <p:nvPr/>
        </p:nvSpPr>
        <p:spPr>
          <a:xfrm>
            <a:off x="932180" y="2764663"/>
            <a:ext cx="116840" cy="84074"/>
          </a:xfrm>
          <a:custGeom>
            <a:avLst/>
            <a:gdLst/>
            <a:ahLst/>
            <a:cxnLst/>
            <a:rect l="l" t="t" r="r" b="b"/>
            <a:pathLst>
              <a:path w="100000" h="71957">
                <a:moveTo>
                  <a:pt x="82609" y="0"/>
                </a:moveTo>
                <a:cubicBezTo>
                  <a:pt x="90804" y="0"/>
                  <a:pt x="94902" y="0"/>
                  <a:pt x="97457" y="2543"/>
                </a:cubicBezTo>
                <a:cubicBezTo>
                  <a:pt x="97457" y="2543"/>
                  <a:pt x="97457" y="2543"/>
                  <a:pt x="97457" y="2543"/>
                </a:cubicBezTo>
                <a:cubicBezTo>
                  <a:pt x="100000" y="5098"/>
                  <a:pt x="100000" y="9196"/>
                  <a:pt x="100000" y="17391"/>
                </a:cubicBezTo>
                <a:lnTo>
                  <a:pt x="100000" y="54565"/>
                </a:lnTo>
                <a:cubicBezTo>
                  <a:pt x="100000" y="62761"/>
                  <a:pt x="100000" y="66859"/>
                  <a:pt x="97457" y="69413"/>
                </a:cubicBezTo>
                <a:cubicBezTo>
                  <a:pt x="97457" y="69413"/>
                  <a:pt x="97457" y="69413"/>
                  <a:pt x="97457" y="69413"/>
                </a:cubicBezTo>
                <a:cubicBezTo>
                  <a:pt x="94902" y="71957"/>
                  <a:pt x="90804" y="71957"/>
                  <a:pt x="82609" y="71957"/>
                </a:cubicBezTo>
                <a:lnTo>
                  <a:pt x="17391" y="71957"/>
                </a:lnTo>
                <a:cubicBezTo>
                  <a:pt x="9196" y="71957"/>
                  <a:pt x="5098" y="71957"/>
                  <a:pt x="2543" y="69413"/>
                </a:cubicBezTo>
                <a:cubicBezTo>
                  <a:pt x="2543" y="69413"/>
                  <a:pt x="2543" y="69413"/>
                  <a:pt x="2543" y="69413"/>
                </a:cubicBezTo>
                <a:cubicBezTo>
                  <a:pt x="0" y="66859"/>
                  <a:pt x="0" y="62761"/>
                  <a:pt x="0" y="54565"/>
                </a:cubicBezTo>
                <a:lnTo>
                  <a:pt x="0" y="17391"/>
                </a:lnTo>
                <a:cubicBezTo>
                  <a:pt x="0" y="9196"/>
                  <a:pt x="0" y="5098"/>
                  <a:pt x="2543" y="2543"/>
                </a:cubicBezTo>
                <a:cubicBezTo>
                  <a:pt x="2543" y="2543"/>
                  <a:pt x="2543" y="2543"/>
                  <a:pt x="2543" y="2543"/>
                </a:cubicBezTo>
                <a:cubicBezTo>
                  <a:pt x="5098" y="0"/>
                  <a:pt x="9196" y="0"/>
                  <a:pt x="17391" y="0"/>
                </a:cubicBezTo>
                <a:close/>
              </a:path>
            </a:pathLst>
          </a:custGeom>
          <a:noFill/>
          <a:ln w="10795">
            <a:solidFill>
              <a:srgbClr val="D2D2C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49" name="Freeform 1749"/>
          <p:cNvSpPr/>
          <p:nvPr/>
        </p:nvSpPr>
        <p:spPr>
          <a:xfrm>
            <a:off x="932180" y="2768092"/>
            <a:ext cx="116840" cy="56134"/>
          </a:xfrm>
          <a:custGeom>
            <a:avLst/>
            <a:gdLst/>
            <a:ahLst/>
            <a:cxnLst/>
            <a:rect l="l" t="t" r="r" b="b"/>
            <a:pathLst>
              <a:path w="100000" h="48043" fill="none">
                <a:moveTo>
                  <a:pt x="0" y="0"/>
                </a:moveTo>
                <a:lnTo>
                  <a:pt x="50000" y="48043"/>
                </a:lnTo>
                <a:lnTo>
                  <a:pt x="100000" y="0"/>
                </a:lnTo>
              </a:path>
            </a:pathLst>
          </a:custGeom>
          <a:noFill/>
          <a:ln w="10795" cap="rnd">
            <a:solidFill>
              <a:srgbClr val="D2D2CB"/>
            </a:solidFill>
            <a:round/>
          </a:ln>
        </p:spPr>
        <p:style>
          <a:lnRef idx="1">
            <a:schemeClr val="accent1"/>
          </a:lnRef>
          <a:fillRef idx="0">
            <a:schemeClr val="accent1"/>
          </a:fillRef>
          <a:effectRef idx="0">
            <a:schemeClr val="accent1"/>
          </a:effectRef>
          <a:fontRef idx="minor">
            <a:schemeClr val="tx1"/>
          </a:fontRef>
        </p:style>
      </p:sp>
      <p:sp>
        <p:nvSpPr>
          <p:cNvPr id="1750" name="TextBox 28"/>
          <p:cNvSpPr txBox="1"/>
          <p:nvPr/>
        </p:nvSpPr>
        <p:spPr>
          <a:xfrm>
            <a:off x="1168400" y="2679700"/>
            <a:ext cx="1397000" cy="127000"/>
          </a:xfrm>
          <a:prstGeom prst="rect">
            <a:avLst/>
          </a:prstGeom>
        </p:spPr>
        <p:txBody>
          <a:bodyPr wrap="square" lIns="0" tIns="0" rIns="0" bIns="0">
            <a:noAutofit/>
          </a:bodyPr>
          <a:lstStyle/>
          <a:p>
            <a:pPr>
              <a:lnSpc>
                <a:spcPct val="135000"/>
              </a:lnSpc>
            </a:pPr>
            <a:r>
              <a:rPr sz="570" b="1" spc="0">
                <a:solidFill>
                  <a:srgbClr val="C4C4BD"/>
                </a:solidFill>
                <a:latin typeface="Telegraf"/>
              </a:rPr>
              <a:t>Sameer K.</a:t>
            </a:r>
            <a:endParaRPr sz="570" b="1" spc="0">
              <a:solidFill>
                <a:srgbClr val="C4C4BD"/>
              </a:solidFill>
              <a:latin typeface="Telegraf"/>
            </a:endParaRPr>
          </a:p>
        </p:txBody>
      </p:sp>
      <p:sp>
        <p:nvSpPr>
          <p:cNvPr id="1751" name="TextBox 29"/>
          <p:cNvSpPr txBox="1"/>
          <p:nvPr/>
        </p:nvSpPr>
        <p:spPr>
          <a:xfrm>
            <a:off x="1168400" y="2819400"/>
            <a:ext cx="1905000" cy="127000"/>
          </a:xfrm>
          <a:prstGeom prst="rect">
            <a:avLst/>
          </a:prstGeom>
        </p:spPr>
        <p:txBody>
          <a:bodyPr wrap="square" lIns="0" tIns="0" rIns="0" bIns="0">
            <a:noAutofit/>
          </a:bodyPr>
          <a:lstStyle/>
          <a:p>
            <a:pPr>
              <a:lnSpc>
                <a:spcPct val="135000"/>
              </a:lnSpc>
            </a:pPr>
            <a:r>
              <a:rPr sz="470" spc="0">
                <a:solidFill>
                  <a:srgbClr val="D2D2CB"/>
                </a:solidFill>
                <a:latin typeface="Telegraf"/>
              </a:rPr>
              <a:t>Let me talk to a real human manager</a:t>
            </a:r>
            <a:endParaRPr sz="470" spc="0">
              <a:solidFill>
                <a:srgbClr val="D2D2CB"/>
              </a:solidFill>
              <a:latin typeface="Telegraf"/>
            </a:endParaRPr>
          </a:p>
        </p:txBody>
      </p:sp>
      <p:sp>
        <p:nvSpPr>
          <p:cNvPr id="1752" name="TextBox 30"/>
          <p:cNvSpPr txBox="1"/>
          <p:nvPr/>
        </p:nvSpPr>
        <p:spPr>
          <a:xfrm>
            <a:off x="4851400" y="2692400"/>
            <a:ext cx="304800" cy="127000"/>
          </a:xfrm>
          <a:prstGeom prst="rect">
            <a:avLst/>
          </a:prstGeom>
        </p:spPr>
        <p:txBody>
          <a:bodyPr wrap="square" lIns="0" tIns="0" rIns="0" bIns="0">
            <a:noAutofit/>
          </a:bodyPr>
          <a:lstStyle/>
          <a:p>
            <a:pPr>
              <a:lnSpc>
                <a:spcPct val="135000"/>
              </a:lnSpc>
            </a:pPr>
            <a:r>
              <a:rPr sz="560" b="1" spc="0">
                <a:solidFill>
                  <a:srgbClr val="C4C4BD"/>
                </a:solidFill>
                <a:latin typeface="Telegraf"/>
              </a:rPr>
              <a:t>12</a:t>
            </a:r>
            <a:endParaRPr sz="560" b="1" spc="0">
              <a:solidFill>
                <a:srgbClr val="C4C4BD"/>
              </a:solidFill>
              <a:latin typeface="Telegraf"/>
            </a:endParaRPr>
          </a:p>
        </p:txBody>
      </p:sp>
      <p:sp>
        <p:nvSpPr>
          <p:cNvPr id="1753" name="Rectangle 31"/>
          <p:cNvSpPr/>
          <p:nvPr/>
        </p:nvSpPr>
        <p:spPr>
          <a:xfrm>
            <a:off x="4851400" y="28448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54" name="Rectangle 32"/>
          <p:cNvSpPr/>
          <p:nvPr/>
        </p:nvSpPr>
        <p:spPr>
          <a:xfrm>
            <a:off x="4851400" y="2844800"/>
            <a:ext cx="51816" cy="38100"/>
          </a:xfrm>
          <a:custGeom>
            <a:avLst/>
            <a:gdLst/>
            <a:ahLst/>
            <a:cxnLst/>
            <a:rect l="l" t="t" r="r" b="b"/>
            <a:pathLst>
              <a:path w="100000" h="73529">
                <a:moveTo>
                  <a:pt x="63235" y="0"/>
                </a:moveTo>
                <a:cubicBezTo>
                  <a:pt x="63235" y="0"/>
                  <a:pt x="63235" y="0"/>
                  <a:pt x="63235" y="0"/>
                </a:cubicBezTo>
                <a:cubicBezTo>
                  <a:pt x="83529" y="0"/>
                  <a:pt x="100000" y="16471"/>
                  <a:pt x="100000" y="36765"/>
                </a:cubicBezTo>
                <a:cubicBezTo>
                  <a:pt x="100000" y="36765"/>
                  <a:pt x="100000" y="36765"/>
                  <a:pt x="100000" y="36765"/>
                </a:cubicBezTo>
                <a:lnTo>
                  <a:pt x="100000" y="36765"/>
                </a:lnTo>
                <a:cubicBezTo>
                  <a:pt x="100000" y="36765"/>
                  <a:pt x="100000" y="36765"/>
                  <a:pt x="100000" y="36765"/>
                </a:cubicBezTo>
                <a:cubicBezTo>
                  <a:pt x="100000" y="57059"/>
                  <a:pt x="83529" y="73529"/>
                  <a:pt x="63235" y="73529"/>
                </a:cubicBezTo>
                <a:cubicBezTo>
                  <a:pt x="63235" y="73529"/>
                  <a:pt x="63235" y="73529"/>
                  <a:pt x="63235" y="73529"/>
                </a:cubicBezTo>
                <a:lnTo>
                  <a:pt x="36765" y="73529"/>
                </a:lnTo>
                <a:cubicBezTo>
                  <a:pt x="36765" y="73529"/>
                  <a:pt x="36765" y="73529"/>
                  <a:pt x="36765" y="73529"/>
                </a:cubicBezTo>
                <a:cubicBezTo>
                  <a:pt x="16471" y="73529"/>
                  <a:pt x="0" y="57059"/>
                  <a:pt x="0" y="36765"/>
                </a:cubicBezTo>
                <a:cubicBezTo>
                  <a:pt x="0" y="36765"/>
                  <a:pt x="0" y="36765"/>
                  <a:pt x="0" y="36765"/>
                </a:cubicBezTo>
                <a:lnTo>
                  <a:pt x="0" y="36765"/>
                </a:lnTo>
                <a:cubicBezTo>
                  <a:pt x="0" y="36765"/>
                  <a:pt x="0" y="36765"/>
                  <a:pt x="0" y="36765"/>
                </a:cubicBezTo>
                <a:cubicBezTo>
                  <a:pt x="0" y="16471"/>
                  <a:pt x="16471" y="0"/>
                  <a:pt x="36765" y="0"/>
                </a:cubicBezTo>
                <a:cubicBezTo>
                  <a:pt x="36765" y="0"/>
                  <a:pt x="36765" y="0"/>
                  <a:pt x="36765" y="0"/>
                </a:cubicBezTo>
                <a:close/>
              </a:path>
            </a:pathLst>
          </a:custGeom>
          <a:solidFill>
            <a:srgbClr val="DCDC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55" name="Rectangle 33"/>
          <p:cNvSpPr/>
          <p:nvPr/>
        </p:nvSpPr>
        <p:spPr>
          <a:xfrm>
            <a:off x="762000" y="3022600"/>
            <a:ext cx="6705600" cy="1143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56" name="Oval 34"/>
          <p:cNvSpPr/>
          <p:nvPr/>
        </p:nvSpPr>
        <p:spPr>
          <a:xfrm>
            <a:off x="973074" y="3214243"/>
            <a:ext cx="35052" cy="35052"/>
          </a:xfrm>
          <a:prstGeom prst="ellipse">
            <a:avLst/>
          </a:pr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57" name="Rectangle 35"/>
          <p:cNvSpPr/>
          <p:nvPr/>
        </p:nvSpPr>
        <p:spPr>
          <a:xfrm>
            <a:off x="984885" y="32569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58" name="Rectangle 36"/>
          <p:cNvSpPr/>
          <p:nvPr/>
        </p:nvSpPr>
        <p:spPr>
          <a:xfrm>
            <a:off x="951992" y="32884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59" name="TextBox 37"/>
          <p:cNvSpPr txBox="1"/>
          <p:nvPr/>
        </p:nvSpPr>
        <p:spPr>
          <a:xfrm>
            <a:off x="1168400" y="3136900"/>
            <a:ext cx="1397000" cy="127000"/>
          </a:xfrm>
          <a:prstGeom prst="rect">
            <a:avLst/>
          </a:prstGeom>
        </p:spPr>
        <p:txBody>
          <a:bodyPr wrap="square" lIns="0" tIns="0" rIns="0" bIns="0">
            <a:noAutofit/>
          </a:bodyPr>
          <a:lstStyle/>
          <a:p>
            <a:pPr>
              <a:lnSpc>
                <a:spcPct val="135000"/>
              </a:lnSpc>
            </a:pPr>
            <a:r>
              <a:rPr sz="570" b="1" spc="0">
                <a:solidFill>
                  <a:srgbClr val="C4C4BD"/>
                </a:solidFill>
                <a:latin typeface="Telegraf"/>
              </a:rPr>
              <a:t>Neha Verma</a:t>
            </a:r>
            <a:endParaRPr sz="570" b="1" spc="0">
              <a:solidFill>
                <a:srgbClr val="C4C4BD"/>
              </a:solidFill>
              <a:latin typeface="Telegraf"/>
            </a:endParaRPr>
          </a:p>
        </p:txBody>
      </p:sp>
      <p:sp>
        <p:nvSpPr>
          <p:cNvPr id="1760" name="TextBox 38"/>
          <p:cNvSpPr txBox="1"/>
          <p:nvPr/>
        </p:nvSpPr>
        <p:spPr>
          <a:xfrm>
            <a:off x="1168400" y="3276600"/>
            <a:ext cx="1905000" cy="127000"/>
          </a:xfrm>
          <a:prstGeom prst="rect">
            <a:avLst/>
          </a:prstGeom>
        </p:spPr>
        <p:txBody>
          <a:bodyPr wrap="square" lIns="0" tIns="0" rIns="0" bIns="0">
            <a:noAutofit/>
          </a:bodyPr>
          <a:lstStyle/>
          <a:p>
            <a:pPr>
              <a:lnSpc>
                <a:spcPct val="135000"/>
              </a:lnSpc>
            </a:pPr>
            <a:r>
              <a:rPr sz="470" spc="0">
                <a:solidFill>
                  <a:srgbClr val="D2D2CB"/>
                </a:solidFill>
                <a:latin typeface="Telegraf"/>
              </a:rPr>
              <a:t>RCT price, and do you take UPI?</a:t>
            </a:r>
            <a:endParaRPr sz="470" spc="0">
              <a:solidFill>
                <a:srgbClr val="D2D2CB"/>
              </a:solidFill>
              <a:latin typeface="Telegraf"/>
            </a:endParaRPr>
          </a:p>
        </p:txBody>
      </p:sp>
      <p:sp>
        <p:nvSpPr>
          <p:cNvPr id="1761" name="TextBox 39"/>
          <p:cNvSpPr txBox="1"/>
          <p:nvPr/>
        </p:nvSpPr>
        <p:spPr>
          <a:xfrm>
            <a:off x="4851400" y="3149600"/>
            <a:ext cx="304800" cy="127000"/>
          </a:xfrm>
          <a:prstGeom prst="rect">
            <a:avLst/>
          </a:prstGeom>
        </p:spPr>
        <p:txBody>
          <a:bodyPr wrap="square" lIns="0" tIns="0" rIns="0" bIns="0">
            <a:noAutofit/>
          </a:bodyPr>
          <a:lstStyle/>
          <a:p>
            <a:pPr>
              <a:lnSpc>
                <a:spcPct val="135000"/>
              </a:lnSpc>
            </a:pPr>
            <a:r>
              <a:rPr sz="560" b="1" spc="0">
                <a:solidFill>
                  <a:srgbClr val="C4C4BD"/>
                </a:solidFill>
                <a:latin typeface="Telegraf"/>
              </a:rPr>
              <a:t>88</a:t>
            </a:r>
            <a:endParaRPr sz="560" b="1" spc="0">
              <a:solidFill>
                <a:srgbClr val="C4C4BD"/>
              </a:solidFill>
              <a:latin typeface="Telegraf"/>
            </a:endParaRPr>
          </a:p>
        </p:txBody>
      </p:sp>
      <p:sp>
        <p:nvSpPr>
          <p:cNvPr id="1762" name="Rectangle 40"/>
          <p:cNvSpPr/>
          <p:nvPr/>
        </p:nvSpPr>
        <p:spPr>
          <a:xfrm>
            <a:off x="4851400" y="33020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63" name="Rectangle 41"/>
          <p:cNvSpPr/>
          <p:nvPr/>
        </p:nvSpPr>
        <p:spPr>
          <a:xfrm>
            <a:off x="4851400" y="3302000"/>
            <a:ext cx="379984" cy="38100"/>
          </a:xfrm>
          <a:custGeom>
            <a:avLst/>
            <a:gdLst/>
            <a:ahLst/>
            <a:cxnLst/>
            <a:rect l="l" t="t" r="r" b="b"/>
            <a:pathLst>
              <a:path w="100000" h="10027">
                <a:moveTo>
                  <a:pt x="94987" y="0"/>
                </a:moveTo>
                <a:cubicBezTo>
                  <a:pt x="94987" y="0"/>
                  <a:pt x="94987" y="0"/>
                  <a:pt x="94987" y="0"/>
                </a:cubicBezTo>
                <a:cubicBezTo>
                  <a:pt x="97754" y="0"/>
                  <a:pt x="100000" y="2246"/>
                  <a:pt x="100000" y="5013"/>
                </a:cubicBezTo>
                <a:cubicBezTo>
                  <a:pt x="100000" y="5013"/>
                  <a:pt x="100000" y="5013"/>
                  <a:pt x="100000" y="5013"/>
                </a:cubicBezTo>
                <a:lnTo>
                  <a:pt x="100000" y="5013"/>
                </a:lnTo>
                <a:cubicBezTo>
                  <a:pt x="100000" y="5013"/>
                  <a:pt x="100000" y="5013"/>
                  <a:pt x="100000" y="5013"/>
                </a:cubicBezTo>
                <a:cubicBezTo>
                  <a:pt x="100000" y="7781"/>
                  <a:pt x="97754" y="10027"/>
                  <a:pt x="94987" y="10027"/>
                </a:cubicBezTo>
                <a:cubicBezTo>
                  <a:pt x="94987" y="10027"/>
                  <a:pt x="94987" y="10027"/>
                  <a:pt x="94987" y="10027"/>
                </a:cubicBezTo>
                <a:lnTo>
                  <a:pt x="5013" y="10027"/>
                </a:lnTo>
                <a:cubicBezTo>
                  <a:pt x="5013" y="10027"/>
                  <a:pt x="5013" y="10027"/>
                  <a:pt x="5013" y="10027"/>
                </a:cubicBezTo>
                <a:cubicBezTo>
                  <a:pt x="2246" y="10027"/>
                  <a:pt x="0" y="7781"/>
                  <a:pt x="0" y="5013"/>
                </a:cubicBezTo>
                <a:cubicBezTo>
                  <a:pt x="0" y="5013"/>
                  <a:pt x="0" y="5013"/>
                  <a:pt x="0" y="5013"/>
                </a:cubicBezTo>
                <a:lnTo>
                  <a:pt x="0" y="5013"/>
                </a:lnTo>
                <a:cubicBezTo>
                  <a:pt x="0" y="5013"/>
                  <a:pt x="0" y="5013"/>
                  <a:pt x="0" y="5013"/>
                </a:cubicBezTo>
                <a:cubicBezTo>
                  <a:pt x="0" y="2246"/>
                  <a:pt x="2246" y="0"/>
                  <a:pt x="5013" y="0"/>
                </a:cubicBezTo>
                <a:cubicBezTo>
                  <a:pt x="5013" y="0"/>
                  <a:pt x="5013" y="0"/>
                  <a:pt x="5013" y="0"/>
                </a:cubicBezTo>
                <a:close/>
              </a:path>
            </a:pathLst>
          </a:custGeom>
          <a:solidFill>
            <a:srgbClr val="DCDC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64" name="Rectangle 42"/>
          <p:cNvSpPr/>
          <p:nvPr/>
        </p:nvSpPr>
        <p:spPr>
          <a:xfrm>
            <a:off x="762000" y="3479800"/>
            <a:ext cx="6705600" cy="1143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65" name="Oval 43"/>
          <p:cNvSpPr/>
          <p:nvPr/>
        </p:nvSpPr>
        <p:spPr>
          <a:xfrm>
            <a:off x="936879" y="3662299"/>
            <a:ext cx="107442" cy="107442"/>
          </a:xfrm>
          <a:prstGeom prst="ellipse">
            <a:avLst/>
          </a:pr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66" name="Freeform 1766"/>
          <p:cNvSpPr/>
          <p:nvPr/>
        </p:nvSpPr>
        <p:spPr>
          <a:xfrm>
            <a:off x="958469" y="3750818"/>
            <a:ext cx="49657" cy="51562"/>
          </a:xfrm>
          <a:custGeom>
            <a:avLst/>
            <a:gdLst/>
            <a:ahLst/>
            <a:cxnLst/>
            <a:rect l="l" t="t" r="r" b="b"/>
            <a:pathLst>
              <a:path w="96305" h="100000">
                <a:moveTo>
                  <a:pt x="0" y="50000"/>
                </a:moveTo>
                <a:lnTo>
                  <a:pt x="96305" y="0"/>
                </a:lnTo>
                <a:lnTo>
                  <a:pt x="96305" y="100000"/>
                </a:lnTo>
                <a:close/>
              </a:path>
            </a:pathLst>
          </a:custGeom>
          <a:solidFill>
            <a:srgbClr val="D2D2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67" name="TextBox 45"/>
          <p:cNvSpPr txBox="1"/>
          <p:nvPr/>
        </p:nvSpPr>
        <p:spPr>
          <a:xfrm>
            <a:off x="1168400" y="3594100"/>
            <a:ext cx="1397000" cy="127000"/>
          </a:xfrm>
          <a:prstGeom prst="rect">
            <a:avLst/>
          </a:prstGeom>
        </p:spPr>
        <p:txBody>
          <a:bodyPr wrap="square" lIns="0" tIns="0" rIns="0" bIns="0">
            <a:noAutofit/>
          </a:bodyPr>
          <a:lstStyle/>
          <a:p>
            <a:pPr>
              <a:lnSpc>
                <a:spcPct val="135000"/>
              </a:lnSpc>
            </a:pPr>
            <a:r>
              <a:rPr sz="570" b="1" spc="0">
                <a:solidFill>
                  <a:srgbClr val="C4C4BD"/>
                </a:solidFill>
                <a:latin typeface="Telegraf"/>
              </a:rPr>
              <a:t>Karan D.</a:t>
            </a:r>
            <a:endParaRPr sz="570" b="1" spc="0">
              <a:solidFill>
                <a:srgbClr val="C4C4BD"/>
              </a:solidFill>
              <a:latin typeface="Telegraf"/>
            </a:endParaRPr>
          </a:p>
        </p:txBody>
      </p:sp>
      <p:sp>
        <p:nvSpPr>
          <p:cNvPr id="1768" name="TextBox 46"/>
          <p:cNvSpPr txBox="1"/>
          <p:nvPr/>
        </p:nvSpPr>
        <p:spPr>
          <a:xfrm>
            <a:off x="1168400" y="3733800"/>
            <a:ext cx="1905000" cy="127000"/>
          </a:xfrm>
          <a:prstGeom prst="rect">
            <a:avLst/>
          </a:prstGeom>
        </p:spPr>
        <p:txBody>
          <a:bodyPr wrap="square" lIns="0" tIns="0" rIns="0" bIns="0">
            <a:noAutofit/>
          </a:bodyPr>
          <a:lstStyle/>
          <a:p>
            <a:pPr>
              <a:lnSpc>
                <a:spcPct val="135000"/>
              </a:lnSpc>
            </a:pPr>
            <a:r>
              <a:rPr sz="470" spc="0">
                <a:solidFill>
                  <a:srgbClr val="D2D2CB"/>
                </a:solidFill>
                <a:latin typeface="Telegraf"/>
              </a:rPr>
              <a:t>Your app deleted my invoices!!</a:t>
            </a:r>
            <a:endParaRPr sz="470" spc="0">
              <a:solidFill>
                <a:srgbClr val="D2D2CB"/>
              </a:solidFill>
              <a:latin typeface="Telegraf"/>
            </a:endParaRPr>
          </a:p>
        </p:txBody>
      </p:sp>
      <p:sp>
        <p:nvSpPr>
          <p:cNvPr id="1769" name="TextBox 47"/>
          <p:cNvSpPr txBox="1"/>
          <p:nvPr/>
        </p:nvSpPr>
        <p:spPr>
          <a:xfrm>
            <a:off x="4851400" y="3606800"/>
            <a:ext cx="304800" cy="127000"/>
          </a:xfrm>
          <a:prstGeom prst="rect">
            <a:avLst/>
          </a:prstGeom>
        </p:spPr>
        <p:txBody>
          <a:bodyPr wrap="square" lIns="0" tIns="0" rIns="0" bIns="0">
            <a:noAutofit/>
          </a:bodyPr>
          <a:lstStyle/>
          <a:p>
            <a:pPr>
              <a:lnSpc>
                <a:spcPct val="135000"/>
              </a:lnSpc>
            </a:pPr>
            <a:r>
              <a:rPr sz="560" b="1" spc="0">
                <a:solidFill>
                  <a:srgbClr val="C4C4BD"/>
                </a:solidFill>
                <a:latin typeface="Telegraf"/>
              </a:rPr>
              <a:t>38</a:t>
            </a:r>
            <a:endParaRPr sz="560" b="1" spc="0">
              <a:solidFill>
                <a:srgbClr val="C4C4BD"/>
              </a:solidFill>
              <a:latin typeface="Telegraf"/>
            </a:endParaRPr>
          </a:p>
        </p:txBody>
      </p:sp>
      <p:sp>
        <p:nvSpPr>
          <p:cNvPr id="1770" name="Rectangle 48"/>
          <p:cNvSpPr/>
          <p:nvPr/>
        </p:nvSpPr>
        <p:spPr>
          <a:xfrm>
            <a:off x="4851400" y="3759200"/>
            <a:ext cx="431800" cy="38100"/>
          </a:xfrm>
          <a:custGeom>
            <a:avLst/>
            <a:gdLst/>
            <a:ahLst/>
            <a:cxnLst/>
            <a:rect l="l" t="t" r="r" b="b"/>
            <a:pathLst>
              <a:path w="100000" h="8824">
                <a:moveTo>
                  <a:pt x="95588" y="0"/>
                </a:moveTo>
                <a:cubicBezTo>
                  <a:pt x="95588" y="0"/>
                  <a:pt x="95588" y="0"/>
                  <a:pt x="95588" y="0"/>
                </a:cubicBezTo>
                <a:cubicBezTo>
                  <a:pt x="98024" y="0"/>
                  <a:pt x="100000" y="1976"/>
                  <a:pt x="100000" y="4412"/>
                </a:cubicBezTo>
                <a:cubicBezTo>
                  <a:pt x="100000" y="4412"/>
                  <a:pt x="100000" y="4412"/>
                  <a:pt x="100000" y="4412"/>
                </a:cubicBezTo>
                <a:lnTo>
                  <a:pt x="100000" y="4412"/>
                </a:lnTo>
                <a:cubicBezTo>
                  <a:pt x="100000" y="4412"/>
                  <a:pt x="100000" y="4412"/>
                  <a:pt x="100000" y="4412"/>
                </a:cubicBezTo>
                <a:cubicBezTo>
                  <a:pt x="100000" y="6847"/>
                  <a:pt x="98024" y="8824"/>
                  <a:pt x="95588" y="8824"/>
                </a:cubicBezTo>
                <a:cubicBezTo>
                  <a:pt x="95588" y="8824"/>
                  <a:pt x="95588" y="8824"/>
                  <a:pt x="95588" y="8824"/>
                </a:cubicBezTo>
                <a:lnTo>
                  <a:pt x="4412" y="8824"/>
                </a:lnTo>
                <a:cubicBezTo>
                  <a:pt x="4412" y="8824"/>
                  <a:pt x="4412" y="8824"/>
                  <a:pt x="4412" y="8824"/>
                </a:cubicBezTo>
                <a:cubicBezTo>
                  <a:pt x="1976" y="8824"/>
                  <a:pt x="0" y="6847"/>
                  <a:pt x="0" y="4412"/>
                </a:cubicBezTo>
                <a:cubicBezTo>
                  <a:pt x="0" y="4412"/>
                  <a:pt x="0" y="4412"/>
                  <a:pt x="0" y="4412"/>
                </a:cubicBezTo>
                <a:lnTo>
                  <a:pt x="0" y="4412"/>
                </a:lnTo>
                <a:cubicBezTo>
                  <a:pt x="0" y="4412"/>
                  <a:pt x="0" y="4412"/>
                  <a:pt x="0" y="4412"/>
                </a:cubicBezTo>
                <a:cubicBezTo>
                  <a:pt x="0" y="1976"/>
                  <a:pt x="1976" y="0"/>
                  <a:pt x="4412" y="0"/>
                </a:cubicBezTo>
                <a:cubicBezTo>
                  <a:pt x="4412" y="0"/>
                  <a:pt x="4412" y="0"/>
                  <a:pt x="441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71" name="Rectangle 49"/>
          <p:cNvSpPr/>
          <p:nvPr/>
        </p:nvSpPr>
        <p:spPr>
          <a:xfrm>
            <a:off x="4851400" y="3759200"/>
            <a:ext cx="164084" cy="38100"/>
          </a:xfrm>
          <a:custGeom>
            <a:avLst/>
            <a:gdLst/>
            <a:ahLst/>
            <a:cxnLst/>
            <a:rect l="l" t="t" r="r" b="b"/>
            <a:pathLst>
              <a:path w="100000" h="23220">
                <a:moveTo>
                  <a:pt x="88390" y="0"/>
                </a:moveTo>
                <a:cubicBezTo>
                  <a:pt x="88390" y="0"/>
                  <a:pt x="88390" y="0"/>
                  <a:pt x="88390" y="0"/>
                </a:cubicBezTo>
                <a:cubicBezTo>
                  <a:pt x="94799" y="0"/>
                  <a:pt x="100000" y="5201"/>
                  <a:pt x="100000" y="11610"/>
                </a:cubicBezTo>
                <a:cubicBezTo>
                  <a:pt x="100000" y="11610"/>
                  <a:pt x="100000" y="11610"/>
                  <a:pt x="100000" y="11610"/>
                </a:cubicBezTo>
                <a:lnTo>
                  <a:pt x="100000" y="11610"/>
                </a:lnTo>
                <a:cubicBezTo>
                  <a:pt x="100000" y="11610"/>
                  <a:pt x="100000" y="11610"/>
                  <a:pt x="100000" y="11610"/>
                </a:cubicBezTo>
                <a:cubicBezTo>
                  <a:pt x="100000" y="18019"/>
                  <a:pt x="94799" y="23220"/>
                  <a:pt x="88390" y="23220"/>
                </a:cubicBezTo>
                <a:cubicBezTo>
                  <a:pt x="88390" y="23220"/>
                  <a:pt x="88390" y="23220"/>
                  <a:pt x="88390" y="23220"/>
                </a:cubicBezTo>
                <a:lnTo>
                  <a:pt x="11610" y="23220"/>
                </a:lnTo>
                <a:cubicBezTo>
                  <a:pt x="11610" y="23220"/>
                  <a:pt x="11610" y="23220"/>
                  <a:pt x="11610" y="23220"/>
                </a:cubicBezTo>
                <a:cubicBezTo>
                  <a:pt x="5201" y="23220"/>
                  <a:pt x="0" y="18019"/>
                  <a:pt x="0" y="11610"/>
                </a:cubicBezTo>
                <a:cubicBezTo>
                  <a:pt x="0" y="11610"/>
                  <a:pt x="0" y="11610"/>
                  <a:pt x="0" y="11610"/>
                </a:cubicBezTo>
                <a:lnTo>
                  <a:pt x="0" y="11610"/>
                </a:lnTo>
                <a:cubicBezTo>
                  <a:pt x="0" y="11610"/>
                  <a:pt x="0" y="11610"/>
                  <a:pt x="0" y="11610"/>
                </a:cubicBezTo>
                <a:cubicBezTo>
                  <a:pt x="0" y="5201"/>
                  <a:pt x="5201" y="0"/>
                  <a:pt x="11610" y="0"/>
                </a:cubicBezTo>
                <a:cubicBezTo>
                  <a:pt x="11610" y="0"/>
                  <a:pt x="11610" y="0"/>
                  <a:pt x="11610" y="0"/>
                </a:cubicBezTo>
                <a:close/>
              </a:path>
            </a:pathLst>
          </a:custGeom>
          <a:solidFill>
            <a:srgbClr val="DCDC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72" name="Rectangle 50"/>
          <p:cNvSpPr/>
          <p:nvPr/>
        </p:nvSpPr>
        <p:spPr>
          <a:xfrm>
            <a:off x="762000" y="3937000"/>
            <a:ext cx="6705600" cy="11430"/>
          </a:xfrm>
          <a:prstGeom prst="roundRect">
            <a:avLst/>
          </a:prstGeom>
          <a:solidFill>
            <a:srgbClr val="E7E7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73" name="Rectangle 51"/>
          <p:cNvSpPr/>
          <p:nvPr/>
        </p:nvSpPr>
        <p:spPr>
          <a:xfrm>
            <a:off x="2540000" y="838200"/>
            <a:ext cx="5384800" cy="5232400"/>
          </a:xfrm>
          <a:custGeom>
            <a:avLst/>
            <a:gdLst/>
            <a:ahLst/>
            <a:cxnLst/>
            <a:rect l="l" t="t" r="r" b="b"/>
            <a:pathLst>
              <a:path w="100000" h="97170">
                <a:moveTo>
                  <a:pt x="92453" y="0"/>
                </a:moveTo>
                <a:cubicBezTo>
                  <a:pt x="96011" y="0"/>
                  <a:pt x="97789" y="0"/>
                  <a:pt x="98895" y="1105"/>
                </a:cubicBezTo>
                <a:cubicBezTo>
                  <a:pt x="98895" y="1105"/>
                  <a:pt x="98895" y="1105"/>
                  <a:pt x="98895" y="1105"/>
                </a:cubicBezTo>
                <a:cubicBezTo>
                  <a:pt x="100000" y="2211"/>
                  <a:pt x="100000" y="3989"/>
                  <a:pt x="100000" y="7547"/>
                </a:cubicBezTo>
                <a:lnTo>
                  <a:pt x="100000" y="89623"/>
                </a:lnTo>
                <a:cubicBezTo>
                  <a:pt x="100000" y="93180"/>
                  <a:pt x="100000" y="94959"/>
                  <a:pt x="98895" y="96065"/>
                </a:cubicBezTo>
                <a:cubicBezTo>
                  <a:pt x="98895" y="96065"/>
                  <a:pt x="98895" y="96065"/>
                  <a:pt x="98895" y="96065"/>
                </a:cubicBezTo>
                <a:cubicBezTo>
                  <a:pt x="97789" y="97170"/>
                  <a:pt x="96011" y="97170"/>
                  <a:pt x="92453" y="97170"/>
                </a:cubicBezTo>
                <a:lnTo>
                  <a:pt x="7547" y="97170"/>
                </a:lnTo>
                <a:cubicBezTo>
                  <a:pt x="3989" y="97170"/>
                  <a:pt x="2211" y="97170"/>
                  <a:pt x="1105" y="96065"/>
                </a:cubicBezTo>
                <a:cubicBezTo>
                  <a:pt x="1105" y="96065"/>
                  <a:pt x="1105" y="96065"/>
                  <a:pt x="1105" y="96065"/>
                </a:cubicBezTo>
                <a:cubicBezTo>
                  <a:pt x="0" y="94959"/>
                  <a:pt x="0" y="93180"/>
                  <a:pt x="0" y="89623"/>
                </a:cubicBezTo>
                <a:lnTo>
                  <a:pt x="0" y="7547"/>
                </a:lnTo>
                <a:cubicBezTo>
                  <a:pt x="0" y="3989"/>
                  <a:pt x="0" y="2211"/>
                  <a:pt x="1105" y="1105"/>
                </a:cubicBezTo>
                <a:cubicBezTo>
                  <a:pt x="1105" y="1105"/>
                  <a:pt x="1105" y="1105"/>
                  <a:pt x="1105" y="1105"/>
                </a:cubicBezTo>
                <a:cubicBezTo>
                  <a:pt x="2211" y="0"/>
                  <a:pt x="3989" y="0"/>
                  <a:pt x="7547" y="0"/>
                </a:cubicBezTo>
                <a:close/>
              </a:path>
            </a:pathLst>
          </a:custGeom>
          <a:solidFill>
            <a:srgbClr val="E9E9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74" name="Rectangle 52"/>
          <p:cNvSpPr/>
          <p:nvPr/>
        </p:nvSpPr>
        <p:spPr>
          <a:xfrm>
            <a:off x="2489200" y="762000"/>
            <a:ext cx="5384800" cy="5232400"/>
          </a:xfrm>
          <a:custGeom>
            <a:avLst/>
            <a:gdLst/>
            <a:ahLst/>
            <a:cxnLst/>
            <a:rect l="l" t="t" r="r" b="b"/>
            <a:pathLst>
              <a:path w="100000" h="97170">
                <a:moveTo>
                  <a:pt x="92453" y="0"/>
                </a:moveTo>
                <a:cubicBezTo>
                  <a:pt x="96011" y="0"/>
                  <a:pt x="97789" y="0"/>
                  <a:pt x="98895" y="1105"/>
                </a:cubicBezTo>
                <a:cubicBezTo>
                  <a:pt x="98895" y="1105"/>
                  <a:pt x="98895" y="1105"/>
                  <a:pt x="98895" y="1105"/>
                </a:cubicBezTo>
                <a:cubicBezTo>
                  <a:pt x="100000" y="2211"/>
                  <a:pt x="100000" y="3989"/>
                  <a:pt x="100000" y="7547"/>
                </a:cubicBezTo>
                <a:lnTo>
                  <a:pt x="100000" y="89623"/>
                </a:lnTo>
                <a:cubicBezTo>
                  <a:pt x="100000" y="93180"/>
                  <a:pt x="100000" y="94959"/>
                  <a:pt x="98895" y="96065"/>
                </a:cubicBezTo>
                <a:cubicBezTo>
                  <a:pt x="98895" y="96065"/>
                  <a:pt x="98895" y="96065"/>
                  <a:pt x="98895" y="96065"/>
                </a:cubicBezTo>
                <a:cubicBezTo>
                  <a:pt x="97789" y="97170"/>
                  <a:pt x="96011" y="97170"/>
                  <a:pt x="92453" y="97170"/>
                </a:cubicBezTo>
                <a:lnTo>
                  <a:pt x="7547" y="97170"/>
                </a:lnTo>
                <a:cubicBezTo>
                  <a:pt x="3989" y="97170"/>
                  <a:pt x="2211" y="97170"/>
                  <a:pt x="1105" y="96065"/>
                </a:cubicBezTo>
                <a:cubicBezTo>
                  <a:pt x="1105" y="96065"/>
                  <a:pt x="1105" y="96065"/>
                  <a:pt x="1105" y="96065"/>
                </a:cubicBezTo>
                <a:cubicBezTo>
                  <a:pt x="0" y="94959"/>
                  <a:pt x="0" y="93180"/>
                  <a:pt x="0" y="89623"/>
                </a:cubicBezTo>
                <a:lnTo>
                  <a:pt x="0" y="7547"/>
                </a:lnTo>
                <a:cubicBezTo>
                  <a:pt x="0" y="3989"/>
                  <a:pt x="0" y="2211"/>
                  <a:pt x="1105" y="1105"/>
                </a:cubicBezTo>
                <a:cubicBezTo>
                  <a:pt x="1105" y="1105"/>
                  <a:pt x="1105" y="1105"/>
                  <a:pt x="1105" y="1105"/>
                </a:cubicBezTo>
                <a:cubicBezTo>
                  <a:pt x="2211" y="0"/>
                  <a:pt x="3989" y="0"/>
                  <a:pt x="754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75" name="TextBox 53"/>
          <p:cNvSpPr txBox="1"/>
          <p:nvPr/>
        </p:nvSpPr>
        <p:spPr>
          <a:xfrm>
            <a:off x="2743200" y="939800"/>
            <a:ext cx="2540000" cy="114300"/>
          </a:xfrm>
          <a:prstGeom prst="rect">
            <a:avLst/>
          </a:prstGeom>
        </p:spPr>
        <p:txBody>
          <a:bodyPr wrap="square" lIns="0" tIns="0" rIns="0" bIns="0">
            <a:noAutofit/>
          </a:bodyPr>
          <a:lstStyle/>
          <a:p>
            <a:r>
              <a:rPr sz="460" b="1" spc="120">
                <a:solidFill>
                  <a:srgbClr val="0E6B5F"/>
                </a:solidFill>
                <a:latin typeface="Telegraf"/>
              </a:rPr>
              <a:t>TEST MY AI AGENT</a:t>
            </a:r>
            <a:endParaRPr sz="460" b="1" spc="120">
              <a:solidFill>
                <a:srgbClr val="0E6B5F"/>
              </a:solidFill>
              <a:latin typeface="Telegraf"/>
            </a:endParaRPr>
          </a:p>
        </p:txBody>
      </p:sp>
      <p:sp>
        <p:nvSpPr>
          <p:cNvPr id="1776" name="TextBox 54"/>
          <p:cNvSpPr txBox="1"/>
          <p:nvPr/>
        </p:nvSpPr>
        <p:spPr>
          <a:xfrm>
            <a:off x="2730500" y="1066800"/>
            <a:ext cx="3810000" cy="330200"/>
          </a:xfrm>
          <a:prstGeom prst="rect">
            <a:avLst/>
          </a:prstGeom>
        </p:spPr>
        <p:txBody>
          <a:bodyPr wrap="square" lIns="0" tIns="0" rIns="0" bIns="0">
            <a:noAutofit/>
          </a:bodyPr>
          <a:lstStyle/>
          <a:p>
            <a:pPr>
              <a:lnSpc>
                <a:spcPct val="102000"/>
              </a:lnSpc>
            </a:pPr>
            <a:r>
              <a:rPr sz="1700" spc="-50">
                <a:solidFill>
                  <a:srgbClr val="0A0A0A"/>
                </a:solidFill>
                <a:latin typeface="PP Editorial New Ultralight"/>
              </a:rPr>
              <a:t>Ask what a judge asks.</a:t>
            </a:r>
            <a:endParaRPr sz="1700" spc="-50">
              <a:solidFill>
                <a:srgbClr val="0A0A0A"/>
              </a:solidFill>
              <a:latin typeface="PP Editorial New Ultralight"/>
            </a:endParaRPr>
          </a:p>
        </p:txBody>
      </p:sp>
      <p:sp>
        <p:nvSpPr>
          <p:cNvPr id="1777" name="TextBox 55"/>
          <p:cNvSpPr txBox="1"/>
          <p:nvPr/>
        </p:nvSpPr>
        <p:spPr>
          <a:xfrm>
            <a:off x="7620000" y="965200"/>
            <a:ext cx="127000" cy="127000"/>
          </a:xfrm>
          <a:prstGeom prst="rect">
            <a:avLst/>
          </a:prstGeom>
        </p:spPr>
        <p:txBody>
          <a:bodyPr wrap="square" lIns="0" tIns="0" rIns="0" bIns="0">
            <a:noAutofit/>
          </a:bodyPr>
          <a:lstStyle/>
          <a:p>
            <a:pPr algn="r">
              <a:lnSpc>
                <a:spcPct val="135000"/>
              </a:lnSpc>
            </a:pPr>
            <a:r>
              <a:rPr sz="800" spc="0">
                <a:solidFill>
                  <a:srgbClr val="A2A2A8"/>
                </a:solidFill>
                <a:latin typeface="Telegraf"/>
              </a:rPr>
              <a:t>×</a:t>
            </a:r>
            <a:endParaRPr sz="800" spc="0">
              <a:solidFill>
                <a:srgbClr val="A2A2A8"/>
              </a:solidFill>
              <a:latin typeface="Telegraf"/>
            </a:endParaRPr>
          </a:p>
        </p:txBody>
      </p:sp>
      <p:sp>
        <p:nvSpPr>
          <p:cNvPr id="1778" name="Rectangle 56"/>
          <p:cNvSpPr/>
          <p:nvPr/>
        </p:nvSpPr>
        <p:spPr>
          <a:xfrm>
            <a:off x="2743200" y="1498600"/>
            <a:ext cx="4876800" cy="609600"/>
          </a:xfrm>
          <a:custGeom>
            <a:avLst/>
            <a:gdLst/>
            <a:ahLst/>
            <a:cxnLst/>
            <a:rect l="l" t="t" r="r" b="b"/>
            <a:pathLst>
              <a:path w="100000" h="12500">
                <a:moveTo>
                  <a:pt x="94792" y="0"/>
                </a:moveTo>
                <a:cubicBezTo>
                  <a:pt x="97247" y="0"/>
                  <a:pt x="98474" y="0"/>
                  <a:pt x="99237" y="763"/>
                </a:cubicBezTo>
                <a:cubicBezTo>
                  <a:pt x="99237" y="763"/>
                  <a:pt x="99237" y="763"/>
                  <a:pt x="99237" y="763"/>
                </a:cubicBezTo>
                <a:cubicBezTo>
                  <a:pt x="100000" y="1526"/>
                  <a:pt x="100000" y="2753"/>
                  <a:pt x="100000" y="5208"/>
                </a:cubicBezTo>
                <a:lnTo>
                  <a:pt x="100000" y="7292"/>
                </a:lnTo>
                <a:cubicBezTo>
                  <a:pt x="100000" y="9747"/>
                  <a:pt x="100000" y="10974"/>
                  <a:pt x="99237" y="11737"/>
                </a:cubicBezTo>
                <a:cubicBezTo>
                  <a:pt x="99237" y="11737"/>
                  <a:pt x="99237" y="11737"/>
                  <a:pt x="99237" y="11737"/>
                </a:cubicBezTo>
                <a:cubicBezTo>
                  <a:pt x="98474" y="12500"/>
                  <a:pt x="97247" y="12500"/>
                  <a:pt x="94792" y="12500"/>
                </a:cubicBezTo>
                <a:lnTo>
                  <a:pt x="5208" y="12500"/>
                </a:lnTo>
                <a:cubicBezTo>
                  <a:pt x="2753" y="12500"/>
                  <a:pt x="1526" y="12500"/>
                  <a:pt x="763" y="11737"/>
                </a:cubicBezTo>
                <a:cubicBezTo>
                  <a:pt x="763" y="11737"/>
                  <a:pt x="763" y="11737"/>
                  <a:pt x="763" y="11737"/>
                </a:cubicBezTo>
                <a:cubicBezTo>
                  <a:pt x="0" y="10974"/>
                  <a:pt x="0" y="9747"/>
                  <a:pt x="0" y="7292"/>
                </a:cubicBezTo>
                <a:lnTo>
                  <a:pt x="0" y="5208"/>
                </a:lnTo>
                <a:cubicBezTo>
                  <a:pt x="0" y="2753"/>
                  <a:pt x="0" y="1526"/>
                  <a:pt x="763" y="763"/>
                </a:cubicBezTo>
                <a:cubicBezTo>
                  <a:pt x="763" y="763"/>
                  <a:pt x="763" y="763"/>
                  <a:pt x="763" y="763"/>
                </a:cubicBezTo>
                <a:cubicBezTo>
                  <a:pt x="1526" y="0"/>
                  <a:pt x="2753" y="0"/>
                  <a:pt x="5208"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79" name="TextBox 57"/>
          <p:cNvSpPr txBox="1"/>
          <p:nvPr/>
        </p:nvSpPr>
        <p:spPr>
          <a:xfrm>
            <a:off x="2895600" y="1600200"/>
            <a:ext cx="2540000" cy="101600"/>
          </a:xfrm>
          <a:prstGeom prst="rect">
            <a:avLst/>
          </a:prstGeom>
        </p:spPr>
        <p:txBody>
          <a:bodyPr wrap="square" lIns="0" tIns="0" rIns="0" bIns="0">
            <a:noAutofit/>
          </a:bodyPr>
          <a:lstStyle/>
          <a:p>
            <a:r>
              <a:rPr sz="420" b="1" spc="100">
                <a:solidFill>
                  <a:srgbClr val="A2A2A8"/>
                </a:solidFill>
                <a:latin typeface="Telegraf"/>
              </a:rPr>
              <a:t>CUSTOMER QUERY  ·  TEXT_MODAL</a:t>
            </a:r>
            <a:endParaRPr sz="420" b="1" spc="100">
              <a:solidFill>
                <a:srgbClr val="A2A2A8"/>
              </a:solidFill>
              <a:latin typeface="Telegraf"/>
            </a:endParaRPr>
          </a:p>
        </p:txBody>
      </p:sp>
      <p:sp>
        <p:nvSpPr>
          <p:cNvPr id="1780" name="TextBox 58"/>
          <p:cNvSpPr txBox="1"/>
          <p:nvPr/>
        </p:nvSpPr>
        <p:spPr>
          <a:xfrm>
            <a:off x="2895600" y="1752600"/>
            <a:ext cx="4572000" cy="304800"/>
          </a:xfrm>
          <a:prstGeom prst="rect">
            <a:avLst/>
          </a:prstGeom>
        </p:spPr>
        <p:txBody>
          <a:bodyPr wrap="square" lIns="0" tIns="0" rIns="0" bIns="0">
            <a:noAutofit/>
          </a:bodyPr>
          <a:lstStyle/>
          <a:p>
            <a:pPr>
              <a:lnSpc>
                <a:spcPct val="140000"/>
              </a:lnSpc>
            </a:pPr>
            <a:r>
              <a:rPr sz="560" spc="0">
                <a:solidFill>
                  <a:srgbClr val="0A0A0A"/>
                </a:solidFill>
                <a:latin typeface="Telegraf"/>
              </a:rPr>
              <a:t>“What is the price of the Pro Plan and does it include WhatsApp invoicing?”</a:t>
            </a:r>
            <a:endParaRPr sz="560" spc="0">
              <a:solidFill>
                <a:srgbClr val="0A0A0A"/>
              </a:solidFill>
              <a:latin typeface="Telegraf"/>
            </a:endParaRPr>
          </a:p>
        </p:txBody>
      </p:sp>
      <p:sp>
        <p:nvSpPr>
          <p:cNvPr id="1781" name="Rectangle 59"/>
          <p:cNvSpPr/>
          <p:nvPr/>
        </p:nvSpPr>
        <p:spPr>
          <a:xfrm>
            <a:off x="2743200" y="2209800"/>
            <a:ext cx="1117600" cy="2794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82" name="TextBox 60"/>
          <p:cNvSpPr txBox="1"/>
          <p:nvPr/>
        </p:nvSpPr>
        <p:spPr>
          <a:xfrm>
            <a:off x="2819400" y="2209800"/>
            <a:ext cx="990600" cy="279400"/>
          </a:xfrm>
          <a:prstGeom prst="rect">
            <a:avLst/>
          </a:prstGeom>
        </p:spPr>
        <p:txBody>
          <a:bodyPr wrap="square" lIns="0" tIns="0" rIns="0" bIns="0" anchor="ctr">
            <a:noAutofit/>
          </a:bodyPr>
          <a:lstStyle/>
          <a:p>
            <a:pPr>
              <a:lnSpc>
                <a:spcPct val="135000"/>
              </a:lnSpc>
            </a:pPr>
            <a:r>
              <a:rPr sz="500" b="1" spc="10">
                <a:solidFill>
                  <a:srgbClr val="FFFFFF"/>
                </a:solidFill>
                <a:latin typeface="Telegraf"/>
              </a:rPr>
              <a:t>Run query</a:t>
            </a:r>
            <a:endParaRPr sz="500" b="1" spc="10">
              <a:solidFill>
                <a:srgbClr val="FFFFFF"/>
              </a:solidFill>
              <a:latin typeface="Telegraf"/>
            </a:endParaRPr>
          </a:p>
        </p:txBody>
      </p:sp>
      <p:sp>
        <p:nvSpPr>
          <p:cNvPr id="1783" name="Rectangle 61"/>
          <p:cNvSpPr/>
          <p:nvPr/>
        </p:nvSpPr>
        <p:spPr>
          <a:xfrm>
            <a:off x="3937000" y="2209800"/>
            <a:ext cx="1168400" cy="279400"/>
          </a:xfrm>
          <a:custGeom>
            <a:avLst/>
            <a:gdLst/>
            <a:ahLst/>
            <a:cxnLst/>
            <a:rect l="l" t="t" r="r" b="b"/>
            <a:pathLst>
              <a:path w="100000" h="23913">
                <a:moveTo>
                  <a:pt x="88043" y="0"/>
                </a:moveTo>
                <a:cubicBezTo>
                  <a:pt x="88043" y="0"/>
                  <a:pt x="88043" y="0"/>
                  <a:pt x="88043" y="0"/>
                </a:cubicBezTo>
                <a:cubicBezTo>
                  <a:pt x="94647" y="0"/>
                  <a:pt x="100000" y="5353"/>
                  <a:pt x="100000" y="11957"/>
                </a:cubicBezTo>
                <a:cubicBezTo>
                  <a:pt x="100000" y="11957"/>
                  <a:pt x="100000" y="11957"/>
                  <a:pt x="100000" y="11957"/>
                </a:cubicBezTo>
                <a:lnTo>
                  <a:pt x="100000" y="11957"/>
                </a:lnTo>
                <a:cubicBezTo>
                  <a:pt x="100000" y="11957"/>
                  <a:pt x="100000" y="11957"/>
                  <a:pt x="100000" y="11957"/>
                </a:cubicBezTo>
                <a:cubicBezTo>
                  <a:pt x="100000" y="18560"/>
                  <a:pt x="94647" y="23913"/>
                  <a:pt x="88043" y="23913"/>
                </a:cubicBezTo>
                <a:cubicBezTo>
                  <a:pt x="88043" y="23913"/>
                  <a:pt x="88043" y="23913"/>
                  <a:pt x="88043" y="23913"/>
                </a:cubicBezTo>
                <a:lnTo>
                  <a:pt x="11957" y="23913"/>
                </a:lnTo>
                <a:cubicBezTo>
                  <a:pt x="11957" y="23913"/>
                  <a:pt x="11957" y="23913"/>
                  <a:pt x="11957" y="23913"/>
                </a:cubicBezTo>
                <a:cubicBezTo>
                  <a:pt x="5353" y="23913"/>
                  <a:pt x="0" y="18560"/>
                  <a:pt x="0" y="11957"/>
                </a:cubicBezTo>
                <a:cubicBezTo>
                  <a:pt x="0" y="11957"/>
                  <a:pt x="0" y="11957"/>
                  <a:pt x="0" y="11957"/>
                </a:cubicBezTo>
                <a:lnTo>
                  <a:pt x="0" y="11957"/>
                </a:lnTo>
                <a:cubicBezTo>
                  <a:pt x="0" y="11957"/>
                  <a:pt x="0" y="11957"/>
                  <a:pt x="0" y="11957"/>
                </a:cubicBezTo>
                <a:cubicBezTo>
                  <a:pt x="0" y="5353"/>
                  <a:pt x="5353" y="0"/>
                  <a:pt x="11957" y="0"/>
                </a:cubicBezTo>
                <a:cubicBezTo>
                  <a:pt x="11957" y="0"/>
                  <a:pt x="11957" y="0"/>
                  <a:pt x="1195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84" name="TextBox 62"/>
          <p:cNvSpPr txBox="1"/>
          <p:nvPr/>
        </p:nvSpPr>
        <p:spPr>
          <a:xfrm>
            <a:off x="4013200" y="2209800"/>
            <a:ext cx="1041400" cy="279400"/>
          </a:xfrm>
          <a:prstGeom prst="rect">
            <a:avLst/>
          </a:prstGeom>
        </p:spPr>
        <p:txBody>
          <a:bodyPr wrap="square" lIns="0" tIns="0" rIns="0" bIns="0" anchor="ctr">
            <a:noAutofit/>
          </a:bodyPr>
          <a:lstStyle/>
          <a:p>
            <a:pPr>
              <a:lnSpc>
                <a:spcPct val="135000"/>
              </a:lnSpc>
            </a:pPr>
            <a:r>
              <a:rPr sz="500" b="1" spc="10">
                <a:solidFill>
                  <a:srgbClr val="67676E"/>
                </a:solidFill>
                <a:latin typeface="Telegraf"/>
              </a:rPr>
              <a:t>↺ Run again</a:t>
            </a:r>
            <a:endParaRPr sz="500" b="1" spc="10">
              <a:solidFill>
                <a:srgbClr val="67676E"/>
              </a:solidFill>
              <a:latin typeface="Telegraf"/>
            </a:endParaRPr>
          </a:p>
        </p:txBody>
      </p:sp>
      <p:sp>
        <p:nvSpPr>
          <p:cNvPr id="1785" name="TextBox 63"/>
          <p:cNvSpPr txBox="1"/>
          <p:nvPr/>
        </p:nvSpPr>
        <p:spPr>
          <a:xfrm>
            <a:off x="6858000" y="2209800"/>
            <a:ext cx="762000" cy="279400"/>
          </a:xfrm>
          <a:prstGeom prst="rect">
            <a:avLst/>
          </a:prstGeom>
        </p:spPr>
        <p:txBody>
          <a:bodyPr wrap="square" lIns="0" tIns="0" rIns="0" bIns="0" anchor="ctr">
            <a:noAutofit/>
          </a:bodyPr>
          <a:lstStyle/>
          <a:p>
            <a:pPr algn="r">
              <a:lnSpc>
                <a:spcPct val="135000"/>
              </a:lnSpc>
            </a:pPr>
            <a:r>
              <a:rPr sz="420" spc="0">
                <a:solidFill>
                  <a:srgbClr val="A2A2A8"/>
                </a:solidFill>
                <a:latin typeface="Telegraf"/>
              </a:rPr>
              <a:t>judge@sphinx</a:t>
            </a:r>
            <a:endParaRPr sz="420" spc="0">
              <a:solidFill>
                <a:srgbClr val="A2A2A8"/>
              </a:solidFill>
              <a:latin typeface="Telegraf"/>
            </a:endParaRPr>
          </a:p>
        </p:txBody>
      </p:sp>
      <p:sp>
        <p:nvSpPr>
          <p:cNvPr id="1786" name="Rectangle 64"/>
          <p:cNvSpPr/>
          <p:nvPr/>
        </p:nvSpPr>
        <p:spPr>
          <a:xfrm>
            <a:off x="2743200" y="2641600"/>
            <a:ext cx="48768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87" name="TextBox 65"/>
          <p:cNvSpPr txBox="1"/>
          <p:nvPr/>
        </p:nvSpPr>
        <p:spPr>
          <a:xfrm>
            <a:off x="2743200" y="2768600"/>
            <a:ext cx="1524000" cy="101600"/>
          </a:xfrm>
          <a:prstGeom prst="rect">
            <a:avLst/>
          </a:prstGeom>
        </p:spPr>
        <p:txBody>
          <a:bodyPr wrap="square" lIns="0" tIns="0" rIns="0" bIns="0">
            <a:noAutofit/>
          </a:bodyPr>
          <a:lstStyle/>
          <a:p>
            <a:r>
              <a:rPr sz="420" b="1" spc="100">
                <a:solidFill>
                  <a:srgbClr val="A2A2A8"/>
                </a:solidFill>
                <a:latin typeface="Telegraf"/>
              </a:rPr>
              <a:t>RESULT  ·  TKT_991</a:t>
            </a:r>
            <a:endParaRPr sz="420" b="1" spc="100">
              <a:solidFill>
                <a:srgbClr val="A2A2A8"/>
              </a:solidFill>
              <a:latin typeface="Telegraf"/>
            </a:endParaRPr>
          </a:p>
        </p:txBody>
      </p:sp>
      <p:sp>
        <p:nvSpPr>
          <p:cNvPr id="1788" name="Rectangle 66"/>
          <p:cNvSpPr/>
          <p:nvPr/>
        </p:nvSpPr>
        <p:spPr>
          <a:xfrm>
            <a:off x="2743200" y="2921000"/>
            <a:ext cx="365252" cy="146050"/>
          </a:xfrm>
          <a:custGeom>
            <a:avLst/>
            <a:gdLst/>
            <a:ahLst/>
            <a:cxnLst/>
            <a:rect l="l" t="t" r="r" b="b"/>
            <a:pathLst>
              <a:path w="100000" h="39986">
                <a:moveTo>
                  <a:pt x="80007" y="0"/>
                </a:moveTo>
                <a:cubicBezTo>
                  <a:pt x="80007" y="0"/>
                  <a:pt x="80007" y="0"/>
                  <a:pt x="80007" y="0"/>
                </a:cubicBezTo>
                <a:cubicBezTo>
                  <a:pt x="91050" y="0"/>
                  <a:pt x="100000" y="8950"/>
                  <a:pt x="100000" y="19993"/>
                </a:cubicBezTo>
                <a:cubicBezTo>
                  <a:pt x="100000" y="19993"/>
                  <a:pt x="100000" y="19993"/>
                  <a:pt x="100000" y="19993"/>
                </a:cubicBezTo>
                <a:lnTo>
                  <a:pt x="100000" y="19993"/>
                </a:lnTo>
                <a:cubicBezTo>
                  <a:pt x="100000" y="19993"/>
                  <a:pt x="100000" y="19993"/>
                  <a:pt x="100000" y="19993"/>
                </a:cubicBezTo>
                <a:cubicBezTo>
                  <a:pt x="100000" y="31036"/>
                  <a:pt x="91050" y="39986"/>
                  <a:pt x="80007" y="39986"/>
                </a:cubicBezTo>
                <a:cubicBezTo>
                  <a:pt x="80007" y="39986"/>
                  <a:pt x="80007" y="39986"/>
                  <a:pt x="80007" y="39986"/>
                </a:cubicBezTo>
                <a:lnTo>
                  <a:pt x="19993" y="39986"/>
                </a:lnTo>
                <a:cubicBezTo>
                  <a:pt x="19993" y="39986"/>
                  <a:pt x="19993" y="39986"/>
                  <a:pt x="19993" y="39986"/>
                </a:cubicBezTo>
                <a:cubicBezTo>
                  <a:pt x="8950" y="39986"/>
                  <a:pt x="0" y="31036"/>
                  <a:pt x="0" y="19993"/>
                </a:cubicBezTo>
                <a:cubicBezTo>
                  <a:pt x="0" y="19993"/>
                  <a:pt x="0" y="19993"/>
                  <a:pt x="0" y="19993"/>
                </a:cubicBezTo>
                <a:lnTo>
                  <a:pt x="0" y="19993"/>
                </a:lnTo>
                <a:cubicBezTo>
                  <a:pt x="0" y="19993"/>
                  <a:pt x="0" y="19993"/>
                  <a:pt x="0" y="19993"/>
                </a:cubicBezTo>
                <a:cubicBezTo>
                  <a:pt x="0" y="8950"/>
                  <a:pt x="8950" y="0"/>
                  <a:pt x="19993" y="0"/>
                </a:cubicBezTo>
                <a:cubicBezTo>
                  <a:pt x="19993" y="0"/>
                  <a:pt x="19993" y="0"/>
                  <a:pt x="1999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89" name="Oval 67"/>
          <p:cNvSpPr/>
          <p:nvPr/>
        </p:nvSpPr>
        <p:spPr>
          <a:xfrm>
            <a:off x="2795270" y="2972435"/>
            <a:ext cx="43180" cy="4318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0" name="TextBox 68"/>
          <p:cNvSpPr txBox="1"/>
          <p:nvPr/>
        </p:nvSpPr>
        <p:spPr>
          <a:xfrm>
            <a:off x="2872740" y="2921000"/>
            <a:ext cx="212852" cy="146050"/>
          </a:xfrm>
          <a:prstGeom prst="rect">
            <a:avLst/>
          </a:prstGeom>
        </p:spPr>
        <p:txBody>
          <a:bodyPr wrap="square" lIns="0" tIns="0" rIns="0" bIns="0" anchor="ctr">
            <a:noAutofit/>
          </a:bodyPr>
          <a:lstStyle/>
          <a:p>
            <a:pPr>
              <a:lnSpc>
                <a:spcPct val="135000"/>
              </a:lnSpc>
            </a:pPr>
            <a:r>
              <a:rPr sz="440" b="1" spc="0">
                <a:solidFill>
                  <a:srgbClr val="0E6B5F"/>
                </a:solidFill>
                <a:latin typeface="Telegraf"/>
              </a:rPr>
              <a:t>sales</a:t>
            </a:r>
            <a:endParaRPr sz="440" b="1" spc="0">
              <a:solidFill>
                <a:srgbClr val="0E6B5F"/>
              </a:solidFill>
              <a:latin typeface="Telegraf"/>
            </a:endParaRPr>
          </a:p>
        </p:txBody>
      </p:sp>
      <p:sp>
        <p:nvSpPr>
          <p:cNvPr id="1791" name="Rectangle 69"/>
          <p:cNvSpPr/>
          <p:nvPr/>
        </p:nvSpPr>
        <p:spPr>
          <a:xfrm>
            <a:off x="3378200" y="2921000"/>
            <a:ext cx="689356" cy="146050"/>
          </a:xfrm>
          <a:custGeom>
            <a:avLst/>
            <a:gdLst/>
            <a:ahLst/>
            <a:cxnLst/>
            <a:rect l="l" t="t" r="r" b="b"/>
            <a:pathLst>
              <a:path w="100000" h="21186">
                <a:moveTo>
                  <a:pt x="89407" y="0"/>
                </a:moveTo>
                <a:cubicBezTo>
                  <a:pt x="89407" y="0"/>
                  <a:pt x="89407" y="0"/>
                  <a:pt x="89407" y="0"/>
                </a:cubicBezTo>
                <a:cubicBezTo>
                  <a:pt x="95258" y="0"/>
                  <a:pt x="100000" y="4742"/>
                  <a:pt x="100000" y="10593"/>
                </a:cubicBezTo>
                <a:cubicBezTo>
                  <a:pt x="100000" y="10593"/>
                  <a:pt x="100000" y="10593"/>
                  <a:pt x="100000" y="10593"/>
                </a:cubicBezTo>
                <a:lnTo>
                  <a:pt x="100000" y="10593"/>
                </a:lnTo>
                <a:cubicBezTo>
                  <a:pt x="100000" y="10593"/>
                  <a:pt x="100000" y="10593"/>
                  <a:pt x="100000" y="10593"/>
                </a:cubicBezTo>
                <a:cubicBezTo>
                  <a:pt x="100000" y="16444"/>
                  <a:pt x="95258" y="21186"/>
                  <a:pt x="89407" y="21186"/>
                </a:cubicBezTo>
                <a:cubicBezTo>
                  <a:pt x="89407" y="21186"/>
                  <a:pt x="89407" y="21186"/>
                  <a:pt x="89407" y="21186"/>
                </a:cubicBezTo>
                <a:lnTo>
                  <a:pt x="10593" y="21186"/>
                </a:lnTo>
                <a:cubicBezTo>
                  <a:pt x="10593" y="21186"/>
                  <a:pt x="10593" y="21186"/>
                  <a:pt x="10593" y="21186"/>
                </a:cubicBezTo>
                <a:cubicBezTo>
                  <a:pt x="4742" y="21186"/>
                  <a:pt x="0" y="16444"/>
                  <a:pt x="0" y="10593"/>
                </a:cubicBezTo>
                <a:cubicBezTo>
                  <a:pt x="0" y="10593"/>
                  <a:pt x="0" y="10593"/>
                  <a:pt x="0" y="10593"/>
                </a:cubicBezTo>
                <a:lnTo>
                  <a:pt x="0" y="10593"/>
                </a:lnTo>
                <a:cubicBezTo>
                  <a:pt x="0" y="10593"/>
                  <a:pt x="0" y="10593"/>
                  <a:pt x="0" y="10593"/>
                </a:cubicBezTo>
                <a:cubicBezTo>
                  <a:pt x="0" y="4742"/>
                  <a:pt x="4742" y="0"/>
                  <a:pt x="10593" y="0"/>
                </a:cubicBezTo>
                <a:cubicBezTo>
                  <a:pt x="10593" y="0"/>
                  <a:pt x="10593" y="0"/>
                  <a:pt x="10593" y="0"/>
                </a:cubicBezTo>
                <a:close/>
              </a:path>
            </a:pathLst>
          </a:custGeom>
          <a:solidFill>
            <a:srgbClr val="EAF0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2" name="Oval 70"/>
          <p:cNvSpPr/>
          <p:nvPr/>
        </p:nvSpPr>
        <p:spPr>
          <a:xfrm>
            <a:off x="3430270" y="2972435"/>
            <a:ext cx="43180" cy="43180"/>
          </a:xfrm>
          <a:prstGeom prst="ellipse">
            <a:avLst/>
          </a:prstGeom>
          <a:solidFill>
            <a:srgbClr val="1E63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3" name="TextBox 71"/>
          <p:cNvSpPr txBox="1"/>
          <p:nvPr/>
        </p:nvSpPr>
        <p:spPr>
          <a:xfrm>
            <a:off x="3507740" y="2921000"/>
            <a:ext cx="536956" cy="146050"/>
          </a:xfrm>
          <a:prstGeom prst="rect">
            <a:avLst/>
          </a:prstGeom>
        </p:spPr>
        <p:txBody>
          <a:bodyPr wrap="square" lIns="0" tIns="0" rIns="0" bIns="0" anchor="ctr">
            <a:noAutofit/>
          </a:bodyPr>
          <a:lstStyle/>
          <a:p>
            <a:pPr>
              <a:lnSpc>
                <a:spcPct val="135000"/>
              </a:lnSpc>
            </a:pPr>
            <a:r>
              <a:rPr sz="440" b="1" spc="0">
                <a:solidFill>
                  <a:srgbClr val="1B3F9E"/>
                </a:solidFill>
                <a:latin typeface="Telegraf"/>
              </a:rPr>
              <a:t>pricing_inquiry</a:t>
            </a:r>
            <a:endParaRPr sz="440" b="1" spc="0">
              <a:solidFill>
                <a:srgbClr val="1B3F9E"/>
              </a:solidFill>
              <a:latin typeface="Telegraf"/>
            </a:endParaRPr>
          </a:p>
        </p:txBody>
      </p:sp>
      <p:sp>
        <p:nvSpPr>
          <p:cNvPr id="1794" name="Rectangle 72"/>
          <p:cNvSpPr/>
          <p:nvPr/>
        </p:nvSpPr>
        <p:spPr>
          <a:xfrm>
            <a:off x="4521200" y="2921000"/>
            <a:ext cx="430022" cy="146050"/>
          </a:xfrm>
          <a:custGeom>
            <a:avLst/>
            <a:gdLst/>
            <a:ahLst/>
            <a:cxnLst/>
            <a:rect l="l" t="t" r="r" b="b"/>
            <a:pathLst>
              <a:path w="100000" h="33963">
                <a:moveTo>
                  <a:pt x="83018" y="0"/>
                </a:moveTo>
                <a:cubicBezTo>
                  <a:pt x="83018" y="0"/>
                  <a:pt x="83018" y="0"/>
                  <a:pt x="83018" y="0"/>
                </a:cubicBezTo>
                <a:cubicBezTo>
                  <a:pt x="92398" y="0"/>
                  <a:pt x="100000" y="7602"/>
                  <a:pt x="100000" y="16982"/>
                </a:cubicBezTo>
                <a:cubicBezTo>
                  <a:pt x="100000" y="16982"/>
                  <a:pt x="100000" y="16982"/>
                  <a:pt x="100000" y="16982"/>
                </a:cubicBezTo>
                <a:lnTo>
                  <a:pt x="100000" y="16982"/>
                </a:lnTo>
                <a:cubicBezTo>
                  <a:pt x="100000" y="16982"/>
                  <a:pt x="100000" y="16982"/>
                  <a:pt x="100000" y="16982"/>
                </a:cubicBezTo>
                <a:cubicBezTo>
                  <a:pt x="100000" y="26361"/>
                  <a:pt x="92398" y="33963"/>
                  <a:pt x="83018" y="33963"/>
                </a:cubicBezTo>
                <a:cubicBezTo>
                  <a:pt x="83018" y="33963"/>
                  <a:pt x="83018" y="33963"/>
                  <a:pt x="83018" y="33963"/>
                </a:cubicBezTo>
                <a:lnTo>
                  <a:pt x="16982" y="33963"/>
                </a:lnTo>
                <a:cubicBezTo>
                  <a:pt x="16982" y="33963"/>
                  <a:pt x="16982" y="33963"/>
                  <a:pt x="16982" y="33963"/>
                </a:cubicBezTo>
                <a:cubicBezTo>
                  <a:pt x="7602" y="33963"/>
                  <a:pt x="0" y="26361"/>
                  <a:pt x="0" y="16982"/>
                </a:cubicBezTo>
                <a:cubicBezTo>
                  <a:pt x="0" y="16982"/>
                  <a:pt x="0" y="16982"/>
                  <a:pt x="0" y="16982"/>
                </a:cubicBezTo>
                <a:lnTo>
                  <a:pt x="0" y="16982"/>
                </a:lnTo>
                <a:cubicBezTo>
                  <a:pt x="0" y="16982"/>
                  <a:pt x="0" y="16982"/>
                  <a:pt x="0" y="16982"/>
                </a:cubicBezTo>
                <a:cubicBezTo>
                  <a:pt x="0" y="7602"/>
                  <a:pt x="7602" y="0"/>
                  <a:pt x="16982" y="0"/>
                </a:cubicBezTo>
                <a:cubicBezTo>
                  <a:pt x="16982" y="0"/>
                  <a:pt x="16982" y="0"/>
                  <a:pt x="16982"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5" name="Oval 73"/>
          <p:cNvSpPr/>
          <p:nvPr/>
        </p:nvSpPr>
        <p:spPr>
          <a:xfrm>
            <a:off x="4573270" y="29724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6" name="TextBox 74"/>
          <p:cNvSpPr txBox="1"/>
          <p:nvPr/>
        </p:nvSpPr>
        <p:spPr>
          <a:xfrm>
            <a:off x="4650740" y="2921000"/>
            <a:ext cx="277622"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conf 94</a:t>
            </a:r>
            <a:endParaRPr sz="440" b="1" spc="0">
              <a:solidFill>
                <a:srgbClr val="0B5C44"/>
              </a:solidFill>
              <a:latin typeface="Telegraf"/>
            </a:endParaRPr>
          </a:p>
        </p:txBody>
      </p:sp>
      <p:sp>
        <p:nvSpPr>
          <p:cNvPr id="1797" name="Rectangle 75"/>
          <p:cNvSpPr/>
          <p:nvPr/>
        </p:nvSpPr>
        <p:spPr>
          <a:xfrm>
            <a:off x="5283200" y="2921000"/>
            <a:ext cx="397637" cy="146050"/>
          </a:xfrm>
          <a:custGeom>
            <a:avLst/>
            <a:gdLst/>
            <a:ahLst/>
            <a:cxnLst/>
            <a:rect l="l" t="t" r="r" b="b"/>
            <a:pathLst>
              <a:path w="100000" h="36729">
                <a:moveTo>
                  <a:pt x="81635" y="0"/>
                </a:moveTo>
                <a:cubicBezTo>
                  <a:pt x="81635" y="0"/>
                  <a:pt x="81635" y="0"/>
                  <a:pt x="81635" y="0"/>
                </a:cubicBezTo>
                <a:cubicBezTo>
                  <a:pt x="91779" y="0"/>
                  <a:pt x="100000" y="8221"/>
                  <a:pt x="100000" y="18365"/>
                </a:cubicBezTo>
                <a:cubicBezTo>
                  <a:pt x="100000" y="18365"/>
                  <a:pt x="100000" y="18365"/>
                  <a:pt x="100000" y="18365"/>
                </a:cubicBezTo>
                <a:lnTo>
                  <a:pt x="100000" y="18365"/>
                </a:lnTo>
                <a:cubicBezTo>
                  <a:pt x="100000" y="18365"/>
                  <a:pt x="100000" y="18365"/>
                  <a:pt x="100000" y="18365"/>
                </a:cubicBezTo>
                <a:cubicBezTo>
                  <a:pt x="100000" y="28508"/>
                  <a:pt x="91779" y="36729"/>
                  <a:pt x="81635" y="36729"/>
                </a:cubicBezTo>
                <a:cubicBezTo>
                  <a:pt x="81635" y="36729"/>
                  <a:pt x="81635" y="36729"/>
                  <a:pt x="81635" y="36729"/>
                </a:cubicBezTo>
                <a:lnTo>
                  <a:pt x="18365" y="36729"/>
                </a:lnTo>
                <a:cubicBezTo>
                  <a:pt x="18365" y="36729"/>
                  <a:pt x="18365" y="36729"/>
                  <a:pt x="18365" y="36729"/>
                </a:cubicBezTo>
                <a:cubicBezTo>
                  <a:pt x="8221" y="36729"/>
                  <a:pt x="0" y="28508"/>
                  <a:pt x="0" y="18365"/>
                </a:cubicBezTo>
                <a:cubicBezTo>
                  <a:pt x="0" y="18365"/>
                  <a:pt x="0" y="18365"/>
                  <a:pt x="0" y="18365"/>
                </a:cubicBezTo>
                <a:lnTo>
                  <a:pt x="0" y="18365"/>
                </a:lnTo>
                <a:cubicBezTo>
                  <a:pt x="0" y="18365"/>
                  <a:pt x="0" y="18365"/>
                  <a:pt x="0" y="18365"/>
                </a:cubicBezTo>
                <a:cubicBezTo>
                  <a:pt x="0" y="8221"/>
                  <a:pt x="8221" y="0"/>
                  <a:pt x="18365" y="0"/>
                </a:cubicBezTo>
                <a:cubicBezTo>
                  <a:pt x="18365" y="0"/>
                  <a:pt x="18365" y="0"/>
                  <a:pt x="18365" y="0"/>
                </a:cubicBezTo>
                <a:close/>
              </a:path>
            </a:pathLst>
          </a:custGeom>
          <a:solidFill>
            <a:srgbClr val="F1F1E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8" name="Oval 76"/>
          <p:cNvSpPr/>
          <p:nvPr/>
        </p:nvSpPr>
        <p:spPr>
          <a:xfrm>
            <a:off x="5335270" y="2972435"/>
            <a:ext cx="43180" cy="43180"/>
          </a:xfrm>
          <a:prstGeom prst="ellipse">
            <a:avLst/>
          </a:prstGeom>
          <a:solidFill>
            <a:srgbClr val="8A8A9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799" name="TextBox 77"/>
          <p:cNvSpPr txBox="1"/>
          <p:nvPr/>
        </p:nvSpPr>
        <p:spPr>
          <a:xfrm>
            <a:off x="5412740" y="2921000"/>
            <a:ext cx="245237" cy="146050"/>
          </a:xfrm>
          <a:prstGeom prst="rect">
            <a:avLst/>
          </a:prstGeom>
        </p:spPr>
        <p:txBody>
          <a:bodyPr wrap="square" lIns="0" tIns="0" rIns="0" bIns="0" anchor="ctr">
            <a:noAutofit/>
          </a:bodyPr>
          <a:lstStyle/>
          <a:p>
            <a:pPr>
              <a:lnSpc>
                <a:spcPct val="135000"/>
              </a:lnSpc>
            </a:pPr>
            <a:r>
              <a:rPr sz="440" b="1" spc="0">
                <a:solidFill>
                  <a:srgbClr val="50505A"/>
                </a:solidFill>
                <a:latin typeface="Telegraf"/>
              </a:rPr>
              <a:t>urg 20</a:t>
            </a:r>
            <a:endParaRPr sz="440" b="1" spc="0">
              <a:solidFill>
                <a:srgbClr val="50505A"/>
              </a:solidFill>
              <a:latin typeface="Telegraf"/>
            </a:endParaRPr>
          </a:p>
        </p:txBody>
      </p:sp>
      <p:sp>
        <p:nvSpPr>
          <p:cNvPr id="1800" name="Rectangle 78"/>
          <p:cNvSpPr/>
          <p:nvPr/>
        </p:nvSpPr>
        <p:spPr>
          <a:xfrm>
            <a:off x="6045200" y="2908300"/>
            <a:ext cx="762000" cy="165100"/>
          </a:xfrm>
          <a:custGeom>
            <a:avLst/>
            <a:gdLst/>
            <a:ahLst/>
            <a:cxnLst/>
            <a:rect l="l" t="t" r="r" b="b"/>
            <a:pathLst>
              <a:path w="100000" h="21667">
                <a:moveTo>
                  <a:pt x="89167" y="0"/>
                </a:moveTo>
                <a:cubicBezTo>
                  <a:pt x="89167" y="0"/>
                  <a:pt x="89167" y="0"/>
                  <a:pt x="89167" y="0"/>
                </a:cubicBezTo>
                <a:cubicBezTo>
                  <a:pt x="95150" y="0"/>
                  <a:pt x="100000" y="4850"/>
                  <a:pt x="100000" y="10833"/>
                </a:cubicBezTo>
                <a:cubicBezTo>
                  <a:pt x="100000" y="10833"/>
                  <a:pt x="100000" y="10833"/>
                  <a:pt x="100000" y="10833"/>
                </a:cubicBezTo>
                <a:lnTo>
                  <a:pt x="100000" y="10833"/>
                </a:lnTo>
                <a:cubicBezTo>
                  <a:pt x="100000" y="10833"/>
                  <a:pt x="100000" y="10833"/>
                  <a:pt x="100000" y="10833"/>
                </a:cubicBezTo>
                <a:cubicBezTo>
                  <a:pt x="100000" y="16817"/>
                  <a:pt x="95150" y="21667"/>
                  <a:pt x="89167" y="21667"/>
                </a:cubicBezTo>
                <a:cubicBezTo>
                  <a:pt x="89167" y="21667"/>
                  <a:pt x="89167" y="21667"/>
                  <a:pt x="89167" y="21667"/>
                </a:cubicBezTo>
                <a:lnTo>
                  <a:pt x="10833" y="21667"/>
                </a:lnTo>
                <a:cubicBezTo>
                  <a:pt x="10833" y="21667"/>
                  <a:pt x="10833" y="21667"/>
                  <a:pt x="10833" y="21667"/>
                </a:cubicBezTo>
                <a:cubicBezTo>
                  <a:pt x="4850" y="21667"/>
                  <a:pt x="0" y="16817"/>
                  <a:pt x="0" y="10833"/>
                </a:cubicBezTo>
                <a:cubicBezTo>
                  <a:pt x="0" y="10833"/>
                  <a:pt x="0" y="10833"/>
                  <a:pt x="0" y="10833"/>
                </a:cubicBezTo>
                <a:lnTo>
                  <a:pt x="0" y="10833"/>
                </a:lnTo>
                <a:cubicBezTo>
                  <a:pt x="0" y="10833"/>
                  <a:pt x="0" y="10833"/>
                  <a:pt x="0" y="10833"/>
                </a:cubicBezTo>
                <a:cubicBezTo>
                  <a:pt x="0" y="4850"/>
                  <a:pt x="4850" y="0"/>
                  <a:pt x="10833" y="0"/>
                </a:cubicBezTo>
                <a:cubicBezTo>
                  <a:pt x="10833" y="0"/>
                  <a:pt x="10833" y="0"/>
                  <a:pt x="10833"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01" name="TextBox 79"/>
          <p:cNvSpPr txBox="1"/>
          <p:nvPr/>
        </p:nvSpPr>
        <p:spPr>
          <a:xfrm>
            <a:off x="6121400" y="2908300"/>
            <a:ext cx="635000" cy="165100"/>
          </a:xfrm>
          <a:prstGeom prst="rect">
            <a:avLst/>
          </a:prstGeom>
        </p:spPr>
        <p:txBody>
          <a:bodyPr wrap="square" lIns="0" tIns="0" rIns="0" bIns="0" anchor="ctr">
            <a:noAutofit/>
          </a:bodyPr>
          <a:lstStyle/>
          <a:p>
            <a:pPr>
              <a:lnSpc>
                <a:spcPct val="135000"/>
              </a:lnSpc>
            </a:pPr>
            <a:r>
              <a:rPr sz="440" b="1" spc="10">
                <a:solidFill>
                  <a:srgbClr val="FFFFFF"/>
                </a:solidFill>
                <a:latin typeface="Telegraf"/>
              </a:rPr>
              <a:t>R6</a:t>
            </a:r>
            <a:endParaRPr sz="440" b="1" spc="10">
              <a:solidFill>
                <a:srgbClr val="FFFFFF"/>
              </a:solidFill>
              <a:latin typeface="Telegraf"/>
            </a:endParaRPr>
          </a:p>
        </p:txBody>
      </p:sp>
      <p:sp>
        <p:nvSpPr>
          <p:cNvPr id="1802" name="Rectangle 80"/>
          <p:cNvSpPr/>
          <p:nvPr/>
        </p:nvSpPr>
        <p:spPr>
          <a:xfrm>
            <a:off x="6908800" y="2921000"/>
            <a:ext cx="462534" cy="146050"/>
          </a:xfrm>
          <a:custGeom>
            <a:avLst/>
            <a:gdLst/>
            <a:ahLst/>
            <a:cxnLst/>
            <a:rect l="l" t="t" r="r" b="b"/>
            <a:pathLst>
              <a:path w="100000" h="31576">
                <a:moveTo>
                  <a:pt x="84212" y="0"/>
                </a:moveTo>
                <a:cubicBezTo>
                  <a:pt x="84212" y="0"/>
                  <a:pt x="84212" y="0"/>
                  <a:pt x="84212" y="0"/>
                </a:cubicBezTo>
                <a:cubicBezTo>
                  <a:pt x="92932" y="0"/>
                  <a:pt x="100000" y="7068"/>
                  <a:pt x="100000" y="15788"/>
                </a:cubicBezTo>
                <a:cubicBezTo>
                  <a:pt x="100000" y="15788"/>
                  <a:pt x="100000" y="15788"/>
                  <a:pt x="100000" y="15788"/>
                </a:cubicBezTo>
                <a:lnTo>
                  <a:pt x="100000" y="15788"/>
                </a:lnTo>
                <a:cubicBezTo>
                  <a:pt x="100000" y="15788"/>
                  <a:pt x="100000" y="15788"/>
                  <a:pt x="100000" y="15788"/>
                </a:cubicBezTo>
                <a:cubicBezTo>
                  <a:pt x="100000" y="24509"/>
                  <a:pt x="92932" y="31576"/>
                  <a:pt x="84212" y="31576"/>
                </a:cubicBezTo>
                <a:cubicBezTo>
                  <a:pt x="84212" y="31576"/>
                  <a:pt x="84212" y="31576"/>
                  <a:pt x="84212" y="31576"/>
                </a:cubicBezTo>
                <a:lnTo>
                  <a:pt x="15788" y="31576"/>
                </a:lnTo>
                <a:cubicBezTo>
                  <a:pt x="15788" y="31576"/>
                  <a:pt x="15788" y="31576"/>
                  <a:pt x="15788" y="31576"/>
                </a:cubicBezTo>
                <a:cubicBezTo>
                  <a:pt x="7068" y="31576"/>
                  <a:pt x="0" y="24509"/>
                  <a:pt x="0" y="15788"/>
                </a:cubicBezTo>
                <a:cubicBezTo>
                  <a:pt x="0" y="15788"/>
                  <a:pt x="0" y="15788"/>
                  <a:pt x="0" y="15788"/>
                </a:cubicBezTo>
                <a:lnTo>
                  <a:pt x="0" y="15788"/>
                </a:lnTo>
                <a:cubicBezTo>
                  <a:pt x="0" y="15788"/>
                  <a:pt x="0" y="15788"/>
                  <a:pt x="0" y="15788"/>
                </a:cubicBezTo>
                <a:cubicBezTo>
                  <a:pt x="0" y="7068"/>
                  <a:pt x="7068" y="0"/>
                  <a:pt x="15788" y="0"/>
                </a:cubicBezTo>
                <a:cubicBezTo>
                  <a:pt x="15788" y="0"/>
                  <a:pt x="15788" y="0"/>
                  <a:pt x="15788"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03" name="Oval 81"/>
          <p:cNvSpPr/>
          <p:nvPr/>
        </p:nvSpPr>
        <p:spPr>
          <a:xfrm>
            <a:off x="6960870" y="29724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04" name="TextBox 82"/>
          <p:cNvSpPr txBox="1"/>
          <p:nvPr/>
        </p:nvSpPr>
        <p:spPr>
          <a:xfrm>
            <a:off x="7038340" y="2921000"/>
            <a:ext cx="310134"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answered</a:t>
            </a:r>
            <a:endParaRPr sz="440" b="1" spc="0">
              <a:solidFill>
                <a:srgbClr val="0B5C44"/>
              </a:solidFill>
              <a:latin typeface="Telegraf"/>
            </a:endParaRPr>
          </a:p>
        </p:txBody>
      </p:sp>
      <p:sp>
        <p:nvSpPr>
          <p:cNvPr id="1805" name="TextBox 83"/>
          <p:cNvSpPr txBox="1"/>
          <p:nvPr/>
        </p:nvSpPr>
        <p:spPr>
          <a:xfrm>
            <a:off x="2743200" y="3175000"/>
            <a:ext cx="4673600" cy="508000"/>
          </a:xfrm>
          <a:prstGeom prst="rect">
            <a:avLst/>
          </a:prstGeom>
        </p:spPr>
        <p:txBody>
          <a:bodyPr wrap="square" lIns="0" tIns="0" rIns="0" bIns="0">
            <a:noAutofit/>
          </a:bodyPr>
          <a:lstStyle/>
          <a:p>
            <a:pPr>
              <a:lnSpc>
                <a:spcPct val="150000"/>
              </a:lnSpc>
            </a:pPr>
            <a:r>
              <a:rPr sz="600" spc="0">
                <a:solidFill>
                  <a:srgbClr val="0A0A0A"/>
                </a:solidFill>
                <a:latin typeface="Telegraf"/>
              </a:rPr>
              <a:t>The Pro Plan is ₹1,499/month and includes up to 5 users, WhatsApp invoicing and GST API access.</a:t>
            </a:r>
            <a:endParaRPr sz="600" spc="0">
              <a:solidFill>
                <a:srgbClr val="0A0A0A"/>
              </a:solidFill>
              <a:latin typeface="Telegraf"/>
            </a:endParaRPr>
          </a:p>
        </p:txBody>
      </p:sp>
      <p:sp>
        <p:nvSpPr>
          <p:cNvPr id="1806" name="TextBox 84"/>
          <p:cNvSpPr txBox="1"/>
          <p:nvPr/>
        </p:nvSpPr>
        <p:spPr>
          <a:xfrm>
            <a:off x="2743200" y="3632200"/>
            <a:ext cx="4673600" cy="127000"/>
          </a:xfrm>
          <a:prstGeom prst="rect">
            <a:avLst/>
          </a:prstGeom>
        </p:spPr>
        <p:txBody>
          <a:bodyPr wrap="square" lIns="0" tIns="0" rIns="0" bIns="0">
            <a:noAutofit/>
          </a:bodyPr>
          <a:lstStyle/>
          <a:p>
            <a:pPr>
              <a:lnSpc>
                <a:spcPct val="135000"/>
              </a:lnSpc>
            </a:pPr>
            <a:r>
              <a:rPr sz="440" spc="0">
                <a:solidFill>
                  <a:srgbClr val="0E6B5F"/>
                </a:solidFill>
                <a:latin typeface="Telegraf"/>
              </a:rPr>
              <a:t>autoSend true  ·  channel TEXT_MODAL  ·  1 verified chunk cited</a:t>
            </a:r>
            <a:endParaRPr sz="440" spc="0">
              <a:solidFill>
                <a:srgbClr val="0E6B5F"/>
              </a:solidFill>
              <a:latin typeface="Telegraf"/>
            </a:endParaRPr>
          </a:p>
        </p:txBody>
      </p:sp>
      <p:sp>
        <p:nvSpPr>
          <p:cNvPr id="1807" name="TextBox 85"/>
          <p:cNvSpPr txBox="1"/>
          <p:nvPr/>
        </p:nvSpPr>
        <p:spPr>
          <a:xfrm>
            <a:off x="2743200" y="3835400"/>
            <a:ext cx="2540000" cy="101600"/>
          </a:xfrm>
          <a:prstGeom prst="rect">
            <a:avLst/>
          </a:prstGeom>
        </p:spPr>
        <p:txBody>
          <a:bodyPr wrap="square" lIns="0" tIns="0" rIns="0" bIns="0">
            <a:noAutofit/>
          </a:bodyPr>
          <a:lstStyle/>
          <a:p>
            <a:r>
              <a:rPr sz="420" b="1" spc="100">
                <a:solidFill>
                  <a:srgbClr val="A2A2A8"/>
                </a:solidFill>
                <a:latin typeface="Telegraf"/>
              </a:rPr>
              <a:t>SOURCES  ·  EXPANDABLE</a:t>
            </a:r>
            <a:endParaRPr sz="420" b="1" spc="100">
              <a:solidFill>
                <a:srgbClr val="A2A2A8"/>
              </a:solidFill>
              <a:latin typeface="Telegraf"/>
            </a:endParaRPr>
          </a:p>
        </p:txBody>
      </p:sp>
      <p:sp>
        <p:nvSpPr>
          <p:cNvPr id="1808" name="Rectangle 86"/>
          <p:cNvSpPr/>
          <p:nvPr/>
        </p:nvSpPr>
        <p:spPr>
          <a:xfrm>
            <a:off x="2743200" y="3987800"/>
            <a:ext cx="2362200" cy="889000"/>
          </a:xfrm>
          <a:custGeom>
            <a:avLst/>
            <a:gdLst/>
            <a:ahLst/>
            <a:cxnLst/>
            <a:rect l="l" t="t" r="r" b="b"/>
            <a:pathLst>
              <a:path w="100000" h="37634">
                <a:moveTo>
                  <a:pt x="91398" y="0"/>
                </a:moveTo>
                <a:cubicBezTo>
                  <a:pt x="95453" y="0"/>
                  <a:pt x="97481" y="0"/>
                  <a:pt x="98740" y="1260"/>
                </a:cubicBezTo>
                <a:cubicBezTo>
                  <a:pt x="98740" y="1260"/>
                  <a:pt x="98740" y="1260"/>
                  <a:pt x="98740" y="1260"/>
                </a:cubicBezTo>
                <a:cubicBezTo>
                  <a:pt x="100000" y="2519"/>
                  <a:pt x="100000" y="4547"/>
                  <a:pt x="100000" y="8602"/>
                </a:cubicBezTo>
                <a:lnTo>
                  <a:pt x="100000" y="29032"/>
                </a:lnTo>
                <a:cubicBezTo>
                  <a:pt x="100000" y="33087"/>
                  <a:pt x="100000" y="35115"/>
                  <a:pt x="98740" y="36375"/>
                </a:cubicBezTo>
                <a:cubicBezTo>
                  <a:pt x="98740" y="36375"/>
                  <a:pt x="98740" y="36375"/>
                  <a:pt x="98740" y="36375"/>
                </a:cubicBezTo>
                <a:cubicBezTo>
                  <a:pt x="97481" y="37634"/>
                  <a:pt x="95453" y="37634"/>
                  <a:pt x="91398" y="37634"/>
                </a:cubicBezTo>
                <a:lnTo>
                  <a:pt x="8602" y="37634"/>
                </a:lnTo>
                <a:cubicBezTo>
                  <a:pt x="4547" y="37634"/>
                  <a:pt x="2519" y="37634"/>
                  <a:pt x="1260" y="36375"/>
                </a:cubicBezTo>
                <a:cubicBezTo>
                  <a:pt x="1260" y="36375"/>
                  <a:pt x="1260" y="36375"/>
                  <a:pt x="1260" y="36375"/>
                </a:cubicBezTo>
                <a:cubicBezTo>
                  <a:pt x="0" y="35115"/>
                  <a:pt x="0" y="33087"/>
                  <a:pt x="0" y="29032"/>
                </a:cubicBezTo>
                <a:lnTo>
                  <a:pt x="0" y="8602"/>
                </a:lnTo>
                <a:cubicBezTo>
                  <a:pt x="0" y="4547"/>
                  <a:pt x="0" y="2519"/>
                  <a:pt x="1260" y="1260"/>
                </a:cubicBezTo>
                <a:cubicBezTo>
                  <a:pt x="1260" y="1260"/>
                  <a:pt x="1260" y="1260"/>
                  <a:pt x="1260" y="1260"/>
                </a:cubicBezTo>
                <a:cubicBezTo>
                  <a:pt x="2519" y="0"/>
                  <a:pt x="4547" y="0"/>
                  <a:pt x="8602" y="0"/>
                </a:cubicBezTo>
                <a:close/>
              </a:path>
            </a:pathLst>
          </a:custGeom>
          <a:solidFill>
            <a:srgbClr val="FBFBF9"/>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09" name="TextBox 87"/>
          <p:cNvSpPr txBox="1"/>
          <p:nvPr/>
        </p:nvSpPr>
        <p:spPr>
          <a:xfrm>
            <a:off x="2870200" y="4089400"/>
            <a:ext cx="1016000" cy="127000"/>
          </a:xfrm>
          <a:prstGeom prst="rect">
            <a:avLst/>
          </a:prstGeom>
        </p:spPr>
        <p:txBody>
          <a:bodyPr wrap="square" lIns="0" tIns="0" rIns="0" bIns="0">
            <a:noAutofit/>
          </a:bodyPr>
          <a:lstStyle/>
          <a:p>
            <a:pPr>
              <a:lnSpc>
                <a:spcPct val="135000"/>
              </a:lnSpc>
            </a:pPr>
            <a:r>
              <a:rPr sz="440" b="1" spc="0">
                <a:solidFill>
                  <a:srgbClr val="0E6B5F"/>
                </a:solidFill>
                <a:latin typeface="Telegraf"/>
              </a:rPr>
              <a:t>chk_cp_02</a:t>
            </a:r>
            <a:endParaRPr sz="440" b="1" spc="0">
              <a:solidFill>
                <a:srgbClr val="0E6B5F"/>
              </a:solidFill>
              <a:latin typeface="Telegraf"/>
            </a:endParaRPr>
          </a:p>
        </p:txBody>
      </p:sp>
      <p:sp>
        <p:nvSpPr>
          <p:cNvPr id="1810" name="TextBox 88"/>
          <p:cNvSpPr txBox="1"/>
          <p:nvPr/>
        </p:nvSpPr>
        <p:spPr>
          <a:xfrm>
            <a:off x="2870200" y="4216400"/>
            <a:ext cx="1397000" cy="127000"/>
          </a:xfrm>
          <a:prstGeom prst="rect">
            <a:avLst/>
          </a:prstGeom>
        </p:spPr>
        <p:txBody>
          <a:bodyPr wrap="square" lIns="0" tIns="0" rIns="0" bIns="0">
            <a:noAutofit/>
          </a:bodyPr>
          <a:lstStyle/>
          <a:p>
            <a:pPr>
              <a:lnSpc>
                <a:spcPct val="135000"/>
              </a:lnSpc>
            </a:pPr>
            <a:r>
              <a:rPr sz="430" spc="0">
                <a:solidFill>
                  <a:srgbClr val="0A0A0A"/>
                </a:solidFill>
                <a:latin typeface="Telegraf"/>
              </a:rPr>
              <a:t>Products &amp; pricing</a:t>
            </a:r>
            <a:endParaRPr sz="430" spc="0">
              <a:solidFill>
                <a:srgbClr val="0A0A0A"/>
              </a:solidFill>
              <a:latin typeface="Telegraf"/>
            </a:endParaRPr>
          </a:p>
        </p:txBody>
      </p:sp>
      <p:sp>
        <p:nvSpPr>
          <p:cNvPr id="1811" name="TextBox 89"/>
          <p:cNvSpPr txBox="1"/>
          <p:nvPr/>
        </p:nvSpPr>
        <p:spPr>
          <a:xfrm>
            <a:off x="2870200" y="4368800"/>
            <a:ext cx="2108200" cy="406400"/>
          </a:xfrm>
          <a:prstGeom prst="rect">
            <a:avLst/>
          </a:prstGeom>
        </p:spPr>
        <p:txBody>
          <a:bodyPr wrap="square" lIns="0" tIns="0" rIns="0" bIns="0">
            <a:noAutofit/>
          </a:bodyPr>
          <a:lstStyle/>
          <a:p>
            <a:pPr>
              <a:lnSpc>
                <a:spcPct val="135000"/>
              </a:lnSpc>
            </a:pPr>
            <a:r>
              <a:rPr sz="430" spc="0">
                <a:solidFill>
                  <a:srgbClr val="67676E"/>
                </a:solidFill>
                <a:latin typeface="Telegraf"/>
              </a:rPr>
              <a:t>Pro Plan: ₹1,499/mo (5 users, WhatsApp invoicing, API access).</a:t>
            </a:r>
            <a:endParaRPr sz="430" spc="0">
              <a:solidFill>
                <a:srgbClr val="67676E"/>
              </a:solidFill>
              <a:latin typeface="Telegraf"/>
            </a:endParaRPr>
          </a:p>
        </p:txBody>
      </p:sp>
      <p:sp>
        <p:nvSpPr>
          <p:cNvPr id="1812" name="TextBox 90"/>
          <p:cNvSpPr txBox="1"/>
          <p:nvPr/>
        </p:nvSpPr>
        <p:spPr>
          <a:xfrm>
            <a:off x="4597400" y="4089400"/>
            <a:ext cx="381000" cy="127000"/>
          </a:xfrm>
          <a:prstGeom prst="rect">
            <a:avLst/>
          </a:prstGeom>
        </p:spPr>
        <p:txBody>
          <a:bodyPr wrap="square" lIns="0" tIns="0" rIns="0" bIns="0">
            <a:noAutofit/>
          </a:bodyPr>
          <a:lstStyle/>
          <a:p>
            <a:pPr algn="r">
              <a:lnSpc>
                <a:spcPct val="135000"/>
              </a:lnSpc>
            </a:pPr>
            <a:r>
              <a:rPr sz="420" spc="0">
                <a:solidFill>
                  <a:srgbClr val="A2A2A8"/>
                </a:solidFill>
                <a:latin typeface="Telegraf"/>
              </a:rPr>
              <a:t>0.93</a:t>
            </a:r>
            <a:endParaRPr sz="420" spc="0">
              <a:solidFill>
                <a:srgbClr val="A2A2A8"/>
              </a:solidFill>
              <a:latin typeface="Telegraf"/>
            </a:endParaRPr>
          </a:p>
        </p:txBody>
      </p:sp>
      <p:sp>
        <p:nvSpPr>
          <p:cNvPr id="1813" name="Rectangle 91"/>
          <p:cNvSpPr/>
          <p:nvPr/>
        </p:nvSpPr>
        <p:spPr>
          <a:xfrm>
            <a:off x="5207000" y="3987800"/>
            <a:ext cx="2362200" cy="889000"/>
          </a:xfrm>
          <a:custGeom>
            <a:avLst/>
            <a:gdLst/>
            <a:ahLst/>
            <a:cxnLst/>
            <a:rect l="l" t="t" r="r" b="b"/>
            <a:pathLst>
              <a:path w="100000" h="37634">
                <a:moveTo>
                  <a:pt x="91398" y="0"/>
                </a:moveTo>
                <a:cubicBezTo>
                  <a:pt x="95453" y="0"/>
                  <a:pt x="97481" y="0"/>
                  <a:pt x="98740" y="1260"/>
                </a:cubicBezTo>
                <a:cubicBezTo>
                  <a:pt x="98740" y="1260"/>
                  <a:pt x="98740" y="1260"/>
                  <a:pt x="98740" y="1260"/>
                </a:cubicBezTo>
                <a:cubicBezTo>
                  <a:pt x="100000" y="2519"/>
                  <a:pt x="100000" y="4547"/>
                  <a:pt x="100000" y="8602"/>
                </a:cubicBezTo>
                <a:lnTo>
                  <a:pt x="100000" y="29032"/>
                </a:lnTo>
                <a:cubicBezTo>
                  <a:pt x="100000" y="33087"/>
                  <a:pt x="100000" y="35115"/>
                  <a:pt x="98740" y="36375"/>
                </a:cubicBezTo>
                <a:cubicBezTo>
                  <a:pt x="98740" y="36375"/>
                  <a:pt x="98740" y="36375"/>
                  <a:pt x="98740" y="36375"/>
                </a:cubicBezTo>
                <a:cubicBezTo>
                  <a:pt x="97481" y="37634"/>
                  <a:pt x="95453" y="37634"/>
                  <a:pt x="91398" y="37634"/>
                </a:cubicBezTo>
                <a:lnTo>
                  <a:pt x="8602" y="37634"/>
                </a:lnTo>
                <a:cubicBezTo>
                  <a:pt x="4547" y="37634"/>
                  <a:pt x="2519" y="37634"/>
                  <a:pt x="1260" y="36375"/>
                </a:cubicBezTo>
                <a:cubicBezTo>
                  <a:pt x="1260" y="36375"/>
                  <a:pt x="1260" y="36375"/>
                  <a:pt x="1260" y="36375"/>
                </a:cubicBezTo>
                <a:cubicBezTo>
                  <a:pt x="0" y="35115"/>
                  <a:pt x="0" y="33087"/>
                  <a:pt x="0" y="29032"/>
                </a:cubicBezTo>
                <a:lnTo>
                  <a:pt x="0" y="8602"/>
                </a:lnTo>
                <a:cubicBezTo>
                  <a:pt x="0" y="4547"/>
                  <a:pt x="0" y="2519"/>
                  <a:pt x="1260" y="1260"/>
                </a:cubicBezTo>
                <a:cubicBezTo>
                  <a:pt x="1260" y="1260"/>
                  <a:pt x="1260" y="1260"/>
                  <a:pt x="1260" y="1260"/>
                </a:cubicBezTo>
                <a:cubicBezTo>
                  <a:pt x="2519" y="0"/>
                  <a:pt x="4547" y="0"/>
                  <a:pt x="8602" y="0"/>
                </a:cubicBezTo>
                <a:close/>
              </a:path>
            </a:pathLst>
          </a:custGeom>
          <a:solidFill>
            <a:srgbClr val="FBFBF9"/>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14" name="TextBox 92"/>
          <p:cNvSpPr txBox="1"/>
          <p:nvPr/>
        </p:nvSpPr>
        <p:spPr>
          <a:xfrm>
            <a:off x="5334000" y="4089400"/>
            <a:ext cx="1016000" cy="127000"/>
          </a:xfrm>
          <a:prstGeom prst="rect">
            <a:avLst/>
          </a:prstGeom>
        </p:spPr>
        <p:txBody>
          <a:bodyPr wrap="square" lIns="0" tIns="0" rIns="0" bIns="0">
            <a:noAutofit/>
          </a:bodyPr>
          <a:lstStyle/>
          <a:p>
            <a:pPr>
              <a:lnSpc>
                <a:spcPct val="135000"/>
              </a:lnSpc>
            </a:pPr>
            <a:r>
              <a:rPr sz="440" b="1" spc="0">
                <a:solidFill>
                  <a:srgbClr val="0E6B5F"/>
                </a:solidFill>
                <a:latin typeface="Telegraf"/>
              </a:rPr>
              <a:t>chk_cp_05</a:t>
            </a:r>
            <a:endParaRPr sz="440" b="1" spc="0">
              <a:solidFill>
                <a:srgbClr val="0E6B5F"/>
              </a:solidFill>
              <a:latin typeface="Telegraf"/>
            </a:endParaRPr>
          </a:p>
        </p:txBody>
      </p:sp>
      <p:sp>
        <p:nvSpPr>
          <p:cNvPr id="1815" name="TextBox 93"/>
          <p:cNvSpPr txBox="1"/>
          <p:nvPr/>
        </p:nvSpPr>
        <p:spPr>
          <a:xfrm>
            <a:off x="5334000" y="4216400"/>
            <a:ext cx="1397000" cy="127000"/>
          </a:xfrm>
          <a:prstGeom prst="rect">
            <a:avLst/>
          </a:prstGeom>
        </p:spPr>
        <p:txBody>
          <a:bodyPr wrap="square" lIns="0" tIns="0" rIns="0" bIns="0">
            <a:noAutofit/>
          </a:bodyPr>
          <a:lstStyle/>
          <a:p>
            <a:pPr>
              <a:lnSpc>
                <a:spcPct val="135000"/>
              </a:lnSpc>
            </a:pPr>
            <a:r>
              <a:rPr sz="430" spc="0">
                <a:solidFill>
                  <a:srgbClr val="0A0A0A"/>
                </a:solidFill>
                <a:latin typeface="Telegraf"/>
              </a:rPr>
              <a:t>Plan comparison</a:t>
            </a:r>
            <a:endParaRPr sz="430" spc="0">
              <a:solidFill>
                <a:srgbClr val="0A0A0A"/>
              </a:solidFill>
              <a:latin typeface="Telegraf"/>
            </a:endParaRPr>
          </a:p>
        </p:txBody>
      </p:sp>
      <p:sp>
        <p:nvSpPr>
          <p:cNvPr id="1816" name="TextBox 94"/>
          <p:cNvSpPr txBox="1"/>
          <p:nvPr/>
        </p:nvSpPr>
        <p:spPr>
          <a:xfrm>
            <a:off x="5334000" y="4368800"/>
            <a:ext cx="2108200" cy="406400"/>
          </a:xfrm>
          <a:prstGeom prst="rect">
            <a:avLst/>
          </a:prstGeom>
        </p:spPr>
        <p:txBody>
          <a:bodyPr wrap="square" lIns="0" tIns="0" rIns="0" bIns="0">
            <a:noAutofit/>
          </a:bodyPr>
          <a:lstStyle/>
          <a:p>
            <a:pPr>
              <a:lnSpc>
                <a:spcPct val="135000"/>
              </a:lnSpc>
            </a:pPr>
            <a:r>
              <a:rPr sz="430" spc="0">
                <a:solidFill>
                  <a:srgbClr val="67676E"/>
                </a:solidFill>
                <a:latin typeface="Telegraf"/>
              </a:rPr>
              <a:t>Starter ₹499 · 1 user. Pro ₹1,499 · 5 users.</a:t>
            </a:r>
            <a:endParaRPr sz="430" spc="0">
              <a:solidFill>
                <a:srgbClr val="67676E"/>
              </a:solidFill>
              <a:latin typeface="Telegraf"/>
            </a:endParaRPr>
          </a:p>
        </p:txBody>
      </p:sp>
      <p:sp>
        <p:nvSpPr>
          <p:cNvPr id="1817" name="TextBox 95"/>
          <p:cNvSpPr txBox="1"/>
          <p:nvPr/>
        </p:nvSpPr>
        <p:spPr>
          <a:xfrm>
            <a:off x="7061200" y="4089400"/>
            <a:ext cx="381000" cy="127000"/>
          </a:xfrm>
          <a:prstGeom prst="rect">
            <a:avLst/>
          </a:prstGeom>
        </p:spPr>
        <p:txBody>
          <a:bodyPr wrap="square" lIns="0" tIns="0" rIns="0" bIns="0">
            <a:noAutofit/>
          </a:bodyPr>
          <a:lstStyle/>
          <a:p>
            <a:pPr algn="r">
              <a:lnSpc>
                <a:spcPct val="135000"/>
              </a:lnSpc>
            </a:pPr>
            <a:r>
              <a:rPr sz="420" spc="0">
                <a:solidFill>
                  <a:srgbClr val="A2A2A8"/>
                </a:solidFill>
                <a:latin typeface="Telegraf"/>
              </a:rPr>
              <a:t>0.71</a:t>
            </a:r>
            <a:endParaRPr sz="420" spc="0">
              <a:solidFill>
                <a:srgbClr val="A2A2A8"/>
              </a:solidFill>
              <a:latin typeface="Telegraf"/>
            </a:endParaRPr>
          </a:p>
        </p:txBody>
      </p:sp>
      <p:sp>
        <p:nvSpPr>
          <p:cNvPr id="1818" name="Rectangle 96"/>
          <p:cNvSpPr/>
          <p:nvPr/>
        </p:nvSpPr>
        <p:spPr>
          <a:xfrm>
            <a:off x="2743200" y="5029200"/>
            <a:ext cx="48768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19" name="TextBox 97"/>
          <p:cNvSpPr txBox="1"/>
          <p:nvPr/>
        </p:nvSpPr>
        <p:spPr>
          <a:xfrm>
            <a:off x="2743200" y="5130800"/>
            <a:ext cx="3048000" cy="127000"/>
          </a:xfrm>
          <a:prstGeom prst="rect">
            <a:avLst/>
          </a:prstGeom>
        </p:spPr>
        <p:txBody>
          <a:bodyPr wrap="square" lIns="0" tIns="0" rIns="0" bIns="0">
            <a:noAutofit/>
          </a:bodyPr>
          <a:lstStyle/>
          <a:p>
            <a:pPr>
              <a:lnSpc>
                <a:spcPct val="135000"/>
              </a:lnSpc>
            </a:pPr>
            <a:r>
              <a:rPr sz="450" spc="0">
                <a:solidFill>
                  <a:srgbClr val="A2A2A8"/>
                </a:solidFill>
                <a:latin typeface="Telegraf"/>
              </a:rPr>
              <a:t>Every run writes a ticket and a TicketEvent trace.</a:t>
            </a:r>
            <a:endParaRPr sz="450" spc="0">
              <a:solidFill>
                <a:srgbClr val="A2A2A8"/>
              </a:solidFill>
              <a:latin typeface="Telegraf"/>
            </a:endParaRPr>
          </a:p>
        </p:txBody>
      </p:sp>
      <p:sp>
        <p:nvSpPr>
          <p:cNvPr id="1820" name="Rectangle 98"/>
          <p:cNvSpPr/>
          <p:nvPr/>
        </p:nvSpPr>
        <p:spPr>
          <a:xfrm>
            <a:off x="6400800" y="5080000"/>
            <a:ext cx="1219200" cy="254000"/>
          </a:xfrm>
          <a:custGeom>
            <a:avLst/>
            <a:gdLst/>
            <a:ahLst/>
            <a:cxnLst/>
            <a:rect l="l" t="t" r="r" b="b"/>
            <a:pathLst>
              <a:path w="100000" h="20833">
                <a:moveTo>
                  <a:pt x="89583" y="0"/>
                </a:moveTo>
                <a:cubicBezTo>
                  <a:pt x="89583" y="0"/>
                  <a:pt x="89583" y="0"/>
                  <a:pt x="89583" y="0"/>
                </a:cubicBezTo>
                <a:cubicBezTo>
                  <a:pt x="95336" y="0"/>
                  <a:pt x="100000" y="4664"/>
                  <a:pt x="100000" y="10417"/>
                </a:cubicBezTo>
                <a:cubicBezTo>
                  <a:pt x="100000" y="10417"/>
                  <a:pt x="100000" y="10417"/>
                  <a:pt x="100000" y="10417"/>
                </a:cubicBezTo>
                <a:lnTo>
                  <a:pt x="100000" y="10417"/>
                </a:lnTo>
                <a:cubicBezTo>
                  <a:pt x="100000" y="10417"/>
                  <a:pt x="100000" y="10417"/>
                  <a:pt x="100000" y="10417"/>
                </a:cubicBezTo>
                <a:cubicBezTo>
                  <a:pt x="100000" y="16170"/>
                  <a:pt x="95336" y="20833"/>
                  <a:pt x="89583" y="20833"/>
                </a:cubicBezTo>
                <a:cubicBezTo>
                  <a:pt x="89583" y="20833"/>
                  <a:pt x="89583" y="20833"/>
                  <a:pt x="89583" y="20833"/>
                </a:cubicBezTo>
                <a:lnTo>
                  <a:pt x="10417" y="20833"/>
                </a:lnTo>
                <a:cubicBezTo>
                  <a:pt x="10417" y="20833"/>
                  <a:pt x="10417" y="20833"/>
                  <a:pt x="10417" y="20833"/>
                </a:cubicBezTo>
                <a:cubicBezTo>
                  <a:pt x="4664" y="20833"/>
                  <a:pt x="0" y="16170"/>
                  <a:pt x="0" y="10417"/>
                </a:cubicBezTo>
                <a:cubicBezTo>
                  <a:pt x="0" y="10417"/>
                  <a:pt x="0" y="10417"/>
                  <a:pt x="0" y="10417"/>
                </a:cubicBezTo>
                <a:lnTo>
                  <a:pt x="0" y="10417"/>
                </a:lnTo>
                <a:cubicBezTo>
                  <a:pt x="0" y="10417"/>
                  <a:pt x="0" y="10417"/>
                  <a:pt x="0" y="10417"/>
                </a:cubicBezTo>
                <a:cubicBezTo>
                  <a:pt x="0" y="4664"/>
                  <a:pt x="4664" y="0"/>
                  <a:pt x="10417" y="0"/>
                </a:cubicBezTo>
                <a:cubicBezTo>
                  <a:pt x="10417" y="0"/>
                  <a:pt x="10417" y="0"/>
                  <a:pt x="10417" y="0"/>
                </a:cubicBezTo>
                <a:close/>
              </a:path>
            </a:pathLst>
          </a:custGeom>
          <a:solidFill>
            <a:srgbClr val="FFFFFF"/>
          </a:solidFill>
          <a:ln w="11430">
            <a:solidFill>
              <a:srgbClr val="EAF4F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21" name="TextBox 99"/>
          <p:cNvSpPr txBox="1"/>
          <p:nvPr/>
        </p:nvSpPr>
        <p:spPr>
          <a:xfrm>
            <a:off x="6477000" y="5080000"/>
            <a:ext cx="1092200" cy="254000"/>
          </a:xfrm>
          <a:prstGeom prst="rect">
            <a:avLst/>
          </a:prstGeom>
        </p:spPr>
        <p:txBody>
          <a:bodyPr wrap="square" lIns="0" tIns="0" rIns="0" bIns="0" anchor="ctr">
            <a:noAutofit/>
          </a:bodyPr>
          <a:lstStyle/>
          <a:p>
            <a:pPr>
              <a:lnSpc>
                <a:spcPct val="135000"/>
              </a:lnSpc>
            </a:pPr>
            <a:r>
              <a:rPr sz="460" b="1" spc="10">
                <a:solidFill>
                  <a:srgbClr val="0E6B5F"/>
                </a:solidFill>
                <a:latin typeface="Telegraf"/>
              </a:rPr>
              <a:t>Open ticket</a:t>
            </a:r>
            <a:endParaRPr sz="460" b="1" spc="10">
              <a:solidFill>
                <a:srgbClr val="0E6B5F"/>
              </a:solidFill>
              <a:latin typeface="Telegraf"/>
            </a:endParaRPr>
          </a:p>
        </p:txBody>
      </p:sp>
      <p:sp>
        <p:nvSpPr>
          <p:cNvPr id="1822" name="Oval 100"/>
          <p:cNvSpPr/>
          <p:nvPr/>
        </p:nvSpPr>
        <p:spPr>
          <a:xfrm>
            <a:off x="2555240" y="1412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23" name="Oval 101"/>
          <p:cNvSpPr/>
          <p:nvPr/>
        </p:nvSpPr>
        <p:spPr>
          <a:xfrm>
            <a:off x="2579370" y="1436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24" name="TextBox 102"/>
          <p:cNvSpPr txBox="1"/>
          <p:nvPr/>
        </p:nvSpPr>
        <p:spPr>
          <a:xfrm>
            <a:off x="2579370" y="1436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1825" name="Oval 103"/>
          <p:cNvSpPr/>
          <p:nvPr/>
        </p:nvSpPr>
        <p:spPr>
          <a:xfrm>
            <a:off x="2555240" y="2834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26" name="Oval 104"/>
          <p:cNvSpPr/>
          <p:nvPr/>
        </p:nvSpPr>
        <p:spPr>
          <a:xfrm>
            <a:off x="2579370" y="2858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27" name="TextBox 105"/>
          <p:cNvSpPr txBox="1"/>
          <p:nvPr/>
        </p:nvSpPr>
        <p:spPr>
          <a:xfrm>
            <a:off x="2579370" y="2858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1828" name="Oval 106"/>
          <p:cNvSpPr/>
          <p:nvPr/>
        </p:nvSpPr>
        <p:spPr>
          <a:xfrm>
            <a:off x="2555240" y="39014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29" name="Oval 107"/>
          <p:cNvSpPr/>
          <p:nvPr/>
        </p:nvSpPr>
        <p:spPr>
          <a:xfrm>
            <a:off x="2579370" y="39255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30" name="TextBox 108"/>
          <p:cNvSpPr txBox="1"/>
          <p:nvPr/>
        </p:nvSpPr>
        <p:spPr>
          <a:xfrm>
            <a:off x="2579370" y="39255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1831" name="Oval 109"/>
          <p:cNvSpPr/>
          <p:nvPr/>
        </p:nvSpPr>
        <p:spPr>
          <a:xfrm>
            <a:off x="2301240" y="675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32" name="Oval 110"/>
          <p:cNvSpPr/>
          <p:nvPr/>
        </p:nvSpPr>
        <p:spPr>
          <a:xfrm>
            <a:off x="2325370" y="699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33" name="TextBox 111"/>
          <p:cNvSpPr txBox="1"/>
          <p:nvPr/>
        </p:nvSpPr>
        <p:spPr>
          <a:xfrm>
            <a:off x="2325370" y="699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1834" name="Rectangle 112"/>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35" name="TextBox 113"/>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13  —  DASHBOARD · TEST MODAL</a:t>
            </a:r>
            <a:endParaRPr sz="490" b="1" spc="120">
              <a:solidFill>
                <a:srgbClr val="8FE0CE"/>
              </a:solidFill>
              <a:latin typeface="Telegraf"/>
            </a:endParaRPr>
          </a:p>
        </p:txBody>
      </p:sp>
      <p:sp>
        <p:nvSpPr>
          <p:cNvPr id="1836" name="TextBox 114"/>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The judge's</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first question.</a:t>
            </a:r>
            <a:endParaRPr sz="1650" spc="-50">
              <a:solidFill>
                <a:srgbClr val="FFFFFF"/>
              </a:solidFill>
              <a:latin typeface="PP Editorial New Ultralight"/>
            </a:endParaRPr>
          </a:p>
        </p:txBody>
      </p:sp>
      <p:sp>
        <p:nvSpPr>
          <p:cNvPr id="1837" name="Rectangle 115"/>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38" name="TextBox 116"/>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1839" name="TextBox 117"/>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Payload</a:t>
            </a:r>
            <a:endParaRPr sz="590" b="1" spc="0">
              <a:solidFill>
                <a:srgbClr val="FFFFFF"/>
              </a:solidFill>
              <a:latin typeface="Telegraf"/>
            </a:endParaRPr>
          </a:p>
        </p:txBody>
      </p:sp>
      <p:sp>
        <p:nvSpPr>
          <p:cNvPr id="1840" name="TextBox 118"/>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exact POST body from the PRD — query, handle, channel, businessId.</a:t>
            </a:r>
            <a:endParaRPr sz="550" spc="0">
              <a:solidFill>
                <a:srgbClr val="A8A8A8"/>
              </a:solidFill>
              <a:latin typeface="Telegraf"/>
            </a:endParaRPr>
          </a:p>
        </p:txBody>
      </p:sp>
      <p:sp>
        <p:nvSpPr>
          <p:cNvPr id="1841" name="TextBox 119"/>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1842" name="TextBox 120"/>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Verdict row</a:t>
            </a:r>
            <a:endParaRPr sz="590" b="1" spc="0">
              <a:solidFill>
                <a:srgbClr val="FFFFFF"/>
              </a:solidFill>
              <a:latin typeface="Telegraf"/>
            </a:endParaRPr>
          </a:p>
        </p:txBody>
      </p:sp>
      <p:sp>
        <p:nvSpPr>
          <p:cNvPr id="1843" name="TextBox 121"/>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Specialist, intent, confidence, urgency, rule, action: six chips, one line.</a:t>
            </a:r>
            <a:endParaRPr sz="550" spc="0">
              <a:solidFill>
                <a:srgbClr val="A8A8A8"/>
              </a:solidFill>
              <a:latin typeface="Telegraf"/>
            </a:endParaRPr>
          </a:p>
        </p:txBody>
      </p:sp>
      <p:sp>
        <p:nvSpPr>
          <p:cNvPr id="1844" name="TextBox 122"/>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1845" name="TextBox 123"/>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Sources</a:t>
            </a:r>
            <a:endParaRPr sz="590" b="1" spc="0">
              <a:solidFill>
                <a:srgbClr val="FFFFFF"/>
              </a:solidFill>
              <a:latin typeface="Telegraf"/>
            </a:endParaRPr>
          </a:p>
        </p:txBody>
      </p:sp>
      <p:sp>
        <p:nvSpPr>
          <p:cNvPr id="1846" name="TextBox 124"/>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Two-up, expandable, scored. Empty state is a red R2, never a blank card.</a:t>
            </a:r>
            <a:endParaRPr sz="550" spc="0">
              <a:solidFill>
                <a:srgbClr val="A8A8A8"/>
              </a:solidFill>
              <a:latin typeface="Telegraf"/>
            </a:endParaRPr>
          </a:p>
        </p:txBody>
      </p:sp>
      <p:sp>
        <p:nvSpPr>
          <p:cNvPr id="1847" name="TextBox 125"/>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1848" name="TextBox 126"/>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Persistence</a:t>
            </a:r>
            <a:endParaRPr sz="590" b="1" spc="0">
              <a:solidFill>
                <a:srgbClr val="FFFFFF"/>
              </a:solidFill>
              <a:latin typeface="Telegraf"/>
            </a:endParaRPr>
          </a:p>
        </p:txBody>
      </p:sp>
      <p:sp>
        <p:nvSpPr>
          <p:cNvPr id="1849" name="TextBox 127"/>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 run is a ticket: it appears in the queue behind the modal.</a:t>
            </a:r>
            <a:endParaRPr sz="550" spc="0">
              <a:solidFill>
                <a:srgbClr val="A8A8A8"/>
              </a:solidFill>
              <a:latin typeface="Telegraf"/>
            </a:endParaRPr>
          </a:p>
        </p:txBody>
      </p:sp>
      <p:sp>
        <p:nvSpPr>
          <p:cNvPr id="1850" name="TextBox 128"/>
          <p:cNvSpPr txBox="1"/>
          <p:nvPr/>
        </p:nvSpPr>
        <p:spPr>
          <a:xfrm>
            <a:off x="10490200" y="3632200"/>
            <a:ext cx="1397000" cy="101600"/>
          </a:xfrm>
          <a:prstGeom prst="rect">
            <a:avLst/>
          </a:prstGeom>
        </p:spPr>
        <p:txBody>
          <a:bodyPr wrap="square" lIns="0" tIns="0" rIns="0" bIns="0">
            <a:noAutofit/>
          </a:bodyPr>
          <a:lstStyle/>
          <a:p>
            <a:r>
              <a:rPr sz="450" b="1" spc="110">
                <a:solidFill>
                  <a:srgbClr val="8FE0CE"/>
                </a:solidFill>
                <a:latin typeface="Telegraf"/>
              </a:rPr>
              <a:t>STATES</a:t>
            </a:r>
            <a:endParaRPr sz="450" b="1" spc="110">
              <a:solidFill>
                <a:srgbClr val="8FE0CE"/>
              </a:solidFill>
              <a:latin typeface="Telegraf"/>
            </a:endParaRPr>
          </a:p>
        </p:txBody>
      </p:sp>
      <p:sp>
        <p:nvSpPr>
          <p:cNvPr id="1851" name="TextBox 129"/>
          <p:cNvSpPr txBox="1"/>
          <p:nvPr/>
        </p:nvSpPr>
        <p:spPr>
          <a:xfrm>
            <a:off x="10490200" y="3746500"/>
            <a:ext cx="1549400" cy="584200"/>
          </a:xfrm>
          <a:prstGeom prst="rect">
            <a:avLst/>
          </a:prstGeom>
        </p:spPr>
        <p:txBody>
          <a:bodyPr wrap="square" lIns="0" tIns="0" rIns="0" bIns="0">
            <a:noAutofit/>
          </a:bodyPr>
          <a:lstStyle/>
          <a:p>
            <a:pPr>
              <a:lnSpc>
                <a:spcPct val="140000"/>
              </a:lnSpc>
            </a:pPr>
            <a:r>
              <a:rPr sz="540" spc="0">
                <a:solidFill>
                  <a:srgbClr val="CFCFCF"/>
                </a:solidFill>
                <a:latin typeface="Telegraf"/>
              </a:rPr>
              <a:t>idle · running · answered · draft · escalated · failed (R7)</a:t>
            </a:r>
            <a:endParaRPr sz="540" spc="0">
              <a:solidFill>
                <a:srgbClr val="CFCFCF"/>
              </a:solidFill>
              <a:latin typeface="Telegraf"/>
            </a:endParaRPr>
          </a:p>
        </p:txBody>
      </p:sp>
      <p:sp>
        <p:nvSpPr>
          <p:cNvPr id="1852" name="TextBox 130"/>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1853" name="TextBox 131"/>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POST /api/ai/text-query</a:t>
            </a:r>
            <a:endParaRPr sz="560" spc="0">
              <a:solidFill>
                <a:srgbClr val="FFFFFF"/>
              </a:solidFill>
              <a:latin typeface="Telegraf"/>
            </a:endParaRPr>
          </a:p>
        </p:txBody>
      </p:sp>
      <p:sp>
        <p:nvSpPr>
          <p:cNvPr id="1854" name="TextBox 132"/>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1855" name="TextBox 133"/>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components/dashboard/AiTextModal.tsx; VerdictChips.tsx; SourceCard.tsx</a:t>
            </a:r>
            <a:endParaRPr sz="530" spc="0">
              <a:solidFill>
                <a:srgbClr val="CFCFCF"/>
              </a:solidFill>
              <a:latin typeface="Telegraf"/>
            </a:endParaRPr>
          </a:p>
        </p:txBody>
      </p:sp>
      <p:sp>
        <p:nvSpPr>
          <p:cNvPr id="1856" name="Rectangle 134"/>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57" name="TextBox 135"/>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59" name="Rectangle 1"/>
          <p:cNvSpPr/>
          <p:nvPr/>
        </p:nvSpPr>
        <p:spPr>
          <a:xfrm>
            <a:off x="0" y="0"/>
            <a:ext cx="558800" cy="685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0" name="Rectangle 2"/>
          <p:cNvSpPr/>
          <p:nvPr/>
        </p:nvSpPr>
        <p:spPr>
          <a:xfrm>
            <a:off x="548640" y="0"/>
            <a:ext cx="11430" cy="68580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1" name="Rectangle 3"/>
          <p:cNvSpPr/>
          <p:nvPr/>
        </p:nvSpPr>
        <p:spPr>
          <a:xfrm>
            <a:off x="152400" y="152400"/>
            <a:ext cx="254000" cy="254000"/>
          </a:xfrm>
          <a:custGeom>
            <a:avLst/>
            <a:gdLst/>
            <a:ahLst/>
            <a:cxnLst/>
            <a:rect l="l" t="t" r="r" b="b"/>
            <a:pathLst>
              <a:path w="100000" h="100000">
                <a:moveTo>
                  <a:pt x="50000" y="0"/>
                </a:moveTo>
                <a:cubicBezTo>
                  <a:pt x="66790" y="0"/>
                  <a:pt x="75185" y="0"/>
                  <a:pt x="81680" y="3070"/>
                </a:cubicBezTo>
                <a:cubicBezTo>
                  <a:pt x="88375" y="6240"/>
                  <a:pt x="93760" y="11625"/>
                  <a:pt x="96930" y="18320"/>
                </a:cubicBezTo>
                <a:cubicBezTo>
                  <a:pt x="100000" y="24815"/>
                  <a:pt x="100000" y="33210"/>
                  <a:pt x="100000" y="50000"/>
                </a:cubicBezTo>
                <a:lnTo>
                  <a:pt x="100000" y="50000"/>
                </a:lnTo>
                <a:cubicBezTo>
                  <a:pt x="100000" y="66790"/>
                  <a:pt x="100000" y="75185"/>
                  <a:pt x="96930" y="81680"/>
                </a:cubicBezTo>
                <a:cubicBezTo>
                  <a:pt x="93760" y="88375"/>
                  <a:pt x="88375" y="93760"/>
                  <a:pt x="81680" y="96930"/>
                </a:cubicBezTo>
                <a:cubicBezTo>
                  <a:pt x="75185" y="100000"/>
                  <a:pt x="66790" y="100000"/>
                  <a:pt x="50000" y="100000"/>
                </a:cubicBezTo>
                <a:lnTo>
                  <a:pt x="50000" y="100000"/>
                </a:lnTo>
                <a:cubicBezTo>
                  <a:pt x="33210" y="100000"/>
                  <a:pt x="24815" y="100000"/>
                  <a:pt x="18320" y="96930"/>
                </a:cubicBezTo>
                <a:cubicBezTo>
                  <a:pt x="11625" y="93760"/>
                  <a:pt x="6240" y="88375"/>
                  <a:pt x="3070" y="81680"/>
                </a:cubicBezTo>
                <a:cubicBezTo>
                  <a:pt x="0" y="75185"/>
                  <a:pt x="0" y="66790"/>
                  <a:pt x="0" y="50000"/>
                </a:cubicBezTo>
                <a:lnTo>
                  <a:pt x="0" y="50000"/>
                </a:lnTo>
                <a:cubicBezTo>
                  <a:pt x="0" y="33210"/>
                  <a:pt x="0" y="24815"/>
                  <a:pt x="3070" y="18320"/>
                </a:cubicBezTo>
                <a:cubicBezTo>
                  <a:pt x="6240" y="11625"/>
                  <a:pt x="11625" y="6240"/>
                  <a:pt x="18320" y="3070"/>
                </a:cubicBezTo>
                <a:cubicBezTo>
                  <a:pt x="24815" y="0"/>
                  <a:pt x="33210" y="0"/>
                  <a:pt x="5000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2" name="TextBox 4"/>
          <p:cNvSpPr txBox="1"/>
          <p:nvPr/>
        </p:nvSpPr>
        <p:spPr>
          <a:xfrm>
            <a:off x="152400" y="152400"/>
            <a:ext cx="254000" cy="254000"/>
          </a:xfrm>
          <a:prstGeom prst="rect">
            <a:avLst/>
          </a:prstGeom>
        </p:spPr>
        <p:txBody>
          <a:bodyPr wrap="square" lIns="0" tIns="0" rIns="0" bIns="0" anchor="ctr">
            <a:noAutofit/>
          </a:bodyPr>
          <a:lstStyle/>
          <a:p>
            <a:pPr algn="ctr">
              <a:lnSpc>
                <a:spcPct val="102000"/>
              </a:lnSpc>
            </a:pPr>
            <a:r>
              <a:rPr sz="1150" spc="-90">
                <a:solidFill>
                  <a:srgbClr val="8FE0CE"/>
                </a:solidFill>
                <a:latin typeface="PP Editorial New Ultralight"/>
              </a:rPr>
              <a:t>a</a:t>
            </a:r>
            <a:endParaRPr sz="1150" spc="-90">
              <a:solidFill>
                <a:srgbClr val="8FE0CE"/>
              </a:solidFill>
              <a:latin typeface="PP Editorial New Ultralight"/>
            </a:endParaRPr>
          </a:p>
        </p:txBody>
      </p:sp>
      <p:sp>
        <p:nvSpPr>
          <p:cNvPr id="1863" name="Rectangle 5"/>
          <p:cNvSpPr/>
          <p:nvPr/>
        </p:nvSpPr>
        <p:spPr>
          <a:xfrm>
            <a:off x="210820" y="728980"/>
            <a:ext cx="137160" cy="24130"/>
          </a:xfrm>
          <a:custGeom>
            <a:avLst/>
            <a:gdLst/>
            <a:ahLst/>
            <a:cxnLst/>
            <a:rect l="l" t="t" r="r" b="b"/>
            <a:pathLst>
              <a:path w="100000" h="17593">
                <a:moveTo>
                  <a:pt x="91204" y="0"/>
                </a:moveTo>
                <a:cubicBezTo>
                  <a:pt x="91204" y="0"/>
                  <a:pt x="91204" y="0"/>
                  <a:pt x="91204" y="0"/>
                </a:cubicBezTo>
                <a:cubicBezTo>
                  <a:pt x="96065" y="0"/>
                  <a:pt x="100000" y="3935"/>
                  <a:pt x="100000" y="8796"/>
                </a:cubicBezTo>
                <a:cubicBezTo>
                  <a:pt x="100000" y="8796"/>
                  <a:pt x="100000" y="8796"/>
                  <a:pt x="100000" y="8796"/>
                </a:cubicBezTo>
                <a:lnTo>
                  <a:pt x="100000" y="8796"/>
                </a:lnTo>
                <a:cubicBezTo>
                  <a:pt x="100000" y="8796"/>
                  <a:pt x="100000" y="8796"/>
                  <a:pt x="100000" y="8796"/>
                </a:cubicBezTo>
                <a:cubicBezTo>
                  <a:pt x="100000" y="13657"/>
                  <a:pt x="96065" y="17593"/>
                  <a:pt x="91204" y="17593"/>
                </a:cubicBezTo>
                <a:cubicBezTo>
                  <a:pt x="91204" y="17593"/>
                  <a:pt x="91204" y="17593"/>
                  <a:pt x="91204" y="17593"/>
                </a:cubicBezTo>
                <a:lnTo>
                  <a:pt x="8796" y="17593"/>
                </a:lnTo>
                <a:cubicBezTo>
                  <a:pt x="8796" y="17593"/>
                  <a:pt x="8796" y="17593"/>
                  <a:pt x="8796" y="17593"/>
                </a:cubicBezTo>
                <a:cubicBezTo>
                  <a:pt x="3935" y="17593"/>
                  <a:pt x="0" y="13657"/>
                  <a:pt x="0" y="8796"/>
                </a:cubicBezTo>
                <a:cubicBezTo>
                  <a:pt x="0" y="8796"/>
                  <a:pt x="0" y="8796"/>
                  <a:pt x="0" y="8796"/>
                </a:cubicBezTo>
                <a:lnTo>
                  <a:pt x="0" y="8796"/>
                </a:lnTo>
                <a:cubicBezTo>
                  <a:pt x="0" y="8796"/>
                  <a:pt x="0" y="8796"/>
                  <a:pt x="0" y="8796"/>
                </a:cubicBezTo>
                <a:cubicBezTo>
                  <a:pt x="0" y="3935"/>
                  <a:pt x="3935" y="0"/>
                  <a:pt x="8796" y="0"/>
                </a:cubicBezTo>
                <a:cubicBezTo>
                  <a:pt x="8796" y="0"/>
                  <a:pt x="8796" y="0"/>
                  <a:pt x="8796"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4" name="Rectangle 6"/>
          <p:cNvSpPr/>
          <p:nvPr/>
        </p:nvSpPr>
        <p:spPr>
          <a:xfrm>
            <a:off x="210820" y="778510"/>
            <a:ext cx="104140" cy="24130"/>
          </a:xfrm>
          <a:custGeom>
            <a:avLst/>
            <a:gdLst/>
            <a:ahLst/>
            <a:cxnLst/>
            <a:rect l="l" t="t" r="r" b="b"/>
            <a:pathLst>
              <a:path w="100000" h="23171">
                <a:moveTo>
                  <a:pt x="88415" y="0"/>
                </a:moveTo>
                <a:cubicBezTo>
                  <a:pt x="88415" y="0"/>
                  <a:pt x="88415" y="0"/>
                  <a:pt x="88415" y="0"/>
                </a:cubicBezTo>
                <a:cubicBezTo>
                  <a:pt x="94817" y="0"/>
                  <a:pt x="100000" y="5183"/>
                  <a:pt x="100000" y="11585"/>
                </a:cubicBezTo>
                <a:cubicBezTo>
                  <a:pt x="100000" y="11585"/>
                  <a:pt x="100000" y="11585"/>
                  <a:pt x="100000" y="11585"/>
                </a:cubicBezTo>
                <a:lnTo>
                  <a:pt x="100000" y="11585"/>
                </a:lnTo>
                <a:cubicBezTo>
                  <a:pt x="100000" y="11585"/>
                  <a:pt x="100000" y="11585"/>
                  <a:pt x="100000" y="11585"/>
                </a:cubicBezTo>
                <a:cubicBezTo>
                  <a:pt x="100000" y="17988"/>
                  <a:pt x="94817" y="23171"/>
                  <a:pt x="88415" y="23171"/>
                </a:cubicBezTo>
                <a:cubicBezTo>
                  <a:pt x="88415" y="23171"/>
                  <a:pt x="88415" y="23171"/>
                  <a:pt x="88415" y="23171"/>
                </a:cubicBezTo>
                <a:lnTo>
                  <a:pt x="11585" y="23171"/>
                </a:lnTo>
                <a:cubicBezTo>
                  <a:pt x="11585" y="23171"/>
                  <a:pt x="11585" y="23171"/>
                  <a:pt x="11585" y="23171"/>
                </a:cubicBezTo>
                <a:cubicBezTo>
                  <a:pt x="5183" y="23171"/>
                  <a:pt x="0" y="17988"/>
                  <a:pt x="0" y="11585"/>
                </a:cubicBezTo>
                <a:cubicBezTo>
                  <a:pt x="0" y="11585"/>
                  <a:pt x="0" y="11585"/>
                  <a:pt x="0" y="11585"/>
                </a:cubicBezTo>
                <a:lnTo>
                  <a:pt x="0" y="11585"/>
                </a:lnTo>
                <a:cubicBezTo>
                  <a:pt x="0" y="11585"/>
                  <a:pt x="0" y="11585"/>
                  <a:pt x="0" y="11585"/>
                </a:cubicBezTo>
                <a:cubicBezTo>
                  <a:pt x="0" y="5183"/>
                  <a:pt x="5183" y="0"/>
                  <a:pt x="11585" y="0"/>
                </a:cubicBezTo>
                <a:cubicBezTo>
                  <a:pt x="11585" y="0"/>
                  <a:pt x="11585" y="0"/>
                  <a:pt x="1158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5" name="Rectangle 7"/>
          <p:cNvSpPr/>
          <p:nvPr/>
        </p:nvSpPr>
        <p:spPr>
          <a:xfrm>
            <a:off x="210820" y="828040"/>
            <a:ext cx="71120" cy="24130"/>
          </a:xfrm>
          <a:custGeom>
            <a:avLst/>
            <a:gdLst/>
            <a:ahLst/>
            <a:cxnLst/>
            <a:rect l="l" t="t" r="r" b="b"/>
            <a:pathLst>
              <a:path w="100000" h="33929">
                <a:moveTo>
                  <a:pt x="83036" y="0"/>
                </a:moveTo>
                <a:cubicBezTo>
                  <a:pt x="83036" y="0"/>
                  <a:pt x="83036" y="0"/>
                  <a:pt x="83036" y="0"/>
                </a:cubicBezTo>
                <a:cubicBezTo>
                  <a:pt x="92411" y="0"/>
                  <a:pt x="100000" y="7589"/>
                  <a:pt x="100000" y="16964"/>
                </a:cubicBezTo>
                <a:cubicBezTo>
                  <a:pt x="100000" y="16964"/>
                  <a:pt x="100000" y="16964"/>
                  <a:pt x="100000" y="16964"/>
                </a:cubicBezTo>
                <a:lnTo>
                  <a:pt x="100000" y="16964"/>
                </a:lnTo>
                <a:cubicBezTo>
                  <a:pt x="100000" y="16964"/>
                  <a:pt x="100000" y="16964"/>
                  <a:pt x="100000" y="16964"/>
                </a:cubicBezTo>
                <a:cubicBezTo>
                  <a:pt x="100000" y="26339"/>
                  <a:pt x="92411" y="33929"/>
                  <a:pt x="83036" y="33929"/>
                </a:cubicBezTo>
                <a:cubicBezTo>
                  <a:pt x="83036" y="33929"/>
                  <a:pt x="83036" y="33929"/>
                  <a:pt x="83036" y="33929"/>
                </a:cubicBezTo>
                <a:lnTo>
                  <a:pt x="16964" y="33929"/>
                </a:lnTo>
                <a:cubicBezTo>
                  <a:pt x="16964" y="33929"/>
                  <a:pt x="16964" y="33929"/>
                  <a:pt x="16964" y="33929"/>
                </a:cubicBezTo>
                <a:cubicBezTo>
                  <a:pt x="7589" y="33929"/>
                  <a:pt x="0" y="26339"/>
                  <a:pt x="0" y="16964"/>
                </a:cubicBezTo>
                <a:cubicBezTo>
                  <a:pt x="0" y="16964"/>
                  <a:pt x="0" y="16964"/>
                  <a:pt x="0" y="16964"/>
                </a:cubicBezTo>
                <a:lnTo>
                  <a:pt x="0" y="16964"/>
                </a:lnTo>
                <a:cubicBezTo>
                  <a:pt x="0" y="16964"/>
                  <a:pt x="0" y="16964"/>
                  <a:pt x="0" y="16964"/>
                </a:cubicBezTo>
                <a:cubicBezTo>
                  <a:pt x="0" y="7589"/>
                  <a:pt x="7589" y="0"/>
                  <a:pt x="16964" y="0"/>
                </a:cubicBezTo>
                <a:cubicBezTo>
                  <a:pt x="16964" y="0"/>
                  <a:pt x="16964" y="0"/>
                  <a:pt x="16964"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6" name="Rectangle 8"/>
          <p:cNvSpPr/>
          <p:nvPr/>
        </p:nvSpPr>
        <p:spPr>
          <a:xfrm>
            <a:off x="88900" y="1003300"/>
            <a:ext cx="381000" cy="330200"/>
          </a:xfrm>
          <a:custGeom>
            <a:avLst/>
            <a:gdLst/>
            <a:ahLst/>
            <a:cxnLst/>
            <a:rect l="l" t="t" r="r" b="b"/>
            <a:pathLst>
              <a:path w="100000" h="86667">
                <a:moveTo>
                  <a:pt x="56667" y="0"/>
                </a:moveTo>
                <a:cubicBezTo>
                  <a:pt x="69083" y="0"/>
                  <a:pt x="75290" y="0"/>
                  <a:pt x="80260" y="1810"/>
                </a:cubicBezTo>
                <a:cubicBezTo>
                  <a:pt x="88593" y="4843"/>
                  <a:pt x="95157" y="11407"/>
                  <a:pt x="98190" y="19740"/>
                </a:cubicBezTo>
                <a:cubicBezTo>
                  <a:pt x="100000" y="24710"/>
                  <a:pt x="100000" y="30917"/>
                  <a:pt x="100000" y="43333"/>
                </a:cubicBezTo>
                <a:lnTo>
                  <a:pt x="100000" y="43333"/>
                </a:lnTo>
                <a:cubicBezTo>
                  <a:pt x="100000" y="55750"/>
                  <a:pt x="100000" y="61957"/>
                  <a:pt x="98190" y="66927"/>
                </a:cubicBezTo>
                <a:cubicBezTo>
                  <a:pt x="95157" y="75260"/>
                  <a:pt x="88593" y="81823"/>
                  <a:pt x="80260" y="84857"/>
                </a:cubicBezTo>
                <a:cubicBezTo>
                  <a:pt x="75290" y="86667"/>
                  <a:pt x="69083" y="86667"/>
                  <a:pt x="56667" y="86667"/>
                </a:cubicBezTo>
                <a:lnTo>
                  <a:pt x="43333" y="86667"/>
                </a:lnTo>
                <a:cubicBezTo>
                  <a:pt x="30917" y="86667"/>
                  <a:pt x="24710" y="86667"/>
                  <a:pt x="19740" y="84857"/>
                </a:cubicBezTo>
                <a:cubicBezTo>
                  <a:pt x="11407" y="81823"/>
                  <a:pt x="4843" y="75260"/>
                  <a:pt x="1810" y="66927"/>
                </a:cubicBezTo>
                <a:cubicBezTo>
                  <a:pt x="0" y="61957"/>
                  <a:pt x="0" y="55750"/>
                  <a:pt x="0" y="43333"/>
                </a:cubicBezTo>
                <a:lnTo>
                  <a:pt x="0" y="43333"/>
                </a:lnTo>
                <a:cubicBezTo>
                  <a:pt x="0" y="30917"/>
                  <a:pt x="0" y="24710"/>
                  <a:pt x="1810" y="19740"/>
                </a:cubicBezTo>
                <a:cubicBezTo>
                  <a:pt x="4843" y="11407"/>
                  <a:pt x="11407" y="4843"/>
                  <a:pt x="19740" y="1810"/>
                </a:cubicBezTo>
                <a:cubicBezTo>
                  <a:pt x="24710" y="0"/>
                  <a:pt x="30917" y="0"/>
                  <a:pt x="4333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7" name="Rectangle 9"/>
          <p:cNvSpPr/>
          <p:nvPr/>
        </p:nvSpPr>
        <p:spPr>
          <a:xfrm>
            <a:off x="0" y="1066800"/>
            <a:ext cx="25400" cy="203200"/>
          </a:xfrm>
          <a:custGeom>
            <a:avLst/>
            <a:gdLst/>
            <a:ahLst/>
            <a:cxnLst/>
            <a:rect l="l" t="t" r="r" b="b"/>
            <a:pathLst>
              <a:path w="12500" h="100000">
                <a:moveTo>
                  <a:pt x="6250" y="0"/>
                </a:moveTo>
                <a:cubicBezTo>
                  <a:pt x="6250" y="0"/>
                  <a:pt x="6250" y="0"/>
                  <a:pt x="6250" y="0"/>
                </a:cubicBezTo>
                <a:cubicBezTo>
                  <a:pt x="9700" y="0"/>
                  <a:pt x="12500" y="2800"/>
                  <a:pt x="12500" y="6250"/>
                </a:cubicBezTo>
                <a:cubicBezTo>
                  <a:pt x="12500" y="6250"/>
                  <a:pt x="12500" y="6250"/>
                  <a:pt x="12500" y="6250"/>
                </a:cubicBezTo>
                <a:lnTo>
                  <a:pt x="12500" y="93750"/>
                </a:lnTo>
                <a:cubicBezTo>
                  <a:pt x="12500" y="93750"/>
                  <a:pt x="12500" y="93750"/>
                  <a:pt x="12500" y="93750"/>
                </a:cubicBezTo>
                <a:cubicBezTo>
                  <a:pt x="12500" y="97200"/>
                  <a:pt x="9700" y="100000"/>
                  <a:pt x="6250" y="100000"/>
                </a:cubicBezTo>
                <a:cubicBezTo>
                  <a:pt x="6250" y="100000"/>
                  <a:pt x="6250" y="100000"/>
                  <a:pt x="6250" y="100000"/>
                </a:cubicBezTo>
                <a:lnTo>
                  <a:pt x="6250" y="100000"/>
                </a:lnTo>
                <a:cubicBezTo>
                  <a:pt x="6250" y="100000"/>
                  <a:pt x="6250" y="100000"/>
                  <a:pt x="6250" y="100000"/>
                </a:cubicBezTo>
                <a:cubicBezTo>
                  <a:pt x="2800" y="100000"/>
                  <a:pt x="0" y="97200"/>
                  <a:pt x="0" y="93750"/>
                </a:cubicBezTo>
                <a:cubicBezTo>
                  <a:pt x="0" y="93750"/>
                  <a:pt x="0" y="93750"/>
                  <a:pt x="0" y="93750"/>
                </a:cubicBezTo>
                <a:lnTo>
                  <a:pt x="0" y="6250"/>
                </a:lnTo>
                <a:cubicBezTo>
                  <a:pt x="0" y="6250"/>
                  <a:pt x="0" y="6250"/>
                  <a:pt x="0" y="6250"/>
                </a:cubicBezTo>
                <a:cubicBezTo>
                  <a:pt x="0" y="2800"/>
                  <a:pt x="2800" y="0"/>
                  <a:pt x="6250" y="0"/>
                </a:cubicBezTo>
                <a:cubicBezTo>
                  <a:pt x="6250" y="0"/>
                  <a:pt x="6250" y="0"/>
                  <a:pt x="6250"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8" name="Oval 10"/>
          <p:cNvSpPr/>
          <p:nvPr/>
        </p:nvSpPr>
        <p:spPr>
          <a:xfrm>
            <a:off x="261874" y="1118743"/>
            <a:ext cx="35052" cy="35052"/>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69" name="Rectangle 11"/>
          <p:cNvSpPr/>
          <p:nvPr/>
        </p:nvSpPr>
        <p:spPr>
          <a:xfrm>
            <a:off x="273685" y="11614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0" name="Rectangle 12"/>
          <p:cNvSpPr/>
          <p:nvPr/>
        </p:nvSpPr>
        <p:spPr>
          <a:xfrm>
            <a:off x="240792" y="11929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1" name="Oval 13"/>
          <p:cNvSpPr/>
          <p:nvPr/>
        </p:nvSpPr>
        <p:spPr>
          <a:xfrm>
            <a:off x="21463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2" name="Oval 14"/>
          <p:cNvSpPr/>
          <p:nvPr/>
        </p:nvSpPr>
        <p:spPr>
          <a:xfrm>
            <a:off x="29337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3" name="Oval 15"/>
          <p:cNvSpPr/>
          <p:nvPr/>
        </p:nvSpPr>
        <p:spPr>
          <a:xfrm>
            <a:off x="254000" y="155829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4" name="Freeform 1874"/>
          <p:cNvSpPr/>
          <p:nvPr/>
        </p:nvSpPr>
        <p:spPr>
          <a:xfrm>
            <a:off x="251460" y="1537970"/>
            <a:ext cx="22860" cy="30480"/>
          </a:xfrm>
          <a:custGeom>
            <a:avLst/>
            <a:gdLst/>
            <a:ahLst/>
            <a:cxnLst/>
            <a:rect l="l" t="t" r="r" b="b"/>
            <a:pathLst>
              <a:path w="75000" h="100000" fill="none">
                <a:moveTo>
                  <a:pt x="0" y="0"/>
                </a:moveTo>
                <a:lnTo>
                  <a:pt x="7500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875" name="Freeform 1875"/>
          <p:cNvSpPr/>
          <p:nvPr/>
        </p:nvSpPr>
        <p:spPr>
          <a:xfrm>
            <a:off x="284480" y="1537970"/>
            <a:ext cx="22860" cy="30480"/>
          </a:xfrm>
          <a:custGeom>
            <a:avLst/>
            <a:gdLst/>
            <a:ahLst/>
            <a:cxnLst/>
            <a:rect l="l" t="t" r="r" b="b"/>
            <a:pathLst>
              <a:path w="75000" h="100000" fill="none">
                <a:moveTo>
                  <a:pt x="75000" y="0"/>
                </a:moveTo>
                <a:lnTo>
                  <a:pt x="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876" name="Rectangle 18"/>
          <p:cNvSpPr/>
          <p:nvPr/>
        </p:nvSpPr>
        <p:spPr>
          <a:xfrm>
            <a:off x="21209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7" name="Rectangle 19"/>
          <p:cNvSpPr/>
          <p:nvPr/>
        </p:nvSpPr>
        <p:spPr>
          <a:xfrm>
            <a:off x="28575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8" name="Rectangle 20"/>
          <p:cNvSpPr/>
          <p:nvPr/>
        </p:nvSpPr>
        <p:spPr>
          <a:xfrm>
            <a:off x="212090" y="193675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79" name="Rectangle 21"/>
          <p:cNvSpPr/>
          <p:nvPr/>
        </p:nvSpPr>
        <p:spPr>
          <a:xfrm>
            <a:off x="234696" y="6308979"/>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0" name="Rectangle 22"/>
          <p:cNvSpPr/>
          <p:nvPr/>
        </p:nvSpPr>
        <p:spPr>
          <a:xfrm>
            <a:off x="234696" y="6343650"/>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1" name="Oval 23"/>
          <p:cNvSpPr/>
          <p:nvPr/>
        </p:nvSpPr>
        <p:spPr>
          <a:xfrm>
            <a:off x="171450" y="64960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2" name="TextBox 24"/>
          <p:cNvSpPr txBox="1"/>
          <p:nvPr/>
        </p:nvSpPr>
        <p:spPr>
          <a:xfrm>
            <a:off x="171450" y="6496050"/>
            <a:ext cx="215900" cy="215900"/>
          </a:xfrm>
          <a:prstGeom prst="rect">
            <a:avLst/>
          </a:prstGeom>
        </p:spPr>
        <p:txBody>
          <a:bodyPr wrap="square" lIns="0" tIns="0" rIns="0" bIns="0" anchor="ctr">
            <a:noAutofit/>
          </a:bodyPr>
          <a:lstStyle/>
          <a:p>
            <a:pPr algn="ctr">
              <a:lnSpc>
                <a:spcPct val="135000"/>
              </a:lnSpc>
            </a:pPr>
            <a:r>
              <a:rPr sz="460" b="1" spc="0">
                <a:solidFill>
                  <a:srgbClr val="67676E"/>
                </a:solidFill>
                <a:latin typeface="Telegraf"/>
              </a:rPr>
              <a:t>PN</a:t>
            </a:r>
            <a:endParaRPr sz="460" b="1" spc="0">
              <a:solidFill>
                <a:srgbClr val="67676E"/>
              </a:solidFill>
              <a:latin typeface="Telegraf"/>
            </a:endParaRPr>
          </a:p>
        </p:txBody>
      </p:sp>
      <p:sp>
        <p:nvSpPr>
          <p:cNvPr id="1883" name="Rectangle 25"/>
          <p:cNvSpPr/>
          <p:nvPr/>
        </p:nvSpPr>
        <p:spPr>
          <a:xfrm>
            <a:off x="558800" y="0"/>
            <a:ext cx="9753600" cy="50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4" name="Rectangle 26"/>
          <p:cNvSpPr/>
          <p:nvPr/>
        </p:nvSpPr>
        <p:spPr>
          <a:xfrm>
            <a:off x="558800" y="497840"/>
            <a:ext cx="9753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5" name="Rectangle 27"/>
          <p:cNvSpPr/>
          <p:nvPr/>
        </p:nvSpPr>
        <p:spPr>
          <a:xfrm>
            <a:off x="711200" y="114300"/>
            <a:ext cx="1625600" cy="292100"/>
          </a:xfrm>
          <a:custGeom>
            <a:avLst/>
            <a:gdLst/>
            <a:ahLst/>
            <a:cxnLst/>
            <a:rect l="l" t="t" r="r" b="b"/>
            <a:pathLst>
              <a:path w="100000" h="17969">
                <a:moveTo>
                  <a:pt x="91016" y="0"/>
                </a:moveTo>
                <a:cubicBezTo>
                  <a:pt x="93929" y="0"/>
                  <a:pt x="95386" y="0"/>
                  <a:pt x="96524" y="506"/>
                </a:cubicBezTo>
                <a:cubicBezTo>
                  <a:pt x="97847" y="1095"/>
                  <a:pt x="98905" y="2153"/>
                  <a:pt x="99494" y="3476"/>
                </a:cubicBezTo>
                <a:cubicBezTo>
                  <a:pt x="100000" y="4614"/>
                  <a:pt x="100000" y="6071"/>
                  <a:pt x="100000" y="8984"/>
                </a:cubicBezTo>
                <a:lnTo>
                  <a:pt x="100000" y="8984"/>
                </a:lnTo>
                <a:cubicBezTo>
                  <a:pt x="100000" y="11898"/>
                  <a:pt x="100000" y="13355"/>
                  <a:pt x="99494" y="14493"/>
                </a:cubicBezTo>
                <a:cubicBezTo>
                  <a:pt x="98905" y="15816"/>
                  <a:pt x="97847" y="16873"/>
                  <a:pt x="96524" y="17463"/>
                </a:cubicBezTo>
                <a:cubicBezTo>
                  <a:pt x="95386" y="17969"/>
                  <a:pt x="93929" y="17969"/>
                  <a:pt x="91016" y="17969"/>
                </a:cubicBezTo>
                <a:lnTo>
                  <a:pt x="8984" y="17969"/>
                </a:lnTo>
                <a:cubicBezTo>
                  <a:pt x="6071" y="17969"/>
                  <a:pt x="4614" y="17969"/>
                  <a:pt x="3476" y="17463"/>
                </a:cubicBezTo>
                <a:cubicBezTo>
                  <a:pt x="2153" y="16873"/>
                  <a:pt x="1095" y="15816"/>
                  <a:pt x="506" y="14493"/>
                </a:cubicBezTo>
                <a:cubicBezTo>
                  <a:pt x="0" y="13355"/>
                  <a:pt x="0" y="11898"/>
                  <a:pt x="0" y="8984"/>
                </a:cubicBezTo>
                <a:lnTo>
                  <a:pt x="0" y="8984"/>
                </a:lnTo>
                <a:cubicBezTo>
                  <a:pt x="0" y="6071"/>
                  <a:pt x="0" y="4614"/>
                  <a:pt x="506" y="3476"/>
                </a:cubicBezTo>
                <a:cubicBezTo>
                  <a:pt x="1095" y="2153"/>
                  <a:pt x="2153" y="1095"/>
                  <a:pt x="3476" y="506"/>
                </a:cubicBezTo>
                <a:cubicBezTo>
                  <a:pt x="4614" y="0"/>
                  <a:pt x="6071" y="0"/>
                  <a:pt x="898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6" name="TextBox 28"/>
          <p:cNvSpPr txBox="1"/>
          <p:nvPr/>
        </p:nvSpPr>
        <p:spPr>
          <a:xfrm>
            <a:off x="825500" y="114300"/>
            <a:ext cx="1219200" cy="292100"/>
          </a:xfrm>
          <a:prstGeom prst="rect">
            <a:avLst/>
          </a:prstGeom>
        </p:spPr>
        <p:txBody>
          <a:bodyPr wrap="square" lIns="0" tIns="0" rIns="0" bIns="0" anchor="ctr">
            <a:noAutofit/>
          </a:bodyPr>
          <a:lstStyle/>
          <a:p>
            <a:pPr>
              <a:lnSpc>
                <a:spcPct val="135000"/>
              </a:lnSpc>
            </a:pPr>
            <a:r>
              <a:rPr sz="660" b="1" spc="0">
                <a:solidFill>
                  <a:srgbClr val="0A0A0A"/>
                </a:solidFill>
                <a:latin typeface="Telegraf"/>
              </a:rPr>
              <a:t>CloudPulse CRM</a:t>
            </a:r>
            <a:endParaRPr sz="660" b="1" spc="0">
              <a:solidFill>
                <a:srgbClr val="0A0A0A"/>
              </a:solidFill>
              <a:latin typeface="Telegraf"/>
            </a:endParaRPr>
          </a:p>
        </p:txBody>
      </p:sp>
      <p:sp>
        <p:nvSpPr>
          <p:cNvPr id="1887" name="Freeform 1887"/>
          <p:cNvSpPr/>
          <p:nvPr/>
        </p:nvSpPr>
        <p:spPr>
          <a:xfrm>
            <a:off x="2148840" y="242570"/>
            <a:ext cx="71120" cy="35560"/>
          </a:xfrm>
          <a:custGeom>
            <a:avLst/>
            <a:gdLst/>
            <a:ahLst/>
            <a:cxnLst/>
            <a:rect l="l" t="t" r="r" b="b"/>
            <a:pathLst>
              <a:path w="100000" h="50000" fill="none">
                <a:moveTo>
                  <a:pt x="0" y="0"/>
                </a:moveTo>
                <a:lnTo>
                  <a:pt x="50000" y="50000"/>
                </a:lnTo>
                <a:lnTo>
                  <a:pt x="100000" y="0"/>
                </a:lnTo>
              </a:path>
            </a:pathLst>
          </a:custGeom>
          <a:noFill/>
          <a:ln w="11430"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888" name="Oval 30"/>
          <p:cNvSpPr/>
          <p:nvPr/>
        </p:nvSpPr>
        <p:spPr>
          <a:xfrm>
            <a:off x="9861550" y="1333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89" name="TextBox 31"/>
          <p:cNvSpPr txBox="1"/>
          <p:nvPr/>
        </p:nvSpPr>
        <p:spPr>
          <a:xfrm>
            <a:off x="9861550" y="1333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1890" name="Rectangle 32"/>
          <p:cNvSpPr/>
          <p:nvPr/>
        </p:nvSpPr>
        <p:spPr>
          <a:xfrm>
            <a:off x="9728200" y="127000"/>
            <a:ext cx="203200" cy="254000"/>
          </a:xfrm>
          <a:custGeom>
            <a:avLst/>
            <a:gdLst/>
            <a:ahLst/>
            <a:cxnLst/>
            <a:rect l="l" t="t" r="r" b="b"/>
            <a:pathLst>
              <a:path w="80000" h="100000">
                <a:moveTo>
                  <a:pt x="40000" y="0"/>
                </a:moveTo>
                <a:cubicBezTo>
                  <a:pt x="54000" y="0"/>
                  <a:pt x="61000" y="0"/>
                  <a:pt x="66350" y="2725"/>
                </a:cubicBezTo>
                <a:cubicBezTo>
                  <a:pt x="71055" y="5120"/>
                  <a:pt x="74880" y="8945"/>
                  <a:pt x="77275" y="13650"/>
                </a:cubicBezTo>
                <a:cubicBezTo>
                  <a:pt x="80000" y="19000"/>
                  <a:pt x="80000" y="26000"/>
                  <a:pt x="80000" y="40000"/>
                </a:cubicBezTo>
                <a:lnTo>
                  <a:pt x="80000" y="60000"/>
                </a:lnTo>
                <a:cubicBezTo>
                  <a:pt x="80000" y="74000"/>
                  <a:pt x="80000" y="81000"/>
                  <a:pt x="77275" y="86350"/>
                </a:cubicBezTo>
                <a:cubicBezTo>
                  <a:pt x="74880" y="91055"/>
                  <a:pt x="71055" y="94880"/>
                  <a:pt x="66350" y="97275"/>
                </a:cubicBezTo>
                <a:cubicBezTo>
                  <a:pt x="61000" y="100000"/>
                  <a:pt x="54000" y="100000"/>
                  <a:pt x="40000" y="100000"/>
                </a:cubicBezTo>
                <a:lnTo>
                  <a:pt x="40000" y="100000"/>
                </a:lnTo>
                <a:cubicBezTo>
                  <a:pt x="26000" y="100000"/>
                  <a:pt x="19000" y="100000"/>
                  <a:pt x="13650" y="97275"/>
                </a:cubicBezTo>
                <a:cubicBezTo>
                  <a:pt x="8945" y="94880"/>
                  <a:pt x="5120" y="91055"/>
                  <a:pt x="2725" y="86350"/>
                </a:cubicBezTo>
                <a:cubicBezTo>
                  <a:pt x="0" y="81000"/>
                  <a:pt x="0" y="74000"/>
                  <a:pt x="0" y="60000"/>
                </a:cubicBezTo>
                <a:lnTo>
                  <a:pt x="0" y="40000"/>
                </a:lnTo>
                <a:cubicBezTo>
                  <a:pt x="0" y="26000"/>
                  <a:pt x="0" y="19000"/>
                  <a:pt x="2725" y="13650"/>
                </a:cubicBezTo>
                <a:cubicBezTo>
                  <a:pt x="5120" y="8945"/>
                  <a:pt x="8945" y="5120"/>
                  <a:pt x="13650" y="2725"/>
                </a:cubicBezTo>
                <a:cubicBezTo>
                  <a:pt x="19000" y="0"/>
                  <a:pt x="26000" y="0"/>
                  <a:pt x="40000"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91" name="TextBox 33"/>
          <p:cNvSpPr txBox="1"/>
          <p:nvPr/>
        </p:nvSpPr>
        <p:spPr>
          <a:xfrm>
            <a:off x="9728200" y="127000"/>
            <a:ext cx="203200" cy="254000"/>
          </a:xfrm>
          <a:prstGeom prst="rect">
            <a:avLst/>
          </a:prstGeom>
        </p:spPr>
        <p:txBody>
          <a:bodyPr wrap="square" lIns="0" tIns="0" rIns="0" bIns="0" anchor="ctr">
            <a:noAutofit/>
          </a:bodyPr>
          <a:lstStyle/>
          <a:p>
            <a:pPr algn="ctr">
              <a:lnSpc>
                <a:spcPct val="135000"/>
              </a:lnSpc>
            </a:pPr>
            <a:r>
              <a:rPr sz="640" spc="0">
                <a:solidFill>
                  <a:srgbClr val="67676E"/>
                </a:solidFill>
                <a:latin typeface="Telegraf"/>
              </a:rPr>
              <a:t>↺</a:t>
            </a:r>
            <a:endParaRPr sz="640" spc="0">
              <a:solidFill>
                <a:srgbClr val="67676E"/>
              </a:solidFill>
              <a:latin typeface="Telegraf"/>
            </a:endParaRPr>
          </a:p>
        </p:txBody>
      </p:sp>
      <p:sp>
        <p:nvSpPr>
          <p:cNvPr id="1892" name="Rectangle 34"/>
          <p:cNvSpPr/>
          <p:nvPr/>
        </p:nvSpPr>
        <p:spPr>
          <a:xfrm>
            <a:off x="8612632" y="114300"/>
            <a:ext cx="988568" cy="292100"/>
          </a:xfrm>
          <a:custGeom>
            <a:avLst/>
            <a:gdLst/>
            <a:ahLst/>
            <a:cxnLst/>
            <a:rect l="l" t="t" r="r" b="b"/>
            <a:pathLst>
              <a:path w="100000" h="29548">
                <a:moveTo>
                  <a:pt x="85226" y="0"/>
                </a:moveTo>
                <a:cubicBezTo>
                  <a:pt x="85226" y="0"/>
                  <a:pt x="85226" y="0"/>
                  <a:pt x="85226" y="0"/>
                </a:cubicBezTo>
                <a:cubicBezTo>
                  <a:pt x="93385" y="0"/>
                  <a:pt x="100000" y="6615"/>
                  <a:pt x="100000" y="14774"/>
                </a:cubicBezTo>
                <a:cubicBezTo>
                  <a:pt x="100000" y="14774"/>
                  <a:pt x="100000" y="14774"/>
                  <a:pt x="100000" y="14774"/>
                </a:cubicBezTo>
                <a:lnTo>
                  <a:pt x="100000" y="14774"/>
                </a:lnTo>
                <a:cubicBezTo>
                  <a:pt x="100000" y="14774"/>
                  <a:pt x="100000" y="14774"/>
                  <a:pt x="100000" y="14774"/>
                </a:cubicBezTo>
                <a:cubicBezTo>
                  <a:pt x="100000" y="22933"/>
                  <a:pt x="93385" y="29548"/>
                  <a:pt x="85226" y="29548"/>
                </a:cubicBezTo>
                <a:cubicBezTo>
                  <a:pt x="85226" y="29548"/>
                  <a:pt x="85226" y="29548"/>
                  <a:pt x="85226" y="29548"/>
                </a:cubicBezTo>
                <a:lnTo>
                  <a:pt x="14774" y="29548"/>
                </a:lnTo>
                <a:cubicBezTo>
                  <a:pt x="14774" y="29548"/>
                  <a:pt x="14774" y="29548"/>
                  <a:pt x="14774" y="29548"/>
                </a:cubicBezTo>
                <a:cubicBezTo>
                  <a:pt x="6615" y="29548"/>
                  <a:pt x="0" y="22933"/>
                  <a:pt x="0" y="14774"/>
                </a:cubicBezTo>
                <a:cubicBezTo>
                  <a:pt x="0" y="14774"/>
                  <a:pt x="0" y="14774"/>
                  <a:pt x="0" y="14774"/>
                </a:cubicBezTo>
                <a:lnTo>
                  <a:pt x="0" y="14774"/>
                </a:lnTo>
                <a:cubicBezTo>
                  <a:pt x="0" y="14774"/>
                  <a:pt x="0" y="14774"/>
                  <a:pt x="0" y="14774"/>
                </a:cubicBezTo>
                <a:cubicBezTo>
                  <a:pt x="0" y="6615"/>
                  <a:pt x="6615" y="0"/>
                  <a:pt x="14774" y="0"/>
                </a:cubicBezTo>
                <a:cubicBezTo>
                  <a:pt x="14774" y="0"/>
                  <a:pt x="14774" y="0"/>
                  <a:pt x="1477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93" name="Oval 35"/>
          <p:cNvSpPr/>
          <p:nvPr/>
        </p:nvSpPr>
        <p:spPr>
          <a:xfrm>
            <a:off x="8674862" y="24130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94" name="TextBox 36"/>
          <p:cNvSpPr txBox="1"/>
          <p:nvPr/>
        </p:nvSpPr>
        <p:spPr>
          <a:xfrm>
            <a:off x="8777732" y="114300"/>
            <a:ext cx="772668" cy="2921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Test my AI agent</a:t>
            </a:r>
            <a:endParaRPr sz="580" b="1" spc="10">
              <a:solidFill>
                <a:srgbClr val="FFFFFF"/>
              </a:solidFill>
              <a:latin typeface="Telegraf"/>
            </a:endParaRPr>
          </a:p>
        </p:txBody>
      </p:sp>
      <p:sp>
        <p:nvSpPr>
          <p:cNvPr id="1895" name="Rectangle 37"/>
          <p:cNvSpPr/>
          <p:nvPr/>
        </p:nvSpPr>
        <p:spPr>
          <a:xfrm>
            <a:off x="7215632" y="114300"/>
            <a:ext cx="1168400" cy="2921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96" name="Oval 38"/>
          <p:cNvSpPr/>
          <p:nvPr/>
        </p:nvSpPr>
        <p:spPr>
          <a:xfrm>
            <a:off x="7276719" y="219837"/>
            <a:ext cx="59817" cy="59817"/>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897" name="Freeform 1897"/>
          <p:cNvSpPr/>
          <p:nvPr/>
        </p:nvSpPr>
        <p:spPr>
          <a:xfrm>
            <a:off x="7330694" y="273812"/>
            <a:ext cx="28067" cy="28067"/>
          </a:xfrm>
          <a:custGeom>
            <a:avLst/>
            <a:gdLst/>
            <a:ahLst/>
            <a:cxnLst/>
            <a:rect l="l" t="t" r="r" b="b"/>
            <a:pathLst>
              <a:path w="100000" h="100000" fill="none">
                <a:moveTo>
                  <a:pt x="0" y="0"/>
                </a:moveTo>
                <a:lnTo>
                  <a:pt x="100000" y="100000"/>
                </a:lnTo>
              </a:path>
            </a:pathLst>
          </a:custGeom>
          <a:noFill/>
          <a:ln w="1206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1898" name="TextBox 40"/>
          <p:cNvSpPr txBox="1"/>
          <p:nvPr/>
        </p:nvSpPr>
        <p:spPr>
          <a:xfrm>
            <a:off x="7418832" y="114300"/>
            <a:ext cx="889000" cy="292100"/>
          </a:xfrm>
          <a:prstGeom prst="rect">
            <a:avLst/>
          </a:prstGeom>
        </p:spPr>
        <p:txBody>
          <a:bodyPr wrap="square" lIns="0" tIns="0" rIns="0" bIns="0" anchor="ctr">
            <a:noAutofit/>
          </a:bodyPr>
          <a:lstStyle/>
          <a:p>
            <a:pPr>
              <a:lnSpc>
                <a:spcPct val="135000"/>
              </a:lnSpc>
            </a:pPr>
            <a:r>
              <a:rPr sz="560" spc="0">
                <a:solidFill>
                  <a:srgbClr val="A2A2A8"/>
                </a:solidFill>
                <a:latin typeface="Telegraf"/>
              </a:rPr>
              <a:t>Search tickets</a:t>
            </a:r>
            <a:endParaRPr sz="560" spc="0">
              <a:solidFill>
                <a:srgbClr val="A2A2A8"/>
              </a:solidFill>
              <a:latin typeface="Telegraf"/>
            </a:endParaRPr>
          </a:p>
        </p:txBody>
      </p:sp>
      <p:sp>
        <p:nvSpPr>
          <p:cNvPr id="1899" name="TextBox 41"/>
          <p:cNvSpPr txBox="1"/>
          <p:nvPr/>
        </p:nvSpPr>
        <p:spPr>
          <a:xfrm>
            <a:off x="762000" y="685800"/>
            <a:ext cx="4064000" cy="381000"/>
          </a:xfrm>
          <a:prstGeom prst="rect">
            <a:avLst/>
          </a:prstGeom>
        </p:spPr>
        <p:txBody>
          <a:bodyPr wrap="square" lIns="0" tIns="0" rIns="0" bIns="0">
            <a:noAutofit/>
          </a:bodyPr>
          <a:lstStyle/>
          <a:p>
            <a:pPr>
              <a:lnSpc>
                <a:spcPct val="102000"/>
              </a:lnSpc>
            </a:pPr>
            <a:r>
              <a:rPr sz="2500" spc="-100">
                <a:solidFill>
                  <a:srgbClr val="0A0A0A"/>
                </a:solidFill>
                <a:latin typeface="PP Editorial New Ultralight"/>
              </a:rPr>
              <a:t>Call me now.</a:t>
            </a:r>
            <a:endParaRPr sz="2500" spc="-100">
              <a:solidFill>
                <a:srgbClr val="0A0A0A"/>
              </a:solidFill>
              <a:latin typeface="PP Editorial New Ultralight"/>
            </a:endParaRPr>
          </a:p>
        </p:txBody>
      </p:sp>
      <p:sp>
        <p:nvSpPr>
          <p:cNvPr id="1900" name="TextBox 42"/>
          <p:cNvSpPr txBox="1"/>
          <p:nvPr/>
        </p:nvSpPr>
        <p:spPr>
          <a:xfrm>
            <a:off x="774700" y="1066800"/>
            <a:ext cx="4572000" cy="152400"/>
          </a:xfrm>
          <a:prstGeom prst="rect">
            <a:avLst/>
          </a:prstGeom>
        </p:spPr>
        <p:txBody>
          <a:bodyPr wrap="square" lIns="0" tIns="0" rIns="0" bIns="0">
            <a:noAutofit/>
          </a:bodyPr>
          <a:lstStyle/>
          <a:p>
            <a:pPr>
              <a:lnSpc>
                <a:spcPct val="135000"/>
              </a:lnSpc>
            </a:pPr>
            <a:r>
              <a:rPr sz="540" spc="0">
                <a:solidFill>
                  <a:srgbClr val="67676E"/>
                </a:solidFill>
                <a:latin typeface="Telegraf"/>
              </a:rPr>
              <a:t>One shared number · context injected per call</a:t>
            </a:r>
            <a:endParaRPr sz="540" spc="0">
              <a:solidFill>
                <a:srgbClr val="67676E"/>
              </a:solidFill>
              <a:latin typeface="Telegraf"/>
            </a:endParaRPr>
          </a:p>
        </p:txBody>
      </p:sp>
      <p:sp>
        <p:nvSpPr>
          <p:cNvPr id="1901" name="Rectangle 43"/>
          <p:cNvSpPr/>
          <p:nvPr/>
        </p:nvSpPr>
        <p:spPr>
          <a:xfrm>
            <a:off x="8890000" y="965200"/>
            <a:ext cx="1219200" cy="228600"/>
          </a:xfrm>
          <a:custGeom>
            <a:avLst/>
            <a:gdLst/>
            <a:ahLst/>
            <a:cxnLst/>
            <a:rect l="l" t="t" r="r" b="b"/>
            <a:pathLst>
              <a:path w="100000" h="18750">
                <a:moveTo>
                  <a:pt x="90625" y="0"/>
                </a:moveTo>
                <a:cubicBezTo>
                  <a:pt x="90625" y="0"/>
                  <a:pt x="90625" y="0"/>
                  <a:pt x="90625" y="0"/>
                </a:cubicBezTo>
                <a:cubicBezTo>
                  <a:pt x="95803" y="0"/>
                  <a:pt x="100000" y="4197"/>
                  <a:pt x="100000" y="9375"/>
                </a:cubicBezTo>
                <a:cubicBezTo>
                  <a:pt x="100000" y="9375"/>
                  <a:pt x="100000" y="9375"/>
                  <a:pt x="100000" y="9375"/>
                </a:cubicBezTo>
                <a:lnTo>
                  <a:pt x="100000" y="9375"/>
                </a:lnTo>
                <a:cubicBezTo>
                  <a:pt x="100000" y="9375"/>
                  <a:pt x="100000" y="9375"/>
                  <a:pt x="100000" y="9375"/>
                </a:cubicBezTo>
                <a:cubicBezTo>
                  <a:pt x="100000" y="14553"/>
                  <a:pt x="95803" y="18750"/>
                  <a:pt x="90625" y="18750"/>
                </a:cubicBezTo>
                <a:cubicBezTo>
                  <a:pt x="90625" y="18750"/>
                  <a:pt x="90625" y="18750"/>
                  <a:pt x="90625" y="18750"/>
                </a:cubicBezTo>
                <a:lnTo>
                  <a:pt x="9375" y="18750"/>
                </a:lnTo>
                <a:cubicBezTo>
                  <a:pt x="9375" y="18750"/>
                  <a:pt x="9375" y="18750"/>
                  <a:pt x="9375" y="18750"/>
                </a:cubicBezTo>
                <a:cubicBezTo>
                  <a:pt x="4197" y="18750"/>
                  <a:pt x="0" y="14553"/>
                  <a:pt x="0" y="9375"/>
                </a:cubicBezTo>
                <a:cubicBezTo>
                  <a:pt x="0" y="9375"/>
                  <a:pt x="0" y="9375"/>
                  <a:pt x="0" y="9375"/>
                </a:cubicBezTo>
                <a:lnTo>
                  <a:pt x="0" y="9375"/>
                </a:lnTo>
                <a:cubicBezTo>
                  <a:pt x="0" y="9375"/>
                  <a:pt x="0" y="9375"/>
                  <a:pt x="0" y="9375"/>
                </a:cubicBezTo>
                <a:cubicBezTo>
                  <a:pt x="0" y="4197"/>
                  <a:pt x="4197" y="0"/>
                  <a:pt x="9375" y="0"/>
                </a:cubicBezTo>
                <a:cubicBezTo>
                  <a:pt x="9375" y="0"/>
                  <a:pt x="9375" y="0"/>
                  <a:pt x="9375"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02" name="Oval 44"/>
          <p:cNvSpPr/>
          <p:nvPr/>
        </p:nvSpPr>
        <p:spPr>
          <a:xfrm>
            <a:off x="8952230" y="1060450"/>
            <a:ext cx="38100" cy="3810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03" name="TextBox 45"/>
          <p:cNvSpPr txBox="1"/>
          <p:nvPr/>
        </p:nvSpPr>
        <p:spPr>
          <a:xfrm>
            <a:off x="9055100" y="965200"/>
            <a:ext cx="1003300" cy="228600"/>
          </a:xfrm>
          <a:prstGeom prst="rect">
            <a:avLst/>
          </a:prstGeom>
        </p:spPr>
        <p:txBody>
          <a:bodyPr wrap="square" lIns="0" tIns="0" rIns="0" bIns="0" anchor="ctr">
            <a:noAutofit/>
          </a:bodyPr>
          <a:lstStyle/>
          <a:p>
            <a:pPr>
              <a:lnSpc>
                <a:spcPct val="135000"/>
              </a:lnSpc>
            </a:pPr>
            <a:r>
              <a:rPr sz="460" b="1" spc="10">
                <a:solidFill>
                  <a:srgbClr val="0E6B5F"/>
                </a:solidFill>
                <a:latin typeface="Telegraf"/>
              </a:rPr>
              <a:t>02:41 live</a:t>
            </a:r>
            <a:endParaRPr sz="460" b="1" spc="10">
              <a:solidFill>
                <a:srgbClr val="0E6B5F"/>
              </a:solidFill>
              <a:latin typeface="Telegraf"/>
            </a:endParaRPr>
          </a:p>
        </p:txBody>
      </p:sp>
      <p:sp>
        <p:nvSpPr>
          <p:cNvPr id="1904" name="TextBox 46"/>
          <p:cNvSpPr txBox="1"/>
          <p:nvPr/>
        </p:nvSpPr>
        <p:spPr>
          <a:xfrm>
            <a:off x="762000" y="1308100"/>
            <a:ext cx="4064000" cy="101600"/>
          </a:xfrm>
          <a:prstGeom prst="rect">
            <a:avLst/>
          </a:prstGeom>
        </p:spPr>
        <p:txBody>
          <a:bodyPr wrap="square" lIns="0" tIns="0" rIns="0" bIns="0">
            <a:noAutofit/>
          </a:bodyPr>
          <a:lstStyle/>
          <a:p>
            <a:r>
              <a:rPr sz="490" b="1" spc="100">
                <a:solidFill>
                  <a:srgbClr val="A2A2A8"/>
                </a:solidFill>
                <a:latin typeface="Telegraf"/>
              </a:rPr>
              <a:t>BUSINESS</a:t>
            </a:r>
            <a:endParaRPr sz="490" b="1" spc="100">
              <a:solidFill>
                <a:srgbClr val="A2A2A8"/>
              </a:solidFill>
              <a:latin typeface="Telegraf"/>
            </a:endParaRPr>
          </a:p>
        </p:txBody>
      </p:sp>
      <p:sp>
        <p:nvSpPr>
          <p:cNvPr id="1905" name="Rectangle 47"/>
          <p:cNvSpPr/>
          <p:nvPr/>
        </p:nvSpPr>
        <p:spPr>
          <a:xfrm>
            <a:off x="762000" y="1422400"/>
            <a:ext cx="4064000" cy="304800"/>
          </a:xfrm>
          <a:custGeom>
            <a:avLst/>
            <a:gdLst/>
            <a:ahLst/>
            <a:cxnLst/>
            <a:rect l="l" t="t" r="r" b="b"/>
            <a:pathLst>
              <a:path w="100000" h="7500">
                <a:moveTo>
                  <a:pt x="96250" y="0"/>
                </a:moveTo>
                <a:cubicBezTo>
                  <a:pt x="97712" y="0"/>
                  <a:pt x="98443" y="0"/>
                  <a:pt x="98976" y="335"/>
                </a:cubicBezTo>
                <a:cubicBezTo>
                  <a:pt x="99255" y="510"/>
                  <a:pt x="99490" y="745"/>
                  <a:pt x="99665" y="1024"/>
                </a:cubicBezTo>
                <a:cubicBezTo>
                  <a:pt x="100000" y="1557"/>
                  <a:pt x="100000" y="2288"/>
                  <a:pt x="100000" y="3750"/>
                </a:cubicBezTo>
                <a:lnTo>
                  <a:pt x="100000" y="3750"/>
                </a:lnTo>
                <a:cubicBezTo>
                  <a:pt x="100000" y="5212"/>
                  <a:pt x="100000" y="5943"/>
                  <a:pt x="99665" y="6476"/>
                </a:cubicBezTo>
                <a:cubicBezTo>
                  <a:pt x="99490" y="6755"/>
                  <a:pt x="99255" y="6990"/>
                  <a:pt x="98976" y="7165"/>
                </a:cubicBezTo>
                <a:cubicBezTo>
                  <a:pt x="98443" y="7500"/>
                  <a:pt x="97712" y="7500"/>
                  <a:pt x="96250" y="7500"/>
                </a:cubicBezTo>
                <a:lnTo>
                  <a:pt x="3750" y="7500"/>
                </a:lnTo>
                <a:cubicBezTo>
                  <a:pt x="2288" y="7500"/>
                  <a:pt x="1557" y="7500"/>
                  <a:pt x="1024" y="7165"/>
                </a:cubicBezTo>
                <a:cubicBezTo>
                  <a:pt x="745" y="6990"/>
                  <a:pt x="510" y="6755"/>
                  <a:pt x="335" y="6476"/>
                </a:cubicBezTo>
                <a:cubicBezTo>
                  <a:pt x="0" y="5943"/>
                  <a:pt x="0" y="5212"/>
                  <a:pt x="0" y="3750"/>
                </a:cubicBezTo>
                <a:lnTo>
                  <a:pt x="0" y="3750"/>
                </a:lnTo>
                <a:cubicBezTo>
                  <a:pt x="0" y="2288"/>
                  <a:pt x="0" y="1557"/>
                  <a:pt x="335" y="1024"/>
                </a:cubicBezTo>
                <a:cubicBezTo>
                  <a:pt x="510" y="745"/>
                  <a:pt x="745" y="510"/>
                  <a:pt x="1024" y="335"/>
                </a:cubicBezTo>
                <a:cubicBezTo>
                  <a:pt x="1557" y="0"/>
                  <a:pt x="2288" y="0"/>
                  <a:pt x="3750"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06" name="TextBox 48"/>
          <p:cNvSpPr txBox="1"/>
          <p:nvPr/>
        </p:nvSpPr>
        <p:spPr>
          <a:xfrm>
            <a:off x="863600" y="1422400"/>
            <a:ext cx="3733800" cy="304800"/>
          </a:xfrm>
          <a:prstGeom prst="rect">
            <a:avLst/>
          </a:prstGeom>
        </p:spPr>
        <p:txBody>
          <a:bodyPr wrap="square" lIns="0" tIns="0" rIns="0" bIns="0" anchor="ctr">
            <a:noAutofit/>
          </a:bodyPr>
          <a:lstStyle/>
          <a:p>
            <a:pPr>
              <a:lnSpc>
                <a:spcPct val="140000"/>
              </a:lnSpc>
            </a:pPr>
            <a:r>
              <a:rPr sz="540" spc="0">
                <a:solidFill>
                  <a:srgbClr val="0A0A0A"/>
                </a:solidFill>
                <a:latin typeface="Telegraf"/>
              </a:rPr>
              <a:t>CloudPulse CRM</a:t>
            </a:r>
            <a:endParaRPr sz="540" spc="0">
              <a:solidFill>
                <a:srgbClr val="0A0A0A"/>
              </a:solidFill>
              <a:latin typeface="Telegraf"/>
            </a:endParaRPr>
          </a:p>
        </p:txBody>
      </p:sp>
      <p:sp>
        <p:nvSpPr>
          <p:cNvPr id="1907" name="TextBox 49"/>
          <p:cNvSpPr txBox="1"/>
          <p:nvPr/>
        </p:nvSpPr>
        <p:spPr>
          <a:xfrm>
            <a:off x="4546600" y="1422400"/>
            <a:ext cx="203200" cy="304800"/>
          </a:xfrm>
          <a:prstGeom prst="rect">
            <a:avLst/>
          </a:prstGeom>
        </p:spPr>
        <p:txBody>
          <a:bodyPr wrap="square" lIns="0" tIns="0" rIns="0" bIns="0" anchor="ctr">
            <a:noAutofit/>
          </a:bodyPr>
          <a:lstStyle/>
          <a:p>
            <a:pPr algn="r">
              <a:lnSpc>
                <a:spcPct val="135000"/>
              </a:lnSpc>
            </a:pPr>
            <a:r>
              <a:rPr sz="540" spc="0">
                <a:solidFill>
                  <a:srgbClr val="67676E"/>
                </a:solidFill>
                <a:latin typeface="Telegraf"/>
              </a:rPr>
              <a:t>▾</a:t>
            </a:r>
            <a:endParaRPr sz="540" spc="0">
              <a:solidFill>
                <a:srgbClr val="67676E"/>
              </a:solidFill>
              <a:latin typeface="Telegraf"/>
            </a:endParaRPr>
          </a:p>
        </p:txBody>
      </p:sp>
      <p:sp>
        <p:nvSpPr>
          <p:cNvPr id="1908" name="TextBox 50"/>
          <p:cNvSpPr txBox="1"/>
          <p:nvPr/>
        </p:nvSpPr>
        <p:spPr>
          <a:xfrm>
            <a:off x="762000" y="1866900"/>
            <a:ext cx="4064000" cy="101600"/>
          </a:xfrm>
          <a:prstGeom prst="rect">
            <a:avLst/>
          </a:prstGeom>
        </p:spPr>
        <p:txBody>
          <a:bodyPr wrap="square" lIns="0" tIns="0" rIns="0" bIns="0">
            <a:noAutofit/>
          </a:bodyPr>
          <a:lstStyle/>
          <a:p>
            <a:r>
              <a:rPr sz="490" b="1" spc="100">
                <a:solidFill>
                  <a:srgbClr val="A2A2A8"/>
                </a:solidFill>
                <a:latin typeface="Telegraf"/>
              </a:rPr>
              <a:t>VERIFIED CALLBACK NUMBER</a:t>
            </a:r>
            <a:endParaRPr sz="490" b="1" spc="100">
              <a:solidFill>
                <a:srgbClr val="A2A2A8"/>
              </a:solidFill>
              <a:latin typeface="Telegraf"/>
            </a:endParaRPr>
          </a:p>
        </p:txBody>
      </p:sp>
      <p:sp>
        <p:nvSpPr>
          <p:cNvPr id="1909" name="Rectangle 51"/>
          <p:cNvSpPr/>
          <p:nvPr/>
        </p:nvSpPr>
        <p:spPr>
          <a:xfrm>
            <a:off x="762000" y="1981200"/>
            <a:ext cx="4064000" cy="304800"/>
          </a:xfrm>
          <a:custGeom>
            <a:avLst/>
            <a:gdLst/>
            <a:ahLst/>
            <a:cxnLst/>
            <a:rect l="l" t="t" r="r" b="b"/>
            <a:pathLst>
              <a:path w="100000" h="7500">
                <a:moveTo>
                  <a:pt x="96250" y="0"/>
                </a:moveTo>
                <a:cubicBezTo>
                  <a:pt x="97712" y="0"/>
                  <a:pt x="98443" y="0"/>
                  <a:pt x="98976" y="335"/>
                </a:cubicBezTo>
                <a:cubicBezTo>
                  <a:pt x="99255" y="510"/>
                  <a:pt x="99490" y="745"/>
                  <a:pt x="99665" y="1024"/>
                </a:cubicBezTo>
                <a:cubicBezTo>
                  <a:pt x="100000" y="1557"/>
                  <a:pt x="100000" y="2288"/>
                  <a:pt x="100000" y="3750"/>
                </a:cubicBezTo>
                <a:lnTo>
                  <a:pt x="100000" y="3750"/>
                </a:lnTo>
                <a:cubicBezTo>
                  <a:pt x="100000" y="5212"/>
                  <a:pt x="100000" y="5943"/>
                  <a:pt x="99665" y="6476"/>
                </a:cubicBezTo>
                <a:cubicBezTo>
                  <a:pt x="99490" y="6755"/>
                  <a:pt x="99255" y="6990"/>
                  <a:pt x="98976" y="7165"/>
                </a:cubicBezTo>
                <a:cubicBezTo>
                  <a:pt x="98443" y="7500"/>
                  <a:pt x="97712" y="7500"/>
                  <a:pt x="96250" y="7500"/>
                </a:cubicBezTo>
                <a:lnTo>
                  <a:pt x="3750" y="7500"/>
                </a:lnTo>
                <a:cubicBezTo>
                  <a:pt x="2288" y="7500"/>
                  <a:pt x="1557" y="7500"/>
                  <a:pt x="1024" y="7165"/>
                </a:cubicBezTo>
                <a:cubicBezTo>
                  <a:pt x="745" y="6990"/>
                  <a:pt x="510" y="6755"/>
                  <a:pt x="335" y="6476"/>
                </a:cubicBezTo>
                <a:cubicBezTo>
                  <a:pt x="0" y="5943"/>
                  <a:pt x="0" y="5212"/>
                  <a:pt x="0" y="3750"/>
                </a:cubicBezTo>
                <a:lnTo>
                  <a:pt x="0" y="3750"/>
                </a:lnTo>
                <a:cubicBezTo>
                  <a:pt x="0" y="2288"/>
                  <a:pt x="0" y="1557"/>
                  <a:pt x="335" y="1024"/>
                </a:cubicBezTo>
                <a:cubicBezTo>
                  <a:pt x="510" y="745"/>
                  <a:pt x="745" y="510"/>
                  <a:pt x="1024" y="335"/>
                </a:cubicBezTo>
                <a:cubicBezTo>
                  <a:pt x="1557" y="0"/>
                  <a:pt x="2288" y="0"/>
                  <a:pt x="3750"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10" name="TextBox 52"/>
          <p:cNvSpPr txBox="1"/>
          <p:nvPr/>
        </p:nvSpPr>
        <p:spPr>
          <a:xfrm>
            <a:off x="863600" y="1981200"/>
            <a:ext cx="3886200" cy="304800"/>
          </a:xfrm>
          <a:prstGeom prst="rect">
            <a:avLst/>
          </a:prstGeom>
        </p:spPr>
        <p:txBody>
          <a:bodyPr wrap="square" lIns="0" tIns="0" rIns="0" bIns="0" anchor="ctr">
            <a:noAutofit/>
          </a:bodyPr>
          <a:lstStyle/>
          <a:p>
            <a:pPr>
              <a:lnSpc>
                <a:spcPct val="140000"/>
              </a:lnSpc>
            </a:pPr>
            <a:r>
              <a:rPr sz="540" spc="0">
                <a:solidFill>
                  <a:srgbClr val="0A0A0A"/>
                </a:solidFill>
                <a:latin typeface="Telegraf"/>
              </a:rPr>
              <a:t>+91 98123 45678</a:t>
            </a:r>
            <a:endParaRPr sz="540" spc="0">
              <a:solidFill>
                <a:srgbClr val="0A0A0A"/>
              </a:solidFill>
              <a:latin typeface="Telegraf"/>
            </a:endParaRPr>
          </a:p>
        </p:txBody>
      </p:sp>
      <p:sp>
        <p:nvSpPr>
          <p:cNvPr id="1911" name="Rectangle 53"/>
          <p:cNvSpPr/>
          <p:nvPr/>
        </p:nvSpPr>
        <p:spPr>
          <a:xfrm>
            <a:off x="762000" y="2463800"/>
            <a:ext cx="4064000" cy="355600"/>
          </a:xfrm>
          <a:custGeom>
            <a:avLst/>
            <a:gdLst/>
            <a:ahLst/>
            <a:cxnLst/>
            <a:rect l="l" t="t" r="r" b="b"/>
            <a:pathLst>
              <a:path w="100000" h="8750">
                <a:moveTo>
                  <a:pt x="95625" y="0"/>
                </a:moveTo>
                <a:cubicBezTo>
                  <a:pt x="95625" y="0"/>
                  <a:pt x="95625" y="0"/>
                  <a:pt x="95625" y="0"/>
                </a:cubicBezTo>
                <a:cubicBezTo>
                  <a:pt x="98041" y="0"/>
                  <a:pt x="100000" y="1959"/>
                  <a:pt x="100000" y="4375"/>
                </a:cubicBezTo>
                <a:cubicBezTo>
                  <a:pt x="100000" y="4375"/>
                  <a:pt x="100000" y="4375"/>
                  <a:pt x="100000" y="4375"/>
                </a:cubicBezTo>
                <a:lnTo>
                  <a:pt x="100000" y="4375"/>
                </a:lnTo>
                <a:cubicBezTo>
                  <a:pt x="100000" y="4375"/>
                  <a:pt x="100000" y="4375"/>
                  <a:pt x="100000" y="4375"/>
                </a:cubicBezTo>
                <a:cubicBezTo>
                  <a:pt x="100000" y="6791"/>
                  <a:pt x="98041" y="8750"/>
                  <a:pt x="95625" y="8750"/>
                </a:cubicBezTo>
                <a:cubicBezTo>
                  <a:pt x="95625" y="8750"/>
                  <a:pt x="95625" y="8750"/>
                  <a:pt x="95625" y="8750"/>
                </a:cubicBezTo>
                <a:lnTo>
                  <a:pt x="4375" y="8750"/>
                </a:lnTo>
                <a:cubicBezTo>
                  <a:pt x="4375" y="8750"/>
                  <a:pt x="4375" y="8750"/>
                  <a:pt x="4375" y="8750"/>
                </a:cubicBezTo>
                <a:cubicBezTo>
                  <a:pt x="1959" y="8750"/>
                  <a:pt x="0" y="6791"/>
                  <a:pt x="0" y="4375"/>
                </a:cubicBezTo>
                <a:cubicBezTo>
                  <a:pt x="0" y="4375"/>
                  <a:pt x="0" y="4375"/>
                  <a:pt x="0" y="4375"/>
                </a:cubicBezTo>
                <a:lnTo>
                  <a:pt x="0" y="4375"/>
                </a:lnTo>
                <a:cubicBezTo>
                  <a:pt x="0" y="4375"/>
                  <a:pt x="0" y="4375"/>
                  <a:pt x="0" y="4375"/>
                </a:cubicBezTo>
                <a:cubicBezTo>
                  <a:pt x="0" y="1959"/>
                  <a:pt x="1959" y="0"/>
                  <a:pt x="4375" y="0"/>
                </a:cubicBezTo>
                <a:cubicBezTo>
                  <a:pt x="4375" y="0"/>
                  <a:pt x="4375" y="0"/>
                  <a:pt x="4375"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12" name="Oval 54"/>
          <p:cNvSpPr/>
          <p:nvPr/>
        </p:nvSpPr>
        <p:spPr>
          <a:xfrm>
            <a:off x="824230" y="262255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13" name="TextBox 55"/>
          <p:cNvSpPr txBox="1"/>
          <p:nvPr/>
        </p:nvSpPr>
        <p:spPr>
          <a:xfrm>
            <a:off x="927100" y="2463800"/>
            <a:ext cx="3848100" cy="355600"/>
          </a:xfrm>
          <a:prstGeom prst="rect">
            <a:avLst/>
          </a:prstGeom>
        </p:spPr>
        <p:txBody>
          <a:bodyPr wrap="square" lIns="0" tIns="0" rIns="0" bIns="0" anchor="ctr">
            <a:noAutofit/>
          </a:bodyPr>
          <a:lstStyle/>
          <a:p>
            <a:pPr>
              <a:lnSpc>
                <a:spcPct val="135000"/>
              </a:lnSpc>
            </a:pPr>
            <a:r>
              <a:rPr sz="600" b="1" spc="10">
                <a:solidFill>
                  <a:srgbClr val="FFFFFF"/>
                </a:solidFill>
                <a:latin typeface="Telegraf"/>
              </a:rPr>
              <a:t>Call me now</a:t>
            </a:r>
            <a:endParaRPr sz="600" b="1" spc="10">
              <a:solidFill>
                <a:srgbClr val="FFFFFF"/>
              </a:solidFill>
              <a:latin typeface="Telegraf"/>
            </a:endParaRPr>
          </a:p>
        </p:txBody>
      </p:sp>
      <p:sp>
        <p:nvSpPr>
          <p:cNvPr id="1914" name="TextBox 56"/>
          <p:cNvSpPr txBox="1"/>
          <p:nvPr/>
        </p:nvSpPr>
        <p:spPr>
          <a:xfrm>
            <a:off x="762000" y="2895600"/>
            <a:ext cx="4064000" cy="127000"/>
          </a:xfrm>
          <a:prstGeom prst="rect">
            <a:avLst/>
          </a:prstGeom>
        </p:spPr>
        <p:txBody>
          <a:bodyPr wrap="square" lIns="0" tIns="0" rIns="0" bIns="0">
            <a:noAutofit/>
          </a:bodyPr>
          <a:lstStyle/>
          <a:p>
            <a:pPr>
              <a:lnSpc>
                <a:spcPct val="135000"/>
              </a:lnSpc>
            </a:pPr>
            <a:r>
              <a:rPr sz="460" spc="0">
                <a:solidFill>
                  <a:srgbClr val="A2A2A8"/>
                </a:solidFill>
                <a:latin typeface="Telegraf"/>
              </a:rPr>
              <a:t>Sarvam dials this number and reads the four-digit session pin aloud.</a:t>
            </a:r>
            <a:endParaRPr sz="460" spc="0">
              <a:solidFill>
                <a:srgbClr val="A2A2A8"/>
              </a:solidFill>
              <a:latin typeface="Telegraf"/>
            </a:endParaRPr>
          </a:p>
        </p:txBody>
      </p:sp>
      <p:sp>
        <p:nvSpPr>
          <p:cNvPr id="1915" name="Oval 57"/>
          <p:cNvSpPr/>
          <p:nvPr/>
        </p:nvSpPr>
        <p:spPr>
          <a:xfrm>
            <a:off x="807720" y="3271520"/>
            <a:ext cx="162560" cy="1625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16" name="Freeform 1916"/>
          <p:cNvSpPr/>
          <p:nvPr/>
        </p:nvSpPr>
        <p:spPr>
          <a:xfrm>
            <a:off x="855980" y="33280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917" name="Rectangle 59"/>
          <p:cNvSpPr/>
          <p:nvPr/>
        </p:nvSpPr>
        <p:spPr>
          <a:xfrm>
            <a:off x="882650" y="3441700"/>
            <a:ext cx="11430" cy="330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18" name="TextBox 60"/>
          <p:cNvSpPr txBox="1"/>
          <p:nvPr/>
        </p:nvSpPr>
        <p:spPr>
          <a:xfrm>
            <a:off x="1066800" y="3263900"/>
            <a:ext cx="1905000" cy="152400"/>
          </a:xfrm>
          <a:prstGeom prst="rect">
            <a:avLst/>
          </a:prstGeom>
        </p:spPr>
        <p:txBody>
          <a:bodyPr wrap="square" lIns="0" tIns="0" rIns="0" bIns="0">
            <a:noAutofit/>
          </a:bodyPr>
          <a:lstStyle/>
          <a:p>
            <a:pPr>
              <a:lnSpc>
                <a:spcPct val="135000"/>
              </a:lnSpc>
            </a:pPr>
            <a:r>
              <a:rPr sz="600" b="1" spc="0">
                <a:solidFill>
                  <a:srgbClr val="0A0A0A"/>
                </a:solidFill>
                <a:latin typeface="Telegraf"/>
              </a:rPr>
              <a:t>Initiated</a:t>
            </a:r>
            <a:endParaRPr sz="600" b="1" spc="0">
              <a:solidFill>
                <a:srgbClr val="0A0A0A"/>
              </a:solidFill>
              <a:latin typeface="Telegraf"/>
            </a:endParaRPr>
          </a:p>
        </p:txBody>
      </p:sp>
      <p:sp>
        <p:nvSpPr>
          <p:cNvPr id="1919" name="TextBox 61"/>
          <p:cNvSpPr txBox="1"/>
          <p:nvPr/>
        </p:nvSpPr>
        <p:spPr>
          <a:xfrm>
            <a:off x="1066800" y="3403600"/>
            <a:ext cx="2540000" cy="127000"/>
          </a:xfrm>
          <a:prstGeom prst="rect">
            <a:avLst/>
          </a:prstGeom>
        </p:spPr>
        <p:txBody>
          <a:bodyPr wrap="square" lIns="0" tIns="0" rIns="0" bIns="0">
            <a:noAutofit/>
          </a:bodyPr>
          <a:lstStyle/>
          <a:p>
            <a:pPr>
              <a:lnSpc>
                <a:spcPct val="135000"/>
              </a:lnSpc>
            </a:pPr>
            <a:r>
              <a:rPr sz="440" spc="0">
                <a:solidFill>
                  <a:srgbClr val="A2A2A8"/>
                </a:solidFill>
                <a:latin typeface="Telegraf"/>
              </a:rPr>
              <a:t>validated ownership</a:t>
            </a:r>
            <a:endParaRPr sz="440" spc="0">
              <a:solidFill>
                <a:srgbClr val="A2A2A8"/>
              </a:solidFill>
              <a:latin typeface="Telegraf"/>
            </a:endParaRPr>
          </a:p>
        </p:txBody>
      </p:sp>
      <p:sp>
        <p:nvSpPr>
          <p:cNvPr id="1920" name="TextBox 62"/>
          <p:cNvSpPr txBox="1"/>
          <p:nvPr/>
        </p:nvSpPr>
        <p:spPr>
          <a:xfrm>
            <a:off x="4191000" y="3276600"/>
            <a:ext cx="6350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14:02:11</a:t>
            </a:r>
            <a:endParaRPr sz="460" spc="0">
              <a:solidFill>
                <a:srgbClr val="A2A2A8"/>
              </a:solidFill>
              <a:latin typeface="Telegraf"/>
            </a:endParaRPr>
          </a:p>
        </p:txBody>
      </p:sp>
      <p:sp>
        <p:nvSpPr>
          <p:cNvPr id="1921" name="Oval 63"/>
          <p:cNvSpPr/>
          <p:nvPr/>
        </p:nvSpPr>
        <p:spPr>
          <a:xfrm>
            <a:off x="807720" y="3754120"/>
            <a:ext cx="162560" cy="1625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22" name="Freeform 1922"/>
          <p:cNvSpPr/>
          <p:nvPr/>
        </p:nvSpPr>
        <p:spPr>
          <a:xfrm>
            <a:off x="855980" y="38106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FFFFFF"/>
            </a:solidFill>
            <a:round/>
          </a:ln>
        </p:spPr>
        <p:style>
          <a:lnRef idx="1">
            <a:schemeClr val="accent1"/>
          </a:lnRef>
          <a:fillRef idx="0">
            <a:schemeClr val="accent1"/>
          </a:fillRef>
          <a:effectRef idx="0">
            <a:schemeClr val="accent1"/>
          </a:effectRef>
          <a:fontRef idx="minor">
            <a:schemeClr val="tx1"/>
          </a:fontRef>
        </p:style>
      </p:sp>
      <p:sp>
        <p:nvSpPr>
          <p:cNvPr id="1923" name="Rectangle 65"/>
          <p:cNvSpPr/>
          <p:nvPr/>
        </p:nvSpPr>
        <p:spPr>
          <a:xfrm>
            <a:off x="882650" y="3924300"/>
            <a:ext cx="11430" cy="330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24" name="TextBox 66"/>
          <p:cNvSpPr txBox="1"/>
          <p:nvPr/>
        </p:nvSpPr>
        <p:spPr>
          <a:xfrm>
            <a:off x="1066800" y="3746500"/>
            <a:ext cx="1905000" cy="152400"/>
          </a:xfrm>
          <a:prstGeom prst="rect">
            <a:avLst/>
          </a:prstGeom>
        </p:spPr>
        <p:txBody>
          <a:bodyPr wrap="square" lIns="0" tIns="0" rIns="0" bIns="0">
            <a:noAutofit/>
          </a:bodyPr>
          <a:lstStyle/>
          <a:p>
            <a:pPr>
              <a:lnSpc>
                <a:spcPct val="135000"/>
              </a:lnSpc>
            </a:pPr>
            <a:r>
              <a:rPr sz="600" b="1" spc="0">
                <a:solidFill>
                  <a:srgbClr val="0A0A0A"/>
                </a:solidFill>
                <a:latin typeface="Telegraf"/>
              </a:rPr>
              <a:t>Ringing</a:t>
            </a:r>
            <a:endParaRPr sz="600" b="1" spc="0">
              <a:solidFill>
                <a:srgbClr val="0A0A0A"/>
              </a:solidFill>
              <a:latin typeface="Telegraf"/>
            </a:endParaRPr>
          </a:p>
        </p:txBody>
      </p:sp>
      <p:sp>
        <p:nvSpPr>
          <p:cNvPr id="1925" name="TextBox 67"/>
          <p:cNvSpPr txBox="1"/>
          <p:nvPr/>
        </p:nvSpPr>
        <p:spPr>
          <a:xfrm>
            <a:off x="1066800" y="3886200"/>
            <a:ext cx="2540000" cy="127000"/>
          </a:xfrm>
          <a:prstGeom prst="rect">
            <a:avLst/>
          </a:prstGeom>
        </p:spPr>
        <p:txBody>
          <a:bodyPr wrap="square" lIns="0" tIns="0" rIns="0" bIns="0">
            <a:noAutofit/>
          </a:bodyPr>
          <a:lstStyle/>
          <a:p>
            <a:pPr>
              <a:lnSpc>
                <a:spcPct val="135000"/>
              </a:lnSpc>
            </a:pPr>
            <a:r>
              <a:rPr sz="440" spc="0">
                <a:solidFill>
                  <a:srgbClr val="A2A2A8"/>
                </a:solidFill>
                <a:latin typeface="Telegraf"/>
              </a:rPr>
              <a:t>Sarvam accepted the call</a:t>
            </a:r>
            <a:endParaRPr sz="440" spc="0">
              <a:solidFill>
                <a:srgbClr val="A2A2A8"/>
              </a:solidFill>
              <a:latin typeface="Telegraf"/>
            </a:endParaRPr>
          </a:p>
        </p:txBody>
      </p:sp>
      <p:sp>
        <p:nvSpPr>
          <p:cNvPr id="1926" name="TextBox 68"/>
          <p:cNvSpPr txBox="1"/>
          <p:nvPr/>
        </p:nvSpPr>
        <p:spPr>
          <a:xfrm>
            <a:off x="4191000" y="3759200"/>
            <a:ext cx="6350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14:02:19</a:t>
            </a:r>
            <a:endParaRPr sz="460" spc="0">
              <a:solidFill>
                <a:srgbClr val="A2A2A8"/>
              </a:solidFill>
              <a:latin typeface="Telegraf"/>
            </a:endParaRPr>
          </a:p>
        </p:txBody>
      </p:sp>
      <p:sp>
        <p:nvSpPr>
          <p:cNvPr id="1927" name="Oval 69"/>
          <p:cNvSpPr/>
          <p:nvPr/>
        </p:nvSpPr>
        <p:spPr>
          <a:xfrm>
            <a:off x="807720" y="4236720"/>
            <a:ext cx="162560" cy="16256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28" name="Oval 70"/>
          <p:cNvSpPr/>
          <p:nvPr/>
        </p:nvSpPr>
        <p:spPr>
          <a:xfrm>
            <a:off x="858520" y="4287520"/>
            <a:ext cx="60960" cy="6096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29" name="Rectangle 71"/>
          <p:cNvSpPr/>
          <p:nvPr/>
        </p:nvSpPr>
        <p:spPr>
          <a:xfrm>
            <a:off x="882650" y="4406900"/>
            <a:ext cx="11430" cy="3302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30" name="TextBox 72"/>
          <p:cNvSpPr txBox="1"/>
          <p:nvPr/>
        </p:nvSpPr>
        <p:spPr>
          <a:xfrm>
            <a:off x="1066800" y="4229100"/>
            <a:ext cx="1905000" cy="152400"/>
          </a:xfrm>
          <a:prstGeom prst="rect">
            <a:avLst/>
          </a:prstGeom>
        </p:spPr>
        <p:txBody>
          <a:bodyPr wrap="square" lIns="0" tIns="0" rIns="0" bIns="0">
            <a:noAutofit/>
          </a:bodyPr>
          <a:lstStyle/>
          <a:p>
            <a:pPr>
              <a:lnSpc>
                <a:spcPct val="135000"/>
              </a:lnSpc>
            </a:pPr>
            <a:r>
              <a:rPr sz="600" b="1" spc="0">
                <a:solidFill>
                  <a:srgbClr val="0A0A0A"/>
                </a:solidFill>
                <a:latin typeface="Telegraf"/>
              </a:rPr>
              <a:t>In progress</a:t>
            </a:r>
            <a:endParaRPr sz="600" b="1" spc="0">
              <a:solidFill>
                <a:srgbClr val="0A0A0A"/>
              </a:solidFill>
              <a:latin typeface="Telegraf"/>
            </a:endParaRPr>
          </a:p>
        </p:txBody>
      </p:sp>
      <p:sp>
        <p:nvSpPr>
          <p:cNvPr id="1931" name="TextBox 73"/>
          <p:cNvSpPr txBox="1"/>
          <p:nvPr/>
        </p:nvSpPr>
        <p:spPr>
          <a:xfrm>
            <a:off x="1066800" y="4368800"/>
            <a:ext cx="2540000" cy="127000"/>
          </a:xfrm>
          <a:prstGeom prst="rect">
            <a:avLst/>
          </a:prstGeom>
        </p:spPr>
        <p:txBody>
          <a:bodyPr wrap="square" lIns="0" tIns="0" rIns="0" bIns="0">
            <a:noAutofit/>
          </a:bodyPr>
          <a:lstStyle/>
          <a:p>
            <a:pPr>
              <a:lnSpc>
                <a:spcPct val="135000"/>
              </a:lnSpc>
            </a:pPr>
            <a:r>
              <a:rPr sz="440" spc="0">
                <a:solidFill>
                  <a:srgbClr val="A2A2A8"/>
                </a:solidFill>
                <a:latin typeface="Telegraf"/>
              </a:rPr>
              <a:t>agent grounded in 6 chunks</a:t>
            </a:r>
            <a:endParaRPr sz="440" spc="0">
              <a:solidFill>
                <a:srgbClr val="A2A2A8"/>
              </a:solidFill>
              <a:latin typeface="Telegraf"/>
            </a:endParaRPr>
          </a:p>
        </p:txBody>
      </p:sp>
      <p:sp>
        <p:nvSpPr>
          <p:cNvPr id="1932" name="TextBox 74"/>
          <p:cNvSpPr txBox="1"/>
          <p:nvPr/>
        </p:nvSpPr>
        <p:spPr>
          <a:xfrm>
            <a:off x="4191000" y="4241800"/>
            <a:ext cx="6350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14:02:31</a:t>
            </a:r>
            <a:endParaRPr sz="460" spc="0">
              <a:solidFill>
                <a:srgbClr val="A2A2A8"/>
              </a:solidFill>
              <a:latin typeface="Telegraf"/>
            </a:endParaRPr>
          </a:p>
        </p:txBody>
      </p:sp>
      <p:sp>
        <p:nvSpPr>
          <p:cNvPr id="1933" name="Oval 75"/>
          <p:cNvSpPr/>
          <p:nvPr/>
        </p:nvSpPr>
        <p:spPr>
          <a:xfrm>
            <a:off x="810260" y="4721860"/>
            <a:ext cx="157480" cy="15748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34" name="Oval 76"/>
          <p:cNvSpPr/>
          <p:nvPr/>
        </p:nvSpPr>
        <p:spPr>
          <a:xfrm>
            <a:off x="815340" y="4726940"/>
            <a:ext cx="147320" cy="147320"/>
          </a:xfrm>
          <a:prstGeom prst="ellipse">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35" name="TextBox 77"/>
          <p:cNvSpPr txBox="1"/>
          <p:nvPr/>
        </p:nvSpPr>
        <p:spPr>
          <a:xfrm>
            <a:off x="1066800" y="4711700"/>
            <a:ext cx="1905000" cy="152400"/>
          </a:xfrm>
          <a:prstGeom prst="rect">
            <a:avLst/>
          </a:prstGeom>
        </p:spPr>
        <p:txBody>
          <a:bodyPr wrap="square" lIns="0" tIns="0" rIns="0" bIns="0">
            <a:noAutofit/>
          </a:bodyPr>
          <a:lstStyle/>
          <a:p>
            <a:pPr>
              <a:lnSpc>
                <a:spcPct val="135000"/>
              </a:lnSpc>
            </a:pPr>
            <a:r>
              <a:rPr sz="600" spc="0">
                <a:solidFill>
                  <a:srgbClr val="A2A2A8"/>
                </a:solidFill>
                <a:latin typeface="Telegraf"/>
              </a:rPr>
              <a:t>Completed</a:t>
            </a:r>
            <a:endParaRPr sz="600" spc="0">
              <a:solidFill>
                <a:srgbClr val="A2A2A8"/>
              </a:solidFill>
              <a:latin typeface="Telegraf"/>
            </a:endParaRPr>
          </a:p>
        </p:txBody>
      </p:sp>
      <p:sp>
        <p:nvSpPr>
          <p:cNvPr id="1936" name="TextBox 78"/>
          <p:cNvSpPr txBox="1"/>
          <p:nvPr/>
        </p:nvSpPr>
        <p:spPr>
          <a:xfrm>
            <a:off x="1066800" y="4851400"/>
            <a:ext cx="2540000" cy="127000"/>
          </a:xfrm>
          <a:prstGeom prst="rect">
            <a:avLst/>
          </a:prstGeom>
        </p:spPr>
        <p:txBody>
          <a:bodyPr wrap="square" lIns="0" tIns="0" rIns="0" bIns="0">
            <a:noAutofit/>
          </a:bodyPr>
          <a:lstStyle/>
          <a:p>
            <a:pPr>
              <a:lnSpc>
                <a:spcPct val="135000"/>
              </a:lnSpc>
            </a:pPr>
            <a:r>
              <a:rPr sz="440" spc="0">
                <a:solidFill>
                  <a:srgbClr val="A2A2A8"/>
                </a:solidFill>
                <a:latin typeface="Telegraf"/>
              </a:rPr>
              <a:t>transcript saves on hang-up</a:t>
            </a:r>
            <a:endParaRPr sz="440" spc="0">
              <a:solidFill>
                <a:srgbClr val="A2A2A8"/>
              </a:solidFill>
              <a:latin typeface="Telegraf"/>
            </a:endParaRPr>
          </a:p>
        </p:txBody>
      </p:sp>
      <p:sp>
        <p:nvSpPr>
          <p:cNvPr id="1937" name="TextBox 79"/>
          <p:cNvSpPr txBox="1"/>
          <p:nvPr/>
        </p:nvSpPr>
        <p:spPr>
          <a:xfrm>
            <a:off x="4191000" y="4724400"/>
            <a:ext cx="635000" cy="127000"/>
          </a:xfrm>
          <a:prstGeom prst="rect">
            <a:avLst/>
          </a:prstGeom>
        </p:spPr>
        <p:txBody>
          <a:bodyPr wrap="square" lIns="0" tIns="0" rIns="0" bIns="0">
            <a:noAutofit/>
          </a:bodyPr>
          <a:lstStyle/>
          <a:p>
            <a:pPr algn="r">
              <a:lnSpc>
                <a:spcPct val="135000"/>
              </a:lnSpc>
            </a:pPr>
            <a:r>
              <a:rPr sz="460" spc="0">
                <a:solidFill>
                  <a:srgbClr val="A2A2A8"/>
                </a:solidFill>
                <a:latin typeface="Telegraf"/>
              </a:rPr>
              <a:t>—</a:t>
            </a:r>
            <a:endParaRPr sz="460" spc="0">
              <a:solidFill>
                <a:srgbClr val="A2A2A8"/>
              </a:solidFill>
              <a:latin typeface="Telegraf"/>
            </a:endParaRPr>
          </a:p>
        </p:txBody>
      </p:sp>
      <p:sp>
        <p:nvSpPr>
          <p:cNvPr id="1938" name="Rectangle 80"/>
          <p:cNvSpPr/>
          <p:nvPr/>
        </p:nvSpPr>
        <p:spPr>
          <a:xfrm>
            <a:off x="762000" y="5181600"/>
            <a:ext cx="1930400" cy="1143000"/>
          </a:xfrm>
          <a:custGeom>
            <a:avLst/>
            <a:gdLst/>
            <a:ahLst/>
            <a:cxnLst/>
            <a:rect l="l" t="t" r="r" b="b"/>
            <a:pathLst>
              <a:path w="100000" h="59211">
                <a:moveTo>
                  <a:pt x="84211" y="0"/>
                </a:moveTo>
                <a:cubicBezTo>
                  <a:pt x="91654" y="0"/>
                  <a:pt x="95376" y="0"/>
                  <a:pt x="97688" y="2313"/>
                </a:cubicBezTo>
                <a:cubicBezTo>
                  <a:pt x="97688" y="2313"/>
                  <a:pt x="97688" y="2313"/>
                  <a:pt x="97688" y="2313"/>
                </a:cubicBezTo>
                <a:cubicBezTo>
                  <a:pt x="100000" y="4624"/>
                  <a:pt x="100000" y="8346"/>
                  <a:pt x="100000" y="15789"/>
                </a:cubicBezTo>
                <a:lnTo>
                  <a:pt x="100000" y="43421"/>
                </a:lnTo>
                <a:cubicBezTo>
                  <a:pt x="100000" y="50864"/>
                  <a:pt x="100000" y="54586"/>
                  <a:pt x="97688" y="56898"/>
                </a:cubicBezTo>
                <a:cubicBezTo>
                  <a:pt x="97688" y="56898"/>
                  <a:pt x="97688" y="56898"/>
                  <a:pt x="97688" y="56898"/>
                </a:cubicBezTo>
                <a:cubicBezTo>
                  <a:pt x="95376" y="59211"/>
                  <a:pt x="91654" y="59211"/>
                  <a:pt x="84211" y="59211"/>
                </a:cubicBezTo>
                <a:lnTo>
                  <a:pt x="15789" y="59211"/>
                </a:lnTo>
                <a:cubicBezTo>
                  <a:pt x="8346" y="59211"/>
                  <a:pt x="4624" y="59211"/>
                  <a:pt x="2313" y="56898"/>
                </a:cubicBezTo>
                <a:cubicBezTo>
                  <a:pt x="2313" y="56898"/>
                  <a:pt x="2313" y="56898"/>
                  <a:pt x="2313" y="56898"/>
                </a:cubicBezTo>
                <a:cubicBezTo>
                  <a:pt x="0" y="54586"/>
                  <a:pt x="0" y="50864"/>
                  <a:pt x="0" y="43421"/>
                </a:cubicBezTo>
                <a:lnTo>
                  <a:pt x="0" y="15789"/>
                </a:lnTo>
                <a:cubicBezTo>
                  <a:pt x="0" y="8346"/>
                  <a:pt x="0" y="4624"/>
                  <a:pt x="2313" y="2313"/>
                </a:cubicBezTo>
                <a:cubicBezTo>
                  <a:pt x="2313" y="2313"/>
                  <a:pt x="2313" y="2313"/>
                  <a:pt x="2313" y="2313"/>
                </a:cubicBezTo>
                <a:cubicBezTo>
                  <a:pt x="4624" y="0"/>
                  <a:pt x="8346" y="0"/>
                  <a:pt x="15789"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39" name="TextBox 81"/>
          <p:cNvSpPr txBox="1"/>
          <p:nvPr/>
        </p:nvSpPr>
        <p:spPr>
          <a:xfrm>
            <a:off x="939800" y="5308600"/>
            <a:ext cx="1524000" cy="114300"/>
          </a:xfrm>
          <a:prstGeom prst="rect">
            <a:avLst/>
          </a:prstGeom>
        </p:spPr>
        <p:txBody>
          <a:bodyPr wrap="square" lIns="0" tIns="0" rIns="0" bIns="0">
            <a:noAutofit/>
          </a:bodyPr>
          <a:lstStyle/>
          <a:p>
            <a:r>
              <a:rPr sz="440" b="1" spc="110">
                <a:solidFill>
                  <a:srgbClr val="0E6B5F"/>
                </a:solidFill>
                <a:latin typeface="Telegraf"/>
              </a:rPr>
              <a:t>FALLBACK PIN</a:t>
            </a:r>
            <a:endParaRPr sz="440" b="1" spc="110">
              <a:solidFill>
                <a:srgbClr val="0E6B5F"/>
              </a:solidFill>
              <a:latin typeface="Telegraf"/>
            </a:endParaRPr>
          </a:p>
        </p:txBody>
      </p:sp>
      <p:sp>
        <p:nvSpPr>
          <p:cNvPr id="1940" name="TextBox 82"/>
          <p:cNvSpPr txBox="1"/>
          <p:nvPr/>
        </p:nvSpPr>
        <p:spPr>
          <a:xfrm>
            <a:off x="927100" y="5435600"/>
            <a:ext cx="1524000" cy="508000"/>
          </a:xfrm>
          <a:prstGeom prst="rect">
            <a:avLst/>
          </a:prstGeom>
        </p:spPr>
        <p:txBody>
          <a:bodyPr wrap="square" lIns="0" tIns="0" rIns="0" bIns="0">
            <a:noAutofit/>
          </a:bodyPr>
          <a:lstStyle/>
          <a:p>
            <a:pPr>
              <a:lnSpc>
                <a:spcPct val="102000"/>
              </a:lnSpc>
            </a:pPr>
            <a:r>
              <a:rPr sz="3000" spc="-160">
                <a:solidFill>
                  <a:srgbClr val="0E6B5F"/>
                </a:solidFill>
                <a:latin typeface="PP Editorial New Ultralight"/>
              </a:rPr>
              <a:t>4821</a:t>
            </a:r>
            <a:endParaRPr sz="3000" spc="-160">
              <a:solidFill>
                <a:srgbClr val="0E6B5F"/>
              </a:solidFill>
              <a:latin typeface="PP Editorial New Ultralight"/>
            </a:endParaRPr>
          </a:p>
        </p:txBody>
      </p:sp>
      <p:sp>
        <p:nvSpPr>
          <p:cNvPr id="1941" name="TextBox 83"/>
          <p:cNvSpPr txBox="1"/>
          <p:nvPr/>
        </p:nvSpPr>
        <p:spPr>
          <a:xfrm>
            <a:off x="939800" y="5969000"/>
            <a:ext cx="1600200" cy="254000"/>
          </a:xfrm>
          <a:prstGeom prst="rect">
            <a:avLst/>
          </a:prstGeom>
        </p:spPr>
        <p:txBody>
          <a:bodyPr wrap="square" lIns="0" tIns="0" rIns="0" bIns="0">
            <a:noAutofit/>
          </a:bodyPr>
          <a:lstStyle/>
          <a:p>
            <a:pPr>
              <a:lnSpc>
                <a:spcPct val="135000"/>
              </a:lnSpc>
            </a:pPr>
            <a:r>
              <a:rPr sz="440" spc="0">
                <a:solidFill>
                  <a:srgbClr val="0E6B5F"/>
                </a:solidFill>
                <a:latin typeface="Telegraf"/>
              </a:rPr>
              <a:t>read it to the agent if</a:t>
            </a:r>
            <a:endParaRPr sz="440" spc="0">
              <a:solidFill>
                <a:srgbClr val="0E6B5F"/>
              </a:solidFill>
              <a:latin typeface="Telegraf"/>
            </a:endParaRPr>
          </a:p>
          <a:p>
            <a:pPr>
              <a:lnSpc>
                <a:spcPct val="135000"/>
              </a:lnSpc>
            </a:pPr>
            <a:r>
              <a:rPr sz="440" spc="0">
                <a:solidFill>
                  <a:srgbClr val="0E6B5F"/>
                </a:solidFill>
                <a:latin typeface="Telegraf"/>
              </a:rPr>
              <a:t>context is missing</a:t>
            </a:r>
            <a:endParaRPr sz="440" spc="0">
              <a:solidFill>
                <a:srgbClr val="0E6B5F"/>
              </a:solidFill>
              <a:latin typeface="Telegraf"/>
            </a:endParaRPr>
          </a:p>
        </p:txBody>
      </p:sp>
      <p:sp>
        <p:nvSpPr>
          <p:cNvPr id="1942" name="TextBox 84"/>
          <p:cNvSpPr txBox="1"/>
          <p:nvPr/>
        </p:nvSpPr>
        <p:spPr>
          <a:xfrm>
            <a:off x="762000" y="6426200"/>
            <a:ext cx="1930400" cy="127000"/>
          </a:xfrm>
          <a:prstGeom prst="rect">
            <a:avLst/>
          </a:prstGeom>
        </p:spPr>
        <p:txBody>
          <a:bodyPr wrap="square" lIns="0" tIns="0" rIns="0" bIns="0">
            <a:noAutofit/>
          </a:bodyPr>
          <a:lstStyle/>
          <a:p>
            <a:pPr>
              <a:lnSpc>
                <a:spcPct val="135000"/>
              </a:lnSpc>
            </a:pPr>
            <a:r>
              <a:rPr sz="440" spc="0">
                <a:solidFill>
                  <a:srgbClr val="A2A2A8"/>
                </a:solidFill>
                <a:latin typeface="Telegraf"/>
              </a:rPr>
              <a:t>expires in 09:41</a:t>
            </a:r>
            <a:endParaRPr sz="440" spc="0">
              <a:solidFill>
                <a:srgbClr val="A2A2A8"/>
              </a:solidFill>
              <a:latin typeface="Telegraf"/>
            </a:endParaRPr>
          </a:p>
        </p:txBody>
      </p:sp>
      <p:sp>
        <p:nvSpPr>
          <p:cNvPr id="1943" name="Rectangle 85"/>
          <p:cNvSpPr/>
          <p:nvPr/>
        </p:nvSpPr>
        <p:spPr>
          <a:xfrm>
            <a:off x="5080000" y="1219200"/>
            <a:ext cx="5029200" cy="3124200"/>
          </a:xfrm>
          <a:custGeom>
            <a:avLst/>
            <a:gdLst/>
            <a:ahLst/>
            <a:cxnLst/>
            <a:rect l="l" t="t" r="r" b="b"/>
            <a:pathLst>
              <a:path w="100000" h="62121">
                <a:moveTo>
                  <a:pt x="93939" y="0"/>
                </a:moveTo>
                <a:cubicBezTo>
                  <a:pt x="96796" y="0"/>
                  <a:pt x="98225" y="0"/>
                  <a:pt x="99112" y="888"/>
                </a:cubicBezTo>
                <a:cubicBezTo>
                  <a:pt x="99112" y="888"/>
                  <a:pt x="99112" y="888"/>
                  <a:pt x="99112" y="888"/>
                </a:cubicBezTo>
                <a:cubicBezTo>
                  <a:pt x="100000" y="1775"/>
                  <a:pt x="100000" y="3204"/>
                  <a:pt x="100000" y="6061"/>
                </a:cubicBezTo>
                <a:lnTo>
                  <a:pt x="100000" y="56061"/>
                </a:lnTo>
                <a:cubicBezTo>
                  <a:pt x="100000" y="58918"/>
                  <a:pt x="100000" y="60346"/>
                  <a:pt x="99112" y="61234"/>
                </a:cubicBezTo>
                <a:cubicBezTo>
                  <a:pt x="99112" y="61234"/>
                  <a:pt x="99112" y="61234"/>
                  <a:pt x="99112" y="61234"/>
                </a:cubicBezTo>
                <a:cubicBezTo>
                  <a:pt x="98225" y="62121"/>
                  <a:pt x="96796" y="62121"/>
                  <a:pt x="93939" y="62121"/>
                </a:cubicBezTo>
                <a:lnTo>
                  <a:pt x="6061" y="62121"/>
                </a:lnTo>
                <a:cubicBezTo>
                  <a:pt x="3204" y="62121"/>
                  <a:pt x="1775" y="62121"/>
                  <a:pt x="888" y="61234"/>
                </a:cubicBezTo>
                <a:cubicBezTo>
                  <a:pt x="888" y="61234"/>
                  <a:pt x="888" y="61234"/>
                  <a:pt x="888" y="61234"/>
                </a:cubicBezTo>
                <a:cubicBezTo>
                  <a:pt x="0" y="60346"/>
                  <a:pt x="0" y="58918"/>
                  <a:pt x="0" y="56061"/>
                </a:cubicBezTo>
                <a:lnTo>
                  <a:pt x="0" y="6061"/>
                </a:lnTo>
                <a:cubicBezTo>
                  <a:pt x="0" y="3204"/>
                  <a:pt x="0" y="1775"/>
                  <a:pt x="888" y="888"/>
                </a:cubicBezTo>
                <a:cubicBezTo>
                  <a:pt x="888" y="888"/>
                  <a:pt x="888" y="888"/>
                  <a:pt x="888" y="888"/>
                </a:cubicBezTo>
                <a:cubicBezTo>
                  <a:pt x="1775" y="0"/>
                  <a:pt x="3204" y="0"/>
                  <a:pt x="6061" y="0"/>
                </a:cubicBezTo>
                <a:close/>
              </a:path>
            </a:pathLst>
          </a:custGeom>
          <a:solidFill>
            <a:srgbClr val="FBFBF9"/>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44" name="TextBox 86"/>
          <p:cNvSpPr txBox="1"/>
          <p:nvPr/>
        </p:nvSpPr>
        <p:spPr>
          <a:xfrm>
            <a:off x="5283200" y="1371600"/>
            <a:ext cx="2540000" cy="114300"/>
          </a:xfrm>
          <a:prstGeom prst="rect">
            <a:avLst/>
          </a:prstGeom>
        </p:spPr>
        <p:txBody>
          <a:bodyPr wrap="square" lIns="0" tIns="0" rIns="0" bIns="0">
            <a:noAutofit/>
          </a:bodyPr>
          <a:lstStyle/>
          <a:p>
            <a:r>
              <a:rPr sz="450" b="1" spc="100">
                <a:solidFill>
                  <a:srgbClr val="A2A2A8"/>
                </a:solidFill>
                <a:latin typeface="Telegraf"/>
              </a:rPr>
              <a:t>LIVE TRANSCRIPT  ·  VSESS_7721</a:t>
            </a:r>
            <a:endParaRPr sz="450" b="1" spc="100">
              <a:solidFill>
                <a:srgbClr val="A2A2A8"/>
              </a:solidFill>
              <a:latin typeface="Telegraf"/>
            </a:endParaRPr>
          </a:p>
        </p:txBody>
      </p:sp>
      <p:sp>
        <p:nvSpPr>
          <p:cNvPr id="1945" name="Rectangle 87"/>
          <p:cNvSpPr/>
          <p:nvPr/>
        </p:nvSpPr>
        <p:spPr>
          <a:xfrm>
            <a:off x="9093200" y="1333500"/>
            <a:ext cx="559689" cy="152400"/>
          </a:xfrm>
          <a:custGeom>
            <a:avLst/>
            <a:gdLst/>
            <a:ahLst/>
            <a:cxnLst/>
            <a:rect l="l" t="t" r="r" b="b"/>
            <a:pathLst>
              <a:path w="100000" h="27229">
                <a:moveTo>
                  <a:pt x="86385" y="0"/>
                </a:moveTo>
                <a:cubicBezTo>
                  <a:pt x="86385" y="0"/>
                  <a:pt x="86385" y="0"/>
                  <a:pt x="86385" y="0"/>
                </a:cubicBezTo>
                <a:cubicBezTo>
                  <a:pt x="93905" y="0"/>
                  <a:pt x="100000" y="6095"/>
                  <a:pt x="100000" y="13615"/>
                </a:cubicBezTo>
                <a:cubicBezTo>
                  <a:pt x="100000" y="13615"/>
                  <a:pt x="100000" y="13615"/>
                  <a:pt x="100000" y="13615"/>
                </a:cubicBezTo>
                <a:lnTo>
                  <a:pt x="100000" y="13615"/>
                </a:lnTo>
                <a:cubicBezTo>
                  <a:pt x="100000" y="13615"/>
                  <a:pt x="100000" y="13615"/>
                  <a:pt x="100000" y="13615"/>
                </a:cubicBezTo>
                <a:cubicBezTo>
                  <a:pt x="100000" y="21135"/>
                  <a:pt x="93905" y="27229"/>
                  <a:pt x="86385" y="27229"/>
                </a:cubicBezTo>
                <a:cubicBezTo>
                  <a:pt x="86385" y="27229"/>
                  <a:pt x="86385" y="27229"/>
                  <a:pt x="86385" y="27229"/>
                </a:cubicBezTo>
                <a:lnTo>
                  <a:pt x="13615" y="27229"/>
                </a:lnTo>
                <a:cubicBezTo>
                  <a:pt x="13615" y="27229"/>
                  <a:pt x="13615" y="27229"/>
                  <a:pt x="13615" y="27229"/>
                </a:cubicBezTo>
                <a:cubicBezTo>
                  <a:pt x="6095" y="27229"/>
                  <a:pt x="0" y="21135"/>
                  <a:pt x="0" y="13615"/>
                </a:cubicBezTo>
                <a:cubicBezTo>
                  <a:pt x="0" y="13615"/>
                  <a:pt x="0" y="13615"/>
                  <a:pt x="0" y="13615"/>
                </a:cubicBezTo>
                <a:lnTo>
                  <a:pt x="0" y="13615"/>
                </a:lnTo>
                <a:cubicBezTo>
                  <a:pt x="0" y="13615"/>
                  <a:pt x="0" y="13615"/>
                  <a:pt x="0" y="13615"/>
                </a:cubicBezTo>
                <a:cubicBezTo>
                  <a:pt x="0" y="6095"/>
                  <a:pt x="6095" y="0"/>
                  <a:pt x="13615" y="0"/>
                </a:cubicBezTo>
                <a:cubicBezTo>
                  <a:pt x="13615" y="0"/>
                  <a:pt x="13615" y="0"/>
                  <a:pt x="13615"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46" name="Oval 88"/>
          <p:cNvSpPr/>
          <p:nvPr/>
        </p:nvSpPr>
        <p:spPr>
          <a:xfrm>
            <a:off x="9145270" y="1388110"/>
            <a:ext cx="43180" cy="4318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47" name="TextBox 89"/>
          <p:cNvSpPr txBox="1"/>
          <p:nvPr/>
        </p:nvSpPr>
        <p:spPr>
          <a:xfrm>
            <a:off x="9222740" y="1333500"/>
            <a:ext cx="407289" cy="152400"/>
          </a:xfrm>
          <a:prstGeom prst="rect">
            <a:avLst/>
          </a:prstGeom>
        </p:spPr>
        <p:txBody>
          <a:bodyPr wrap="square" lIns="0" tIns="0" rIns="0" bIns="0" anchor="ctr">
            <a:noAutofit/>
          </a:bodyPr>
          <a:lstStyle/>
          <a:p>
            <a:pPr>
              <a:lnSpc>
                <a:spcPct val="135000"/>
              </a:lnSpc>
            </a:pPr>
            <a:r>
              <a:rPr sz="440" b="1" spc="0">
                <a:solidFill>
                  <a:srgbClr val="0E6B5F"/>
                </a:solidFill>
                <a:latin typeface="Telegraf"/>
              </a:rPr>
              <a:t>in progress</a:t>
            </a:r>
            <a:endParaRPr sz="440" b="1" spc="0">
              <a:solidFill>
                <a:srgbClr val="0E6B5F"/>
              </a:solidFill>
              <a:latin typeface="Telegraf"/>
            </a:endParaRPr>
          </a:p>
        </p:txBody>
      </p:sp>
      <p:sp>
        <p:nvSpPr>
          <p:cNvPr id="1948" name="Oval 90"/>
          <p:cNvSpPr/>
          <p:nvPr/>
        </p:nvSpPr>
        <p:spPr>
          <a:xfrm>
            <a:off x="5327650" y="1581150"/>
            <a:ext cx="215900" cy="21590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49" name="TextBox 91"/>
          <p:cNvSpPr txBox="1"/>
          <p:nvPr/>
        </p:nvSpPr>
        <p:spPr>
          <a:xfrm>
            <a:off x="5327650" y="1581150"/>
            <a:ext cx="215900" cy="215900"/>
          </a:xfrm>
          <a:prstGeom prst="rect">
            <a:avLst/>
          </a:prstGeom>
        </p:spPr>
        <p:txBody>
          <a:bodyPr wrap="square" lIns="0" tIns="0" rIns="0" bIns="0" anchor="ctr">
            <a:noAutofit/>
          </a:bodyPr>
          <a:lstStyle/>
          <a:p>
            <a:pPr algn="ctr">
              <a:lnSpc>
                <a:spcPct val="135000"/>
              </a:lnSpc>
            </a:pPr>
            <a:r>
              <a:rPr sz="500" b="1" spc="0">
                <a:solidFill>
                  <a:srgbClr val="8FE0CE"/>
                </a:solidFill>
                <a:latin typeface="Telegraf"/>
              </a:rPr>
              <a:t>a</a:t>
            </a:r>
            <a:endParaRPr sz="500" b="1" spc="0">
              <a:solidFill>
                <a:srgbClr val="8FE0CE"/>
              </a:solidFill>
              <a:latin typeface="Telegraf"/>
            </a:endParaRPr>
          </a:p>
        </p:txBody>
      </p:sp>
      <p:sp>
        <p:nvSpPr>
          <p:cNvPr id="1950" name="TextBox 92"/>
          <p:cNvSpPr txBox="1"/>
          <p:nvPr/>
        </p:nvSpPr>
        <p:spPr>
          <a:xfrm>
            <a:off x="5638800" y="1587500"/>
            <a:ext cx="2540000" cy="127000"/>
          </a:xfrm>
          <a:prstGeom prst="rect">
            <a:avLst/>
          </a:prstGeom>
        </p:spPr>
        <p:txBody>
          <a:bodyPr wrap="square" lIns="0" tIns="0" rIns="0" bIns="0">
            <a:noAutofit/>
          </a:bodyPr>
          <a:lstStyle/>
          <a:p>
            <a:pPr>
              <a:lnSpc>
                <a:spcPct val="135000"/>
              </a:lnSpc>
            </a:pPr>
            <a:r>
              <a:rPr sz="460" spc="0">
                <a:solidFill>
                  <a:srgbClr val="A2A2A8"/>
                </a:solidFill>
                <a:latin typeface="Telegraf"/>
              </a:rPr>
              <a:t>Agent</a:t>
            </a:r>
            <a:endParaRPr sz="460" spc="0">
              <a:solidFill>
                <a:srgbClr val="A2A2A8"/>
              </a:solidFill>
              <a:latin typeface="Telegraf"/>
            </a:endParaRPr>
          </a:p>
        </p:txBody>
      </p:sp>
      <p:sp>
        <p:nvSpPr>
          <p:cNvPr id="1951" name="TextBox 93"/>
          <p:cNvSpPr txBox="1"/>
          <p:nvPr/>
        </p:nvSpPr>
        <p:spPr>
          <a:xfrm>
            <a:off x="6146800" y="1587500"/>
            <a:ext cx="762000" cy="127000"/>
          </a:xfrm>
          <a:prstGeom prst="rect">
            <a:avLst/>
          </a:prstGeom>
        </p:spPr>
        <p:txBody>
          <a:bodyPr wrap="square" lIns="0" tIns="0" rIns="0" bIns="0">
            <a:noAutofit/>
          </a:bodyPr>
          <a:lstStyle/>
          <a:p>
            <a:pPr>
              <a:lnSpc>
                <a:spcPct val="135000"/>
              </a:lnSpc>
            </a:pPr>
            <a:r>
              <a:rPr sz="420" spc="0">
                <a:solidFill>
                  <a:srgbClr val="A2A2A8"/>
                </a:solidFill>
                <a:latin typeface="Telegraf"/>
              </a:rPr>
              <a:t>14:02:36</a:t>
            </a:r>
            <a:endParaRPr sz="420" spc="0">
              <a:solidFill>
                <a:srgbClr val="A2A2A8"/>
              </a:solidFill>
              <a:latin typeface="Telegraf"/>
            </a:endParaRPr>
          </a:p>
        </p:txBody>
      </p:sp>
      <p:sp>
        <p:nvSpPr>
          <p:cNvPr id="1952" name="TextBox 94"/>
          <p:cNvSpPr txBox="1"/>
          <p:nvPr/>
        </p:nvSpPr>
        <p:spPr>
          <a:xfrm>
            <a:off x="5638800" y="1727200"/>
            <a:ext cx="4191000" cy="330200"/>
          </a:xfrm>
          <a:prstGeom prst="rect">
            <a:avLst/>
          </a:prstGeom>
        </p:spPr>
        <p:txBody>
          <a:bodyPr wrap="square" lIns="0" tIns="0" rIns="0" bIns="0">
            <a:noAutofit/>
          </a:bodyPr>
          <a:lstStyle/>
          <a:p>
            <a:pPr>
              <a:lnSpc>
                <a:spcPct val="145000"/>
              </a:lnSpc>
            </a:pPr>
            <a:r>
              <a:rPr sz="520" spc="0">
                <a:solidFill>
                  <a:srgbClr val="0A0A0A"/>
                </a:solidFill>
                <a:latin typeface="Telegraf"/>
              </a:rPr>
              <a:t>AfterSales, CloudPulse support — how can I help?</a:t>
            </a:r>
            <a:endParaRPr sz="520" spc="0">
              <a:solidFill>
                <a:srgbClr val="0A0A0A"/>
              </a:solidFill>
              <a:latin typeface="Telegraf"/>
            </a:endParaRPr>
          </a:p>
        </p:txBody>
      </p:sp>
      <p:sp>
        <p:nvSpPr>
          <p:cNvPr id="1953" name="Oval 95"/>
          <p:cNvSpPr/>
          <p:nvPr/>
        </p:nvSpPr>
        <p:spPr>
          <a:xfrm>
            <a:off x="5327650" y="22669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54" name="TextBox 96"/>
          <p:cNvSpPr txBox="1"/>
          <p:nvPr/>
        </p:nvSpPr>
        <p:spPr>
          <a:xfrm>
            <a:off x="5327650" y="2266950"/>
            <a:ext cx="215900" cy="215900"/>
          </a:xfrm>
          <a:prstGeom prst="rect">
            <a:avLst/>
          </a:prstGeom>
        </p:spPr>
        <p:txBody>
          <a:bodyPr wrap="square" lIns="0" tIns="0" rIns="0" bIns="0" anchor="ctr">
            <a:noAutofit/>
          </a:bodyPr>
          <a:lstStyle/>
          <a:p>
            <a:pPr algn="ctr">
              <a:lnSpc>
                <a:spcPct val="135000"/>
              </a:lnSpc>
            </a:pPr>
            <a:r>
              <a:rPr sz="500" b="1" spc="0">
                <a:solidFill>
                  <a:srgbClr val="67676E"/>
                </a:solidFill>
                <a:latin typeface="Telegraf"/>
              </a:rPr>
              <a:t>AM</a:t>
            </a:r>
            <a:endParaRPr sz="500" b="1" spc="0">
              <a:solidFill>
                <a:srgbClr val="67676E"/>
              </a:solidFill>
              <a:latin typeface="Telegraf"/>
            </a:endParaRPr>
          </a:p>
        </p:txBody>
      </p:sp>
      <p:sp>
        <p:nvSpPr>
          <p:cNvPr id="1955" name="TextBox 97"/>
          <p:cNvSpPr txBox="1"/>
          <p:nvPr/>
        </p:nvSpPr>
        <p:spPr>
          <a:xfrm>
            <a:off x="5638800" y="2273300"/>
            <a:ext cx="2540000" cy="127000"/>
          </a:xfrm>
          <a:prstGeom prst="rect">
            <a:avLst/>
          </a:prstGeom>
        </p:spPr>
        <p:txBody>
          <a:bodyPr wrap="square" lIns="0" tIns="0" rIns="0" bIns="0">
            <a:noAutofit/>
          </a:bodyPr>
          <a:lstStyle/>
          <a:p>
            <a:pPr>
              <a:lnSpc>
                <a:spcPct val="135000"/>
              </a:lnSpc>
            </a:pPr>
            <a:r>
              <a:rPr sz="460" spc="0">
                <a:solidFill>
                  <a:srgbClr val="A2A2A8"/>
                </a:solidFill>
                <a:latin typeface="Telegraf"/>
              </a:rPr>
              <a:t>Caller</a:t>
            </a:r>
            <a:endParaRPr sz="460" spc="0">
              <a:solidFill>
                <a:srgbClr val="A2A2A8"/>
              </a:solidFill>
              <a:latin typeface="Telegraf"/>
            </a:endParaRPr>
          </a:p>
        </p:txBody>
      </p:sp>
      <p:sp>
        <p:nvSpPr>
          <p:cNvPr id="1956" name="TextBox 98"/>
          <p:cNvSpPr txBox="1"/>
          <p:nvPr/>
        </p:nvSpPr>
        <p:spPr>
          <a:xfrm>
            <a:off x="6146800" y="2273300"/>
            <a:ext cx="762000" cy="127000"/>
          </a:xfrm>
          <a:prstGeom prst="rect">
            <a:avLst/>
          </a:prstGeom>
        </p:spPr>
        <p:txBody>
          <a:bodyPr wrap="square" lIns="0" tIns="0" rIns="0" bIns="0">
            <a:noAutofit/>
          </a:bodyPr>
          <a:lstStyle/>
          <a:p>
            <a:pPr>
              <a:lnSpc>
                <a:spcPct val="135000"/>
              </a:lnSpc>
            </a:pPr>
            <a:r>
              <a:rPr sz="420" spc="0">
                <a:solidFill>
                  <a:srgbClr val="A2A2A8"/>
                </a:solidFill>
                <a:latin typeface="Telegraf"/>
              </a:rPr>
              <a:t>14:02:39</a:t>
            </a:r>
            <a:endParaRPr sz="420" spc="0">
              <a:solidFill>
                <a:srgbClr val="A2A2A8"/>
              </a:solidFill>
              <a:latin typeface="Telegraf"/>
            </a:endParaRPr>
          </a:p>
        </p:txBody>
      </p:sp>
      <p:sp>
        <p:nvSpPr>
          <p:cNvPr id="1957" name="TextBox 99"/>
          <p:cNvSpPr txBox="1"/>
          <p:nvPr/>
        </p:nvSpPr>
        <p:spPr>
          <a:xfrm>
            <a:off x="5638800" y="2413000"/>
            <a:ext cx="4191000" cy="330200"/>
          </a:xfrm>
          <a:prstGeom prst="rect">
            <a:avLst/>
          </a:prstGeom>
        </p:spPr>
        <p:txBody>
          <a:bodyPr wrap="square" lIns="0" tIns="0" rIns="0" bIns="0">
            <a:noAutofit/>
          </a:bodyPr>
          <a:lstStyle/>
          <a:p>
            <a:pPr>
              <a:lnSpc>
                <a:spcPct val="145000"/>
              </a:lnSpc>
            </a:pPr>
            <a:r>
              <a:rPr sz="520" spc="0">
                <a:solidFill>
                  <a:srgbClr val="0A0A0A"/>
                </a:solidFill>
                <a:latin typeface="Telegraf"/>
              </a:rPr>
              <a:t>What does the Pro plan cost?</a:t>
            </a:r>
            <a:endParaRPr sz="520" spc="0">
              <a:solidFill>
                <a:srgbClr val="0A0A0A"/>
              </a:solidFill>
              <a:latin typeface="Telegraf"/>
            </a:endParaRPr>
          </a:p>
        </p:txBody>
      </p:sp>
      <p:sp>
        <p:nvSpPr>
          <p:cNvPr id="1958" name="Oval 100"/>
          <p:cNvSpPr/>
          <p:nvPr/>
        </p:nvSpPr>
        <p:spPr>
          <a:xfrm>
            <a:off x="5327650" y="2952750"/>
            <a:ext cx="215900" cy="21590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59" name="TextBox 101"/>
          <p:cNvSpPr txBox="1"/>
          <p:nvPr/>
        </p:nvSpPr>
        <p:spPr>
          <a:xfrm>
            <a:off x="5327650" y="2952750"/>
            <a:ext cx="215900" cy="215900"/>
          </a:xfrm>
          <a:prstGeom prst="rect">
            <a:avLst/>
          </a:prstGeom>
        </p:spPr>
        <p:txBody>
          <a:bodyPr wrap="square" lIns="0" tIns="0" rIns="0" bIns="0" anchor="ctr">
            <a:noAutofit/>
          </a:bodyPr>
          <a:lstStyle/>
          <a:p>
            <a:pPr algn="ctr">
              <a:lnSpc>
                <a:spcPct val="135000"/>
              </a:lnSpc>
            </a:pPr>
            <a:r>
              <a:rPr sz="500" b="1" spc="0">
                <a:solidFill>
                  <a:srgbClr val="8FE0CE"/>
                </a:solidFill>
                <a:latin typeface="Telegraf"/>
              </a:rPr>
              <a:t>a</a:t>
            </a:r>
            <a:endParaRPr sz="500" b="1" spc="0">
              <a:solidFill>
                <a:srgbClr val="8FE0CE"/>
              </a:solidFill>
              <a:latin typeface="Telegraf"/>
            </a:endParaRPr>
          </a:p>
        </p:txBody>
      </p:sp>
      <p:sp>
        <p:nvSpPr>
          <p:cNvPr id="1960" name="TextBox 102"/>
          <p:cNvSpPr txBox="1"/>
          <p:nvPr/>
        </p:nvSpPr>
        <p:spPr>
          <a:xfrm>
            <a:off x="5638800" y="2959100"/>
            <a:ext cx="2540000" cy="127000"/>
          </a:xfrm>
          <a:prstGeom prst="rect">
            <a:avLst/>
          </a:prstGeom>
        </p:spPr>
        <p:txBody>
          <a:bodyPr wrap="square" lIns="0" tIns="0" rIns="0" bIns="0">
            <a:noAutofit/>
          </a:bodyPr>
          <a:lstStyle/>
          <a:p>
            <a:pPr>
              <a:lnSpc>
                <a:spcPct val="135000"/>
              </a:lnSpc>
            </a:pPr>
            <a:r>
              <a:rPr sz="460" spc="0">
                <a:solidFill>
                  <a:srgbClr val="A2A2A8"/>
                </a:solidFill>
                <a:latin typeface="Telegraf"/>
              </a:rPr>
              <a:t>Agent</a:t>
            </a:r>
            <a:endParaRPr sz="460" spc="0">
              <a:solidFill>
                <a:srgbClr val="A2A2A8"/>
              </a:solidFill>
              <a:latin typeface="Telegraf"/>
            </a:endParaRPr>
          </a:p>
        </p:txBody>
      </p:sp>
      <p:sp>
        <p:nvSpPr>
          <p:cNvPr id="1961" name="TextBox 103"/>
          <p:cNvSpPr txBox="1"/>
          <p:nvPr/>
        </p:nvSpPr>
        <p:spPr>
          <a:xfrm>
            <a:off x="6146800" y="2959100"/>
            <a:ext cx="762000" cy="127000"/>
          </a:xfrm>
          <a:prstGeom prst="rect">
            <a:avLst/>
          </a:prstGeom>
        </p:spPr>
        <p:txBody>
          <a:bodyPr wrap="square" lIns="0" tIns="0" rIns="0" bIns="0">
            <a:noAutofit/>
          </a:bodyPr>
          <a:lstStyle/>
          <a:p>
            <a:pPr>
              <a:lnSpc>
                <a:spcPct val="135000"/>
              </a:lnSpc>
            </a:pPr>
            <a:r>
              <a:rPr sz="420" spc="0">
                <a:solidFill>
                  <a:srgbClr val="A2A2A8"/>
                </a:solidFill>
                <a:latin typeface="Telegraf"/>
              </a:rPr>
              <a:t>14:02:44</a:t>
            </a:r>
            <a:endParaRPr sz="420" spc="0">
              <a:solidFill>
                <a:srgbClr val="A2A2A8"/>
              </a:solidFill>
              <a:latin typeface="Telegraf"/>
            </a:endParaRPr>
          </a:p>
        </p:txBody>
      </p:sp>
      <p:sp>
        <p:nvSpPr>
          <p:cNvPr id="1962" name="TextBox 104"/>
          <p:cNvSpPr txBox="1"/>
          <p:nvPr/>
        </p:nvSpPr>
        <p:spPr>
          <a:xfrm>
            <a:off x="5638800" y="3098800"/>
            <a:ext cx="4191000" cy="330200"/>
          </a:xfrm>
          <a:prstGeom prst="rect">
            <a:avLst/>
          </a:prstGeom>
        </p:spPr>
        <p:txBody>
          <a:bodyPr wrap="square" lIns="0" tIns="0" rIns="0" bIns="0">
            <a:noAutofit/>
          </a:bodyPr>
          <a:lstStyle/>
          <a:p>
            <a:pPr>
              <a:lnSpc>
                <a:spcPct val="145000"/>
              </a:lnSpc>
            </a:pPr>
            <a:r>
              <a:rPr sz="520" spc="0">
                <a:solidFill>
                  <a:srgbClr val="0A0A0A"/>
                </a:solidFill>
                <a:latin typeface="Telegraf"/>
              </a:rPr>
              <a:t>Pro is ₹1,499 a month for five users, and it includes WhatsApp invoicing.</a:t>
            </a:r>
            <a:endParaRPr sz="520" spc="0">
              <a:solidFill>
                <a:srgbClr val="0A0A0A"/>
              </a:solidFill>
              <a:latin typeface="Telegraf"/>
            </a:endParaRPr>
          </a:p>
        </p:txBody>
      </p:sp>
      <p:sp>
        <p:nvSpPr>
          <p:cNvPr id="1963" name="Oval 105"/>
          <p:cNvSpPr/>
          <p:nvPr/>
        </p:nvSpPr>
        <p:spPr>
          <a:xfrm>
            <a:off x="5327650" y="36385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64" name="TextBox 106"/>
          <p:cNvSpPr txBox="1"/>
          <p:nvPr/>
        </p:nvSpPr>
        <p:spPr>
          <a:xfrm>
            <a:off x="5327650" y="3638550"/>
            <a:ext cx="215900" cy="215900"/>
          </a:xfrm>
          <a:prstGeom prst="rect">
            <a:avLst/>
          </a:prstGeom>
        </p:spPr>
        <p:txBody>
          <a:bodyPr wrap="square" lIns="0" tIns="0" rIns="0" bIns="0" anchor="ctr">
            <a:noAutofit/>
          </a:bodyPr>
          <a:lstStyle/>
          <a:p>
            <a:pPr algn="ctr">
              <a:lnSpc>
                <a:spcPct val="135000"/>
              </a:lnSpc>
            </a:pPr>
            <a:r>
              <a:rPr sz="500" b="1" spc="0">
                <a:solidFill>
                  <a:srgbClr val="67676E"/>
                </a:solidFill>
                <a:latin typeface="Telegraf"/>
              </a:rPr>
              <a:t>AM</a:t>
            </a:r>
            <a:endParaRPr sz="500" b="1" spc="0">
              <a:solidFill>
                <a:srgbClr val="67676E"/>
              </a:solidFill>
              <a:latin typeface="Telegraf"/>
            </a:endParaRPr>
          </a:p>
        </p:txBody>
      </p:sp>
      <p:sp>
        <p:nvSpPr>
          <p:cNvPr id="1965" name="TextBox 107"/>
          <p:cNvSpPr txBox="1"/>
          <p:nvPr/>
        </p:nvSpPr>
        <p:spPr>
          <a:xfrm>
            <a:off x="5638800" y="3644900"/>
            <a:ext cx="2540000" cy="127000"/>
          </a:xfrm>
          <a:prstGeom prst="rect">
            <a:avLst/>
          </a:prstGeom>
        </p:spPr>
        <p:txBody>
          <a:bodyPr wrap="square" lIns="0" tIns="0" rIns="0" bIns="0">
            <a:noAutofit/>
          </a:bodyPr>
          <a:lstStyle/>
          <a:p>
            <a:pPr>
              <a:lnSpc>
                <a:spcPct val="135000"/>
              </a:lnSpc>
            </a:pPr>
            <a:r>
              <a:rPr sz="460" spc="0">
                <a:solidFill>
                  <a:srgbClr val="A2A2A8"/>
                </a:solidFill>
                <a:latin typeface="Telegraf"/>
              </a:rPr>
              <a:t>Caller</a:t>
            </a:r>
            <a:endParaRPr sz="460" spc="0">
              <a:solidFill>
                <a:srgbClr val="A2A2A8"/>
              </a:solidFill>
              <a:latin typeface="Telegraf"/>
            </a:endParaRPr>
          </a:p>
        </p:txBody>
      </p:sp>
      <p:sp>
        <p:nvSpPr>
          <p:cNvPr id="1966" name="TextBox 108"/>
          <p:cNvSpPr txBox="1"/>
          <p:nvPr/>
        </p:nvSpPr>
        <p:spPr>
          <a:xfrm>
            <a:off x="6146800" y="3644900"/>
            <a:ext cx="762000" cy="127000"/>
          </a:xfrm>
          <a:prstGeom prst="rect">
            <a:avLst/>
          </a:prstGeom>
        </p:spPr>
        <p:txBody>
          <a:bodyPr wrap="square" lIns="0" tIns="0" rIns="0" bIns="0">
            <a:noAutofit/>
          </a:bodyPr>
          <a:lstStyle/>
          <a:p>
            <a:pPr>
              <a:lnSpc>
                <a:spcPct val="135000"/>
              </a:lnSpc>
            </a:pPr>
            <a:r>
              <a:rPr sz="420" spc="0">
                <a:solidFill>
                  <a:srgbClr val="A2A2A8"/>
                </a:solidFill>
                <a:latin typeface="Telegraf"/>
              </a:rPr>
              <a:t>14:02:51</a:t>
            </a:r>
            <a:endParaRPr sz="420" spc="0">
              <a:solidFill>
                <a:srgbClr val="A2A2A8"/>
              </a:solidFill>
              <a:latin typeface="Telegraf"/>
            </a:endParaRPr>
          </a:p>
        </p:txBody>
      </p:sp>
      <p:sp>
        <p:nvSpPr>
          <p:cNvPr id="1967" name="TextBox 109"/>
          <p:cNvSpPr txBox="1"/>
          <p:nvPr/>
        </p:nvSpPr>
        <p:spPr>
          <a:xfrm>
            <a:off x="5638800" y="3784600"/>
            <a:ext cx="4191000" cy="330200"/>
          </a:xfrm>
          <a:prstGeom prst="rect">
            <a:avLst/>
          </a:prstGeom>
        </p:spPr>
        <p:txBody>
          <a:bodyPr wrap="square" lIns="0" tIns="0" rIns="0" bIns="0">
            <a:noAutofit/>
          </a:bodyPr>
          <a:lstStyle/>
          <a:p>
            <a:pPr>
              <a:lnSpc>
                <a:spcPct val="145000"/>
              </a:lnSpc>
            </a:pPr>
            <a:r>
              <a:rPr sz="520" spc="0">
                <a:solidFill>
                  <a:srgbClr val="0A0A0A"/>
                </a:solidFill>
                <a:latin typeface="Telegraf"/>
              </a:rPr>
              <a:t>Okay. What is your refund policy for annual billing?</a:t>
            </a:r>
            <a:endParaRPr sz="520" spc="0">
              <a:solidFill>
                <a:srgbClr val="0A0A0A"/>
              </a:solidFill>
              <a:latin typeface="Telegraf"/>
            </a:endParaRPr>
          </a:p>
        </p:txBody>
      </p:sp>
      <p:sp>
        <p:nvSpPr>
          <p:cNvPr id="1968" name="Rectangle 110"/>
          <p:cNvSpPr/>
          <p:nvPr/>
        </p:nvSpPr>
        <p:spPr>
          <a:xfrm>
            <a:off x="5080000" y="4521200"/>
            <a:ext cx="2413000" cy="1168400"/>
          </a:xfrm>
          <a:custGeom>
            <a:avLst/>
            <a:gdLst/>
            <a:ahLst/>
            <a:cxnLst/>
            <a:rect l="l" t="t" r="r" b="b"/>
            <a:pathLst>
              <a:path w="100000" h="48421">
                <a:moveTo>
                  <a:pt x="89474" y="0"/>
                </a:moveTo>
                <a:cubicBezTo>
                  <a:pt x="94436" y="0"/>
                  <a:pt x="96917" y="0"/>
                  <a:pt x="98458" y="1542"/>
                </a:cubicBezTo>
                <a:cubicBezTo>
                  <a:pt x="98458" y="1542"/>
                  <a:pt x="98458" y="1542"/>
                  <a:pt x="98458" y="1542"/>
                </a:cubicBezTo>
                <a:cubicBezTo>
                  <a:pt x="100000" y="3083"/>
                  <a:pt x="100000" y="5564"/>
                  <a:pt x="100000" y="10526"/>
                </a:cubicBezTo>
                <a:lnTo>
                  <a:pt x="100000" y="37895"/>
                </a:lnTo>
                <a:cubicBezTo>
                  <a:pt x="100000" y="42857"/>
                  <a:pt x="100000" y="45338"/>
                  <a:pt x="98458" y="46879"/>
                </a:cubicBezTo>
                <a:cubicBezTo>
                  <a:pt x="98458" y="46879"/>
                  <a:pt x="98458" y="46879"/>
                  <a:pt x="98458" y="46879"/>
                </a:cubicBezTo>
                <a:cubicBezTo>
                  <a:pt x="96917" y="48421"/>
                  <a:pt x="94436" y="48421"/>
                  <a:pt x="89474" y="48421"/>
                </a:cubicBezTo>
                <a:lnTo>
                  <a:pt x="10526" y="48421"/>
                </a:lnTo>
                <a:cubicBezTo>
                  <a:pt x="5564" y="48421"/>
                  <a:pt x="3083" y="48421"/>
                  <a:pt x="1542" y="46879"/>
                </a:cubicBezTo>
                <a:cubicBezTo>
                  <a:pt x="1542" y="46879"/>
                  <a:pt x="1542" y="46879"/>
                  <a:pt x="1542" y="46879"/>
                </a:cubicBezTo>
                <a:cubicBezTo>
                  <a:pt x="0" y="45338"/>
                  <a:pt x="0" y="42857"/>
                  <a:pt x="0" y="37895"/>
                </a:cubicBezTo>
                <a:lnTo>
                  <a:pt x="0" y="10526"/>
                </a:lnTo>
                <a:cubicBezTo>
                  <a:pt x="0" y="5564"/>
                  <a:pt x="0" y="3083"/>
                  <a:pt x="1542" y="1542"/>
                </a:cubicBezTo>
                <a:cubicBezTo>
                  <a:pt x="1542" y="1542"/>
                  <a:pt x="1542" y="1542"/>
                  <a:pt x="1542" y="1542"/>
                </a:cubicBezTo>
                <a:cubicBezTo>
                  <a:pt x="3083" y="0"/>
                  <a:pt x="5564" y="0"/>
                  <a:pt x="1052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69" name="TextBox 111"/>
          <p:cNvSpPr txBox="1"/>
          <p:nvPr/>
        </p:nvSpPr>
        <p:spPr>
          <a:xfrm>
            <a:off x="5257800" y="4648200"/>
            <a:ext cx="2032000" cy="114300"/>
          </a:xfrm>
          <a:prstGeom prst="rect">
            <a:avLst/>
          </a:prstGeom>
        </p:spPr>
        <p:txBody>
          <a:bodyPr wrap="square" lIns="0" tIns="0" rIns="0" bIns="0">
            <a:noAutofit/>
          </a:bodyPr>
          <a:lstStyle/>
          <a:p>
            <a:r>
              <a:rPr sz="440" b="1" spc="100">
                <a:solidFill>
                  <a:srgbClr val="A2A2A8"/>
                </a:solidFill>
                <a:latin typeface="Telegraf"/>
              </a:rPr>
              <a:t>OUTCOME</a:t>
            </a:r>
            <a:endParaRPr sz="440" b="1" spc="100">
              <a:solidFill>
                <a:srgbClr val="A2A2A8"/>
              </a:solidFill>
              <a:latin typeface="Telegraf"/>
            </a:endParaRPr>
          </a:p>
        </p:txBody>
      </p:sp>
      <p:sp>
        <p:nvSpPr>
          <p:cNvPr id="1970" name="TextBox 112"/>
          <p:cNvSpPr txBox="1"/>
          <p:nvPr/>
        </p:nvSpPr>
        <p:spPr>
          <a:xfrm>
            <a:off x="5257800" y="4775200"/>
            <a:ext cx="2032000" cy="254000"/>
          </a:xfrm>
          <a:prstGeom prst="rect">
            <a:avLst/>
          </a:prstGeom>
        </p:spPr>
        <p:txBody>
          <a:bodyPr wrap="square" lIns="0" tIns="0" rIns="0" bIns="0">
            <a:noAutofit/>
          </a:bodyPr>
          <a:lstStyle/>
          <a:p>
            <a:pPr>
              <a:lnSpc>
                <a:spcPct val="135000"/>
              </a:lnSpc>
            </a:pPr>
            <a:r>
              <a:rPr sz="640" b="1" spc="0">
                <a:solidFill>
                  <a:srgbClr val="0A0A0A"/>
                </a:solidFill>
                <a:latin typeface="Telegraf"/>
              </a:rPr>
              <a:t>resolved_by_ai</a:t>
            </a:r>
            <a:endParaRPr sz="640" b="1" spc="0">
              <a:solidFill>
                <a:srgbClr val="0A0A0A"/>
              </a:solidFill>
              <a:latin typeface="Telegraf"/>
            </a:endParaRPr>
          </a:p>
        </p:txBody>
      </p:sp>
      <p:sp>
        <p:nvSpPr>
          <p:cNvPr id="1971" name="TextBox 113"/>
          <p:cNvSpPr txBox="1"/>
          <p:nvPr/>
        </p:nvSpPr>
        <p:spPr>
          <a:xfrm>
            <a:off x="5257800" y="5003800"/>
            <a:ext cx="2032000" cy="127000"/>
          </a:xfrm>
          <a:prstGeom prst="rect">
            <a:avLst/>
          </a:prstGeom>
        </p:spPr>
        <p:txBody>
          <a:bodyPr wrap="square" lIns="0" tIns="0" rIns="0" bIns="0">
            <a:noAutofit/>
          </a:bodyPr>
          <a:lstStyle/>
          <a:p>
            <a:pPr>
              <a:lnSpc>
                <a:spcPct val="135000"/>
              </a:lnSpc>
            </a:pPr>
            <a:r>
              <a:rPr sz="450" spc="0">
                <a:solidFill>
                  <a:srgbClr val="67676E"/>
                </a:solidFill>
                <a:latin typeface="Telegraf"/>
              </a:rPr>
              <a:t>duration 01:12  ·  no escalation</a:t>
            </a:r>
            <a:endParaRPr sz="450" spc="0">
              <a:solidFill>
                <a:srgbClr val="67676E"/>
              </a:solidFill>
              <a:latin typeface="Telegraf"/>
            </a:endParaRPr>
          </a:p>
        </p:txBody>
      </p:sp>
      <p:sp>
        <p:nvSpPr>
          <p:cNvPr id="1972" name="Rectangle 114"/>
          <p:cNvSpPr/>
          <p:nvPr/>
        </p:nvSpPr>
        <p:spPr>
          <a:xfrm>
            <a:off x="5257800" y="5207000"/>
            <a:ext cx="494919" cy="146050"/>
          </a:xfrm>
          <a:custGeom>
            <a:avLst/>
            <a:gdLst/>
            <a:ahLst/>
            <a:cxnLst/>
            <a:rect l="l" t="t" r="r" b="b"/>
            <a:pathLst>
              <a:path w="100000" h="29510">
                <a:moveTo>
                  <a:pt x="85245" y="0"/>
                </a:moveTo>
                <a:cubicBezTo>
                  <a:pt x="85245" y="0"/>
                  <a:pt x="85245" y="0"/>
                  <a:pt x="85245" y="0"/>
                </a:cubicBezTo>
                <a:cubicBezTo>
                  <a:pt x="93395" y="0"/>
                  <a:pt x="100000" y="6605"/>
                  <a:pt x="100000" y="14755"/>
                </a:cubicBezTo>
                <a:cubicBezTo>
                  <a:pt x="100000" y="14755"/>
                  <a:pt x="100000" y="14755"/>
                  <a:pt x="100000" y="14755"/>
                </a:cubicBezTo>
                <a:lnTo>
                  <a:pt x="100000" y="14755"/>
                </a:lnTo>
                <a:cubicBezTo>
                  <a:pt x="100000" y="14755"/>
                  <a:pt x="100000" y="14755"/>
                  <a:pt x="100000" y="14755"/>
                </a:cubicBezTo>
                <a:cubicBezTo>
                  <a:pt x="100000" y="22905"/>
                  <a:pt x="93395" y="29510"/>
                  <a:pt x="85245" y="29510"/>
                </a:cubicBezTo>
                <a:cubicBezTo>
                  <a:pt x="85245" y="29510"/>
                  <a:pt x="85245" y="29510"/>
                  <a:pt x="85245" y="29510"/>
                </a:cubicBezTo>
                <a:lnTo>
                  <a:pt x="14755" y="29510"/>
                </a:lnTo>
                <a:cubicBezTo>
                  <a:pt x="14755" y="29510"/>
                  <a:pt x="14755" y="29510"/>
                  <a:pt x="14755" y="29510"/>
                </a:cubicBezTo>
                <a:cubicBezTo>
                  <a:pt x="6605" y="29510"/>
                  <a:pt x="0" y="22905"/>
                  <a:pt x="0" y="14755"/>
                </a:cubicBezTo>
                <a:cubicBezTo>
                  <a:pt x="0" y="14755"/>
                  <a:pt x="0" y="14755"/>
                  <a:pt x="0" y="14755"/>
                </a:cubicBezTo>
                <a:lnTo>
                  <a:pt x="0" y="14755"/>
                </a:lnTo>
                <a:cubicBezTo>
                  <a:pt x="0" y="14755"/>
                  <a:pt x="0" y="14755"/>
                  <a:pt x="0" y="14755"/>
                </a:cubicBezTo>
                <a:cubicBezTo>
                  <a:pt x="0" y="6605"/>
                  <a:pt x="6605" y="0"/>
                  <a:pt x="14755" y="0"/>
                </a:cubicBezTo>
                <a:cubicBezTo>
                  <a:pt x="14755" y="0"/>
                  <a:pt x="14755" y="0"/>
                  <a:pt x="14755"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73" name="Oval 115"/>
          <p:cNvSpPr/>
          <p:nvPr/>
        </p:nvSpPr>
        <p:spPr>
          <a:xfrm>
            <a:off x="5309870" y="52584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74" name="TextBox 116"/>
          <p:cNvSpPr txBox="1"/>
          <p:nvPr/>
        </p:nvSpPr>
        <p:spPr>
          <a:xfrm>
            <a:off x="5387340" y="5207000"/>
            <a:ext cx="342519"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completed</a:t>
            </a:r>
            <a:endParaRPr sz="440" b="1" spc="0">
              <a:solidFill>
                <a:srgbClr val="0B5C44"/>
              </a:solidFill>
              <a:latin typeface="Telegraf"/>
            </a:endParaRPr>
          </a:p>
        </p:txBody>
      </p:sp>
      <p:sp>
        <p:nvSpPr>
          <p:cNvPr id="1975" name="TextBox 117"/>
          <p:cNvSpPr txBox="1"/>
          <p:nvPr/>
        </p:nvSpPr>
        <p:spPr>
          <a:xfrm>
            <a:off x="5257800" y="5435600"/>
            <a:ext cx="2032000" cy="127000"/>
          </a:xfrm>
          <a:prstGeom prst="rect">
            <a:avLst/>
          </a:prstGeom>
        </p:spPr>
        <p:txBody>
          <a:bodyPr wrap="square" lIns="0" tIns="0" rIns="0" bIns="0">
            <a:noAutofit/>
          </a:bodyPr>
          <a:lstStyle/>
          <a:p>
            <a:pPr>
              <a:lnSpc>
                <a:spcPct val="135000"/>
              </a:lnSpc>
            </a:pPr>
            <a:r>
              <a:rPr sz="430" spc="0">
                <a:solidFill>
                  <a:srgbClr val="A2A2A8"/>
                </a:solidFill>
                <a:latin typeface="Telegraf"/>
              </a:rPr>
              <a:t>AT-04: business A and B differ</a:t>
            </a:r>
            <a:endParaRPr sz="430" spc="0">
              <a:solidFill>
                <a:srgbClr val="A2A2A8"/>
              </a:solidFill>
              <a:latin typeface="Telegraf"/>
            </a:endParaRPr>
          </a:p>
        </p:txBody>
      </p:sp>
      <p:sp>
        <p:nvSpPr>
          <p:cNvPr id="1976" name="Rectangle 118"/>
          <p:cNvSpPr/>
          <p:nvPr/>
        </p:nvSpPr>
        <p:spPr>
          <a:xfrm>
            <a:off x="7620000" y="4521200"/>
            <a:ext cx="2489200" cy="1168400"/>
          </a:xfrm>
          <a:custGeom>
            <a:avLst/>
            <a:gdLst/>
            <a:ahLst/>
            <a:cxnLst/>
            <a:rect l="l" t="t" r="r" b="b"/>
            <a:pathLst>
              <a:path w="100000" h="46939">
                <a:moveTo>
                  <a:pt x="89796" y="0"/>
                </a:moveTo>
                <a:cubicBezTo>
                  <a:pt x="94606" y="0"/>
                  <a:pt x="97011" y="0"/>
                  <a:pt x="98506" y="1494"/>
                </a:cubicBezTo>
                <a:cubicBezTo>
                  <a:pt x="98506" y="1494"/>
                  <a:pt x="98506" y="1494"/>
                  <a:pt x="98506" y="1494"/>
                </a:cubicBezTo>
                <a:cubicBezTo>
                  <a:pt x="100000" y="2989"/>
                  <a:pt x="100000" y="5394"/>
                  <a:pt x="100000" y="10204"/>
                </a:cubicBezTo>
                <a:lnTo>
                  <a:pt x="100000" y="36735"/>
                </a:lnTo>
                <a:cubicBezTo>
                  <a:pt x="100000" y="41545"/>
                  <a:pt x="100000" y="43950"/>
                  <a:pt x="98506" y="45444"/>
                </a:cubicBezTo>
                <a:cubicBezTo>
                  <a:pt x="98506" y="45444"/>
                  <a:pt x="98506" y="45444"/>
                  <a:pt x="98506" y="45444"/>
                </a:cubicBezTo>
                <a:cubicBezTo>
                  <a:pt x="97011" y="46939"/>
                  <a:pt x="94606" y="46939"/>
                  <a:pt x="89796" y="46939"/>
                </a:cubicBezTo>
                <a:lnTo>
                  <a:pt x="10204" y="46939"/>
                </a:lnTo>
                <a:cubicBezTo>
                  <a:pt x="5394" y="46939"/>
                  <a:pt x="2989" y="46939"/>
                  <a:pt x="1494" y="45444"/>
                </a:cubicBezTo>
                <a:cubicBezTo>
                  <a:pt x="1494" y="45444"/>
                  <a:pt x="1494" y="45444"/>
                  <a:pt x="1494" y="45444"/>
                </a:cubicBezTo>
                <a:cubicBezTo>
                  <a:pt x="0" y="43950"/>
                  <a:pt x="0" y="41545"/>
                  <a:pt x="0" y="36735"/>
                </a:cubicBezTo>
                <a:lnTo>
                  <a:pt x="0" y="10204"/>
                </a:lnTo>
                <a:cubicBezTo>
                  <a:pt x="0" y="5394"/>
                  <a:pt x="0" y="2989"/>
                  <a:pt x="1494" y="1494"/>
                </a:cubicBezTo>
                <a:cubicBezTo>
                  <a:pt x="1494" y="1494"/>
                  <a:pt x="1494" y="1494"/>
                  <a:pt x="1494" y="1494"/>
                </a:cubicBezTo>
                <a:cubicBezTo>
                  <a:pt x="2989" y="0"/>
                  <a:pt x="5394" y="0"/>
                  <a:pt x="1020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77" name="TextBox 119"/>
          <p:cNvSpPr txBox="1"/>
          <p:nvPr/>
        </p:nvSpPr>
        <p:spPr>
          <a:xfrm>
            <a:off x="7797800" y="4648200"/>
            <a:ext cx="2032000" cy="114300"/>
          </a:xfrm>
          <a:prstGeom prst="rect">
            <a:avLst/>
          </a:prstGeom>
        </p:spPr>
        <p:txBody>
          <a:bodyPr wrap="square" lIns="0" tIns="0" rIns="0" bIns="0">
            <a:noAutofit/>
          </a:bodyPr>
          <a:lstStyle/>
          <a:p>
            <a:r>
              <a:rPr sz="440" b="1" spc="100">
                <a:solidFill>
                  <a:srgbClr val="8FE0CE"/>
                </a:solidFill>
                <a:latin typeface="Telegraf"/>
              </a:rPr>
              <a:t>SARVAM CONTEXT</a:t>
            </a:r>
            <a:endParaRPr sz="440" b="1" spc="100">
              <a:solidFill>
                <a:srgbClr val="8FE0CE"/>
              </a:solidFill>
              <a:latin typeface="Telegraf"/>
            </a:endParaRPr>
          </a:p>
        </p:txBody>
      </p:sp>
      <p:sp>
        <p:nvSpPr>
          <p:cNvPr id="1978" name="TextBox 120"/>
          <p:cNvSpPr txBox="1"/>
          <p:nvPr/>
        </p:nvSpPr>
        <p:spPr>
          <a:xfrm>
            <a:off x="7797800" y="4775200"/>
            <a:ext cx="2133600" cy="558800"/>
          </a:xfrm>
          <a:prstGeom prst="rect">
            <a:avLst/>
          </a:prstGeom>
        </p:spPr>
        <p:txBody>
          <a:bodyPr wrap="square" lIns="0" tIns="0" rIns="0" bIns="0">
            <a:noAutofit/>
          </a:bodyPr>
          <a:lstStyle/>
          <a:p>
            <a:pPr>
              <a:lnSpc>
                <a:spcPct val="145000"/>
              </a:lnSpc>
            </a:pPr>
            <a:r>
              <a:rPr sz="430" spc="0">
                <a:solidFill>
                  <a:srgbClr val="C7DCD8"/>
                </a:solidFill>
                <a:latin typeface="Telegraf"/>
              </a:rPr>
              <a:t>PER_CALL_VARIABLES</a:t>
            </a:r>
            <a:endParaRPr sz="430" spc="0">
              <a:solidFill>
                <a:srgbClr val="C7DCD8"/>
              </a:solidFill>
              <a:latin typeface="Telegraf"/>
            </a:endParaRPr>
          </a:p>
          <a:p>
            <a:pPr>
              <a:lnSpc>
                <a:spcPct val="145000"/>
              </a:lnSpc>
            </a:pPr>
            <a:r>
              <a:rPr sz="430" spc="0">
                <a:solidFill>
                  <a:srgbClr val="C7DCD8"/>
                </a:solidFill>
                <a:latin typeface="Telegraf"/>
              </a:rPr>
              <a:t>sessionId  vsess_7721</a:t>
            </a:r>
            <a:endParaRPr sz="430" spc="0">
              <a:solidFill>
                <a:srgbClr val="C7DCD8"/>
              </a:solidFill>
              <a:latin typeface="Telegraf"/>
            </a:endParaRPr>
          </a:p>
          <a:p>
            <a:pPr>
              <a:lnSpc>
                <a:spcPct val="145000"/>
              </a:lnSpc>
            </a:pPr>
            <a:r>
              <a:rPr sz="430" spc="0">
                <a:solidFill>
                  <a:srgbClr val="C7DCD8"/>
                </a:solidFill>
                <a:latin typeface="Telegraf"/>
              </a:rPr>
              <a:t>demoPin  4821  ·  businessId  biz_cp_01</a:t>
            </a:r>
            <a:endParaRPr sz="430" spc="0">
              <a:solidFill>
                <a:srgbClr val="C7DCD8"/>
              </a:solidFill>
              <a:latin typeface="Telegraf"/>
            </a:endParaRPr>
          </a:p>
        </p:txBody>
      </p:sp>
      <p:sp>
        <p:nvSpPr>
          <p:cNvPr id="1979" name="TextBox 121"/>
          <p:cNvSpPr txBox="1"/>
          <p:nvPr/>
        </p:nvSpPr>
        <p:spPr>
          <a:xfrm>
            <a:off x="7797800" y="5384800"/>
            <a:ext cx="2133600" cy="254000"/>
          </a:xfrm>
          <a:prstGeom prst="rect">
            <a:avLst/>
          </a:prstGeom>
        </p:spPr>
        <p:txBody>
          <a:bodyPr wrap="square" lIns="0" tIns="0" rIns="0" bIns="0">
            <a:noAutofit/>
          </a:bodyPr>
          <a:lstStyle/>
          <a:p>
            <a:pPr>
              <a:lnSpc>
                <a:spcPct val="135000"/>
              </a:lnSpc>
            </a:pPr>
            <a:r>
              <a:rPr sz="420" spc="0">
                <a:solidFill>
                  <a:srgbClr val="8FB2AC"/>
                </a:solidFill>
                <a:latin typeface="Telegraf"/>
              </a:rPr>
              <a:t>tool-search resolves the pin to a business, never to a prompt.</a:t>
            </a:r>
            <a:endParaRPr sz="420" spc="0">
              <a:solidFill>
                <a:srgbClr val="8FB2AC"/>
              </a:solidFill>
              <a:latin typeface="Telegraf"/>
            </a:endParaRPr>
          </a:p>
        </p:txBody>
      </p:sp>
      <p:sp>
        <p:nvSpPr>
          <p:cNvPr id="1980" name="Oval 122"/>
          <p:cNvSpPr/>
          <p:nvPr/>
        </p:nvSpPr>
        <p:spPr>
          <a:xfrm>
            <a:off x="574040" y="1336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81" name="Oval 123"/>
          <p:cNvSpPr/>
          <p:nvPr/>
        </p:nvSpPr>
        <p:spPr>
          <a:xfrm>
            <a:off x="598170" y="1360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82" name="TextBox 124"/>
          <p:cNvSpPr txBox="1"/>
          <p:nvPr/>
        </p:nvSpPr>
        <p:spPr>
          <a:xfrm>
            <a:off x="598170" y="1360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1983" name="Oval 125"/>
          <p:cNvSpPr/>
          <p:nvPr/>
        </p:nvSpPr>
        <p:spPr>
          <a:xfrm>
            <a:off x="574040" y="3190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84" name="Oval 126"/>
          <p:cNvSpPr/>
          <p:nvPr/>
        </p:nvSpPr>
        <p:spPr>
          <a:xfrm>
            <a:off x="598170" y="3214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85" name="TextBox 127"/>
          <p:cNvSpPr txBox="1"/>
          <p:nvPr/>
        </p:nvSpPr>
        <p:spPr>
          <a:xfrm>
            <a:off x="598170" y="3214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1986" name="Oval 128"/>
          <p:cNvSpPr/>
          <p:nvPr/>
        </p:nvSpPr>
        <p:spPr>
          <a:xfrm>
            <a:off x="574040" y="5095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87" name="Oval 129"/>
          <p:cNvSpPr/>
          <p:nvPr/>
        </p:nvSpPr>
        <p:spPr>
          <a:xfrm>
            <a:off x="598170" y="5119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88" name="TextBox 130"/>
          <p:cNvSpPr txBox="1"/>
          <p:nvPr/>
        </p:nvSpPr>
        <p:spPr>
          <a:xfrm>
            <a:off x="598170" y="5119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1989" name="Oval 131"/>
          <p:cNvSpPr/>
          <p:nvPr/>
        </p:nvSpPr>
        <p:spPr>
          <a:xfrm>
            <a:off x="7432040" y="4434840"/>
            <a:ext cx="172720" cy="17272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90" name="Oval 132"/>
          <p:cNvSpPr/>
          <p:nvPr/>
        </p:nvSpPr>
        <p:spPr>
          <a:xfrm>
            <a:off x="7456170" y="4458970"/>
            <a:ext cx="124460" cy="12446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91" name="TextBox 133"/>
          <p:cNvSpPr txBox="1"/>
          <p:nvPr/>
        </p:nvSpPr>
        <p:spPr>
          <a:xfrm>
            <a:off x="7456170" y="4458970"/>
            <a:ext cx="124460" cy="124460"/>
          </a:xfrm>
          <a:prstGeom prst="rect">
            <a:avLst/>
          </a:prstGeom>
        </p:spPr>
        <p:txBody>
          <a:bodyPr wrap="square" lIns="0" tIns="0" rIns="0" bIns="0" anchor="ctr">
            <a:noAutofit/>
          </a:bodyPr>
          <a:lstStyle/>
          <a:p>
            <a:pPr algn="ctr">
              <a:lnSpc>
                <a:spcPct val="135000"/>
              </a:lnSpc>
            </a:pPr>
            <a:r>
              <a:rPr sz="440" b="1" spc="0">
                <a:solidFill>
                  <a:srgbClr val="0A0A0A"/>
                </a:solidFill>
                <a:latin typeface="Telegraf"/>
              </a:rPr>
              <a:t>4</a:t>
            </a:r>
            <a:endParaRPr sz="440" b="1" spc="0">
              <a:solidFill>
                <a:srgbClr val="0A0A0A"/>
              </a:solidFill>
              <a:latin typeface="Telegraf"/>
            </a:endParaRPr>
          </a:p>
        </p:txBody>
      </p:sp>
      <p:sp>
        <p:nvSpPr>
          <p:cNvPr id="1992" name="Rectangle 134"/>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93" name="TextBox 135"/>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14  —  DASHBOARD · VOICE</a:t>
            </a:r>
            <a:endParaRPr sz="490" b="1" spc="120">
              <a:solidFill>
                <a:srgbClr val="8FE0CE"/>
              </a:solidFill>
              <a:latin typeface="Telegraf"/>
            </a:endParaRPr>
          </a:p>
        </p:txBody>
      </p:sp>
      <p:sp>
        <p:nvSpPr>
          <p:cNvPr id="1994" name="TextBox 136"/>
          <p:cNvSpPr txBox="1"/>
          <p:nvPr/>
        </p:nvSpPr>
        <p:spPr>
          <a:xfrm>
            <a:off x="10477500" y="355600"/>
            <a:ext cx="1574800" cy="711200"/>
          </a:xfrm>
          <a:prstGeom prst="rect">
            <a:avLst/>
          </a:prstGeom>
        </p:spPr>
        <p:txBody>
          <a:bodyPr wrap="square" lIns="0" tIns="0" rIns="0" bIns="0">
            <a:noAutofit/>
          </a:bodyPr>
          <a:lstStyle/>
          <a:p>
            <a:pPr>
              <a:lnSpc>
                <a:spcPct val="105000"/>
              </a:lnSpc>
            </a:pPr>
            <a:r>
              <a:rPr sz="1550" spc="-50">
                <a:solidFill>
                  <a:srgbClr val="FFFFFF"/>
                </a:solidFill>
                <a:latin typeface="PP Editorial New Ultralight"/>
              </a:rPr>
              <a:t>Proof that the</a:t>
            </a:r>
            <a:endParaRPr sz="1550" spc="-50">
              <a:solidFill>
                <a:srgbClr val="FFFFFF"/>
              </a:solidFill>
              <a:latin typeface="PP Editorial New Ultralight"/>
            </a:endParaRPr>
          </a:p>
          <a:p>
            <a:pPr>
              <a:lnSpc>
                <a:spcPct val="105000"/>
              </a:lnSpc>
            </a:pPr>
            <a:r>
              <a:rPr sz="1550" spc="-50">
                <a:solidFill>
                  <a:srgbClr val="FFFFFF"/>
                </a:solidFill>
                <a:latin typeface="PP Editorial New Ultralight"/>
              </a:rPr>
              <a:t>voice is this business.</a:t>
            </a:r>
            <a:endParaRPr sz="1550" spc="-50">
              <a:solidFill>
                <a:srgbClr val="FFFFFF"/>
              </a:solidFill>
              <a:latin typeface="PP Editorial New Ultralight"/>
            </a:endParaRPr>
          </a:p>
        </p:txBody>
      </p:sp>
      <p:sp>
        <p:nvSpPr>
          <p:cNvPr id="1995" name="Rectangle 137"/>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1996" name="TextBox 138"/>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1997" name="TextBox 139"/>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Number + pin</a:t>
            </a:r>
            <a:endParaRPr sz="590" b="1" spc="0">
              <a:solidFill>
                <a:srgbClr val="FFFFFF"/>
              </a:solidFill>
              <a:latin typeface="Telegraf"/>
            </a:endParaRPr>
          </a:p>
        </p:txBody>
      </p:sp>
      <p:sp>
        <p:nvSpPr>
          <p:cNvPr id="1998" name="TextBox 140"/>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pin is the join key between the call and the tenant; it is huge.</a:t>
            </a:r>
            <a:endParaRPr sz="550" spc="0">
              <a:solidFill>
                <a:srgbClr val="A8A8A8"/>
              </a:solidFill>
              <a:latin typeface="Telegraf"/>
            </a:endParaRPr>
          </a:p>
        </p:txBody>
      </p:sp>
      <p:sp>
        <p:nvSpPr>
          <p:cNvPr id="1999" name="TextBox 141"/>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2000" name="TextBox 142"/>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Stepper</a:t>
            </a:r>
            <a:endParaRPr sz="590" b="1" spc="0">
              <a:solidFill>
                <a:srgbClr val="FFFFFF"/>
              </a:solidFill>
              <a:latin typeface="Telegraf"/>
            </a:endParaRPr>
          </a:p>
        </p:txBody>
      </p:sp>
      <p:sp>
        <p:nvSpPr>
          <p:cNvPr id="2001" name="TextBox 143"/>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Four states from the PRD, each with the sentence that explains it.</a:t>
            </a:r>
            <a:endParaRPr sz="550" spc="0">
              <a:solidFill>
                <a:srgbClr val="A8A8A8"/>
              </a:solidFill>
              <a:latin typeface="Telegraf"/>
            </a:endParaRPr>
          </a:p>
        </p:txBody>
      </p:sp>
      <p:sp>
        <p:nvSpPr>
          <p:cNvPr id="2002" name="TextBox 144"/>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2003" name="TextBox 145"/>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Transcript</a:t>
            </a:r>
            <a:endParaRPr sz="590" b="1" spc="0">
              <a:solidFill>
                <a:srgbClr val="FFFFFF"/>
              </a:solidFill>
              <a:latin typeface="Telegraf"/>
            </a:endParaRPr>
          </a:p>
        </p:txBody>
      </p:sp>
      <p:sp>
        <p:nvSpPr>
          <p:cNvPr id="2004" name="TextBox 146"/>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Agent and caller, timed; it arrives by webhook, not by polling.</a:t>
            </a:r>
            <a:endParaRPr sz="550" spc="0">
              <a:solidFill>
                <a:srgbClr val="A8A8A8"/>
              </a:solidFill>
              <a:latin typeface="Telegraf"/>
            </a:endParaRPr>
          </a:p>
        </p:txBody>
      </p:sp>
      <p:sp>
        <p:nvSpPr>
          <p:cNvPr id="2005" name="TextBox 147"/>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2006" name="TextBox 148"/>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Context</a:t>
            </a:r>
            <a:endParaRPr sz="590" b="1" spc="0">
              <a:solidFill>
                <a:srgbClr val="FFFFFF"/>
              </a:solidFill>
              <a:latin typeface="Telegraf"/>
            </a:endParaRPr>
          </a:p>
        </p:txBody>
      </p:sp>
      <p:sp>
        <p:nvSpPr>
          <p:cNvPr id="2007" name="TextBox 149"/>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mechanism is printed on screen — judges test exactly this.</a:t>
            </a:r>
            <a:endParaRPr sz="550" spc="0">
              <a:solidFill>
                <a:srgbClr val="A8A8A8"/>
              </a:solidFill>
              <a:latin typeface="Telegraf"/>
            </a:endParaRPr>
          </a:p>
        </p:txBody>
      </p:sp>
      <p:sp>
        <p:nvSpPr>
          <p:cNvPr id="2008" name="TextBox 150"/>
          <p:cNvSpPr txBox="1"/>
          <p:nvPr/>
        </p:nvSpPr>
        <p:spPr>
          <a:xfrm>
            <a:off x="10490200" y="3632200"/>
            <a:ext cx="1397000" cy="101600"/>
          </a:xfrm>
          <a:prstGeom prst="rect">
            <a:avLst/>
          </a:prstGeom>
        </p:spPr>
        <p:txBody>
          <a:bodyPr wrap="square" lIns="0" tIns="0" rIns="0" bIns="0">
            <a:noAutofit/>
          </a:bodyPr>
          <a:lstStyle/>
          <a:p>
            <a:r>
              <a:rPr sz="450" b="1" spc="110">
                <a:solidFill>
                  <a:srgbClr val="8FE0CE"/>
                </a:solidFill>
                <a:latin typeface="Telegraf"/>
              </a:rPr>
              <a:t>STATES</a:t>
            </a:r>
            <a:endParaRPr sz="450" b="1" spc="110">
              <a:solidFill>
                <a:srgbClr val="8FE0CE"/>
              </a:solidFill>
              <a:latin typeface="Telegraf"/>
            </a:endParaRPr>
          </a:p>
        </p:txBody>
      </p:sp>
      <p:sp>
        <p:nvSpPr>
          <p:cNvPr id="2009" name="TextBox 151"/>
          <p:cNvSpPr txBox="1"/>
          <p:nvPr/>
        </p:nvSpPr>
        <p:spPr>
          <a:xfrm>
            <a:off x="10490200" y="3746500"/>
            <a:ext cx="1549400" cy="584200"/>
          </a:xfrm>
          <a:prstGeom prst="rect">
            <a:avLst/>
          </a:prstGeom>
        </p:spPr>
        <p:txBody>
          <a:bodyPr wrap="square" lIns="0" tIns="0" rIns="0" bIns="0">
            <a:noAutofit/>
          </a:bodyPr>
          <a:lstStyle/>
          <a:p>
            <a:pPr>
              <a:lnSpc>
                <a:spcPct val="140000"/>
              </a:lnSpc>
            </a:pPr>
            <a:r>
              <a:rPr sz="540" spc="0">
                <a:solidFill>
                  <a:srgbClr val="CFCFCF"/>
                </a:solidFill>
                <a:latin typeface="Telegraf"/>
              </a:rPr>
              <a:t>initiated · ringing · in progress · completed · failed · pin expired</a:t>
            </a:r>
            <a:endParaRPr sz="540" spc="0">
              <a:solidFill>
                <a:srgbClr val="CFCFCF"/>
              </a:solidFill>
              <a:latin typeface="Telegraf"/>
            </a:endParaRPr>
          </a:p>
        </p:txBody>
      </p:sp>
      <p:sp>
        <p:nvSpPr>
          <p:cNvPr id="2010" name="TextBox 152"/>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2011" name="TextBox 153"/>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/dashboard?tab=voice</a:t>
            </a:r>
            <a:endParaRPr sz="560" spc="0">
              <a:solidFill>
                <a:srgbClr val="FFFFFF"/>
              </a:solidFill>
              <a:latin typeface="Telegraf"/>
            </a:endParaRPr>
          </a:p>
        </p:txBody>
      </p:sp>
      <p:sp>
        <p:nvSpPr>
          <p:cNvPr id="2012" name="TextBox 154"/>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2013" name="TextBox 155"/>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components/dashboard/VoiceTestPanel.tsx; CallStepper.tsx; POST /api/voice/start-session</a:t>
            </a:r>
            <a:endParaRPr sz="530" spc="0">
              <a:solidFill>
                <a:srgbClr val="CFCFCF"/>
              </a:solidFill>
              <a:latin typeface="Telegraf"/>
            </a:endParaRPr>
          </a:p>
        </p:txBody>
      </p:sp>
      <p:sp>
        <p:nvSpPr>
          <p:cNvPr id="2014" name="Rectangle 156"/>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15" name="TextBox 157"/>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7" name="Rectangle 1"/>
          <p:cNvSpPr/>
          <p:nvPr/>
        </p:nvSpPr>
        <p:spPr>
          <a:xfrm>
            <a:off x="0" y="0"/>
            <a:ext cx="558800" cy="685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18" name="Rectangle 2"/>
          <p:cNvSpPr/>
          <p:nvPr/>
        </p:nvSpPr>
        <p:spPr>
          <a:xfrm>
            <a:off x="548640" y="0"/>
            <a:ext cx="11430" cy="68580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19" name="Rectangle 3"/>
          <p:cNvSpPr/>
          <p:nvPr/>
        </p:nvSpPr>
        <p:spPr>
          <a:xfrm>
            <a:off x="152400" y="152400"/>
            <a:ext cx="254000" cy="254000"/>
          </a:xfrm>
          <a:custGeom>
            <a:avLst/>
            <a:gdLst/>
            <a:ahLst/>
            <a:cxnLst/>
            <a:rect l="l" t="t" r="r" b="b"/>
            <a:pathLst>
              <a:path w="100000" h="100000">
                <a:moveTo>
                  <a:pt x="50000" y="0"/>
                </a:moveTo>
                <a:cubicBezTo>
                  <a:pt x="66790" y="0"/>
                  <a:pt x="75185" y="0"/>
                  <a:pt x="81680" y="3070"/>
                </a:cubicBezTo>
                <a:cubicBezTo>
                  <a:pt x="88375" y="6240"/>
                  <a:pt x="93760" y="11625"/>
                  <a:pt x="96930" y="18320"/>
                </a:cubicBezTo>
                <a:cubicBezTo>
                  <a:pt x="100000" y="24815"/>
                  <a:pt x="100000" y="33210"/>
                  <a:pt x="100000" y="50000"/>
                </a:cubicBezTo>
                <a:lnTo>
                  <a:pt x="100000" y="50000"/>
                </a:lnTo>
                <a:cubicBezTo>
                  <a:pt x="100000" y="66790"/>
                  <a:pt x="100000" y="75185"/>
                  <a:pt x="96930" y="81680"/>
                </a:cubicBezTo>
                <a:cubicBezTo>
                  <a:pt x="93760" y="88375"/>
                  <a:pt x="88375" y="93760"/>
                  <a:pt x="81680" y="96930"/>
                </a:cubicBezTo>
                <a:cubicBezTo>
                  <a:pt x="75185" y="100000"/>
                  <a:pt x="66790" y="100000"/>
                  <a:pt x="50000" y="100000"/>
                </a:cubicBezTo>
                <a:lnTo>
                  <a:pt x="50000" y="100000"/>
                </a:lnTo>
                <a:cubicBezTo>
                  <a:pt x="33210" y="100000"/>
                  <a:pt x="24815" y="100000"/>
                  <a:pt x="18320" y="96930"/>
                </a:cubicBezTo>
                <a:cubicBezTo>
                  <a:pt x="11625" y="93760"/>
                  <a:pt x="6240" y="88375"/>
                  <a:pt x="3070" y="81680"/>
                </a:cubicBezTo>
                <a:cubicBezTo>
                  <a:pt x="0" y="75185"/>
                  <a:pt x="0" y="66790"/>
                  <a:pt x="0" y="50000"/>
                </a:cubicBezTo>
                <a:lnTo>
                  <a:pt x="0" y="50000"/>
                </a:lnTo>
                <a:cubicBezTo>
                  <a:pt x="0" y="33210"/>
                  <a:pt x="0" y="24815"/>
                  <a:pt x="3070" y="18320"/>
                </a:cubicBezTo>
                <a:cubicBezTo>
                  <a:pt x="6240" y="11625"/>
                  <a:pt x="11625" y="6240"/>
                  <a:pt x="18320" y="3070"/>
                </a:cubicBezTo>
                <a:cubicBezTo>
                  <a:pt x="24815" y="0"/>
                  <a:pt x="33210" y="0"/>
                  <a:pt x="5000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0" name="TextBox 4"/>
          <p:cNvSpPr txBox="1"/>
          <p:nvPr/>
        </p:nvSpPr>
        <p:spPr>
          <a:xfrm>
            <a:off x="152400" y="152400"/>
            <a:ext cx="254000" cy="254000"/>
          </a:xfrm>
          <a:prstGeom prst="rect">
            <a:avLst/>
          </a:prstGeom>
        </p:spPr>
        <p:txBody>
          <a:bodyPr wrap="square" lIns="0" tIns="0" rIns="0" bIns="0" anchor="ctr">
            <a:noAutofit/>
          </a:bodyPr>
          <a:lstStyle/>
          <a:p>
            <a:pPr algn="ctr">
              <a:lnSpc>
                <a:spcPct val="102000"/>
              </a:lnSpc>
            </a:pPr>
            <a:r>
              <a:rPr sz="1150" spc="-90">
                <a:solidFill>
                  <a:srgbClr val="8FE0CE"/>
                </a:solidFill>
                <a:latin typeface="PP Editorial New Ultralight"/>
              </a:rPr>
              <a:t>a</a:t>
            </a:r>
            <a:endParaRPr sz="1150" spc="-90">
              <a:solidFill>
                <a:srgbClr val="8FE0CE"/>
              </a:solidFill>
              <a:latin typeface="PP Editorial New Ultralight"/>
            </a:endParaRPr>
          </a:p>
        </p:txBody>
      </p:sp>
      <p:sp>
        <p:nvSpPr>
          <p:cNvPr id="2021" name="Rectangle 5"/>
          <p:cNvSpPr/>
          <p:nvPr/>
        </p:nvSpPr>
        <p:spPr>
          <a:xfrm>
            <a:off x="210820" y="728980"/>
            <a:ext cx="137160" cy="24130"/>
          </a:xfrm>
          <a:custGeom>
            <a:avLst/>
            <a:gdLst/>
            <a:ahLst/>
            <a:cxnLst/>
            <a:rect l="l" t="t" r="r" b="b"/>
            <a:pathLst>
              <a:path w="100000" h="17593">
                <a:moveTo>
                  <a:pt x="91204" y="0"/>
                </a:moveTo>
                <a:cubicBezTo>
                  <a:pt x="91204" y="0"/>
                  <a:pt x="91204" y="0"/>
                  <a:pt x="91204" y="0"/>
                </a:cubicBezTo>
                <a:cubicBezTo>
                  <a:pt x="96065" y="0"/>
                  <a:pt x="100000" y="3935"/>
                  <a:pt x="100000" y="8796"/>
                </a:cubicBezTo>
                <a:cubicBezTo>
                  <a:pt x="100000" y="8796"/>
                  <a:pt x="100000" y="8796"/>
                  <a:pt x="100000" y="8796"/>
                </a:cubicBezTo>
                <a:lnTo>
                  <a:pt x="100000" y="8796"/>
                </a:lnTo>
                <a:cubicBezTo>
                  <a:pt x="100000" y="8796"/>
                  <a:pt x="100000" y="8796"/>
                  <a:pt x="100000" y="8796"/>
                </a:cubicBezTo>
                <a:cubicBezTo>
                  <a:pt x="100000" y="13657"/>
                  <a:pt x="96065" y="17593"/>
                  <a:pt x="91204" y="17593"/>
                </a:cubicBezTo>
                <a:cubicBezTo>
                  <a:pt x="91204" y="17593"/>
                  <a:pt x="91204" y="17593"/>
                  <a:pt x="91204" y="17593"/>
                </a:cubicBezTo>
                <a:lnTo>
                  <a:pt x="8796" y="17593"/>
                </a:lnTo>
                <a:cubicBezTo>
                  <a:pt x="8796" y="17593"/>
                  <a:pt x="8796" y="17593"/>
                  <a:pt x="8796" y="17593"/>
                </a:cubicBezTo>
                <a:cubicBezTo>
                  <a:pt x="3935" y="17593"/>
                  <a:pt x="0" y="13657"/>
                  <a:pt x="0" y="8796"/>
                </a:cubicBezTo>
                <a:cubicBezTo>
                  <a:pt x="0" y="8796"/>
                  <a:pt x="0" y="8796"/>
                  <a:pt x="0" y="8796"/>
                </a:cubicBezTo>
                <a:lnTo>
                  <a:pt x="0" y="8796"/>
                </a:lnTo>
                <a:cubicBezTo>
                  <a:pt x="0" y="8796"/>
                  <a:pt x="0" y="8796"/>
                  <a:pt x="0" y="8796"/>
                </a:cubicBezTo>
                <a:cubicBezTo>
                  <a:pt x="0" y="3935"/>
                  <a:pt x="3935" y="0"/>
                  <a:pt x="8796" y="0"/>
                </a:cubicBezTo>
                <a:cubicBezTo>
                  <a:pt x="8796" y="0"/>
                  <a:pt x="8796" y="0"/>
                  <a:pt x="8796"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2" name="Rectangle 6"/>
          <p:cNvSpPr/>
          <p:nvPr/>
        </p:nvSpPr>
        <p:spPr>
          <a:xfrm>
            <a:off x="210820" y="778510"/>
            <a:ext cx="104140" cy="24130"/>
          </a:xfrm>
          <a:custGeom>
            <a:avLst/>
            <a:gdLst/>
            <a:ahLst/>
            <a:cxnLst/>
            <a:rect l="l" t="t" r="r" b="b"/>
            <a:pathLst>
              <a:path w="100000" h="23171">
                <a:moveTo>
                  <a:pt x="88415" y="0"/>
                </a:moveTo>
                <a:cubicBezTo>
                  <a:pt x="88415" y="0"/>
                  <a:pt x="88415" y="0"/>
                  <a:pt x="88415" y="0"/>
                </a:cubicBezTo>
                <a:cubicBezTo>
                  <a:pt x="94817" y="0"/>
                  <a:pt x="100000" y="5183"/>
                  <a:pt x="100000" y="11585"/>
                </a:cubicBezTo>
                <a:cubicBezTo>
                  <a:pt x="100000" y="11585"/>
                  <a:pt x="100000" y="11585"/>
                  <a:pt x="100000" y="11585"/>
                </a:cubicBezTo>
                <a:lnTo>
                  <a:pt x="100000" y="11585"/>
                </a:lnTo>
                <a:cubicBezTo>
                  <a:pt x="100000" y="11585"/>
                  <a:pt x="100000" y="11585"/>
                  <a:pt x="100000" y="11585"/>
                </a:cubicBezTo>
                <a:cubicBezTo>
                  <a:pt x="100000" y="17988"/>
                  <a:pt x="94817" y="23171"/>
                  <a:pt x="88415" y="23171"/>
                </a:cubicBezTo>
                <a:cubicBezTo>
                  <a:pt x="88415" y="23171"/>
                  <a:pt x="88415" y="23171"/>
                  <a:pt x="88415" y="23171"/>
                </a:cubicBezTo>
                <a:lnTo>
                  <a:pt x="11585" y="23171"/>
                </a:lnTo>
                <a:cubicBezTo>
                  <a:pt x="11585" y="23171"/>
                  <a:pt x="11585" y="23171"/>
                  <a:pt x="11585" y="23171"/>
                </a:cubicBezTo>
                <a:cubicBezTo>
                  <a:pt x="5183" y="23171"/>
                  <a:pt x="0" y="17988"/>
                  <a:pt x="0" y="11585"/>
                </a:cubicBezTo>
                <a:cubicBezTo>
                  <a:pt x="0" y="11585"/>
                  <a:pt x="0" y="11585"/>
                  <a:pt x="0" y="11585"/>
                </a:cubicBezTo>
                <a:lnTo>
                  <a:pt x="0" y="11585"/>
                </a:lnTo>
                <a:cubicBezTo>
                  <a:pt x="0" y="11585"/>
                  <a:pt x="0" y="11585"/>
                  <a:pt x="0" y="11585"/>
                </a:cubicBezTo>
                <a:cubicBezTo>
                  <a:pt x="0" y="5183"/>
                  <a:pt x="5183" y="0"/>
                  <a:pt x="11585" y="0"/>
                </a:cubicBezTo>
                <a:cubicBezTo>
                  <a:pt x="11585" y="0"/>
                  <a:pt x="11585" y="0"/>
                  <a:pt x="1158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3" name="Rectangle 7"/>
          <p:cNvSpPr/>
          <p:nvPr/>
        </p:nvSpPr>
        <p:spPr>
          <a:xfrm>
            <a:off x="210820" y="828040"/>
            <a:ext cx="71120" cy="24130"/>
          </a:xfrm>
          <a:custGeom>
            <a:avLst/>
            <a:gdLst/>
            <a:ahLst/>
            <a:cxnLst/>
            <a:rect l="l" t="t" r="r" b="b"/>
            <a:pathLst>
              <a:path w="100000" h="33929">
                <a:moveTo>
                  <a:pt x="83036" y="0"/>
                </a:moveTo>
                <a:cubicBezTo>
                  <a:pt x="83036" y="0"/>
                  <a:pt x="83036" y="0"/>
                  <a:pt x="83036" y="0"/>
                </a:cubicBezTo>
                <a:cubicBezTo>
                  <a:pt x="92411" y="0"/>
                  <a:pt x="100000" y="7589"/>
                  <a:pt x="100000" y="16964"/>
                </a:cubicBezTo>
                <a:cubicBezTo>
                  <a:pt x="100000" y="16964"/>
                  <a:pt x="100000" y="16964"/>
                  <a:pt x="100000" y="16964"/>
                </a:cubicBezTo>
                <a:lnTo>
                  <a:pt x="100000" y="16964"/>
                </a:lnTo>
                <a:cubicBezTo>
                  <a:pt x="100000" y="16964"/>
                  <a:pt x="100000" y="16964"/>
                  <a:pt x="100000" y="16964"/>
                </a:cubicBezTo>
                <a:cubicBezTo>
                  <a:pt x="100000" y="26339"/>
                  <a:pt x="92411" y="33929"/>
                  <a:pt x="83036" y="33929"/>
                </a:cubicBezTo>
                <a:cubicBezTo>
                  <a:pt x="83036" y="33929"/>
                  <a:pt x="83036" y="33929"/>
                  <a:pt x="83036" y="33929"/>
                </a:cubicBezTo>
                <a:lnTo>
                  <a:pt x="16964" y="33929"/>
                </a:lnTo>
                <a:cubicBezTo>
                  <a:pt x="16964" y="33929"/>
                  <a:pt x="16964" y="33929"/>
                  <a:pt x="16964" y="33929"/>
                </a:cubicBezTo>
                <a:cubicBezTo>
                  <a:pt x="7589" y="33929"/>
                  <a:pt x="0" y="26339"/>
                  <a:pt x="0" y="16964"/>
                </a:cubicBezTo>
                <a:cubicBezTo>
                  <a:pt x="0" y="16964"/>
                  <a:pt x="0" y="16964"/>
                  <a:pt x="0" y="16964"/>
                </a:cubicBezTo>
                <a:lnTo>
                  <a:pt x="0" y="16964"/>
                </a:lnTo>
                <a:cubicBezTo>
                  <a:pt x="0" y="16964"/>
                  <a:pt x="0" y="16964"/>
                  <a:pt x="0" y="16964"/>
                </a:cubicBezTo>
                <a:cubicBezTo>
                  <a:pt x="0" y="7589"/>
                  <a:pt x="7589" y="0"/>
                  <a:pt x="16964" y="0"/>
                </a:cubicBezTo>
                <a:cubicBezTo>
                  <a:pt x="16964" y="0"/>
                  <a:pt x="16964" y="0"/>
                  <a:pt x="16964"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4" name="Oval 8"/>
          <p:cNvSpPr/>
          <p:nvPr/>
        </p:nvSpPr>
        <p:spPr>
          <a:xfrm>
            <a:off x="261874" y="1118743"/>
            <a:ext cx="35052" cy="35052"/>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5" name="Rectangle 9"/>
          <p:cNvSpPr/>
          <p:nvPr/>
        </p:nvSpPr>
        <p:spPr>
          <a:xfrm>
            <a:off x="273685" y="11614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6" name="Rectangle 10"/>
          <p:cNvSpPr/>
          <p:nvPr/>
        </p:nvSpPr>
        <p:spPr>
          <a:xfrm>
            <a:off x="240792" y="11929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7" name="Rectangle 11"/>
          <p:cNvSpPr/>
          <p:nvPr/>
        </p:nvSpPr>
        <p:spPr>
          <a:xfrm>
            <a:off x="88900" y="1384300"/>
            <a:ext cx="381000" cy="330200"/>
          </a:xfrm>
          <a:custGeom>
            <a:avLst/>
            <a:gdLst/>
            <a:ahLst/>
            <a:cxnLst/>
            <a:rect l="l" t="t" r="r" b="b"/>
            <a:pathLst>
              <a:path w="100000" h="86667">
                <a:moveTo>
                  <a:pt x="56667" y="0"/>
                </a:moveTo>
                <a:cubicBezTo>
                  <a:pt x="69083" y="0"/>
                  <a:pt x="75290" y="0"/>
                  <a:pt x="80260" y="1810"/>
                </a:cubicBezTo>
                <a:cubicBezTo>
                  <a:pt x="88593" y="4843"/>
                  <a:pt x="95157" y="11407"/>
                  <a:pt x="98190" y="19740"/>
                </a:cubicBezTo>
                <a:cubicBezTo>
                  <a:pt x="100000" y="24710"/>
                  <a:pt x="100000" y="30917"/>
                  <a:pt x="100000" y="43333"/>
                </a:cubicBezTo>
                <a:lnTo>
                  <a:pt x="100000" y="43333"/>
                </a:lnTo>
                <a:cubicBezTo>
                  <a:pt x="100000" y="55750"/>
                  <a:pt x="100000" y="61957"/>
                  <a:pt x="98190" y="66927"/>
                </a:cubicBezTo>
                <a:cubicBezTo>
                  <a:pt x="95157" y="75260"/>
                  <a:pt x="88593" y="81823"/>
                  <a:pt x="80260" y="84857"/>
                </a:cubicBezTo>
                <a:cubicBezTo>
                  <a:pt x="75290" y="86667"/>
                  <a:pt x="69083" y="86667"/>
                  <a:pt x="56667" y="86667"/>
                </a:cubicBezTo>
                <a:lnTo>
                  <a:pt x="43333" y="86667"/>
                </a:lnTo>
                <a:cubicBezTo>
                  <a:pt x="30917" y="86667"/>
                  <a:pt x="24710" y="86667"/>
                  <a:pt x="19740" y="84857"/>
                </a:cubicBezTo>
                <a:cubicBezTo>
                  <a:pt x="11407" y="81823"/>
                  <a:pt x="4843" y="75260"/>
                  <a:pt x="1810" y="66927"/>
                </a:cubicBezTo>
                <a:cubicBezTo>
                  <a:pt x="0" y="61957"/>
                  <a:pt x="0" y="55750"/>
                  <a:pt x="0" y="43333"/>
                </a:cubicBezTo>
                <a:lnTo>
                  <a:pt x="0" y="43333"/>
                </a:lnTo>
                <a:cubicBezTo>
                  <a:pt x="0" y="30917"/>
                  <a:pt x="0" y="24710"/>
                  <a:pt x="1810" y="19740"/>
                </a:cubicBezTo>
                <a:cubicBezTo>
                  <a:pt x="4843" y="11407"/>
                  <a:pt x="11407" y="4843"/>
                  <a:pt x="19740" y="1810"/>
                </a:cubicBezTo>
                <a:cubicBezTo>
                  <a:pt x="24710" y="0"/>
                  <a:pt x="30917" y="0"/>
                  <a:pt x="4333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8" name="Rectangle 12"/>
          <p:cNvSpPr/>
          <p:nvPr/>
        </p:nvSpPr>
        <p:spPr>
          <a:xfrm>
            <a:off x="0" y="1447800"/>
            <a:ext cx="25400" cy="203200"/>
          </a:xfrm>
          <a:custGeom>
            <a:avLst/>
            <a:gdLst/>
            <a:ahLst/>
            <a:cxnLst/>
            <a:rect l="l" t="t" r="r" b="b"/>
            <a:pathLst>
              <a:path w="12500" h="100000">
                <a:moveTo>
                  <a:pt x="6250" y="0"/>
                </a:moveTo>
                <a:cubicBezTo>
                  <a:pt x="6250" y="0"/>
                  <a:pt x="6250" y="0"/>
                  <a:pt x="6250" y="0"/>
                </a:cubicBezTo>
                <a:cubicBezTo>
                  <a:pt x="9700" y="0"/>
                  <a:pt x="12500" y="2800"/>
                  <a:pt x="12500" y="6250"/>
                </a:cubicBezTo>
                <a:cubicBezTo>
                  <a:pt x="12500" y="6250"/>
                  <a:pt x="12500" y="6250"/>
                  <a:pt x="12500" y="6250"/>
                </a:cubicBezTo>
                <a:lnTo>
                  <a:pt x="12500" y="93750"/>
                </a:lnTo>
                <a:cubicBezTo>
                  <a:pt x="12500" y="93750"/>
                  <a:pt x="12500" y="93750"/>
                  <a:pt x="12500" y="93750"/>
                </a:cubicBezTo>
                <a:cubicBezTo>
                  <a:pt x="12500" y="97200"/>
                  <a:pt x="9700" y="100000"/>
                  <a:pt x="6250" y="100000"/>
                </a:cubicBezTo>
                <a:cubicBezTo>
                  <a:pt x="6250" y="100000"/>
                  <a:pt x="6250" y="100000"/>
                  <a:pt x="6250" y="100000"/>
                </a:cubicBezTo>
                <a:lnTo>
                  <a:pt x="6250" y="100000"/>
                </a:lnTo>
                <a:cubicBezTo>
                  <a:pt x="6250" y="100000"/>
                  <a:pt x="6250" y="100000"/>
                  <a:pt x="6250" y="100000"/>
                </a:cubicBezTo>
                <a:cubicBezTo>
                  <a:pt x="2800" y="100000"/>
                  <a:pt x="0" y="97200"/>
                  <a:pt x="0" y="93750"/>
                </a:cubicBezTo>
                <a:cubicBezTo>
                  <a:pt x="0" y="93750"/>
                  <a:pt x="0" y="93750"/>
                  <a:pt x="0" y="93750"/>
                </a:cubicBezTo>
                <a:lnTo>
                  <a:pt x="0" y="6250"/>
                </a:lnTo>
                <a:cubicBezTo>
                  <a:pt x="0" y="6250"/>
                  <a:pt x="0" y="6250"/>
                  <a:pt x="0" y="6250"/>
                </a:cubicBezTo>
                <a:cubicBezTo>
                  <a:pt x="0" y="2800"/>
                  <a:pt x="2800" y="0"/>
                  <a:pt x="6250" y="0"/>
                </a:cubicBezTo>
                <a:cubicBezTo>
                  <a:pt x="6250" y="0"/>
                  <a:pt x="6250" y="0"/>
                  <a:pt x="6250"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29" name="Oval 13"/>
          <p:cNvSpPr/>
          <p:nvPr/>
        </p:nvSpPr>
        <p:spPr>
          <a:xfrm>
            <a:off x="214630" y="1496060"/>
            <a:ext cx="50800" cy="5080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0" name="Oval 14"/>
          <p:cNvSpPr/>
          <p:nvPr/>
        </p:nvSpPr>
        <p:spPr>
          <a:xfrm>
            <a:off x="293370" y="1496060"/>
            <a:ext cx="50800" cy="5080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1" name="Oval 15"/>
          <p:cNvSpPr/>
          <p:nvPr/>
        </p:nvSpPr>
        <p:spPr>
          <a:xfrm>
            <a:off x="254000" y="1558290"/>
            <a:ext cx="50800" cy="5080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2" name="Freeform 2032"/>
          <p:cNvSpPr/>
          <p:nvPr/>
        </p:nvSpPr>
        <p:spPr>
          <a:xfrm>
            <a:off x="251460" y="1537970"/>
            <a:ext cx="22860" cy="30480"/>
          </a:xfrm>
          <a:custGeom>
            <a:avLst/>
            <a:gdLst/>
            <a:ahLst/>
            <a:cxnLst/>
            <a:rect l="l" t="t" r="r" b="b"/>
            <a:pathLst>
              <a:path w="75000" h="100000" fill="none">
                <a:moveTo>
                  <a:pt x="0" y="0"/>
                </a:moveTo>
                <a:lnTo>
                  <a:pt x="75000" y="100000"/>
                </a:lnTo>
              </a:path>
            </a:pathLst>
          </a:custGeom>
          <a:noFill/>
          <a:ln w="9525"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2033" name="Freeform 2033"/>
          <p:cNvSpPr/>
          <p:nvPr/>
        </p:nvSpPr>
        <p:spPr>
          <a:xfrm>
            <a:off x="284480" y="1537970"/>
            <a:ext cx="22860" cy="30480"/>
          </a:xfrm>
          <a:custGeom>
            <a:avLst/>
            <a:gdLst/>
            <a:ahLst/>
            <a:cxnLst/>
            <a:rect l="l" t="t" r="r" b="b"/>
            <a:pathLst>
              <a:path w="75000" h="100000" fill="none">
                <a:moveTo>
                  <a:pt x="75000" y="0"/>
                </a:moveTo>
                <a:lnTo>
                  <a:pt x="0" y="100000"/>
                </a:lnTo>
              </a:path>
            </a:pathLst>
          </a:custGeom>
          <a:noFill/>
          <a:ln w="9525"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2034" name="Rectangle 18"/>
          <p:cNvSpPr/>
          <p:nvPr/>
        </p:nvSpPr>
        <p:spPr>
          <a:xfrm>
            <a:off x="21209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5" name="Rectangle 19"/>
          <p:cNvSpPr/>
          <p:nvPr/>
        </p:nvSpPr>
        <p:spPr>
          <a:xfrm>
            <a:off x="28575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6" name="Rectangle 20"/>
          <p:cNvSpPr/>
          <p:nvPr/>
        </p:nvSpPr>
        <p:spPr>
          <a:xfrm>
            <a:off x="212090" y="193675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7" name="Rectangle 21"/>
          <p:cNvSpPr/>
          <p:nvPr/>
        </p:nvSpPr>
        <p:spPr>
          <a:xfrm>
            <a:off x="234696" y="6308979"/>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8" name="Rectangle 22"/>
          <p:cNvSpPr/>
          <p:nvPr/>
        </p:nvSpPr>
        <p:spPr>
          <a:xfrm>
            <a:off x="234696" y="6343650"/>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39" name="Oval 23"/>
          <p:cNvSpPr/>
          <p:nvPr/>
        </p:nvSpPr>
        <p:spPr>
          <a:xfrm>
            <a:off x="171450" y="64960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40" name="TextBox 24"/>
          <p:cNvSpPr txBox="1"/>
          <p:nvPr/>
        </p:nvSpPr>
        <p:spPr>
          <a:xfrm>
            <a:off x="171450" y="6496050"/>
            <a:ext cx="215900" cy="215900"/>
          </a:xfrm>
          <a:prstGeom prst="rect">
            <a:avLst/>
          </a:prstGeom>
        </p:spPr>
        <p:txBody>
          <a:bodyPr wrap="square" lIns="0" tIns="0" rIns="0" bIns="0" anchor="ctr">
            <a:noAutofit/>
          </a:bodyPr>
          <a:lstStyle/>
          <a:p>
            <a:pPr algn="ctr">
              <a:lnSpc>
                <a:spcPct val="135000"/>
              </a:lnSpc>
            </a:pPr>
            <a:r>
              <a:rPr sz="460" b="1" spc="0">
                <a:solidFill>
                  <a:srgbClr val="67676E"/>
                </a:solidFill>
                <a:latin typeface="Telegraf"/>
              </a:rPr>
              <a:t>PN</a:t>
            </a:r>
            <a:endParaRPr sz="460" b="1" spc="0">
              <a:solidFill>
                <a:srgbClr val="67676E"/>
              </a:solidFill>
              <a:latin typeface="Telegraf"/>
            </a:endParaRPr>
          </a:p>
        </p:txBody>
      </p:sp>
      <p:sp>
        <p:nvSpPr>
          <p:cNvPr id="2041" name="Rectangle 25"/>
          <p:cNvSpPr/>
          <p:nvPr/>
        </p:nvSpPr>
        <p:spPr>
          <a:xfrm>
            <a:off x="558800" y="0"/>
            <a:ext cx="9753600" cy="50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42" name="Rectangle 26"/>
          <p:cNvSpPr/>
          <p:nvPr/>
        </p:nvSpPr>
        <p:spPr>
          <a:xfrm>
            <a:off x="558800" y="497840"/>
            <a:ext cx="9753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43" name="Rectangle 27"/>
          <p:cNvSpPr/>
          <p:nvPr/>
        </p:nvSpPr>
        <p:spPr>
          <a:xfrm>
            <a:off x="711200" y="114300"/>
            <a:ext cx="1625600" cy="292100"/>
          </a:xfrm>
          <a:custGeom>
            <a:avLst/>
            <a:gdLst/>
            <a:ahLst/>
            <a:cxnLst/>
            <a:rect l="l" t="t" r="r" b="b"/>
            <a:pathLst>
              <a:path w="100000" h="17969">
                <a:moveTo>
                  <a:pt x="91016" y="0"/>
                </a:moveTo>
                <a:cubicBezTo>
                  <a:pt x="93929" y="0"/>
                  <a:pt x="95386" y="0"/>
                  <a:pt x="96524" y="506"/>
                </a:cubicBezTo>
                <a:cubicBezTo>
                  <a:pt x="97847" y="1095"/>
                  <a:pt x="98905" y="2153"/>
                  <a:pt x="99494" y="3476"/>
                </a:cubicBezTo>
                <a:cubicBezTo>
                  <a:pt x="100000" y="4614"/>
                  <a:pt x="100000" y="6071"/>
                  <a:pt x="100000" y="8984"/>
                </a:cubicBezTo>
                <a:lnTo>
                  <a:pt x="100000" y="8984"/>
                </a:lnTo>
                <a:cubicBezTo>
                  <a:pt x="100000" y="11898"/>
                  <a:pt x="100000" y="13355"/>
                  <a:pt x="99494" y="14493"/>
                </a:cubicBezTo>
                <a:cubicBezTo>
                  <a:pt x="98905" y="15816"/>
                  <a:pt x="97847" y="16873"/>
                  <a:pt x="96524" y="17463"/>
                </a:cubicBezTo>
                <a:cubicBezTo>
                  <a:pt x="95386" y="17969"/>
                  <a:pt x="93929" y="17969"/>
                  <a:pt x="91016" y="17969"/>
                </a:cubicBezTo>
                <a:lnTo>
                  <a:pt x="8984" y="17969"/>
                </a:lnTo>
                <a:cubicBezTo>
                  <a:pt x="6071" y="17969"/>
                  <a:pt x="4614" y="17969"/>
                  <a:pt x="3476" y="17463"/>
                </a:cubicBezTo>
                <a:cubicBezTo>
                  <a:pt x="2153" y="16873"/>
                  <a:pt x="1095" y="15816"/>
                  <a:pt x="506" y="14493"/>
                </a:cubicBezTo>
                <a:cubicBezTo>
                  <a:pt x="0" y="13355"/>
                  <a:pt x="0" y="11898"/>
                  <a:pt x="0" y="8984"/>
                </a:cubicBezTo>
                <a:lnTo>
                  <a:pt x="0" y="8984"/>
                </a:lnTo>
                <a:cubicBezTo>
                  <a:pt x="0" y="6071"/>
                  <a:pt x="0" y="4614"/>
                  <a:pt x="506" y="3476"/>
                </a:cubicBezTo>
                <a:cubicBezTo>
                  <a:pt x="1095" y="2153"/>
                  <a:pt x="2153" y="1095"/>
                  <a:pt x="3476" y="506"/>
                </a:cubicBezTo>
                <a:cubicBezTo>
                  <a:pt x="4614" y="0"/>
                  <a:pt x="6071" y="0"/>
                  <a:pt x="898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44" name="TextBox 28"/>
          <p:cNvSpPr txBox="1"/>
          <p:nvPr/>
        </p:nvSpPr>
        <p:spPr>
          <a:xfrm>
            <a:off x="825500" y="114300"/>
            <a:ext cx="1219200" cy="292100"/>
          </a:xfrm>
          <a:prstGeom prst="rect">
            <a:avLst/>
          </a:prstGeom>
        </p:spPr>
        <p:txBody>
          <a:bodyPr wrap="square" lIns="0" tIns="0" rIns="0" bIns="0" anchor="ctr">
            <a:noAutofit/>
          </a:bodyPr>
          <a:lstStyle/>
          <a:p>
            <a:pPr>
              <a:lnSpc>
                <a:spcPct val="135000"/>
              </a:lnSpc>
            </a:pPr>
            <a:r>
              <a:rPr sz="660" b="1" spc="0">
                <a:solidFill>
                  <a:srgbClr val="0A0A0A"/>
                </a:solidFill>
                <a:latin typeface="Telegraf"/>
              </a:rPr>
              <a:t>CloudPulse CRM</a:t>
            </a:r>
            <a:endParaRPr sz="660" b="1" spc="0">
              <a:solidFill>
                <a:srgbClr val="0A0A0A"/>
              </a:solidFill>
              <a:latin typeface="Telegraf"/>
            </a:endParaRPr>
          </a:p>
        </p:txBody>
      </p:sp>
      <p:sp>
        <p:nvSpPr>
          <p:cNvPr id="2045" name="Freeform 2045"/>
          <p:cNvSpPr/>
          <p:nvPr/>
        </p:nvSpPr>
        <p:spPr>
          <a:xfrm>
            <a:off x="2148840" y="242570"/>
            <a:ext cx="71120" cy="35560"/>
          </a:xfrm>
          <a:custGeom>
            <a:avLst/>
            <a:gdLst/>
            <a:ahLst/>
            <a:cxnLst/>
            <a:rect l="l" t="t" r="r" b="b"/>
            <a:pathLst>
              <a:path w="100000" h="50000" fill="none">
                <a:moveTo>
                  <a:pt x="0" y="0"/>
                </a:moveTo>
                <a:lnTo>
                  <a:pt x="50000" y="50000"/>
                </a:lnTo>
                <a:lnTo>
                  <a:pt x="100000" y="0"/>
                </a:lnTo>
              </a:path>
            </a:pathLst>
          </a:custGeom>
          <a:noFill/>
          <a:ln w="11430"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2046" name="Oval 30"/>
          <p:cNvSpPr/>
          <p:nvPr/>
        </p:nvSpPr>
        <p:spPr>
          <a:xfrm>
            <a:off x="9861550" y="1333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47" name="TextBox 31"/>
          <p:cNvSpPr txBox="1"/>
          <p:nvPr/>
        </p:nvSpPr>
        <p:spPr>
          <a:xfrm>
            <a:off x="9861550" y="1333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2048" name="Rectangle 32"/>
          <p:cNvSpPr/>
          <p:nvPr/>
        </p:nvSpPr>
        <p:spPr>
          <a:xfrm>
            <a:off x="9728200" y="127000"/>
            <a:ext cx="203200" cy="254000"/>
          </a:xfrm>
          <a:custGeom>
            <a:avLst/>
            <a:gdLst/>
            <a:ahLst/>
            <a:cxnLst/>
            <a:rect l="l" t="t" r="r" b="b"/>
            <a:pathLst>
              <a:path w="80000" h="100000">
                <a:moveTo>
                  <a:pt x="40000" y="0"/>
                </a:moveTo>
                <a:cubicBezTo>
                  <a:pt x="54000" y="0"/>
                  <a:pt x="61000" y="0"/>
                  <a:pt x="66350" y="2725"/>
                </a:cubicBezTo>
                <a:cubicBezTo>
                  <a:pt x="71055" y="5120"/>
                  <a:pt x="74880" y="8945"/>
                  <a:pt x="77275" y="13650"/>
                </a:cubicBezTo>
                <a:cubicBezTo>
                  <a:pt x="80000" y="19000"/>
                  <a:pt x="80000" y="26000"/>
                  <a:pt x="80000" y="40000"/>
                </a:cubicBezTo>
                <a:lnTo>
                  <a:pt x="80000" y="60000"/>
                </a:lnTo>
                <a:cubicBezTo>
                  <a:pt x="80000" y="74000"/>
                  <a:pt x="80000" y="81000"/>
                  <a:pt x="77275" y="86350"/>
                </a:cubicBezTo>
                <a:cubicBezTo>
                  <a:pt x="74880" y="91055"/>
                  <a:pt x="71055" y="94880"/>
                  <a:pt x="66350" y="97275"/>
                </a:cubicBezTo>
                <a:cubicBezTo>
                  <a:pt x="61000" y="100000"/>
                  <a:pt x="54000" y="100000"/>
                  <a:pt x="40000" y="100000"/>
                </a:cubicBezTo>
                <a:lnTo>
                  <a:pt x="40000" y="100000"/>
                </a:lnTo>
                <a:cubicBezTo>
                  <a:pt x="26000" y="100000"/>
                  <a:pt x="19000" y="100000"/>
                  <a:pt x="13650" y="97275"/>
                </a:cubicBezTo>
                <a:cubicBezTo>
                  <a:pt x="8945" y="94880"/>
                  <a:pt x="5120" y="91055"/>
                  <a:pt x="2725" y="86350"/>
                </a:cubicBezTo>
                <a:cubicBezTo>
                  <a:pt x="0" y="81000"/>
                  <a:pt x="0" y="74000"/>
                  <a:pt x="0" y="60000"/>
                </a:cubicBezTo>
                <a:lnTo>
                  <a:pt x="0" y="40000"/>
                </a:lnTo>
                <a:cubicBezTo>
                  <a:pt x="0" y="26000"/>
                  <a:pt x="0" y="19000"/>
                  <a:pt x="2725" y="13650"/>
                </a:cubicBezTo>
                <a:cubicBezTo>
                  <a:pt x="5120" y="8945"/>
                  <a:pt x="8945" y="5120"/>
                  <a:pt x="13650" y="2725"/>
                </a:cubicBezTo>
                <a:cubicBezTo>
                  <a:pt x="19000" y="0"/>
                  <a:pt x="26000" y="0"/>
                  <a:pt x="40000"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49" name="TextBox 33"/>
          <p:cNvSpPr txBox="1"/>
          <p:nvPr/>
        </p:nvSpPr>
        <p:spPr>
          <a:xfrm>
            <a:off x="9728200" y="127000"/>
            <a:ext cx="203200" cy="254000"/>
          </a:xfrm>
          <a:prstGeom prst="rect">
            <a:avLst/>
          </a:prstGeom>
        </p:spPr>
        <p:txBody>
          <a:bodyPr wrap="square" lIns="0" tIns="0" rIns="0" bIns="0" anchor="ctr">
            <a:noAutofit/>
          </a:bodyPr>
          <a:lstStyle/>
          <a:p>
            <a:pPr algn="ctr">
              <a:lnSpc>
                <a:spcPct val="135000"/>
              </a:lnSpc>
            </a:pPr>
            <a:r>
              <a:rPr sz="640" spc="0">
                <a:solidFill>
                  <a:srgbClr val="67676E"/>
                </a:solidFill>
                <a:latin typeface="Telegraf"/>
              </a:rPr>
              <a:t>↺</a:t>
            </a:r>
            <a:endParaRPr sz="640" spc="0">
              <a:solidFill>
                <a:srgbClr val="67676E"/>
              </a:solidFill>
              <a:latin typeface="Telegraf"/>
            </a:endParaRPr>
          </a:p>
        </p:txBody>
      </p:sp>
      <p:sp>
        <p:nvSpPr>
          <p:cNvPr id="2050" name="Rectangle 34"/>
          <p:cNvSpPr/>
          <p:nvPr/>
        </p:nvSpPr>
        <p:spPr>
          <a:xfrm>
            <a:off x="8612632" y="114300"/>
            <a:ext cx="988568" cy="292100"/>
          </a:xfrm>
          <a:custGeom>
            <a:avLst/>
            <a:gdLst/>
            <a:ahLst/>
            <a:cxnLst/>
            <a:rect l="l" t="t" r="r" b="b"/>
            <a:pathLst>
              <a:path w="100000" h="29548">
                <a:moveTo>
                  <a:pt x="85226" y="0"/>
                </a:moveTo>
                <a:cubicBezTo>
                  <a:pt x="85226" y="0"/>
                  <a:pt x="85226" y="0"/>
                  <a:pt x="85226" y="0"/>
                </a:cubicBezTo>
                <a:cubicBezTo>
                  <a:pt x="93385" y="0"/>
                  <a:pt x="100000" y="6615"/>
                  <a:pt x="100000" y="14774"/>
                </a:cubicBezTo>
                <a:cubicBezTo>
                  <a:pt x="100000" y="14774"/>
                  <a:pt x="100000" y="14774"/>
                  <a:pt x="100000" y="14774"/>
                </a:cubicBezTo>
                <a:lnTo>
                  <a:pt x="100000" y="14774"/>
                </a:lnTo>
                <a:cubicBezTo>
                  <a:pt x="100000" y="14774"/>
                  <a:pt x="100000" y="14774"/>
                  <a:pt x="100000" y="14774"/>
                </a:cubicBezTo>
                <a:cubicBezTo>
                  <a:pt x="100000" y="22933"/>
                  <a:pt x="93385" y="29548"/>
                  <a:pt x="85226" y="29548"/>
                </a:cubicBezTo>
                <a:cubicBezTo>
                  <a:pt x="85226" y="29548"/>
                  <a:pt x="85226" y="29548"/>
                  <a:pt x="85226" y="29548"/>
                </a:cubicBezTo>
                <a:lnTo>
                  <a:pt x="14774" y="29548"/>
                </a:lnTo>
                <a:cubicBezTo>
                  <a:pt x="14774" y="29548"/>
                  <a:pt x="14774" y="29548"/>
                  <a:pt x="14774" y="29548"/>
                </a:cubicBezTo>
                <a:cubicBezTo>
                  <a:pt x="6615" y="29548"/>
                  <a:pt x="0" y="22933"/>
                  <a:pt x="0" y="14774"/>
                </a:cubicBezTo>
                <a:cubicBezTo>
                  <a:pt x="0" y="14774"/>
                  <a:pt x="0" y="14774"/>
                  <a:pt x="0" y="14774"/>
                </a:cubicBezTo>
                <a:lnTo>
                  <a:pt x="0" y="14774"/>
                </a:lnTo>
                <a:cubicBezTo>
                  <a:pt x="0" y="14774"/>
                  <a:pt x="0" y="14774"/>
                  <a:pt x="0" y="14774"/>
                </a:cubicBezTo>
                <a:cubicBezTo>
                  <a:pt x="0" y="6615"/>
                  <a:pt x="6615" y="0"/>
                  <a:pt x="14774" y="0"/>
                </a:cubicBezTo>
                <a:cubicBezTo>
                  <a:pt x="14774" y="0"/>
                  <a:pt x="14774" y="0"/>
                  <a:pt x="1477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51" name="Oval 35"/>
          <p:cNvSpPr/>
          <p:nvPr/>
        </p:nvSpPr>
        <p:spPr>
          <a:xfrm>
            <a:off x="8674862" y="24130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52" name="TextBox 36"/>
          <p:cNvSpPr txBox="1"/>
          <p:nvPr/>
        </p:nvSpPr>
        <p:spPr>
          <a:xfrm>
            <a:off x="8777732" y="114300"/>
            <a:ext cx="772668" cy="2921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Test my AI agent</a:t>
            </a:r>
            <a:endParaRPr sz="580" b="1" spc="10">
              <a:solidFill>
                <a:srgbClr val="FFFFFF"/>
              </a:solidFill>
              <a:latin typeface="Telegraf"/>
            </a:endParaRPr>
          </a:p>
        </p:txBody>
      </p:sp>
      <p:sp>
        <p:nvSpPr>
          <p:cNvPr id="2053" name="Rectangle 37"/>
          <p:cNvSpPr/>
          <p:nvPr/>
        </p:nvSpPr>
        <p:spPr>
          <a:xfrm>
            <a:off x="7215632" y="114300"/>
            <a:ext cx="1168400" cy="2921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54" name="Oval 38"/>
          <p:cNvSpPr/>
          <p:nvPr/>
        </p:nvSpPr>
        <p:spPr>
          <a:xfrm>
            <a:off x="7276719" y="219837"/>
            <a:ext cx="59817" cy="59817"/>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55" name="Freeform 2055"/>
          <p:cNvSpPr/>
          <p:nvPr/>
        </p:nvSpPr>
        <p:spPr>
          <a:xfrm>
            <a:off x="7330694" y="273812"/>
            <a:ext cx="28067" cy="28067"/>
          </a:xfrm>
          <a:custGeom>
            <a:avLst/>
            <a:gdLst/>
            <a:ahLst/>
            <a:cxnLst/>
            <a:rect l="l" t="t" r="r" b="b"/>
            <a:pathLst>
              <a:path w="100000" h="100000" fill="none">
                <a:moveTo>
                  <a:pt x="0" y="0"/>
                </a:moveTo>
                <a:lnTo>
                  <a:pt x="100000" y="100000"/>
                </a:lnTo>
              </a:path>
            </a:pathLst>
          </a:custGeom>
          <a:noFill/>
          <a:ln w="1206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2056" name="TextBox 40"/>
          <p:cNvSpPr txBox="1"/>
          <p:nvPr/>
        </p:nvSpPr>
        <p:spPr>
          <a:xfrm>
            <a:off x="7418832" y="114300"/>
            <a:ext cx="889000" cy="292100"/>
          </a:xfrm>
          <a:prstGeom prst="rect">
            <a:avLst/>
          </a:prstGeom>
        </p:spPr>
        <p:txBody>
          <a:bodyPr wrap="square" lIns="0" tIns="0" rIns="0" bIns="0" anchor="ctr">
            <a:noAutofit/>
          </a:bodyPr>
          <a:lstStyle/>
          <a:p>
            <a:pPr>
              <a:lnSpc>
                <a:spcPct val="135000"/>
              </a:lnSpc>
            </a:pPr>
            <a:r>
              <a:rPr sz="560" spc="0">
                <a:solidFill>
                  <a:srgbClr val="A2A2A8"/>
                </a:solidFill>
                <a:latin typeface="Telegraf"/>
              </a:rPr>
              <a:t>Search tickets</a:t>
            </a:r>
            <a:endParaRPr sz="560" spc="0">
              <a:solidFill>
                <a:srgbClr val="A2A2A8"/>
              </a:solidFill>
              <a:latin typeface="Telegraf"/>
            </a:endParaRPr>
          </a:p>
        </p:txBody>
      </p:sp>
      <p:sp>
        <p:nvSpPr>
          <p:cNvPr id="2057" name="TextBox 41"/>
          <p:cNvSpPr txBox="1"/>
          <p:nvPr/>
        </p:nvSpPr>
        <p:spPr>
          <a:xfrm>
            <a:off x="762000" y="685800"/>
            <a:ext cx="4064000" cy="381000"/>
          </a:xfrm>
          <a:prstGeom prst="rect">
            <a:avLst/>
          </a:prstGeom>
        </p:spPr>
        <p:txBody>
          <a:bodyPr wrap="square" lIns="0" tIns="0" rIns="0" bIns="0">
            <a:noAutofit/>
          </a:bodyPr>
          <a:lstStyle/>
          <a:p>
            <a:pPr>
              <a:lnSpc>
                <a:spcPct val="102000"/>
              </a:lnSpc>
            </a:pPr>
            <a:r>
              <a:rPr sz="2500" spc="-100">
                <a:solidFill>
                  <a:srgbClr val="0A0A0A"/>
                </a:solidFill>
                <a:latin typeface="PP Editorial New Ultralight"/>
              </a:rPr>
              <a:t>Business brain.</a:t>
            </a:r>
            <a:endParaRPr sz="2500" spc="-100">
              <a:solidFill>
                <a:srgbClr val="0A0A0A"/>
              </a:solidFill>
              <a:latin typeface="PP Editorial New Ultralight"/>
            </a:endParaRPr>
          </a:p>
        </p:txBody>
      </p:sp>
      <p:sp>
        <p:nvSpPr>
          <p:cNvPr id="2058" name="TextBox 42"/>
          <p:cNvSpPr txBox="1"/>
          <p:nvPr/>
        </p:nvSpPr>
        <p:spPr>
          <a:xfrm>
            <a:off x="774700" y="1066800"/>
            <a:ext cx="4826000" cy="152400"/>
          </a:xfrm>
          <a:prstGeom prst="rect">
            <a:avLst/>
          </a:prstGeom>
        </p:spPr>
        <p:txBody>
          <a:bodyPr wrap="square" lIns="0" tIns="0" rIns="0" bIns="0">
            <a:noAutofit/>
          </a:bodyPr>
          <a:lstStyle/>
          <a:p>
            <a:pPr>
              <a:lnSpc>
                <a:spcPct val="135000"/>
              </a:lnSpc>
            </a:pPr>
            <a:r>
              <a:rPr sz="540" spc="0">
                <a:solidFill>
                  <a:srgbClr val="67676E"/>
                </a:solidFill>
                <a:latin typeface="Telegraf"/>
              </a:rPr>
              <a:t>6 chunks  ·  1,240 words  ·  v1 compiled 12 minutes ago</a:t>
            </a:r>
            <a:endParaRPr sz="540" spc="0">
              <a:solidFill>
                <a:srgbClr val="67676E"/>
              </a:solidFill>
              <a:latin typeface="Telegraf"/>
            </a:endParaRPr>
          </a:p>
        </p:txBody>
      </p:sp>
      <p:sp>
        <p:nvSpPr>
          <p:cNvPr id="2059" name="Rectangle 43"/>
          <p:cNvSpPr/>
          <p:nvPr/>
        </p:nvSpPr>
        <p:spPr>
          <a:xfrm>
            <a:off x="8890000" y="965200"/>
            <a:ext cx="1219200" cy="228600"/>
          </a:xfrm>
          <a:custGeom>
            <a:avLst/>
            <a:gdLst/>
            <a:ahLst/>
            <a:cxnLst/>
            <a:rect l="l" t="t" r="r" b="b"/>
            <a:pathLst>
              <a:path w="100000" h="18750">
                <a:moveTo>
                  <a:pt x="90625" y="0"/>
                </a:moveTo>
                <a:cubicBezTo>
                  <a:pt x="90625" y="0"/>
                  <a:pt x="90625" y="0"/>
                  <a:pt x="90625" y="0"/>
                </a:cubicBezTo>
                <a:cubicBezTo>
                  <a:pt x="95803" y="0"/>
                  <a:pt x="100000" y="4197"/>
                  <a:pt x="100000" y="9375"/>
                </a:cubicBezTo>
                <a:cubicBezTo>
                  <a:pt x="100000" y="9375"/>
                  <a:pt x="100000" y="9375"/>
                  <a:pt x="100000" y="9375"/>
                </a:cubicBezTo>
                <a:lnTo>
                  <a:pt x="100000" y="9375"/>
                </a:lnTo>
                <a:cubicBezTo>
                  <a:pt x="100000" y="9375"/>
                  <a:pt x="100000" y="9375"/>
                  <a:pt x="100000" y="9375"/>
                </a:cubicBezTo>
                <a:cubicBezTo>
                  <a:pt x="100000" y="14553"/>
                  <a:pt x="95803" y="18750"/>
                  <a:pt x="90625" y="18750"/>
                </a:cubicBezTo>
                <a:cubicBezTo>
                  <a:pt x="90625" y="18750"/>
                  <a:pt x="90625" y="18750"/>
                  <a:pt x="90625" y="18750"/>
                </a:cubicBezTo>
                <a:lnTo>
                  <a:pt x="9375" y="18750"/>
                </a:lnTo>
                <a:cubicBezTo>
                  <a:pt x="9375" y="18750"/>
                  <a:pt x="9375" y="18750"/>
                  <a:pt x="9375" y="18750"/>
                </a:cubicBezTo>
                <a:cubicBezTo>
                  <a:pt x="4197" y="18750"/>
                  <a:pt x="0" y="14553"/>
                  <a:pt x="0" y="9375"/>
                </a:cubicBezTo>
                <a:cubicBezTo>
                  <a:pt x="0" y="9375"/>
                  <a:pt x="0" y="9375"/>
                  <a:pt x="0" y="9375"/>
                </a:cubicBezTo>
                <a:lnTo>
                  <a:pt x="0" y="9375"/>
                </a:lnTo>
                <a:cubicBezTo>
                  <a:pt x="0" y="9375"/>
                  <a:pt x="0" y="9375"/>
                  <a:pt x="0" y="9375"/>
                </a:cubicBezTo>
                <a:cubicBezTo>
                  <a:pt x="0" y="4197"/>
                  <a:pt x="4197" y="0"/>
                  <a:pt x="9375" y="0"/>
                </a:cubicBezTo>
                <a:cubicBezTo>
                  <a:pt x="9375" y="0"/>
                  <a:pt x="9375" y="0"/>
                  <a:pt x="9375"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60" name="Oval 44"/>
          <p:cNvSpPr/>
          <p:nvPr/>
        </p:nvSpPr>
        <p:spPr>
          <a:xfrm>
            <a:off x="8952230" y="1060450"/>
            <a:ext cx="38100" cy="3810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61" name="TextBox 45"/>
          <p:cNvSpPr txBox="1"/>
          <p:nvPr/>
        </p:nvSpPr>
        <p:spPr>
          <a:xfrm>
            <a:off x="9055100" y="965200"/>
            <a:ext cx="1003300" cy="228600"/>
          </a:xfrm>
          <a:prstGeom prst="rect">
            <a:avLst/>
          </a:prstGeom>
        </p:spPr>
        <p:txBody>
          <a:bodyPr wrap="square" lIns="0" tIns="0" rIns="0" bIns="0" anchor="ctr">
            <a:noAutofit/>
          </a:bodyPr>
          <a:lstStyle/>
          <a:p>
            <a:pPr>
              <a:lnSpc>
                <a:spcPct val="135000"/>
              </a:lnSpc>
            </a:pPr>
            <a:r>
              <a:rPr sz="460" b="1" spc="10">
                <a:solidFill>
                  <a:srgbClr val="0E6B5F"/>
                </a:solidFill>
                <a:latin typeface="Telegraf"/>
              </a:rPr>
              <a:t>v1 · live</a:t>
            </a:r>
            <a:endParaRPr sz="460" b="1" spc="10">
              <a:solidFill>
                <a:srgbClr val="0E6B5F"/>
              </a:solidFill>
              <a:latin typeface="Telegraf"/>
            </a:endParaRPr>
          </a:p>
        </p:txBody>
      </p:sp>
      <p:sp>
        <p:nvSpPr>
          <p:cNvPr id="2062" name="TextBox 46"/>
          <p:cNvSpPr txBox="1"/>
          <p:nvPr/>
        </p:nvSpPr>
        <p:spPr>
          <a:xfrm>
            <a:off x="762000" y="1422400"/>
            <a:ext cx="1143000" cy="114300"/>
          </a:xfrm>
          <a:prstGeom prst="rect">
            <a:avLst/>
          </a:prstGeom>
        </p:spPr>
        <p:txBody>
          <a:bodyPr wrap="square" lIns="0" tIns="0" rIns="0" bIns="0">
            <a:noAutofit/>
          </a:bodyPr>
          <a:lstStyle/>
          <a:p>
            <a:r>
              <a:rPr sz="440" b="1" spc="105">
                <a:solidFill>
                  <a:srgbClr val="A2A2A8"/>
                </a:solidFill>
                <a:latin typeface="Telegraf"/>
              </a:rPr>
              <a:t>CHUNK</a:t>
            </a:r>
            <a:endParaRPr sz="440" b="1" spc="105">
              <a:solidFill>
                <a:srgbClr val="A2A2A8"/>
              </a:solidFill>
              <a:latin typeface="Telegraf"/>
            </a:endParaRPr>
          </a:p>
        </p:txBody>
      </p:sp>
      <p:sp>
        <p:nvSpPr>
          <p:cNvPr id="2063" name="TextBox 47"/>
          <p:cNvSpPr txBox="1"/>
          <p:nvPr/>
        </p:nvSpPr>
        <p:spPr>
          <a:xfrm>
            <a:off x="1905000" y="1422400"/>
            <a:ext cx="1778000" cy="114300"/>
          </a:xfrm>
          <a:prstGeom prst="rect">
            <a:avLst/>
          </a:prstGeom>
        </p:spPr>
        <p:txBody>
          <a:bodyPr wrap="square" lIns="0" tIns="0" rIns="0" bIns="0">
            <a:noAutofit/>
          </a:bodyPr>
          <a:lstStyle/>
          <a:p>
            <a:r>
              <a:rPr sz="440" b="1" spc="105">
                <a:solidFill>
                  <a:srgbClr val="A2A2A8"/>
                </a:solidFill>
                <a:latin typeface="Telegraf"/>
              </a:rPr>
              <a:t>SECTION</a:t>
            </a:r>
            <a:endParaRPr sz="440" b="1" spc="105">
              <a:solidFill>
                <a:srgbClr val="A2A2A8"/>
              </a:solidFill>
              <a:latin typeface="Telegraf"/>
            </a:endParaRPr>
          </a:p>
        </p:txBody>
      </p:sp>
      <p:sp>
        <p:nvSpPr>
          <p:cNvPr id="2064" name="TextBox 48"/>
          <p:cNvSpPr txBox="1"/>
          <p:nvPr/>
        </p:nvSpPr>
        <p:spPr>
          <a:xfrm>
            <a:off x="4343400" y="1422400"/>
            <a:ext cx="508000" cy="114300"/>
          </a:xfrm>
          <a:prstGeom prst="rect">
            <a:avLst/>
          </a:prstGeom>
        </p:spPr>
        <p:txBody>
          <a:bodyPr wrap="square" lIns="0" tIns="0" rIns="0" bIns="0">
            <a:noAutofit/>
          </a:bodyPr>
          <a:lstStyle/>
          <a:p>
            <a:pPr algn="r"/>
            <a:r>
              <a:rPr sz="440" b="1" spc="105">
                <a:solidFill>
                  <a:srgbClr val="A2A2A8"/>
                </a:solidFill>
                <a:latin typeface="Telegraf"/>
              </a:rPr>
              <a:t>WORDS</a:t>
            </a:r>
            <a:endParaRPr sz="440" b="1" spc="105">
              <a:solidFill>
                <a:srgbClr val="A2A2A8"/>
              </a:solidFill>
              <a:latin typeface="Telegraf"/>
            </a:endParaRPr>
          </a:p>
        </p:txBody>
      </p:sp>
      <p:sp>
        <p:nvSpPr>
          <p:cNvPr id="2065" name="TextBox 49"/>
          <p:cNvSpPr txBox="1"/>
          <p:nvPr/>
        </p:nvSpPr>
        <p:spPr>
          <a:xfrm>
            <a:off x="5207000" y="1422400"/>
            <a:ext cx="508000" cy="114300"/>
          </a:xfrm>
          <a:prstGeom prst="rect">
            <a:avLst/>
          </a:prstGeom>
        </p:spPr>
        <p:txBody>
          <a:bodyPr wrap="square" lIns="0" tIns="0" rIns="0" bIns="0">
            <a:noAutofit/>
          </a:bodyPr>
          <a:lstStyle/>
          <a:p>
            <a:pPr algn="r"/>
            <a:r>
              <a:rPr sz="440" b="1" spc="105">
                <a:solidFill>
                  <a:srgbClr val="A2A2A8"/>
                </a:solidFill>
                <a:latin typeface="Telegraf"/>
              </a:rPr>
              <a:t>SCORE</a:t>
            </a:r>
            <a:endParaRPr sz="440" b="1" spc="105">
              <a:solidFill>
                <a:srgbClr val="A2A2A8"/>
              </a:solidFill>
              <a:latin typeface="Telegraf"/>
            </a:endParaRPr>
          </a:p>
        </p:txBody>
      </p:sp>
      <p:sp>
        <p:nvSpPr>
          <p:cNvPr id="2066" name="TextBox 50"/>
          <p:cNvSpPr txBox="1"/>
          <p:nvPr/>
        </p:nvSpPr>
        <p:spPr>
          <a:xfrm>
            <a:off x="762000" y="1600200"/>
            <a:ext cx="1016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chk_cp_01</a:t>
            </a:r>
            <a:endParaRPr sz="460" b="1" spc="0">
              <a:solidFill>
                <a:srgbClr val="0E6B5F"/>
              </a:solidFill>
              <a:latin typeface="Telegraf"/>
            </a:endParaRPr>
          </a:p>
        </p:txBody>
      </p:sp>
      <p:sp>
        <p:nvSpPr>
          <p:cNvPr id="2067" name="TextBox 51"/>
          <p:cNvSpPr txBox="1"/>
          <p:nvPr/>
        </p:nvSpPr>
        <p:spPr>
          <a:xfrm>
            <a:off x="1905000" y="1600200"/>
            <a:ext cx="2286000" cy="127000"/>
          </a:xfrm>
          <a:prstGeom prst="rect">
            <a:avLst/>
          </a:prstGeom>
        </p:spPr>
        <p:txBody>
          <a:bodyPr wrap="square" lIns="0" tIns="0" rIns="0" bIns="0">
            <a:noAutofit/>
          </a:bodyPr>
          <a:lstStyle/>
          <a:p>
            <a:pPr>
              <a:lnSpc>
                <a:spcPct val="135000"/>
              </a:lnSpc>
            </a:pPr>
            <a:r>
              <a:rPr sz="480" spc="0">
                <a:solidFill>
                  <a:srgbClr val="0A0A0A"/>
                </a:solidFill>
                <a:latin typeface="Telegraf"/>
              </a:rPr>
              <a:t>Products &amp; pricing</a:t>
            </a:r>
            <a:endParaRPr sz="480" spc="0">
              <a:solidFill>
                <a:srgbClr val="0A0A0A"/>
              </a:solidFill>
              <a:latin typeface="Telegraf"/>
            </a:endParaRPr>
          </a:p>
        </p:txBody>
      </p:sp>
      <p:sp>
        <p:nvSpPr>
          <p:cNvPr id="2068" name="TextBox 52"/>
          <p:cNvSpPr txBox="1"/>
          <p:nvPr/>
        </p:nvSpPr>
        <p:spPr>
          <a:xfrm>
            <a:off x="4343400" y="1600200"/>
            <a:ext cx="508000" cy="127000"/>
          </a:xfrm>
          <a:prstGeom prst="rect">
            <a:avLst/>
          </a:prstGeom>
        </p:spPr>
        <p:txBody>
          <a:bodyPr wrap="square" lIns="0" tIns="0" rIns="0" bIns="0">
            <a:noAutofit/>
          </a:bodyPr>
          <a:lstStyle/>
          <a:p>
            <a:pPr algn="r">
              <a:lnSpc>
                <a:spcPct val="135000"/>
              </a:lnSpc>
            </a:pPr>
            <a:r>
              <a:rPr sz="460" spc="0">
                <a:solidFill>
                  <a:srgbClr val="67676E"/>
                </a:solidFill>
                <a:latin typeface="Telegraf"/>
              </a:rPr>
              <a:t>210</a:t>
            </a:r>
            <a:endParaRPr sz="460" spc="0">
              <a:solidFill>
                <a:srgbClr val="67676E"/>
              </a:solidFill>
              <a:latin typeface="Telegraf"/>
            </a:endParaRPr>
          </a:p>
        </p:txBody>
      </p:sp>
      <p:sp>
        <p:nvSpPr>
          <p:cNvPr id="2069" name="TextBox 53"/>
          <p:cNvSpPr txBox="1"/>
          <p:nvPr/>
        </p:nvSpPr>
        <p:spPr>
          <a:xfrm>
            <a:off x="5029200" y="1600200"/>
            <a:ext cx="3048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0.94</a:t>
            </a:r>
            <a:endParaRPr sz="460" spc="0">
              <a:solidFill>
                <a:srgbClr val="0A0A0A"/>
              </a:solidFill>
              <a:latin typeface="Telegraf"/>
            </a:endParaRPr>
          </a:p>
        </p:txBody>
      </p:sp>
      <p:sp>
        <p:nvSpPr>
          <p:cNvPr id="2070" name="Rectangle 54"/>
          <p:cNvSpPr/>
          <p:nvPr/>
        </p:nvSpPr>
        <p:spPr>
          <a:xfrm>
            <a:off x="5435600" y="1638300"/>
            <a:ext cx="533400" cy="38100"/>
          </a:xfrm>
          <a:custGeom>
            <a:avLst/>
            <a:gdLst/>
            <a:ahLst/>
            <a:cxnLst/>
            <a:rect l="l" t="t" r="r" b="b"/>
            <a:pathLst>
              <a:path w="100000" h="7143">
                <a:moveTo>
                  <a:pt x="96429" y="0"/>
                </a:moveTo>
                <a:cubicBezTo>
                  <a:pt x="96429" y="0"/>
                  <a:pt x="96429" y="0"/>
                  <a:pt x="96429" y="0"/>
                </a:cubicBezTo>
                <a:cubicBezTo>
                  <a:pt x="98400" y="0"/>
                  <a:pt x="100000" y="1600"/>
                  <a:pt x="100000" y="3571"/>
                </a:cubicBezTo>
                <a:cubicBezTo>
                  <a:pt x="100000" y="3571"/>
                  <a:pt x="100000" y="3571"/>
                  <a:pt x="100000" y="3571"/>
                </a:cubicBezTo>
                <a:lnTo>
                  <a:pt x="100000" y="3571"/>
                </a:lnTo>
                <a:cubicBezTo>
                  <a:pt x="100000" y="3571"/>
                  <a:pt x="100000" y="3571"/>
                  <a:pt x="100000" y="3571"/>
                </a:cubicBezTo>
                <a:cubicBezTo>
                  <a:pt x="100000" y="5543"/>
                  <a:pt x="98400" y="7143"/>
                  <a:pt x="96429" y="7143"/>
                </a:cubicBezTo>
                <a:cubicBezTo>
                  <a:pt x="96429" y="7143"/>
                  <a:pt x="96429" y="7143"/>
                  <a:pt x="96429" y="7143"/>
                </a:cubicBezTo>
                <a:lnTo>
                  <a:pt x="3571" y="7143"/>
                </a:lnTo>
                <a:cubicBezTo>
                  <a:pt x="3571" y="7143"/>
                  <a:pt x="3571" y="7143"/>
                  <a:pt x="3571" y="7143"/>
                </a:cubicBezTo>
                <a:cubicBezTo>
                  <a:pt x="1600" y="7143"/>
                  <a:pt x="0" y="5543"/>
                  <a:pt x="0" y="3571"/>
                </a:cubicBezTo>
                <a:cubicBezTo>
                  <a:pt x="0" y="3571"/>
                  <a:pt x="0" y="3571"/>
                  <a:pt x="0" y="3571"/>
                </a:cubicBezTo>
                <a:lnTo>
                  <a:pt x="0" y="3571"/>
                </a:lnTo>
                <a:cubicBezTo>
                  <a:pt x="0" y="3571"/>
                  <a:pt x="0" y="3571"/>
                  <a:pt x="0" y="3571"/>
                </a:cubicBezTo>
                <a:cubicBezTo>
                  <a:pt x="0" y="1600"/>
                  <a:pt x="1600" y="0"/>
                  <a:pt x="3571" y="0"/>
                </a:cubicBezTo>
                <a:cubicBezTo>
                  <a:pt x="3571" y="0"/>
                  <a:pt x="3571" y="0"/>
                  <a:pt x="3571"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71" name="Rectangle 55"/>
          <p:cNvSpPr/>
          <p:nvPr/>
        </p:nvSpPr>
        <p:spPr>
          <a:xfrm>
            <a:off x="5435600" y="1638300"/>
            <a:ext cx="501396" cy="38100"/>
          </a:xfrm>
          <a:custGeom>
            <a:avLst/>
            <a:gdLst/>
            <a:ahLst/>
            <a:cxnLst/>
            <a:rect l="l" t="t" r="r" b="b"/>
            <a:pathLst>
              <a:path w="100000" h="7599">
                <a:moveTo>
                  <a:pt x="96201" y="0"/>
                </a:moveTo>
                <a:cubicBezTo>
                  <a:pt x="96201" y="0"/>
                  <a:pt x="96201" y="0"/>
                  <a:pt x="96201" y="0"/>
                </a:cubicBezTo>
                <a:cubicBezTo>
                  <a:pt x="98298" y="0"/>
                  <a:pt x="100000" y="1702"/>
                  <a:pt x="100000" y="3799"/>
                </a:cubicBezTo>
                <a:cubicBezTo>
                  <a:pt x="100000" y="3799"/>
                  <a:pt x="100000" y="3799"/>
                  <a:pt x="100000" y="3799"/>
                </a:cubicBezTo>
                <a:lnTo>
                  <a:pt x="100000" y="3799"/>
                </a:lnTo>
                <a:cubicBezTo>
                  <a:pt x="100000" y="3799"/>
                  <a:pt x="100000" y="3799"/>
                  <a:pt x="100000" y="3799"/>
                </a:cubicBezTo>
                <a:cubicBezTo>
                  <a:pt x="100000" y="5897"/>
                  <a:pt x="98298" y="7599"/>
                  <a:pt x="96201" y="7599"/>
                </a:cubicBezTo>
                <a:cubicBezTo>
                  <a:pt x="96201" y="7599"/>
                  <a:pt x="96201" y="7599"/>
                  <a:pt x="96201" y="7599"/>
                </a:cubicBezTo>
                <a:lnTo>
                  <a:pt x="3799" y="7599"/>
                </a:lnTo>
                <a:cubicBezTo>
                  <a:pt x="3799" y="7599"/>
                  <a:pt x="3799" y="7599"/>
                  <a:pt x="3799" y="7599"/>
                </a:cubicBezTo>
                <a:cubicBezTo>
                  <a:pt x="1702" y="7599"/>
                  <a:pt x="0" y="5897"/>
                  <a:pt x="0" y="3799"/>
                </a:cubicBezTo>
                <a:cubicBezTo>
                  <a:pt x="0" y="3799"/>
                  <a:pt x="0" y="3799"/>
                  <a:pt x="0" y="3799"/>
                </a:cubicBezTo>
                <a:lnTo>
                  <a:pt x="0" y="3799"/>
                </a:lnTo>
                <a:cubicBezTo>
                  <a:pt x="0" y="3799"/>
                  <a:pt x="0" y="3799"/>
                  <a:pt x="0" y="3799"/>
                </a:cubicBezTo>
                <a:cubicBezTo>
                  <a:pt x="0" y="1702"/>
                  <a:pt x="1702" y="0"/>
                  <a:pt x="3799" y="0"/>
                </a:cubicBezTo>
                <a:cubicBezTo>
                  <a:pt x="3799" y="0"/>
                  <a:pt x="3799" y="0"/>
                  <a:pt x="3799"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72" name="Rectangle 56"/>
          <p:cNvSpPr/>
          <p:nvPr/>
        </p:nvSpPr>
        <p:spPr>
          <a:xfrm>
            <a:off x="762000" y="1803400"/>
            <a:ext cx="5207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73" name="TextBox 57"/>
          <p:cNvSpPr txBox="1"/>
          <p:nvPr/>
        </p:nvSpPr>
        <p:spPr>
          <a:xfrm>
            <a:off x="762000" y="1930400"/>
            <a:ext cx="1016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chk_cp_02</a:t>
            </a:r>
            <a:endParaRPr sz="460" b="1" spc="0">
              <a:solidFill>
                <a:srgbClr val="0E6B5F"/>
              </a:solidFill>
              <a:latin typeface="Telegraf"/>
            </a:endParaRPr>
          </a:p>
        </p:txBody>
      </p:sp>
      <p:sp>
        <p:nvSpPr>
          <p:cNvPr id="2074" name="TextBox 58"/>
          <p:cNvSpPr txBox="1"/>
          <p:nvPr/>
        </p:nvSpPr>
        <p:spPr>
          <a:xfrm>
            <a:off x="1905000" y="1930400"/>
            <a:ext cx="2286000" cy="127000"/>
          </a:xfrm>
          <a:prstGeom prst="rect">
            <a:avLst/>
          </a:prstGeom>
        </p:spPr>
        <p:txBody>
          <a:bodyPr wrap="square" lIns="0" tIns="0" rIns="0" bIns="0">
            <a:noAutofit/>
          </a:bodyPr>
          <a:lstStyle/>
          <a:p>
            <a:pPr>
              <a:lnSpc>
                <a:spcPct val="135000"/>
              </a:lnSpc>
            </a:pPr>
            <a:r>
              <a:rPr sz="480" spc="0">
                <a:solidFill>
                  <a:srgbClr val="0A0A0A"/>
                </a:solidFill>
                <a:latin typeface="Telegraf"/>
              </a:rPr>
              <a:t>Pricing FAQ</a:t>
            </a:r>
            <a:endParaRPr sz="480" spc="0">
              <a:solidFill>
                <a:srgbClr val="0A0A0A"/>
              </a:solidFill>
              <a:latin typeface="Telegraf"/>
            </a:endParaRPr>
          </a:p>
        </p:txBody>
      </p:sp>
      <p:sp>
        <p:nvSpPr>
          <p:cNvPr id="2075" name="TextBox 59"/>
          <p:cNvSpPr txBox="1"/>
          <p:nvPr/>
        </p:nvSpPr>
        <p:spPr>
          <a:xfrm>
            <a:off x="4343400" y="1930400"/>
            <a:ext cx="508000" cy="127000"/>
          </a:xfrm>
          <a:prstGeom prst="rect">
            <a:avLst/>
          </a:prstGeom>
        </p:spPr>
        <p:txBody>
          <a:bodyPr wrap="square" lIns="0" tIns="0" rIns="0" bIns="0">
            <a:noAutofit/>
          </a:bodyPr>
          <a:lstStyle/>
          <a:p>
            <a:pPr algn="r">
              <a:lnSpc>
                <a:spcPct val="135000"/>
              </a:lnSpc>
            </a:pPr>
            <a:r>
              <a:rPr sz="460" spc="0">
                <a:solidFill>
                  <a:srgbClr val="67676E"/>
                </a:solidFill>
                <a:latin typeface="Telegraf"/>
              </a:rPr>
              <a:t>90</a:t>
            </a:r>
            <a:endParaRPr sz="460" spc="0">
              <a:solidFill>
                <a:srgbClr val="67676E"/>
              </a:solidFill>
              <a:latin typeface="Telegraf"/>
            </a:endParaRPr>
          </a:p>
        </p:txBody>
      </p:sp>
      <p:sp>
        <p:nvSpPr>
          <p:cNvPr id="2076" name="TextBox 60"/>
          <p:cNvSpPr txBox="1"/>
          <p:nvPr/>
        </p:nvSpPr>
        <p:spPr>
          <a:xfrm>
            <a:off x="5029200" y="1930400"/>
            <a:ext cx="3048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0.88</a:t>
            </a:r>
            <a:endParaRPr sz="460" spc="0">
              <a:solidFill>
                <a:srgbClr val="0A0A0A"/>
              </a:solidFill>
              <a:latin typeface="Telegraf"/>
            </a:endParaRPr>
          </a:p>
        </p:txBody>
      </p:sp>
      <p:sp>
        <p:nvSpPr>
          <p:cNvPr id="2077" name="Rectangle 61"/>
          <p:cNvSpPr/>
          <p:nvPr/>
        </p:nvSpPr>
        <p:spPr>
          <a:xfrm>
            <a:off x="5435600" y="1968500"/>
            <a:ext cx="533400" cy="38100"/>
          </a:xfrm>
          <a:custGeom>
            <a:avLst/>
            <a:gdLst/>
            <a:ahLst/>
            <a:cxnLst/>
            <a:rect l="l" t="t" r="r" b="b"/>
            <a:pathLst>
              <a:path w="100000" h="7143">
                <a:moveTo>
                  <a:pt x="96429" y="0"/>
                </a:moveTo>
                <a:cubicBezTo>
                  <a:pt x="96429" y="0"/>
                  <a:pt x="96429" y="0"/>
                  <a:pt x="96429" y="0"/>
                </a:cubicBezTo>
                <a:cubicBezTo>
                  <a:pt x="98400" y="0"/>
                  <a:pt x="100000" y="1600"/>
                  <a:pt x="100000" y="3571"/>
                </a:cubicBezTo>
                <a:cubicBezTo>
                  <a:pt x="100000" y="3571"/>
                  <a:pt x="100000" y="3571"/>
                  <a:pt x="100000" y="3571"/>
                </a:cubicBezTo>
                <a:lnTo>
                  <a:pt x="100000" y="3571"/>
                </a:lnTo>
                <a:cubicBezTo>
                  <a:pt x="100000" y="3571"/>
                  <a:pt x="100000" y="3571"/>
                  <a:pt x="100000" y="3571"/>
                </a:cubicBezTo>
                <a:cubicBezTo>
                  <a:pt x="100000" y="5543"/>
                  <a:pt x="98400" y="7143"/>
                  <a:pt x="96429" y="7143"/>
                </a:cubicBezTo>
                <a:cubicBezTo>
                  <a:pt x="96429" y="7143"/>
                  <a:pt x="96429" y="7143"/>
                  <a:pt x="96429" y="7143"/>
                </a:cubicBezTo>
                <a:lnTo>
                  <a:pt x="3571" y="7143"/>
                </a:lnTo>
                <a:cubicBezTo>
                  <a:pt x="3571" y="7143"/>
                  <a:pt x="3571" y="7143"/>
                  <a:pt x="3571" y="7143"/>
                </a:cubicBezTo>
                <a:cubicBezTo>
                  <a:pt x="1600" y="7143"/>
                  <a:pt x="0" y="5543"/>
                  <a:pt x="0" y="3571"/>
                </a:cubicBezTo>
                <a:cubicBezTo>
                  <a:pt x="0" y="3571"/>
                  <a:pt x="0" y="3571"/>
                  <a:pt x="0" y="3571"/>
                </a:cubicBezTo>
                <a:lnTo>
                  <a:pt x="0" y="3571"/>
                </a:lnTo>
                <a:cubicBezTo>
                  <a:pt x="0" y="3571"/>
                  <a:pt x="0" y="3571"/>
                  <a:pt x="0" y="3571"/>
                </a:cubicBezTo>
                <a:cubicBezTo>
                  <a:pt x="0" y="1600"/>
                  <a:pt x="1600" y="0"/>
                  <a:pt x="3571" y="0"/>
                </a:cubicBezTo>
                <a:cubicBezTo>
                  <a:pt x="3571" y="0"/>
                  <a:pt x="3571" y="0"/>
                  <a:pt x="3571"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78" name="Rectangle 62"/>
          <p:cNvSpPr/>
          <p:nvPr/>
        </p:nvSpPr>
        <p:spPr>
          <a:xfrm>
            <a:off x="5435600" y="1968500"/>
            <a:ext cx="469392" cy="38100"/>
          </a:xfrm>
          <a:custGeom>
            <a:avLst/>
            <a:gdLst/>
            <a:ahLst/>
            <a:cxnLst/>
            <a:rect l="l" t="t" r="r" b="b"/>
            <a:pathLst>
              <a:path w="100000" h="8117">
                <a:moveTo>
                  <a:pt x="95942" y="0"/>
                </a:moveTo>
                <a:cubicBezTo>
                  <a:pt x="95942" y="0"/>
                  <a:pt x="95942" y="0"/>
                  <a:pt x="95942" y="0"/>
                </a:cubicBezTo>
                <a:cubicBezTo>
                  <a:pt x="98182" y="0"/>
                  <a:pt x="100000" y="1818"/>
                  <a:pt x="100000" y="4058"/>
                </a:cubicBezTo>
                <a:cubicBezTo>
                  <a:pt x="100000" y="4058"/>
                  <a:pt x="100000" y="4058"/>
                  <a:pt x="100000" y="4058"/>
                </a:cubicBezTo>
                <a:lnTo>
                  <a:pt x="100000" y="4058"/>
                </a:lnTo>
                <a:cubicBezTo>
                  <a:pt x="100000" y="4058"/>
                  <a:pt x="100000" y="4058"/>
                  <a:pt x="100000" y="4058"/>
                </a:cubicBezTo>
                <a:cubicBezTo>
                  <a:pt x="100000" y="6299"/>
                  <a:pt x="98182" y="8117"/>
                  <a:pt x="95942" y="8117"/>
                </a:cubicBezTo>
                <a:cubicBezTo>
                  <a:pt x="95942" y="8117"/>
                  <a:pt x="95942" y="8117"/>
                  <a:pt x="95942" y="8117"/>
                </a:cubicBezTo>
                <a:lnTo>
                  <a:pt x="4058" y="8117"/>
                </a:lnTo>
                <a:cubicBezTo>
                  <a:pt x="4058" y="8117"/>
                  <a:pt x="4058" y="8117"/>
                  <a:pt x="4058" y="8117"/>
                </a:cubicBezTo>
                <a:cubicBezTo>
                  <a:pt x="1818" y="8117"/>
                  <a:pt x="0" y="6299"/>
                  <a:pt x="0" y="4058"/>
                </a:cubicBezTo>
                <a:cubicBezTo>
                  <a:pt x="0" y="4058"/>
                  <a:pt x="0" y="4058"/>
                  <a:pt x="0" y="4058"/>
                </a:cubicBezTo>
                <a:lnTo>
                  <a:pt x="0" y="4058"/>
                </a:lnTo>
                <a:cubicBezTo>
                  <a:pt x="0" y="4058"/>
                  <a:pt x="0" y="4058"/>
                  <a:pt x="0" y="4058"/>
                </a:cubicBezTo>
                <a:cubicBezTo>
                  <a:pt x="0" y="1818"/>
                  <a:pt x="1818" y="0"/>
                  <a:pt x="4058" y="0"/>
                </a:cubicBezTo>
                <a:cubicBezTo>
                  <a:pt x="4058" y="0"/>
                  <a:pt x="4058" y="0"/>
                  <a:pt x="4058"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79" name="Rectangle 63"/>
          <p:cNvSpPr/>
          <p:nvPr/>
        </p:nvSpPr>
        <p:spPr>
          <a:xfrm>
            <a:off x="762000" y="2133600"/>
            <a:ext cx="5207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80" name="TextBox 64"/>
          <p:cNvSpPr txBox="1"/>
          <p:nvPr/>
        </p:nvSpPr>
        <p:spPr>
          <a:xfrm>
            <a:off x="762000" y="2260600"/>
            <a:ext cx="1016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chk_cp_03</a:t>
            </a:r>
            <a:endParaRPr sz="460" b="1" spc="0">
              <a:solidFill>
                <a:srgbClr val="0E6B5F"/>
              </a:solidFill>
              <a:latin typeface="Telegraf"/>
            </a:endParaRPr>
          </a:p>
        </p:txBody>
      </p:sp>
      <p:sp>
        <p:nvSpPr>
          <p:cNvPr id="2081" name="TextBox 65"/>
          <p:cNvSpPr txBox="1"/>
          <p:nvPr/>
        </p:nvSpPr>
        <p:spPr>
          <a:xfrm>
            <a:off x="1905000" y="2260600"/>
            <a:ext cx="2286000" cy="127000"/>
          </a:xfrm>
          <a:prstGeom prst="rect">
            <a:avLst/>
          </a:prstGeom>
        </p:spPr>
        <p:txBody>
          <a:bodyPr wrap="square" lIns="0" tIns="0" rIns="0" bIns="0">
            <a:noAutofit/>
          </a:bodyPr>
          <a:lstStyle/>
          <a:p>
            <a:pPr>
              <a:lnSpc>
                <a:spcPct val="135000"/>
              </a:lnSpc>
            </a:pPr>
            <a:r>
              <a:rPr sz="480" spc="0">
                <a:solidFill>
                  <a:srgbClr val="0A0A0A"/>
                </a:solidFill>
                <a:latin typeface="Telegraf"/>
              </a:rPr>
              <a:t>Hours &amp; holidays</a:t>
            </a:r>
            <a:endParaRPr sz="480" spc="0">
              <a:solidFill>
                <a:srgbClr val="0A0A0A"/>
              </a:solidFill>
              <a:latin typeface="Telegraf"/>
            </a:endParaRPr>
          </a:p>
        </p:txBody>
      </p:sp>
      <p:sp>
        <p:nvSpPr>
          <p:cNvPr id="2082" name="TextBox 66"/>
          <p:cNvSpPr txBox="1"/>
          <p:nvPr/>
        </p:nvSpPr>
        <p:spPr>
          <a:xfrm>
            <a:off x="4343400" y="2260600"/>
            <a:ext cx="508000" cy="127000"/>
          </a:xfrm>
          <a:prstGeom prst="rect">
            <a:avLst/>
          </a:prstGeom>
        </p:spPr>
        <p:txBody>
          <a:bodyPr wrap="square" lIns="0" tIns="0" rIns="0" bIns="0">
            <a:noAutofit/>
          </a:bodyPr>
          <a:lstStyle/>
          <a:p>
            <a:pPr algn="r">
              <a:lnSpc>
                <a:spcPct val="135000"/>
              </a:lnSpc>
            </a:pPr>
            <a:r>
              <a:rPr sz="460" spc="0">
                <a:solidFill>
                  <a:srgbClr val="67676E"/>
                </a:solidFill>
                <a:latin typeface="Telegraf"/>
              </a:rPr>
              <a:t>70</a:t>
            </a:r>
            <a:endParaRPr sz="460" spc="0">
              <a:solidFill>
                <a:srgbClr val="67676E"/>
              </a:solidFill>
              <a:latin typeface="Telegraf"/>
            </a:endParaRPr>
          </a:p>
        </p:txBody>
      </p:sp>
      <p:sp>
        <p:nvSpPr>
          <p:cNvPr id="2083" name="TextBox 67"/>
          <p:cNvSpPr txBox="1"/>
          <p:nvPr/>
        </p:nvSpPr>
        <p:spPr>
          <a:xfrm>
            <a:off x="5029200" y="2260600"/>
            <a:ext cx="3048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0.81</a:t>
            </a:r>
            <a:endParaRPr sz="460" spc="0">
              <a:solidFill>
                <a:srgbClr val="0A0A0A"/>
              </a:solidFill>
              <a:latin typeface="Telegraf"/>
            </a:endParaRPr>
          </a:p>
        </p:txBody>
      </p:sp>
      <p:sp>
        <p:nvSpPr>
          <p:cNvPr id="2084" name="Rectangle 68"/>
          <p:cNvSpPr/>
          <p:nvPr/>
        </p:nvSpPr>
        <p:spPr>
          <a:xfrm>
            <a:off x="5435600" y="2298700"/>
            <a:ext cx="533400" cy="38100"/>
          </a:xfrm>
          <a:custGeom>
            <a:avLst/>
            <a:gdLst/>
            <a:ahLst/>
            <a:cxnLst/>
            <a:rect l="l" t="t" r="r" b="b"/>
            <a:pathLst>
              <a:path w="100000" h="7143">
                <a:moveTo>
                  <a:pt x="96429" y="0"/>
                </a:moveTo>
                <a:cubicBezTo>
                  <a:pt x="96429" y="0"/>
                  <a:pt x="96429" y="0"/>
                  <a:pt x="96429" y="0"/>
                </a:cubicBezTo>
                <a:cubicBezTo>
                  <a:pt x="98400" y="0"/>
                  <a:pt x="100000" y="1600"/>
                  <a:pt x="100000" y="3571"/>
                </a:cubicBezTo>
                <a:cubicBezTo>
                  <a:pt x="100000" y="3571"/>
                  <a:pt x="100000" y="3571"/>
                  <a:pt x="100000" y="3571"/>
                </a:cubicBezTo>
                <a:lnTo>
                  <a:pt x="100000" y="3571"/>
                </a:lnTo>
                <a:cubicBezTo>
                  <a:pt x="100000" y="3571"/>
                  <a:pt x="100000" y="3571"/>
                  <a:pt x="100000" y="3571"/>
                </a:cubicBezTo>
                <a:cubicBezTo>
                  <a:pt x="100000" y="5543"/>
                  <a:pt x="98400" y="7143"/>
                  <a:pt x="96429" y="7143"/>
                </a:cubicBezTo>
                <a:cubicBezTo>
                  <a:pt x="96429" y="7143"/>
                  <a:pt x="96429" y="7143"/>
                  <a:pt x="96429" y="7143"/>
                </a:cubicBezTo>
                <a:lnTo>
                  <a:pt x="3571" y="7143"/>
                </a:lnTo>
                <a:cubicBezTo>
                  <a:pt x="3571" y="7143"/>
                  <a:pt x="3571" y="7143"/>
                  <a:pt x="3571" y="7143"/>
                </a:cubicBezTo>
                <a:cubicBezTo>
                  <a:pt x="1600" y="7143"/>
                  <a:pt x="0" y="5543"/>
                  <a:pt x="0" y="3571"/>
                </a:cubicBezTo>
                <a:cubicBezTo>
                  <a:pt x="0" y="3571"/>
                  <a:pt x="0" y="3571"/>
                  <a:pt x="0" y="3571"/>
                </a:cubicBezTo>
                <a:lnTo>
                  <a:pt x="0" y="3571"/>
                </a:lnTo>
                <a:cubicBezTo>
                  <a:pt x="0" y="3571"/>
                  <a:pt x="0" y="3571"/>
                  <a:pt x="0" y="3571"/>
                </a:cubicBezTo>
                <a:cubicBezTo>
                  <a:pt x="0" y="1600"/>
                  <a:pt x="1600" y="0"/>
                  <a:pt x="3571" y="0"/>
                </a:cubicBezTo>
                <a:cubicBezTo>
                  <a:pt x="3571" y="0"/>
                  <a:pt x="3571" y="0"/>
                  <a:pt x="3571"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85" name="Rectangle 69"/>
          <p:cNvSpPr/>
          <p:nvPr/>
        </p:nvSpPr>
        <p:spPr>
          <a:xfrm>
            <a:off x="5435600" y="2298700"/>
            <a:ext cx="432054" cy="38100"/>
          </a:xfrm>
          <a:custGeom>
            <a:avLst/>
            <a:gdLst/>
            <a:ahLst/>
            <a:cxnLst/>
            <a:rect l="l" t="t" r="r" b="b"/>
            <a:pathLst>
              <a:path w="100000" h="8818">
                <a:moveTo>
                  <a:pt x="95591" y="0"/>
                </a:moveTo>
                <a:cubicBezTo>
                  <a:pt x="95591" y="0"/>
                  <a:pt x="95591" y="0"/>
                  <a:pt x="95591" y="0"/>
                </a:cubicBezTo>
                <a:cubicBezTo>
                  <a:pt x="98025" y="0"/>
                  <a:pt x="100000" y="1975"/>
                  <a:pt x="100000" y="4409"/>
                </a:cubicBezTo>
                <a:cubicBezTo>
                  <a:pt x="100000" y="4409"/>
                  <a:pt x="100000" y="4409"/>
                  <a:pt x="100000" y="4409"/>
                </a:cubicBezTo>
                <a:lnTo>
                  <a:pt x="100000" y="4409"/>
                </a:lnTo>
                <a:cubicBezTo>
                  <a:pt x="100000" y="4409"/>
                  <a:pt x="100000" y="4409"/>
                  <a:pt x="100000" y="4409"/>
                </a:cubicBezTo>
                <a:cubicBezTo>
                  <a:pt x="100000" y="6843"/>
                  <a:pt x="98025" y="8818"/>
                  <a:pt x="95591" y="8818"/>
                </a:cubicBezTo>
                <a:cubicBezTo>
                  <a:pt x="95591" y="8818"/>
                  <a:pt x="95591" y="8818"/>
                  <a:pt x="95591" y="8818"/>
                </a:cubicBezTo>
                <a:lnTo>
                  <a:pt x="4409" y="8818"/>
                </a:lnTo>
                <a:cubicBezTo>
                  <a:pt x="4409" y="8818"/>
                  <a:pt x="4409" y="8818"/>
                  <a:pt x="4409" y="8818"/>
                </a:cubicBezTo>
                <a:cubicBezTo>
                  <a:pt x="1975" y="8818"/>
                  <a:pt x="0" y="6843"/>
                  <a:pt x="0" y="4409"/>
                </a:cubicBezTo>
                <a:cubicBezTo>
                  <a:pt x="0" y="4409"/>
                  <a:pt x="0" y="4409"/>
                  <a:pt x="0" y="4409"/>
                </a:cubicBezTo>
                <a:lnTo>
                  <a:pt x="0" y="4409"/>
                </a:lnTo>
                <a:cubicBezTo>
                  <a:pt x="0" y="4409"/>
                  <a:pt x="0" y="4409"/>
                  <a:pt x="0" y="4409"/>
                </a:cubicBezTo>
                <a:cubicBezTo>
                  <a:pt x="0" y="1975"/>
                  <a:pt x="1975" y="0"/>
                  <a:pt x="4409" y="0"/>
                </a:cubicBezTo>
                <a:cubicBezTo>
                  <a:pt x="4409" y="0"/>
                  <a:pt x="4409" y="0"/>
                  <a:pt x="4409"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86" name="Rectangle 70"/>
          <p:cNvSpPr/>
          <p:nvPr/>
        </p:nvSpPr>
        <p:spPr>
          <a:xfrm>
            <a:off x="762000" y="2463800"/>
            <a:ext cx="5207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87" name="TextBox 71"/>
          <p:cNvSpPr txBox="1"/>
          <p:nvPr/>
        </p:nvSpPr>
        <p:spPr>
          <a:xfrm>
            <a:off x="762000" y="2590800"/>
            <a:ext cx="1016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chk_cp_04</a:t>
            </a:r>
            <a:endParaRPr sz="460" b="1" spc="0">
              <a:solidFill>
                <a:srgbClr val="0E6B5F"/>
              </a:solidFill>
              <a:latin typeface="Telegraf"/>
            </a:endParaRPr>
          </a:p>
        </p:txBody>
      </p:sp>
      <p:sp>
        <p:nvSpPr>
          <p:cNvPr id="2088" name="TextBox 72"/>
          <p:cNvSpPr txBox="1"/>
          <p:nvPr/>
        </p:nvSpPr>
        <p:spPr>
          <a:xfrm>
            <a:off x="1905000" y="2590800"/>
            <a:ext cx="2286000" cy="127000"/>
          </a:xfrm>
          <a:prstGeom prst="rect">
            <a:avLst/>
          </a:prstGeom>
        </p:spPr>
        <p:txBody>
          <a:bodyPr wrap="square" lIns="0" tIns="0" rIns="0" bIns="0">
            <a:noAutofit/>
          </a:bodyPr>
          <a:lstStyle/>
          <a:p>
            <a:pPr>
              <a:lnSpc>
                <a:spcPct val="135000"/>
              </a:lnSpc>
            </a:pPr>
            <a:r>
              <a:rPr sz="480" spc="0">
                <a:solidFill>
                  <a:srgbClr val="0A0A0A"/>
                </a:solidFill>
                <a:latin typeface="Telegraf"/>
              </a:rPr>
              <a:t>Return policy</a:t>
            </a:r>
            <a:endParaRPr sz="480" spc="0">
              <a:solidFill>
                <a:srgbClr val="0A0A0A"/>
              </a:solidFill>
              <a:latin typeface="Telegraf"/>
            </a:endParaRPr>
          </a:p>
        </p:txBody>
      </p:sp>
      <p:sp>
        <p:nvSpPr>
          <p:cNvPr id="2089" name="TextBox 73"/>
          <p:cNvSpPr txBox="1"/>
          <p:nvPr/>
        </p:nvSpPr>
        <p:spPr>
          <a:xfrm>
            <a:off x="4343400" y="2590800"/>
            <a:ext cx="508000" cy="127000"/>
          </a:xfrm>
          <a:prstGeom prst="rect">
            <a:avLst/>
          </a:prstGeom>
        </p:spPr>
        <p:txBody>
          <a:bodyPr wrap="square" lIns="0" tIns="0" rIns="0" bIns="0">
            <a:noAutofit/>
          </a:bodyPr>
          <a:lstStyle/>
          <a:p>
            <a:pPr algn="r">
              <a:lnSpc>
                <a:spcPct val="135000"/>
              </a:lnSpc>
            </a:pPr>
            <a:r>
              <a:rPr sz="460" spc="0">
                <a:solidFill>
                  <a:srgbClr val="67676E"/>
                </a:solidFill>
                <a:latin typeface="Telegraf"/>
              </a:rPr>
              <a:t>180</a:t>
            </a:r>
            <a:endParaRPr sz="460" spc="0">
              <a:solidFill>
                <a:srgbClr val="67676E"/>
              </a:solidFill>
              <a:latin typeface="Telegraf"/>
            </a:endParaRPr>
          </a:p>
        </p:txBody>
      </p:sp>
      <p:sp>
        <p:nvSpPr>
          <p:cNvPr id="2090" name="TextBox 74"/>
          <p:cNvSpPr txBox="1"/>
          <p:nvPr/>
        </p:nvSpPr>
        <p:spPr>
          <a:xfrm>
            <a:off x="5029200" y="2590800"/>
            <a:ext cx="3048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0.90</a:t>
            </a:r>
            <a:endParaRPr sz="460" spc="0">
              <a:solidFill>
                <a:srgbClr val="0A0A0A"/>
              </a:solidFill>
              <a:latin typeface="Telegraf"/>
            </a:endParaRPr>
          </a:p>
        </p:txBody>
      </p:sp>
      <p:sp>
        <p:nvSpPr>
          <p:cNvPr id="2091" name="Rectangle 75"/>
          <p:cNvSpPr/>
          <p:nvPr/>
        </p:nvSpPr>
        <p:spPr>
          <a:xfrm>
            <a:off x="5435600" y="2628900"/>
            <a:ext cx="533400" cy="38100"/>
          </a:xfrm>
          <a:custGeom>
            <a:avLst/>
            <a:gdLst/>
            <a:ahLst/>
            <a:cxnLst/>
            <a:rect l="l" t="t" r="r" b="b"/>
            <a:pathLst>
              <a:path w="100000" h="7143">
                <a:moveTo>
                  <a:pt x="96429" y="0"/>
                </a:moveTo>
                <a:cubicBezTo>
                  <a:pt x="96429" y="0"/>
                  <a:pt x="96429" y="0"/>
                  <a:pt x="96429" y="0"/>
                </a:cubicBezTo>
                <a:cubicBezTo>
                  <a:pt x="98400" y="0"/>
                  <a:pt x="100000" y="1600"/>
                  <a:pt x="100000" y="3571"/>
                </a:cubicBezTo>
                <a:cubicBezTo>
                  <a:pt x="100000" y="3571"/>
                  <a:pt x="100000" y="3571"/>
                  <a:pt x="100000" y="3571"/>
                </a:cubicBezTo>
                <a:lnTo>
                  <a:pt x="100000" y="3571"/>
                </a:lnTo>
                <a:cubicBezTo>
                  <a:pt x="100000" y="3571"/>
                  <a:pt x="100000" y="3571"/>
                  <a:pt x="100000" y="3571"/>
                </a:cubicBezTo>
                <a:cubicBezTo>
                  <a:pt x="100000" y="5543"/>
                  <a:pt x="98400" y="7143"/>
                  <a:pt x="96429" y="7143"/>
                </a:cubicBezTo>
                <a:cubicBezTo>
                  <a:pt x="96429" y="7143"/>
                  <a:pt x="96429" y="7143"/>
                  <a:pt x="96429" y="7143"/>
                </a:cubicBezTo>
                <a:lnTo>
                  <a:pt x="3571" y="7143"/>
                </a:lnTo>
                <a:cubicBezTo>
                  <a:pt x="3571" y="7143"/>
                  <a:pt x="3571" y="7143"/>
                  <a:pt x="3571" y="7143"/>
                </a:cubicBezTo>
                <a:cubicBezTo>
                  <a:pt x="1600" y="7143"/>
                  <a:pt x="0" y="5543"/>
                  <a:pt x="0" y="3571"/>
                </a:cubicBezTo>
                <a:cubicBezTo>
                  <a:pt x="0" y="3571"/>
                  <a:pt x="0" y="3571"/>
                  <a:pt x="0" y="3571"/>
                </a:cubicBezTo>
                <a:lnTo>
                  <a:pt x="0" y="3571"/>
                </a:lnTo>
                <a:cubicBezTo>
                  <a:pt x="0" y="3571"/>
                  <a:pt x="0" y="3571"/>
                  <a:pt x="0" y="3571"/>
                </a:cubicBezTo>
                <a:cubicBezTo>
                  <a:pt x="0" y="1600"/>
                  <a:pt x="1600" y="0"/>
                  <a:pt x="3571" y="0"/>
                </a:cubicBezTo>
                <a:cubicBezTo>
                  <a:pt x="3571" y="0"/>
                  <a:pt x="3571" y="0"/>
                  <a:pt x="3571"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92" name="Rectangle 76"/>
          <p:cNvSpPr/>
          <p:nvPr/>
        </p:nvSpPr>
        <p:spPr>
          <a:xfrm>
            <a:off x="5435600" y="2628900"/>
            <a:ext cx="480060" cy="38100"/>
          </a:xfrm>
          <a:custGeom>
            <a:avLst/>
            <a:gdLst/>
            <a:ahLst/>
            <a:cxnLst/>
            <a:rect l="l" t="t" r="r" b="b"/>
            <a:pathLst>
              <a:path w="100000" h="7937">
                <a:moveTo>
                  <a:pt x="96032" y="0"/>
                </a:moveTo>
                <a:cubicBezTo>
                  <a:pt x="96032" y="0"/>
                  <a:pt x="96032" y="0"/>
                  <a:pt x="96032" y="0"/>
                </a:cubicBezTo>
                <a:cubicBezTo>
                  <a:pt x="98222" y="0"/>
                  <a:pt x="100000" y="1778"/>
                  <a:pt x="100000" y="3968"/>
                </a:cubicBezTo>
                <a:cubicBezTo>
                  <a:pt x="100000" y="3968"/>
                  <a:pt x="100000" y="3968"/>
                  <a:pt x="100000" y="3968"/>
                </a:cubicBezTo>
                <a:lnTo>
                  <a:pt x="100000" y="3968"/>
                </a:lnTo>
                <a:cubicBezTo>
                  <a:pt x="100000" y="3968"/>
                  <a:pt x="100000" y="3968"/>
                  <a:pt x="100000" y="3968"/>
                </a:cubicBezTo>
                <a:cubicBezTo>
                  <a:pt x="100000" y="6159"/>
                  <a:pt x="98222" y="7937"/>
                  <a:pt x="96032" y="7937"/>
                </a:cubicBezTo>
                <a:cubicBezTo>
                  <a:pt x="96032" y="7937"/>
                  <a:pt x="96032" y="7937"/>
                  <a:pt x="96032" y="7937"/>
                </a:cubicBezTo>
                <a:lnTo>
                  <a:pt x="3968" y="7937"/>
                </a:lnTo>
                <a:cubicBezTo>
                  <a:pt x="3968" y="7937"/>
                  <a:pt x="3968" y="7937"/>
                  <a:pt x="3968" y="7937"/>
                </a:cubicBezTo>
                <a:cubicBezTo>
                  <a:pt x="1778" y="7937"/>
                  <a:pt x="0" y="6159"/>
                  <a:pt x="0" y="3968"/>
                </a:cubicBezTo>
                <a:cubicBezTo>
                  <a:pt x="0" y="3968"/>
                  <a:pt x="0" y="3968"/>
                  <a:pt x="0" y="3968"/>
                </a:cubicBezTo>
                <a:lnTo>
                  <a:pt x="0" y="3968"/>
                </a:lnTo>
                <a:cubicBezTo>
                  <a:pt x="0" y="3968"/>
                  <a:pt x="0" y="3968"/>
                  <a:pt x="0" y="3968"/>
                </a:cubicBezTo>
                <a:cubicBezTo>
                  <a:pt x="0" y="1778"/>
                  <a:pt x="1778" y="0"/>
                  <a:pt x="3968" y="0"/>
                </a:cubicBezTo>
                <a:cubicBezTo>
                  <a:pt x="3968" y="0"/>
                  <a:pt x="3968" y="0"/>
                  <a:pt x="3968"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93" name="Rectangle 77"/>
          <p:cNvSpPr/>
          <p:nvPr/>
        </p:nvSpPr>
        <p:spPr>
          <a:xfrm>
            <a:off x="762000" y="2794000"/>
            <a:ext cx="5207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94" name="TextBox 78"/>
          <p:cNvSpPr txBox="1"/>
          <p:nvPr/>
        </p:nvSpPr>
        <p:spPr>
          <a:xfrm>
            <a:off x="762000" y="2921000"/>
            <a:ext cx="1016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chk_cp_05</a:t>
            </a:r>
            <a:endParaRPr sz="460" b="1" spc="0">
              <a:solidFill>
                <a:srgbClr val="0E6B5F"/>
              </a:solidFill>
              <a:latin typeface="Telegraf"/>
            </a:endParaRPr>
          </a:p>
        </p:txBody>
      </p:sp>
      <p:sp>
        <p:nvSpPr>
          <p:cNvPr id="2095" name="TextBox 79"/>
          <p:cNvSpPr txBox="1"/>
          <p:nvPr/>
        </p:nvSpPr>
        <p:spPr>
          <a:xfrm>
            <a:off x="1905000" y="2921000"/>
            <a:ext cx="2286000" cy="127000"/>
          </a:xfrm>
          <a:prstGeom prst="rect">
            <a:avLst/>
          </a:prstGeom>
        </p:spPr>
        <p:txBody>
          <a:bodyPr wrap="square" lIns="0" tIns="0" rIns="0" bIns="0">
            <a:noAutofit/>
          </a:bodyPr>
          <a:lstStyle/>
          <a:p>
            <a:pPr>
              <a:lnSpc>
                <a:spcPct val="135000"/>
              </a:lnSpc>
            </a:pPr>
            <a:r>
              <a:rPr sz="480" spc="0">
                <a:solidFill>
                  <a:srgbClr val="0A0A0A"/>
                </a:solidFill>
                <a:latin typeface="Telegraf"/>
              </a:rPr>
              <a:t>Technical FAQ</a:t>
            </a:r>
            <a:endParaRPr sz="480" spc="0">
              <a:solidFill>
                <a:srgbClr val="0A0A0A"/>
              </a:solidFill>
              <a:latin typeface="Telegraf"/>
            </a:endParaRPr>
          </a:p>
        </p:txBody>
      </p:sp>
      <p:sp>
        <p:nvSpPr>
          <p:cNvPr id="2096" name="TextBox 80"/>
          <p:cNvSpPr txBox="1"/>
          <p:nvPr/>
        </p:nvSpPr>
        <p:spPr>
          <a:xfrm>
            <a:off x="4343400" y="2921000"/>
            <a:ext cx="508000" cy="127000"/>
          </a:xfrm>
          <a:prstGeom prst="rect">
            <a:avLst/>
          </a:prstGeom>
        </p:spPr>
        <p:txBody>
          <a:bodyPr wrap="square" lIns="0" tIns="0" rIns="0" bIns="0">
            <a:noAutofit/>
          </a:bodyPr>
          <a:lstStyle/>
          <a:p>
            <a:pPr algn="r">
              <a:lnSpc>
                <a:spcPct val="135000"/>
              </a:lnSpc>
            </a:pPr>
            <a:r>
              <a:rPr sz="460" spc="0">
                <a:solidFill>
                  <a:srgbClr val="67676E"/>
                </a:solidFill>
                <a:latin typeface="Telegraf"/>
              </a:rPr>
              <a:t>240</a:t>
            </a:r>
            <a:endParaRPr sz="460" spc="0">
              <a:solidFill>
                <a:srgbClr val="67676E"/>
              </a:solidFill>
              <a:latin typeface="Telegraf"/>
            </a:endParaRPr>
          </a:p>
        </p:txBody>
      </p:sp>
      <p:sp>
        <p:nvSpPr>
          <p:cNvPr id="2097" name="TextBox 81"/>
          <p:cNvSpPr txBox="1"/>
          <p:nvPr/>
        </p:nvSpPr>
        <p:spPr>
          <a:xfrm>
            <a:off x="5029200" y="2921000"/>
            <a:ext cx="3048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0.76</a:t>
            </a:r>
            <a:endParaRPr sz="460" spc="0">
              <a:solidFill>
                <a:srgbClr val="0A0A0A"/>
              </a:solidFill>
              <a:latin typeface="Telegraf"/>
            </a:endParaRPr>
          </a:p>
        </p:txBody>
      </p:sp>
      <p:sp>
        <p:nvSpPr>
          <p:cNvPr id="2098" name="Rectangle 82"/>
          <p:cNvSpPr/>
          <p:nvPr/>
        </p:nvSpPr>
        <p:spPr>
          <a:xfrm>
            <a:off x="5435600" y="2959100"/>
            <a:ext cx="533400" cy="38100"/>
          </a:xfrm>
          <a:custGeom>
            <a:avLst/>
            <a:gdLst/>
            <a:ahLst/>
            <a:cxnLst/>
            <a:rect l="l" t="t" r="r" b="b"/>
            <a:pathLst>
              <a:path w="100000" h="7143">
                <a:moveTo>
                  <a:pt x="96429" y="0"/>
                </a:moveTo>
                <a:cubicBezTo>
                  <a:pt x="96429" y="0"/>
                  <a:pt x="96429" y="0"/>
                  <a:pt x="96429" y="0"/>
                </a:cubicBezTo>
                <a:cubicBezTo>
                  <a:pt x="98400" y="0"/>
                  <a:pt x="100000" y="1600"/>
                  <a:pt x="100000" y="3571"/>
                </a:cubicBezTo>
                <a:cubicBezTo>
                  <a:pt x="100000" y="3571"/>
                  <a:pt x="100000" y="3571"/>
                  <a:pt x="100000" y="3571"/>
                </a:cubicBezTo>
                <a:lnTo>
                  <a:pt x="100000" y="3571"/>
                </a:lnTo>
                <a:cubicBezTo>
                  <a:pt x="100000" y="3571"/>
                  <a:pt x="100000" y="3571"/>
                  <a:pt x="100000" y="3571"/>
                </a:cubicBezTo>
                <a:cubicBezTo>
                  <a:pt x="100000" y="5543"/>
                  <a:pt x="98400" y="7143"/>
                  <a:pt x="96429" y="7143"/>
                </a:cubicBezTo>
                <a:cubicBezTo>
                  <a:pt x="96429" y="7143"/>
                  <a:pt x="96429" y="7143"/>
                  <a:pt x="96429" y="7143"/>
                </a:cubicBezTo>
                <a:lnTo>
                  <a:pt x="3571" y="7143"/>
                </a:lnTo>
                <a:cubicBezTo>
                  <a:pt x="3571" y="7143"/>
                  <a:pt x="3571" y="7143"/>
                  <a:pt x="3571" y="7143"/>
                </a:cubicBezTo>
                <a:cubicBezTo>
                  <a:pt x="1600" y="7143"/>
                  <a:pt x="0" y="5543"/>
                  <a:pt x="0" y="3571"/>
                </a:cubicBezTo>
                <a:cubicBezTo>
                  <a:pt x="0" y="3571"/>
                  <a:pt x="0" y="3571"/>
                  <a:pt x="0" y="3571"/>
                </a:cubicBezTo>
                <a:lnTo>
                  <a:pt x="0" y="3571"/>
                </a:lnTo>
                <a:cubicBezTo>
                  <a:pt x="0" y="3571"/>
                  <a:pt x="0" y="3571"/>
                  <a:pt x="0" y="3571"/>
                </a:cubicBezTo>
                <a:cubicBezTo>
                  <a:pt x="0" y="1600"/>
                  <a:pt x="1600" y="0"/>
                  <a:pt x="3571" y="0"/>
                </a:cubicBezTo>
                <a:cubicBezTo>
                  <a:pt x="3571" y="0"/>
                  <a:pt x="3571" y="0"/>
                  <a:pt x="3571"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099" name="Rectangle 83"/>
          <p:cNvSpPr/>
          <p:nvPr/>
        </p:nvSpPr>
        <p:spPr>
          <a:xfrm>
            <a:off x="5435600" y="2959100"/>
            <a:ext cx="405384" cy="38100"/>
          </a:xfrm>
          <a:custGeom>
            <a:avLst/>
            <a:gdLst/>
            <a:ahLst/>
            <a:cxnLst/>
            <a:rect l="l" t="t" r="r" b="b"/>
            <a:pathLst>
              <a:path w="100000" h="9398">
                <a:moveTo>
                  <a:pt x="95301" y="0"/>
                </a:moveTo>
                <a:cubicBezTo>
                  <a:pt x="95301" y="0"/>
                  <a:pt x="95301" y="0"/>
                  <a:pt x="95301" y="0"/>
                </a:cubicBezTo>
                <a:cubicBezTo>
                  <a:pt x="97895" y="0"/>
                  <a:pt x="100000" y="2105"/>
                  <a:pt x="100000" y="4699"/>
                </a:cubicBezTo>
                <a:cubicBezTo>
                  <a:pt x="100000" y="4699"/>
                  <a:pt x="100000" y="4699"/>
                  <a:pt x="100000" y="4699"/>
                </a:cubicBezTo>
                <a:lnTo>
                  <a:pt x="100000" y="4699"/>
                </a:lnTo>
                <a:cubicBezTo>
                  <a:pt x="100000" y="4699"/>
                  <a:pt x="100000" y="4699"/>
                  <a:pt x="100000" y="4699"/>
                </a:cubicBezTo>
                <a:cubicBezTo>
                  <a:pt x="100000" y="7293"/>
                  <a:pt x="97895" y="9398"/>
                  <a:pt x="95301" y="9398"/>
                </a:cubicBezTo>
                <a:cubicBezTo>
                  <a:pt x="95301" y="9398"/>
                  <a:pt x="95301" y="9398"/>
                  <a:pt x="95301" y="9398"/>
                </a:cubicBezTo>
                <a:lnTo>
                  <a:pt x="4699" y="9398"/>
                </a:lnTo>
                <a:cubicBezTo>
                  <a:pt x="4699" y="9398"/>
                  <a:pt x="4699" y="9398"/>
                  <a:pt x="4699" y="9398"/>
                </a:cubicBezTo>
                <a:cubicBezTo>
                  <a:pt x="2105" y="9398"/>
                  <a:pt x="0" y="7293"/>
                  <a:pt x="0" y="4699"/>
                </a:cubicBezTo>
                <a:cubicBezTo>
                  <a:pt x="0" y="4699"/>
                  <a:pt x="0" y="4699"/>
                  <a:pt x="0" y="4699"/>
                </a:cubicBezTo>
                <a:lnTo>
                  <a:pt x="0" y="4699"/>
                </a:lnTo>
                <a:cubicBezTo>
                  <a:pt x="0" y="4699"/>
                  <a:pt x="0" y="4699"/>
                  <a:pt x="0" y="4699"/>
                </a:cubicBezTo>
                <a:cubicBezTo>
                  <a:pt x="0" y="2105"/>
                  <a:pt x="2105" y="0"/>
                  <a:pt x="4699" y="0"/>
                </a:cubicBezTo>
                <a:cubicBezTo>
                  <a:pt x="4699" y="0"/>
                  <a:pt x="4699" y="0"/>
                  <a:pt x="4699"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00" name="Rectangle 84"/>
          <p:cNvSpPr/>
          <p:nvPr/>
        </p:nvSpPr>
        <p:spPr>
          <a:xfrm>
            <a:off x="762000" y="3124200"/>
            <a:ext cx="5207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01" name="TextBox 85"/>
          <p:cNvSpPr txBox="1"/>
          <p:nvPr/>
        </p:nvSpPr>
        <p:spPr>
          <a:xfrm>
            <a:off x="762000" y="3251200"/>
            <a:ext cx="1016000" cy="127000"/>
          </a:xfrm>
          <a:prstGeom prst="rect">
            <a:avLst/>
          </a:prstGeom>
        </p:spPr>
        <p:txBody>
          <a:bodyPr wrap="square" lIns="0" tIns="0" rIns="0" bIns="0">
            <a:noAutofit/>
          </a:bodyPr>
          <a:lstStyle/>
          <a:p>
            <a:pPr>
              <a:lnSpc>
                <a:spcPct val="135000"/>
              </a:lnSpc>
            </a:pPr>
            <a:r>
              <a:rPr sz="460" b="1" spc="0">
                <a:solidFill>
                  <a:srgbClr val="0E6B5F"/>
                </a:solidFill>
                <a:latin typeface="Telegraf"/>
              </a:rPr>
              <a:t>chk_cp_06</a:t>
            </a:r>
            <a:endParaRPr sz="460" b="1" spc="0">
              <a:solidFill>
                <a:srgbClr val="0E6B5F"/>
              </a:solidFill>
              <a:latin typeface="Telegraf"/>
            </a:endParaRPr>
          </a:p>
        </p:txBody>
      </p:sp>
      <p:sp>
        <p:nvSpPr>
          <p:cNvPr id="2102" name="TextBox 86"/>
          <p:cNvSpPr txBox="1"/>
          <p:nvPr/>
        </p:nvSpPr>
        <p:spPr>
          <a:xfrm>
            <a:off x="1905000" y="3251200"/>
            <a:ext cx="2286000" cy="127000"/>
          </a:xfrm>
          <a:prstGeom prst="rect">
            <a:avLst/>
          </a:prstGeom>
        </p:spPr>
        <p:txBody>
          <a:bodyPr wrap="square" lIns="0" tIns="0" rIns="0" bIns="0">
            <a:noAutofit/>
          </a:bodyPr>
          <a:lstStyle/>
          <a:p>
            <a:pPr>
              <a:lnSpc>
                <a:spcPct val="135000"/>
              </a:lnSpc>
            </a:pPr>
            <a:r>
              <a:rPr sz="480" spc="0">
                <a:solidFill>
                  <a:srgbClr val="0A0A0A"/>
                </a:solidFill>
                <a:latin typeface="Telegraf"/>
              </a:rPr>
              <a:t>Delivery &amp; dispatch</a:t>
            </a:r>
            <a:endParaRPr sz="480" spc="0">
              <a:solidFill>
                <a:srgbClr val="0A0A0A"/>
              </a:solidFill>
              <a:latin typeface="Telegraf"/>
            </a:endParaRPr>
          </a:p>
        </p:txBody>
      </p:sp>
      <p:sp>
        <p:nvSpPr>
          <p:cNvPr id="2103" name="TextBox 87"/>
          <p:cNvSpPr txBox="1"/>
          <p:nvPr/>
        </p:nvSpPr>
        <p:spPr>
          <a:xfrm>
            <a:off x="4343400" y="3251200"/>
            <a:ext cx="508000" cy="127000"/>
          </a:xfrm>
          <a:prstGeom prst="rect">
            <a:avLst/>
          </a:prstGeom>
        </p:spPr>
        <p:txBody>
          <a:bodyPr wrap="square" lIns="0" tIns="0" rIns="0" bIns="0">
            <a:noAutofit/>
          </a:bodyPr>
          <a:lstStyle/>
          <a:p>
            <a:pPr algn="r">
              <a:lnSpc>
                <a:spcPct val="135000"/>
              </a:lnSpc>
            </a:pPr>
            <a:r>
              <a:rPr sz="460" spc="0">
                <a:solidFill>
                  <a:srgbClr val="67676E"/>
                </a:solidFill>
                <a:latin typeface="Telegraf"/>
              </a:rPr>
              <a:t>160</a:t>
            </a:r>
            <a:endParaRPr sz="460" spc="0">
              <a:solidFill>
                <a:srgbClr val="67676E"/>
              </a:solidFill>
              <a:latin typeface="Telegraf"/>
            </a:endParaRPr>
          </a:p>
        </p:txBody>
      </p:sp>
      <p:sp>
        <p:nvSpPr>
          <p:cNvPr id="2104" name="TextBox 88"/>
          <p:cNvSpPr txBox="1"/>
          <p:nvPr/>
        </p:nvSpPr>
        <p:spPr>
          <a:xfrm>
            <a:off x="5029200" y="3251200"/>
            <a:ext cx="304800" cy="127000"/>
          </a:xfrm>
          <a:prstGeom prst="rect">
            <a:avLst/>
          </a:prstGeom>
        </p:spPr>
        <p:txBody>
          <a:bodyPr wrap="square" lIns="0" tIns="0" rIns="0" bIns="0">
            <a:noAutofit/>
          </a:bodyPr>
          <a:lstStyle/>
          <a:p>
            <a:pPr algn="r">
              <a:lnSpc>
                <a:spcPct val="135000"/>
              </a:lnSpc>
            </a:pPr>
            <a:r>
              <a:rPr sz="460" spc="0">
                <a:solidFill>
                  <a:srgbClr val="0A0A0A"/>
                </a:solidFill>
                <a:latin typeface="Telegraf"/>
              </a:rPr>
              <a:t>0.84</a:t>
            </a:r>
            <a:endParaRPr sz="460" spc="0">
              <a:solidFill>
                <a:srgbClr val="0A0A0A"/>
              </a:solidFill>
              <a:latin typeface="Telegraf"/>
            </a:endParaRPr>
          </a:p>
        </p:txBody>
      </p:sp>
      <p:sp>
        <p:nvSpPr>
          <p:cNvPr id="2105" name="Rectangle 89"/>
          <p:cNvSpPr/>
          <p:nvPr/>
        </p:nvSpPr>
        <p:spPr>
          <a:xfrm>
            <a:off x="5435600" y="3289300"/>
            <a:ext cx="533400" cy="38100"/>
          </a:xfrm>
          <a:custGeom>
            <a:avLst/>
            <a:gdLst/>
            <a:ahLst/>
            <a:cxnLst/>
            <a:rect l="l" t="t" r="r" b="b"/>
            <a:pathLst>
              <a:path w="100000" h="7143">
                <a:moveTo>
                  <a:pt x="96429" y="0"/>
                </a:moveTo>
                <a:cubicBezTo>
                  <a:pt x="96429" y="0"/>
                  <a:pt x="96429" y="0"/>
                  <a:pt x="96429" y="0"/>
                </a:cubicBezTo>
                <a:cubicBezTo>
                  <a:pt x="98400" y="0"/>
                  <a:pt x="100000" y="1600"/>
                  <a:pt x="100000" y="3571"/>
                </a:cubicBezTo>
                <a:cubicBezTo>
                  <a:pt x="100000" y="3571"/>
                  <a:pt x="100000" y="3571"/>
                  <a:pt x="100000" y="3571"/>
                </a:cubicBezTo>
                <a:lnTo>
                  <a:pt x="100000" y="3571"/>
                </a:lnTo>
                <a:cubicBezTo>
                  <a:pt x="100000" y="3571"/>
                  <a:pt x="100000" y="3571"/>
                  <a:pt x="100000" y="3571"/>
                </a:cubicBezTo>
                <a:cubicBezTo>
                  <a:pt x="100000" y="5543"/>
                  <a:pt x="98400" y="7143"/>
                  <a:pt x="96429" y="7143"/>
                </a:cubicBezTo>
                <a:cubicBezTo>
                  <a:pt x="96429" y="7143"/>
                  <a:pt x="96429" y="7143"/>
                  <a:pt x="96429" y="7143"/>
                </a:cubicBezTo>
                <a:lnTo>
                  <a:pt x="3571" y="7143"/>
                </a:lnTo>
                <a:cubicBezTo>
                  <a:pt x="3571" y="7143"/>
                  <a:pt x="3571" y="7143"/>
                  <a:pt x="3571" y="7143"/>
                </a:cubicBezTo>
                <a:cubicBezTo>
                  <a:pt x="1600" y="7143"/>
                  <a:pt x="0" y="5543"/>
                  <a:pt x="0" y="3571"/>
                </a:cubicBezTo>
                <a:cubicBezTo>
                  <a:pt x="0" y="3571"/>
                  <a:pt x="0" y="3571"/>
                  <a:pt x="0" y="3571"/>
                </a:cubicBezTo>
                <a:lnTo>
                  <a:pt x="0" y="3571"/>
                </a:lnTo>
                <a:cubicBezTo>
                  <a:pt x="0" y="3571"/>
                  <a:pt x="0" y="3571"/>
                  <a:pt x="0" y="3571"/>
                </a:cubicBezTo>
                <a:cubicBezTo>
                  <a:pt x="0" y="1600"/>
                  <a:pt x="1600" y="0"/>
                  <a:pt x="3571" y="0"/>
                </a:cubicBezTo>
                <a:cubicBezTo>
                  <a:pt x="3571" y="0"/>
                  <a:pt x="3571" y="0"/>
                  <a:pt x="3571"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06" name="Rectangle 90"/>
          <p:cNvSpPr/>
          <p:nvPr/>
        </p:nvSpPr>
        <p:spPr>
          <a:xfrm>
            <a:off x="5435600" y="3289300"/>
            <a:ext cx="448056" cy="38100"/>
          </a:xfrm>
          <a:custGeom>
            <a:avLst/>
            <a:gdLst/>
            <a:ahLst/>
            <a:cxnLst/>
            <a:rect l="l" t="t" r="r" b="b"/>
            <a:pathLst>
              <a:path w="100000" h="8503">
                <a:moveTo>
                  <a:pt x="95748" y="0"/>
                </a:moveTo>
                <a:cubicBezTo>
                  <a:pt x="95748" y="0"/>
                  <a:pt x="95748" y="0"/>
                  <a:pt x="95748" y="0"/>
                </a:cubicBezTo>
                <a:cubicBezTo>
                  <a:pt x="98095" y="0"/>
                  <a:pt x="100000" y="1905"/>
                  <a:pt x="100000" y="4252"/>
                </a:cubicBezTo>
                <a:cubicBezTo>
                  <a:pt x="100000" y="4252"/>
                  <a:pt x="100000" y="4252"/>
                  <a:pt x="100000" y="4252"/>
                </a:cubicBezTo>
                <a:lnTo>
                  <a:pt x="100000" y="4252"/>
                </a:lnTo>
                <a:cubicBezTo>
                  <a:pt x="100000" y="4252"/>
                  <a:pt x="100000" y="4252"/>
                  <a:pt x="100000" y="4252"/>
                </a:cubicBezTo>
                <a:cubicBezTo>
                  <a:pt x="100000" y="6599"/>
                  <a:pt x="98095" y="8503"/>
                  <a:pt x="95748" y="8503"/>
                </a:cubicBezTo>
                <a:cubicBezTo>
                  <a:pt x="95748" y="8503"/>
                  <a:pt x="95748" y="8503"/>
                  <a:pt x="95748" y="8503"/>
                </a:cubicBezTo>
                <a:lnTo>
                  <a:pt x="4252" y="8503"/>
                </a:lnTo>
                <a:cubicBezTo>
                  <a:pt x="4252" y="8503"/>
                  <a:pt x="4252" y="8503"/>
                  <a:pt x="4252" y="8503"/>
                </a:cubicBezTo>
                <a:cubicBezTo>
                  <a:pt x="1905" y="8503"/>
                  <a:pt x="0" y="6599"/>
                  <a:pt x="0" y="4252"/>
                </a:cubicBezTo>
                <a:cubicBezTo>
                  <a:pt x="0" y="4252"/>
                  <a:pt x="0" y="4252"/>
                  <a:pt x="0" y="4252"/>
                </a:cubicBezTo>
                <a:lnTo>
                  <a:pt x="0" y="4252"/>
                </a:lnTo>
                <a:cubicBezTo>
                  <a:pt x="0" y="4252"/>
                  <a:pt x="0" y="4252"/>
                  <a:pt x="0" y="4252"/>
                </a:cubicBezTo>
                <a:cubicBezTo>
                  <a:pt x="0" y="1905"/>
                  <a:pt x="1905" y="0"/>
                  <a:pt x="4252" y="0"/>
                </a:cubicBezTo>
                <a:cubicBezTo>
                  <a:pt x="4252" y="0"/>
                  <a:pt x="4252" y="0"/>
                  <a:pt x="4252"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07" name="Rectangle 91"/>
          <p:cNvSpPr/>
          <p:nvPr/>
        </p:nvSpPr>
        <p:spPr>
          <a:xfrm>
            <a:off x="762000" y="3454400"/>
            <a:ext cx="5207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08" name="Rectangle 92"/>
          <p:cNvSpPr/>
          <p:nvPr/>
        </p:nvSpPr>
        <p:spPr>
          <a:xfrm>
            <a:off x="762000" y="3886200"/>
            <a:ext cx="5207000" cy="787400"/>
          </a:xfrm>
          <a:custGeom>
            <a:avLst/>
            <a:gdLst/>
            <a:ahLst/>
            <a:cxnLst/>
            <a:rect l="l" t="t" r="r" b="b"/>
            <a:pathLst>
              <a:path w="100000" h="15122">
                <a:moveTo>
                  <a:pt x="95122" y="0"/>
                </a:moveTo>
                <a:cubicBezTo>
                  <a:pt x="97421" y="0"/>
                  <a:pt x="98571" y="0"/>
                  <a:pt x="99286" y="714"/>
                </a:cubicBezTo>
                <a:cubicBezTo>
                  <a:pt x="99286" y="714"/>
                  <a:pt x="99286" y="714"/>
                  <a:pt x="99286" y="714"/>
                </a:cubicBezTo>
                <a:cubicBezTo>
                  <a:pt x="100000" y="1429"/>
                  <a:pt x="100000" y="2579"/>
                  <a:pt x="100000" y="4878"/>
                </a:cubicBezTo>
                <a:lnTo>
                  <a:pt x="100000" y="10244"/>
                </a:lnTo>
                <a:cubicBezTo>
                  <a:pt x="100000" y="12543"/>
                  <a:pt x="100000" y="13693"/>
                  <a:pt x="99286" y="14408"/>
                </a:cubicBezTo>
                <a:cubicBezTo>
                  <a:pt x="99286" y="14408"/>
                  <a:pt x="99286" y="14408"/>
                  <a:pt x="99286" y="14408"/>
                </a:cubicBezTo>
                <a:cubicBezTo>
                  <a:pt x="98571" y="15122"/>
                  <a:pt x="97421" y="15122"/>
                  <a:pt x="95122" y="15122"/>
                </a:cubicBezTo>
                <a:lnTo>
                  <a:pt x="4878" y="15122"/>
                </a:lnTo>
                <a:cubicBezTo>
                  <a:pt x="2579" y="15122"/>
                  <a:pt x="1429" y="15122"/>
                  <a:pt x="714" y="14408"/>
                </a:cubicBezTo>
                <a:cubicBezTo>
                  <a:pt x="714" y="14408"/>
                  <a:pt x="714" y="14408"/>
                  <a:pt x="714" y="14408"/>
                </a:cubicBezTo>
                <a:cubicBezTo>
                  <a:pt x="0" y="13693"/>
                  <a:pt x="0" y="12543"/>
                  <a:pt x="0" y="10244"/>
                </a:cubicBezTo>
                <a:lnTo>
                  <a:pt x="0" y="4878"/>
                </a:lnTo>
                <a:cubicBezTo>
                  <a:pt x="0" y="2579"/>
                  <a:pt x="0" y="1429"/>
                  <a:pt x="714" y="714"/>
                </a:cubicBezTo>
                <a:cubicBezTo>
                  <a:pt x="714" y="714"/>
                  <a:pt x="714" y="714"/>
                  <a:pt x="714" y="714"/>
                </a:cubicBezTo>
                <a:cubicBezTo>
                  <a:pt x="1429" y="0"/>
                  <a:pt x="2579" y="0"/>
                  <a:pt x="4878"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09" name="TextBox 93"/>
          <p:cNvSpPr txBox="1"/>
          <p:nvPr/>
        </p:nvSpPr>
        <p:spPr>
          <a:xfrm>
            <a:off x="939800" y="4013200"/>
            <a:ext cx="3048000" cy="152400"/>
          </a:xfrm>
          <a:prstGeom prst="rect">
            <a:avLst/>
          </a:prstGeom>
        </p:spPr>
        <p:txBody>
          <a:bodyPr wrap="square" lIns="0" tIns="0" rIns="0" bIns="0">
            <a:noAutofit/>
          </a:bodyPr>
          <a:lstStyle/>
          <a:p>
            <a:pPr>
              <a:lnSpc>
                <a:spcPct val="135000"/>
              </a:lnSpc>
            </a:pPr>
            <a:r>
              <a:rPr sz="580" b="1" spc="0">
                <a:solidFill>
                  <a:srgbClr val="0A0A0A"/>
                </a:solidFill>
                <a:latin typeface="Telegraf"/>
              </a:rPr>
              <a:t>business_brain.md  ·  v1</a:t>
            </a:r>
            <a:endParaRPr sz="580" b="1" spc="0">
              <a:solidFill>
                <a:srgbClr val="0A0A0A"/>
              </a:solidFill>
              <a:latin typeface="Telegraf"/>
            </a:endParaRPr>
          </a:p>
        </p:txBody>
      </p:sp>
      <p:sp>
        <p:nvSpPr>
          <p:cNvPr id="2110" name="TextBox 94"/>
          <p:cNvSpPr txBox="1"/>
          <p:nvPr/>
        </p:nvSpPr>
        <p:spPr>
          <a:xfrm>
            <a:off x="939800" y="4191000"/>
            <a:ext cx="3810000" cy="127000"/>
          </a:xfrm>
          <a:prstGeom prst="rect">
            <a:avLst/>
          </a:prstGeom>
        </p:spPr>
        <p:txBody>
          <a:bodyPr wrap="square" lIns="0" tIns="0" rIns="0" bIns="0">
            <a:noAutofit/>
          </a:bodyPr>
          <a:lstStyle/>
          <a:p>
            <a:pPr>
              <a:lnSpc>
                <a:spcPct val="135000"/>
              </a:lnSpc>
            </a:pPr>
            <a:r>
              <a:rPr sz="450" spc="0">
                <a:solidFill>
                  <a:srgbClr val="67676E"/>
                </a:solidFill>
                <a:latin typeface="Telegraf"/>
              </a:rPr>
              <a:t>Recompiled on every save. Old chunk ids stay addressable so a citation never dangles.</a:t>
            </a:r>
            <a:endParaRPr sz="450" spc="0">
              <a:solidFill>
                <a:srgbClr val="67676E"/>
              </a:solidFill>
              <a:latin typeface="Telegraf"/>
            </a:endParaRPr>
          </a:p>
        </p:txBody>
      </p:sp>
      <p:sp>
        <p:nvSpPr>
          <p:cNvPr id="2111" name="Rectangle 95"/>
          <p:cNvSpPr/>
          <p:nvPr/>
        </p:nvSpPr>
        <p:spPr>
          <a:xfrm>
            <a:off x="939800" y="4419600"/>
            <a:ext cx="3302000" cy="43180"/>
          </a:xfrm>
          <a:custGeom>
            <a:avLst/>
            <a:gdLst/>
            <a:ahLst/>
            <a:cxnLst/>
            <a:rect l="l" t="t" r="r" b="b"/>
            <a:pathLst>
              <a:path w="100000" h="1308">
                <a:moveTo>
                  <a:pt x="99346" y="0"/>
                </a:moveTo>
                <a:cubicBezTo>
                  <a:pt x="99346" y="0"/>
                  <a:pt x="99346" y="0"/>
                  <a:pt x="99346" y="0"/>
                </a:cubicBezTo>
                <a:cubicBezTo>
                  <a:pt x="99707" y="0"/>
                  <a:pt x="100000" y="293"/>
                  <a:pt x="100000" y="654"/>
                </a:cubicBezTo>
                <a:cubicBezTo>
                  <a:pt x="100000" y="654"/>
                  <a:pt x="100000" y="654"/>
                  <a:pt x="100000" y="654"/>
                </a:cubicBezTo>
                <a:lnTo>
                  <a:pt x="100000" y="654"/>
                </a:lnTo>
                <a:cubicBezTo>
                  <a:pt x="100000" y="654"/>
                  <a:pt x="100000" y="654"/>
                  <a:pt x="100000" y="654"/>
                </a:cubicBezTo>
                <a:cubicBezTo>
                  <a:pt x="100000" y="1015"/>
                  <a:pt x="99707" y="1308"/>
                  <a:pt x="99346" y="1308"/>
                </a:cubicBezTo>
                <a:cubicBezTo>
                  <a:pt x="99346" y="1308"/>
                  <a:pt x="99346" y="1308"/>
                  <a:pt x="99346" y="1308"/>
                </a:cubicBezTo>
                <a:lnTo>
                  <a:pt x="654" y="1308"/>
                </a:lnTo>
                <a:cubicBezTo>
                  <a:pt x="654" y="1308"/>
                  <a:pt x="654" y="1308"/>
                  <a:pt x="654" y="1308"/>
                </a:cubicBezTo>
                <a:cubicBezTo>
                  <a:pt x="293" y="1308"/>
                  <a:pt x="0" y="1015"/>
                  <a:pt x="0" y="654"/>
                </a:cubicBezTo>
                <a:cubicBezTo>
                  <a:pt x="0" y="654"/>
                  <a:pt x="0" y="654"/>
                  <a:pt x="0" y="654"/>
                </a:cubicBezTo>
                <a:lnTo>
                  <a:pt x="0" y="654"/>
                </a:lnTo>
                <a:cubicBezTo>
                  <a:pt x="0" y="654"/>
                  <a:pt x="0" y="654"/>
                  <a:pt x="0" y="654"/>
                </a:cubicBezTo>
                <a:cubicBezTo>
                  <a:pt x="0" y="293"/>
                  <a:pt x="293" y="0"/>
                  <a:pt x="654" y="0"/>
                </a:cubicBezTo>
                <a:cubicBezTo>
                  <a:pt x="654" y="0"/>
                  <a:pt x="654" y="0"/>
                  <a:pt x="654"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12" name="Rectangle 96"/>
          <p:cNvSpPr/>
          <p:nvPr/>
        </p:nvSpPr>
        <p:spPr>
          <a:xfrm>
            <a:off x="939800" y="4419600"/>
            <a:ext cx="3302000" cy="43180"/>
          </a:xfrm>
          <a:custGeom>
            <a:avLst/>
            <a:gdLst/>
            <a:ahLst/>
            <a:cxnLst/>
            <a:rect l="l" t="t" r="r" b="b"/>
            <a:pathLst>
              <a:path w="100000" h="1308">
                <a:moveTo>
                  <a:pt x="99346" y="0"/>
                </a:moveTo>
                <a:cubicBezTo>
                  <a:pt x="99346" y="0"/>
                  <a:pt x="99346" y="0"/>
                  <a:pt x="99346" y="0"/>
                </a:cubicBezTo>
                <a:cubicBezTo>
                  <a:pt x="99707" y="0"/>
                  <a:pt x="100000" y="293"/>
                  <a:pt x="100000" y="654"/>
                </a:cubicBezTo>
                <a:cubicBezTo>
                  <a:pt x="100000" y="654"/>
                  <a:pt x="100000" y="654"/>
                  <a:pt x="100000" y="654"/>
                </a:cubicBezTo>
                <a:lnTo>
                  <a:pt x="100000" y="654"/>
                </a:lnTo>
                <a:cubicBezTo>
                  <a:pt x="100000" y="654"/>
                  <a:pt x="100000" y="654"/>
                  <a:pt x="100000" y="654"/>
                </a:cubicBezTo>
                <a:cubicBezTo>
                  <a:pt x="100000" y="1015"/>
                  <a:pt x="99707" y="1308"/>
                  <a:pt x="99346" y="1308"/>
                </a:cubicBezTo>
                <a:cubicBezTo>
                  <a:pt x="99346" y="1308"/>
                  <a:pt x="99346" y="1308"/>
                  <a:pt x="99346" y="1308"/>
                </a:cubicBezTo>
                <a:lnTo>
                  <a:pt x="654" y="1308"/>
                </a:lnTo>
                <a:cubicBezTo>
                  <a:pt x="654" y="1308"/>
                  <a:pt x="654" y="1308"/>
                  <a:pt x="654" y="1308"/>
                </a:cubicBezTo>
                <a:cubicBezTo>
                  <a:pt x="293" y="1308"/>
                  <a:pt x="0" y="1015"/>
                  <a:pt x="0" y="654"/>
                </a:cubicBezTo>
                <a:cubicBezTo>
                  <a:pt x="0" y="654"/>
                  <a:pt x="0" y="654"/>
                  <a:pt x="0" y="654"/>
                </a:cubicBezTo>
                <a:lnTo>
                  <a:pt x="0" y="654"/>
                </a:lnTo>
                <a:cubicBezTo>
                  <a:pt x="0" y="654"/>
                  <a:pt x="0" y="654"/>
                  <a:pt x="0" y="654"/>
                </a:cubicBezTo>
                <a:cubicBezTo>
                  <a:pt x="0" y="293"/>
                  <a:pt x="293" y="0"/>
                  <a:pt x="654" y="0"/>
                </a:cubicBezTo>
                <a:cubicBezTo>
                  <a:pt x="654" y="0"/>
                  <a:pt x="654" y="0"/>
                  <a:pt x="654"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13" name="TextBox 97"/>
          <p:cNvSpPr txBox="1"/>
          <p:nvPr/>
        </p:nvSpPr>
        <p:spPr>
          <a:xfrm>
            <a:off x="4368800" y="4343400"/>
            <a:ext cx="1422400" cy="152400"/>
          </a:xfrm>
          <a:prstGeom prst="rect">
            <a:avLst/>
          </a:prstGeom>
        </p:spPr>
        <p:txBody>
          <a:bodyPr wrap="square" lIns="0" tIns="0" rIns="0" bIns="0">
            <a:noAutofit/>
          </a:bodyPr>
          <a:lstStyle/>
          <a:p>
            <a:pPr algn="r">
              <a:lnSpc>
                <a:spcPct val="135000"/>
              </a:lnSpc>
            </a:pPr>
            <a:r>
              <a:rPr sz="440" spc="0">
                <a:solidFill>
                  <a:srgbClr val="0E6B5F"/>
                </a:solidFill>
                <a:latin typeface="Telegraf"/>
              </a:rPr>
              <a:t>indexed 6 / 6</a:t>
            </a:r>
            <a:endParaRPr sz="440" spc="0">
              <a:solidFill>
                <a:srgbClr val="0E6B5F"/>
              </a:solidFill>
              <a:latin typeface="Telegraf"/>
            </a:endParaRPr>
          </a:p>
        </p:txBody>
      </p:sp>
      <p:sp>
        <p:nvSpPr>
          <p:cNvPr id="2114" name="Rectangle 98"/>
          <p:cNvSpPr/>
          <p:nvPr/>
        </p:nvSpPr>
        <p:spPr>
          <a:xfrm>
            <a:off x="762000" y="4826000"/>
            <a:ext cx="1066800" cy="254000"/>
          </a:xfrm>
          <a:custGeom>
            <a:avLst/>
            <a:gdLst/>
            <a:ahLst/>
            <a:cxnLst/>
            <a:rect l="l" t="t" r="r" b="b"/>
            <a:pathLst>
              <a:path w="100000" h="23810">
                <a:moveTo>
                  <a:pt x="88095" y="0"/>
                </a:moveTo>
                <a:cubicBezTo>
                  <a:pt x="88095" y="0"/>
                  <a:pt x="88095" y="0"/>
                  <a:pt x="88095" y="0"/>
                </a:cubicBezTo>
                <a:cubicBezTo>
                  <a:pt x="94670" y="0"/>
                  <a:pt x="100000" y="5330"/>
                  <a:pt x="100000" y="11905"/>
                </a:cubicBezTo>
                <a:cubicBezTo>
                  <a:pt x="100000" y="11905"/>
                  <a:pt x="100000" y="11905"/>
                  <a:pt x="100000" y="11905"/>
                </a:cubicBezTo>
                <a:lnTo>
                  <a:pt x="100000" y="11905"/>
                </a:lnTo>
                <a:cubicBezTo>
                  <a:pt x="100000" y="11905"/>
                  <a:pt x="100000" y="11905"/>
                  <a:pt x="100000" y="11905"/>
                </a:cubicBezTo>
                <a:cubicBezTo>
                  <a:pt x="100000" y="18480"/>
                  <a:pt x="94670" y="23810"/>
                  <a:pt x="88095" y="23810"/>
                </a:cubicBezTo>
                <a:cubicBezTo>
                  <a:pt x="88095" y="23810"/>
                  <a:pt x="88095" y="23810"/>
                  <a:pt x="88095" y="23810"/>
                </a:cubicBezTo>
                <a:lnTo>
                  <a:pt x="11905" y="23810"/>
                </a:lnTo>
                <a:cubicBezTo>
                  <a:pt x="11905" y="23810"/>
                  <a:pt x="11905" y="23810"/>
                  <a:pt x="11905" y="23810"/>
                </a:cubicBezTo>
                <a:cubicBezTo>
                  <a:pt x="5330" y="23810"/>
                  <a:pt x="0" y="18480"/>
                  <a:pt x="0" y="11905"/>
                </a:cubicBezTo>
                <a:cubicBezTo>
                  <a:pt x="0" y="11905"/>
                  <a:pt x="0" y="11905"/>
                  <a:pt x="0" y="11905"/>
                </a:cubicBezTo>
                <a:lnTo>
                  <a:pt x="0" y="11905"/>
                </a:lnTo>
                <a:cubicBezTo>
                  <a:pt x="0" y="11905"/>
                  <a:pt x="0" y="11905"/>
                  <a:pt x="0" y="11905"/>
                </a:cubicBezTo>
                <a:cubicBezTo>
                  <a:pt x="0" y="5330"/>
                  <a:pt x="5330" y="0"/>
                  <a:pt x="11905" y="0"/>
                </a:cubicBezTo>
                <a:cubicBezTo>
                  <a:pt x="11905" y="0"/>
                  <a:pt x="11905" y="0"/>
                  <a:pt x="11905"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15" name="TextBox 99"/>
          <p:cNvSpPr txBox="1"/>
          <p:nvPr/>
        </p:nvSpPr>
        <p:spPr>
          <a:xfrm>
            <a:off x="838200" y="4826000"/>
            <a:ext cx="939800" cy="254000"/>
          </a:xfrm>
          <a:prstGeom prst="rect">
            <a:avLst/>
          </a:prstGeom>
        </p:spPr>
        <p:txBody>
          <a:bodyPr wrap="square" lIns="0" tIns="0" rIns="0" bIns="0" anchor="ctr">
            <a:noAutofit/>
          </a:bodyPr>
          <a:lstStyle/>
          <a:p>
            <a:pPr>
              <a:lnSpc>
                <a:spcPct val="135000"/>
              </a:lnSpc>
            </a:pPr>
            <a:r>
              <a:rPr sz="460" b="1" spc="10">
                <a:solidFill>
                  <a:srgbClr val="0A0A0A"/>
                </a:solidFill>
                <a:latin typeface="Telegraf"/>
              </a:rPr>
              <a:t>Edit markdown</a:t>
            </a:r>
            <a:endParaRPr sz="460" b="1" spc="10">
              <a:solidFill>
                <a:srgbClr val="0A0A0A"/>
              </a:solidFill>
              <a:latin typeface="Telegraf"/>
            </a:endParaRPr>
          </a:p>
        </p:txBody>
      </p:sp>
      <p:sp>
        <p:nvSpPr>
          <p:cNvPr id="2116" name="Rectangle 100"/>
          <p:cNvSpPr/>
          <p:nvPr/>
        </p:nvSpPr>
        <p:spPr>
          <a:xfrm>
            <a:off x="1905000" y="4826000"/>
            <a:ext cx="939800" cy="254000"/>
          </a:xfrm>
          <a:custGeom>
            <a:avLst/>
            <a:gdLst/>
            <a:ahLst/>
            <a:cxnLst/>
            <a:rect l="l" t="t" r="r" b="b"/>
            <a:pathLst>
              <a:path w="100000" h="27027">
                <a:moveTo>
                  <a:pt x="86486" y="0"/>
                </a:moveTo>
                <a:cubicBezTo>
                  <a:pt x="86486" y="0"/>
                  <a:pt x="86486" y="0"/>
                  <a:pt x="86486" y="0"/>
                </a:cubicBezTo>
                <a:cubicBezTo>
                  <a:pt x="93950" y="0"/>
                  <a:pt x="100000" y="6050"/>
                  <a:pt x="100000" y="13514"/>
                </a:cubicBezTo>
                <a:cubicBezTo>
                  <a:pt x="100000" y="13514"/>
                  <a:pt x="100000" y="13514"/>
                  <a:pt x="100000" y="13514"/>
                </a:cubicBezTo>
                <a:lnTo>
                  <a:pt x="100000" y="13514"/>
                </a:lnTo>
                <a:cubicBezTo>
                  <a:pt x="100000" y="13514"/>
                  <a:pt x="100000" y="13514"/>
                  <a:pt x="100000" y="13514"/>
                </a:cubicBezTo>
                <a:cubicBezTo>
                  <a:pt x="100000" y="20977"/>
                  <a:pt x="93950" y="27027"/>
                  <a:pt x="86486" y="27027"/>
                </a:cubicBezTo>
                <a:cubicBezTo>
                  <a:pt x="86486" y="27027"/>
                  <a:pt x="86486" y="27027"/>
                  <a:pt x="86486" y="27027"/>
                </a:cubicBezTo>
                <a:lnTo>
                  <a:pt x="13514" y="27027"/>
                </a:lnTo>
                <a:cubicBezTo>
                  <a:pt x="13514" y="27027"/>
                  <a:pt x="13514" y="27027"/>
                  <a:pt x="13514" y="27027"/>
                </a:cubicBezTo>
                <a:cubicBezTo>
                  <a:pt x="6050" y="27027"/>
                  <a:pt x="0" y="20977"/>
                  <a:pt x="0" y="13514"/>
                </a:cubicBezTo>
                <a:cubicBezTo>
                  <a:pt x="0" y="13514"/>
                  <a:pt x="0" y="13514"/>
                  <a:pt x="0" y="13514"/>
                </a:cubicBezTo>
                <a:lnTo>
                  <a:pt x="0" y="13514"/>
                </a:lnTo>
                <a:cubicBezTo>
                  <a:pt x="0" y="13514"/>
                  <a:pt x="0" y="13514"/>
                  <a:pt x="0" y="13514"/>
                </a:cubicBezTo>
                <a:cubicBezTo>
                  <a:pt x="0" y="6050"/>
                  <a:pt x="6050" y="0"/>
                  <a:pt x="13514" y="0"/>
                </a:cubicBezTo>
                <a:cubicBezTo>
                  <a:pt x="13514" y="0"/>
                  <a:pt x="13514" y="0"/>
                  <a:pt x="13514"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17" name="TextBox 101"/>
          <p:cNvSpPr txBox="1"/>
          <p:nvPr/>
        </p:nvSpPr>
        <p:spPr>
          <a:xfrm>
            <a:off x="1981200" y="4826000"/>
            <a:ext cx="812800" cy="254000"/>
          </a:xfrm>
          <a:prstGeom prst="rect">
            <a:avLst/>
          </a:prstGeom>
        </p:spPr>
        <p:txBody>
          <a:bodyPr wrap="square" lIns="0" tIns="0" rIns="0" bIns="0" anchor="ctr">
            <a:noAutofit/>
          </a:bodyPr>
          <a:lstStyle/>
          <a:p>
            <a:pPr>
              <a:lnSpc>
                <a:spcPct val="135000"/>
              </a:lnSpc>
            </a:pPr>
            <a:r>
              <a:rPr sz="460" b="1" spc="10">
                <a:solidFill>
                  <a:srgbClr val="67676E"/>
                </a:solidFill>
                <a:latin typeface="Telegraf"/>
              </a:rPr>
              <a:t>Re-compile</a:t>
            </a:r>
            <a:endParaRPr sz="460" b="1" spc="10">
              <a:solidFill>
                <a:srgbClr val="67676E"/>
              </a:solidFill>
              <a:latin typeface="Telegraf"/>
            </a:endParaRPr>
          </a:p>
        </p:txBody>
      </p:sp>
      <p:sp>
        <p:nvSpPr>
          <p:cNvPr id="2118" name="TextBox 102"/>
          <p:cNvSpPr txBox="1"/>
          <p:nvPr/>
        </p:nvSpPr>
        <p:spPr>
          <a:xfrm>
            <a:off x="762000" y="5181600"/>
            <a:ext cx="5207000" cy="127000"/>
          </a:xfrm>
          <a:prstGeom prst="rect">
            <a:avLst/>
          </a:prstGeom>
        </p:spPr>
        <p:txBody>
          <a:bodyPr wrap="square" lIns="0" tIns="0" rIns="0" bIns="0">
            <a:noAutofit/>
          </a:bodyPr>
          <a:lstStyle/>
          <a:p>
            <a:pPr>
              <a:lnSpc>
                <a:spcPct val="135000"/>
              </a:lnSpc>
            </a:pPr>
            <a:r>
              <a:rPr sz="440" spc="0">
                <a:solidFill>
                  <a:srgbClr val="A2A2A8"/>
                </a:solidFill>
                <a:latin typeface="Telegraf"/>
              </a:rPr>
              <a:t>The file is the source of truth; the chunks are derived, never edited by hand.</a:t>
            </a:r>
            <a:endParaRPr sz="440" spc="0">
              <a:solidFill>
                <a:srgbClr val="A2A2A8"/>
              </a:solidFill>
              <a:latin typeface="Telegraf"/>
            </a:endParaRPr>
          </a:p>
        </p:txBody>
      </p:sp>
      <p:sp>
        <p:nvSpPr>
          <p:cNvPr id="2119" name="Rectangle 103"/>
          <p:cNvSpPr/>
          <p:nvPr/>
        </p:nvSpPr>
        <p:spPr>
          <a:xfrm>
            <a:off x="6223000" y="1219200"/>
            <a:ext cx="3886200" cy="1727200"/>
          </a:xfrm>
          <a:custGeom>
            <a:avLst/>
            <a:gdLst/>
            <a:ahLst/>
            <a:cxnLst/>
            <a:rect l="l" t="t" r="r" b="b"/>
            <a:pathLst>
              <a:path w="100000" h="44444">
                <a:moveTo>
                  <a:pt x="92157" y="0"/>
                </a:moveTo>
                <a:cubicBezTo>
                  <a:pt x="95854" y="0"/>
                  <a:pt x="97703" y="0"/>
                  <a:pt x="98851" y="1149"/>
                </a:cubicBezTo>
                <a:cubicBezTo>
                  <a:pt x="98851" y="1149"/>
                  <a:pt x="98851" y="1149"/>
                  <a:pt x="98851" y="1149"/>
                </a:cubicBezTo>
                <a:cubicBezTo>
                  <a:pt x="100000" y="2297"/>
                  <a:pt x="100000" y="4146"/>
                  <a:pt x="100000" y="7843"/>
                </a:cubicBezTo>
                <a:lnTo>
                  <a:pt x="100000" y="36601"/>
                </a:lnTo>
                <a:cubicBezTo>
                  <a:pt x="100000" y="40299"/>
                  <a:pt x="100000" y="42147"/>
                  <a:pt x="98851" y="43296"/>
                </a:cubicBezTo>
                <a:cubicBezTo>
                  <a:pt x="98851" y="43296"/>
                  <a:pt x="98851" y="43296"/>
                  <a:pt x="98851" y="43296"/>
                </a:cubicBezTo>
                <a:cubicBezTo>
                  <a:pt x="97703" y="44444"/>
                  <a:pt x="95854" y="44444"/>
                  <a:pt x="92157" y="44444"/>
                </a:cubicBezTo>
                <a:lnTo>
                  <a:pt x="7843" y="44444"/>
                </a:lnTo>
                <a:cubicBezTo>
                  <a:pt x="4146" y="44444"/>
                  <a:pt x="2297" y="44444"/>
                  <a:pt x="1149" y="43296"/>
                </a:cubicBezTo>
                <a:cubicBezTo>
                  <a:pt x="1149" y="43296"/>
                  <a:pt x="1149" y="43296"/>
                  <a:pt x="1149" y="43296"/>
                </a:cubicBezTo>
                <a:cubicBezTo>
                  <a:pt x="0" y="42147"/>
                  <a:pt x="0" y="40299"/>
                  <a:pt x="0" y="36601"/>
                </a:cubicBezTo>
                <a:lnTo>
                  <a:pt x="0" y="7843"/>
                </a:lnTo>
                <a:cubicBezTo>
                  <a:pt x="0" y="4146"/>
                  <a:pt x="0" y="2297"/>
                  <a:pt x="1149" y="1149"/>
                </a:cubicBezTo>
                <a:cubicBezTo>
                  <a:pt x="1149" y="1149"/>
                  <a:pt x="1149" y="1149"/>
                  <a:pt x="1149" y="1149"/>
                </a:cubicBezTo>
                <a:cubicBezTo>
                  <a:pt x="2297" y="0"/>
                  <a:pt x="4146" y="0"/>
                  <a:pt x="7843"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0" name="TextBox 104"/>
          <p:cNvSpPr txBox="1"/>
          <p:nvPr/>
        </p:nvSpPr>
        <p:spPr>
          <a:xfrm>
            <a:off x="6400800" y="1346200"/>
            <a:ext cx="2540000" cy="114300"/>
          </a:xfrm>
          <a:prstGeom prst="rect">
            <a:avLst/>
          </a:prstGeom>
        </p:spPr>
        <p:txBody>
          <a:bodyPr wrap="square" lIns="0" tIns="0" rIns="0" bIns="0">
            <a:noAutofit/>
          </a:bodyPr>
          <a:lstStyle/>
          <a:p>
            <a:r>
              <a:rPr sz="450" b="1" spc="105">
                <a:solidFill>
                  <a:srgbClr val="A2A2A8"/>
                </a:solidFill>
                <a:latin typeface="Telegraf"/>
              </a:rPr>
              <a:t>SENTIMENT THIS WEEK</a:t>
            </a:r>
            <a:endParaRPr sz="450" b="1" spc="105">
              <a:solidFill>
                <a:srgbClr val="A2A2A8"/>
              </a:solidFill>
              <a:latin typeface="Telegraf"/>
            </a:endParaRPr>
          </a:p>
        </p:txBody>
      </p:sp>
      <p:sp>
        <p:nvSpPr>
          <p:cNvPr id="2121" name="Rectangle 105"/>
          <p:cNvSpPr/>
          <p:nvPr/>
        </p:nvSpPr>
        <p:spPr>
          <a:xfrm>
            <a:off x="8890000" y="1295400"/>
            <a:ext cx="1041400" cy="203200"/>
          </a:xfrm>
          <a:custGeom>
            <a:avLst/>
            <a:gdLst/>
            <a:ahLst/>
            <a:cxnLst/>
            <a:rect l="l" t="t" r="r" b="b"/>
            <a:pathLst>
              <a:path w="100000" h="19512">
                <a:moveTo>
                  <a:pt x="90244" y="0"/>
                </a:moveTo>
                <a:cubicBezTo>
                  <a:pt x="90244" y="0"/>
                  <a:pt x="90244" y="0"/>
                  <a:pt x="90244" y="0"/>
                </a:cubicBezTo>
                <a:cubicBezTo>
                  <a:pt x="95632" y="0"/>
                  <a:pt x="100000" y="4368"/>
                  <a:pt x="100000" y="9756"/>
                </a:cubicBezTo>
                <a:cubicBezTo>
                  <a:pt x="100000" y="9756"/>
                  <a:pt x="100000" y="9756"/>
                  <a:pt x="100000" y="9756"/>
                </a:cubicBezTo>
                <a:lnTo>
                  <a:pt x="100000" y="9756"/>
                </a:lnTo>
                <a:cubicBezTo>
                  <a:pt x="100000" y="9756"/>
                  <a:pt x="100000" y="9756"/>
                  <a:pt x="100000" y="9756"/>
                </a:cubicBezTo>
                <a:cubicBezTo>
                  <a:pt x="100000" y="15144"/>
                  <a:pt x="95632" y="19512"/>
                  <a:pt x="90244" y="19512"/>
                </a:cubicBezTo>
                <a:cubicBezTo>
                  <a:pt x="90244" y="19512"/>
                  <a:pt x="90244" y="19512"/>
                  <a:pt x="90244" y="19512"/>
                </a:cubicBezTo>
                <a:lnTo>
                  <a:pt x="9756" y="19512"/>
                </a:lnTo>
                <a:cubicBezTo>
                  <a:pt x="9756" y="19512"/>
                  <a:pt x="9756" y="19512"/>
                  <a:pt x="9756" y="19512"/>
                </a:cubicBezTo>
                <a:cubicBezTo>
                  <a:pt x="4368" y="19512"/>
                  <a:pt x="0" y="15144"/>
                  <a:pt x="0" y="9756"/>
                </a:cubicBezTo>
                <a:cubicBezTo>
                  <a:pt x="0" y="9756"/>
                  <a:pt x="0" y="9756"/>
                  <a:pt x="0" y="9756"/>
                </a:cubicBezTo>
                <a:lnTo>
                  <a:pt x="0" y="9756"/>
                </a:lnTo>
                <a:cubicBezTo>
                  <a:pt x="0" y="9756"/>
                  <a:pt x="0" y="9756"/>
                  <a:pt x="0" y="9756"/>
                </a:cubicBezTo>
                <a:cubicBezTo>
                  <a:pt x="0" y="4368"/>
                  <a:pt x="4368" y="0"/>
                  <a:pt x="9756" y="0"/>
                </a:cubicBezTo>
                <a:cubicBezTo>
                  <a:pt x="9756" y="0"/>
                  <a:pt x="9756" y="0"/>
                  <a:pt x="9756"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2" name="TextBox 106"/>
          <p:cNvSpPr txBox="1"/>
          <p:nvPr/>
        </p:nvSpPr>
        <p:spPr>
          <a:xfrm>
            <a:off x="8966200" y="1295400"/>
            <a:ext cx="914400" cy="203200"/>
          </a:xfrm>
          <a:prstGeom prst="rect">
            <a:avLst/>
          </a:prstGeom>
        </p:spPr>
        <p:txBody>
          <a:bodyPr wrap="square" lIns="0" tIns="0" rIns="0" bIns="0" anchor="ctr">
            <a:noAutofit/>
          </a:bodyPr>
          <a:lstStyle/>
          <a:p>
            <a:pPr>
              <a:lnSpc>
                <a:spcPct val="135000"/>
              </a:lnSpc>
            </a:pPr>
            <a:r>
              <a:rPr sz="420" b="1" spc="10">
                <a:solidFill>
                  <a:srgbClr val="67676E"/>
                </a:solidFill>
                <a:latin typeface="Telegraf"/>
              </a:rPr>
              <a:t>Week 44 · 96</a:t>
            </a:r>
            <a:endParaRPr sz="420" b="1" spc="10">
              <a:solidFill>
                <a:srgbClr val="67676E"/>
              </a:solidFill>
              <a:latin typeface="Telegraf"/>
            </a:endParaRPr>
          </a:p>
        </p:txBody>
      </p:sp>
      <p:sp>
        <p:nvSpPr>
          <p:cNvPr id="2123" name="Rectangle 107"/>
          <p:cNvSpPr/>
          <p:nvPr/>
        </p:nvSpPr>
        <p:spPr>
          <a:xfrm>
            <a:off x="6400800" y="1600200"/>
            <a:ext cx="2027428" cy="127000"/>
          </a:xfrm>
          <a:custGeom>
            <a:avLst/>
            <a:gdLst/>
            <a:ahLst/>
            <a:cxnLst/>
            <a:rect l="l" t="t" r="r" b="b"/>
            <a:pathLst>
              <a:path w="100000" h="6264">
                <a:moveTo>
                  <a:pt x="96868" y="0"/>
                </a:moveTo>
                <a:cubicBezTo>
                  <a:pt x="96868" y="0"/>
                  <a:pt x="96868" y="0"/>
                  <a:pt x="96868" y="0"/>
                </a:cubicBezTo>
                <a:cubicBezTo>
                  <a:pt x="98597" y="0"/>
                  <a:pt x="100000" y="1403"/>
                  <a:pt x="100000" y="3132"/>
                </a:cubicBezTo>
                <a:cubicBezTo>
                  <a:pt x="100000" y="3132"/>
                  <a:pt x="100000" y="3132"/>
                  <a:pt x="100000" y="3132"/>
                </a:cubicBezTo>
                <a:lnTo>
                  <a:pt x="100000" y="3132"/>
                </a:lnTo>
                <a:cubicBezTo>
                  <a:pt x="100000" y="3132"/>
                  <a:pt x="100000" y="3132"/>
                  <a:pt x="100000" y="3132"/>
                </a:cubicBezTo>
                <a:cubicBezTo>
                  <a:pt x="100000" y="4862"/>
                  <a:pt x="98597" y="6264"/>
                  <a:pt x="96868" y="6264"/>
                </a:cubicBezTo>
                <a:cubicBezTo>
                  <a:pt x="96868" y="6264"/>
                  <a:pt x="96868" y="6264"/>
                  <a:pt x="96868" y="6264"/>
                </a:cubicBezTo>
                <a:lnTo>
                  <a:pt x="3132" y="6264"/>
                </a:lnTo>
                <a:cubicBezTo>
                  <a:pt x="3132" y="6264"/>
                  <a:pt x="3132" y="6264"/>
                  <a:pt x="3132" y="6264"/>
                </a:cubicBezTo>
                <a:cubicBezTo>
                  <a:pt x="1403" y="6264"/>
                  <a:pt x="0" y="4862"/>
                  <a:pt x="0" y="3132"/>
                </a:cubicBezTo>
                <a:cubicBezTo>
                  <a:pt x="0" y="3132"/>
                  <a:pt x="0" y="3132"/>
                  <a:pt x="0" y="3132"/>
                </a:cubicBezTo>
                <a:lnTo>
                  <a:pt x="0" y="3132"/>
                </a:lnTo>
                <a:cubicBezTo>
                  <a:pt x="0" y="3132"/>
                  <a:pt x="0" y="3132"/>
                  <a:pt x="0" y="3132"/>
                </a:cubicBezTo>
                <a:cubicBezTo>
                  <a:pt x="0" y="1403"/>
                  <a:pt x="1403" y="0"/>
                  <a:pt x="3132" y="0"/>
                </a:cubicBezTo>
                <a:cubicBezTo>
                  <a:pt x="3132" y="0"/>
                  <a:pt x="3132" y="0"/>
                  <a:pt x="3132"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4" name="Rectangle 108"/>
          <p:cNvSpPr/>
          <p:nvPr/>
        </p:nvSpPr>
        <p:spPr>
          <a:xfrm>
            <a:off x="8448548" y="1600200"/>
            <a:ext cx="897636" cy="127000"/>
          </a:xfrm>
          <a:custGeom>
            <a:avLst/>
            <a:gdLst/>
            <a:ahLst/>
            <a:cxnLst/>
            <a:rect l="l" t="t" r="r" b="b"/>
            <a:pathLst>
              <a:path w="100000" h="14148">
                <a:moveTo>
                  <a:pt x="92926" y="0"/>
                </a:moveTo>
                <a:cubicBezTo>
                  <a:pt x="92926" y="0"/>
                  <a:pt x="92926" y="0"/>
                  <a:pt x="92926" y="0"/>
                </a:cubicBezTo>
                <a:cubicBezTo>
                  <a:pt x="96832" y="0"/>
                  <a:pt x="100000" y="3168"/>
                  <a:pt x="100000" y="7074"/>
                </a:cubicBezTo>
                <a:cubicBezTo>
                  <a:pt x="100000" y="7074"/>
                  <a:pt x="100000" y="7074"/>
                  <a:pt x="100000" y="7074"/>
                </a:cubicBezTo>
                <a:lnTo>
                  <a:pt x="100000" y="7074"/>
                </a:lnTo>
                <a:cubicBezTo>
                  <a:pt x="100000" y="7074"/>
                  <a:pt x="100000" y="7074"/>
                  <a:pt x="100000" y="7074"/>
                </a:cubicBezTo>
                <a:cubicBezTo>
                  <a:pt x="100000" y="10980"/>
                  <a:pt x="96832" y="14148"/>
                  <a:pt x="92926" y="14148"/>
                </a:cubicBezTo>
                <a:cubicBezTo>
                  <a:pt x="92926" y="14148"/>
                  <a:pt x="92926" y="14148"/>
                  <a:pt x="92926" y="14148"/>
                </a:cubicBezTo>
                <a:lnTo>
                  <a:pt x="7074" y="14148"/>
                </a:lnTo>
                <a:cubicBezTo>
                  <a:pt x="7074" y="14148"/>
                  <a:pt x="7074" y="14148"/>
                  <a:pt x="7074" y="14148"/>
                </a:cubicBezTo>
                <a:cubicBezTo>
                  <a:pt x="3168" y="14148"/>
                  <a:pt x="0" y="10980"/>
                  <a:pt x="0" y="7074"/>
                </a:cubicBezTo>
                <a:cubicBezTo>
                  <a:pt x="0" y="7074"/>
                  <a:pt x="0" y="7074"/>
                  <a:pt x="0" y="7074"/>
                </a:cubicBezTo>
                <a:lnTo>
                  <a:pt x="0" y="7074"/>
                </a:lnTo>
                <a:cubicBezTo>
                  <a:pt x="0" y="7074"/>
                  <a:pt x="0" y="7074"/>
                  <a:pt x="0" y="7074"/>
                </a:cubicBezTo>
                <a:cubicBezTo>
                  <a:pt x="0" y="3168"/>
                  <a:pt x="3168" y="0"/>
                  <a:pt x="7074" y="0"/>
                </a:cubicBezTo>
                <a:cubicBezTo>
                  <a:pt x="7074" y="0"/>
                  <a:pt x="7074" y="0"/>
                  <a:pt x="7074" y="0"/>
                </a:cubicBezTo>
                <a:close/>
              </a:path>
            </a:pathLst>
          </a:custGeom>
          <a:solidFill>
            <a:srgbClr val="9CC9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5" name="Rectangle 109"/>
          <p:cNvSpPr/>
          <p:nvPr/>
        </p:nvSpPr>
        <p:spPr>
          <a:xfrm>
            <a:off x="9366504" y="1600200"/>
            <a:ext cx="403352" cy="127000"/>
          </a:xfrm>
          <a:custGeom>
            <a:avLst/>
            <a:gdLst/>
            <a:ahLst/>
            <a:cxnLst/>
            <a:rect l="l" t="t" r="r" b="b"/>
            <a:pathLst>
              <a:path w="100000" h="31486">
                <a:moveTo>
                  <a:pt x="84257" y="0"/>
                </a:moveTo>
                <a:cubicBezTo>
                  <a:pt x="84257" y="0"/>
                  <a:pt x="84257" y="0"/>
                  <a:pt x="84257" y="0"/>
                </a:cubicBezTo>
                <a:cubicBezTo>
                  <a:pt x="92950" y="0"/>
                  <a:pt x="100000" y="7050"/>
                  <a:pt x="100000" y="15743"/>
                </a:cubicBezTo>
                <a:cubicBezTo>
                  <a:pt x="100000" y="15743"/>
                  <a:pt x="100000" y="15743"/>
                  <a:pt x="100000" y="15743"/>
                </a:cubicBezTo>
                <a:lnTo>
                  <a:pt x="100000" y="15743"/>
                </a:lnTo>
                <a:cubicBezTo>
                  <a:pt x="100000" y="15743"/>
                  <a:pt x="100000" y="15743"/>
                  <a:pt x="100000" y="15743"/>
                </a:cubicBezTo>
                <a:cubicBezTo>
                  <a:pt x="100000" y="24436"/>
                  <a:pt x="92950" y="31486"/>
                  <a:pt x="84257" y="31486"/>
                </a:cubicBezTo>
                <a:cubicBezTo>
                  <a:pt x="84257" y="31486"/>
                  <a:pt x="84257" y="31486"/>
                  <a:pt x="84257" y="31486"/>
                </a:cubicBezTo>
                <a:lnTo>
                  <a:pt x="15743" y="31486"/>
                </a:lnTo>
                <a:cubicBezTo>
                  <a:pt x="15743" y="31486"/>
                  <a:pt x="15743" y="31486"/>
                  <a:pt x="15743" y="31486"/>
                </a:cubicBezTo>
                <a:cubicBezTo>
                  <a:pt x="7050" y="31486"/>
                  <a:pt x="0" y="24436"/>
                  <a:pt x="0" y="15743"/>
                </a:cubicBezTo>
                <a:cubicBezTo>
                  <a:pt x="0" y="15743"/>
                  <a:pt x="0" y="15743"/>
                  <a:pt x="0" y="15743"/>
                </a:cubicBezTo>
                <a:lnTo>
                  <a:pt x="0" y="15743"/>
                </a:lnTo>
                <a:cubicBezTo>
                  <a:pt x="0" y="15743"/>
                  <a:pt x="0" y="15743"/>
                  <a:pt x="0" y="15743"/>
                </a:cubicBezTo>
                <a:cubicBezTo>
                  <a:pt x="0" y="7050"/>
                  <a:pt x="7050" y="0"/>
                  <a:pt x="15743" y="0"/>
                </a:cubicBezTo>
                <a:cubicBezTo>
                  <a:pt x="15743" y="0"/>
                  <a:pt x="15743" y="0"/>
                  <a:pt x="15743" y="0"/>
                </a:cubicBezTo>
                <a:close/>
              </a:path>
            </a:pathLst>
          </a:cu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6" name="Rectangle 110"/>
          <p:cNvSpPr/>
          <p:nvPr/>
        </p:nvSpPr>
        <p:spPr>
          <a:xfrm>
            <a:off x="9790176" y="1600200"/>
            <a:ext cx="120904" cy="127000"/>
          </a:xfrm>
          <a:custGeom>
            <a:avLst/>
            <a:gdLst/>
            <a:ahLst/>
            <a:cxnLst/>
            <a:rect l="l" t="t" r="r" b="b"/>
            <a:pathLst>
              <a:path w="95200" h="100000">
                <a:moveTo>
                  <a:pt x="47600" y="0"/>
                </a:moveTo>
                <a:cubicBezTo>
                  <a:pt x="47600" y="0"/>
                  <a:pt x="47600" y="0"/>
                  <a:pt x="47600" y="0"/>
                </a:cubicBezTo>
                <a:cubicBezTo>
                  <a:pt x="73890" y="0"/>
                  <a:pt x="95200" y="21310"/>
                  <a:pt x="95200" y="47600"/>
                </a:cubicBezTo>
                <a:cubicBezTo>
                  <a:pt x="95200" y="47600"/>
                  <a:pt x="95200" y="47600"/>
                  <a:pt x="95200" y="47600"/>
                </a:cubicBezTo>
                <a:lnTo>
                  <a:pt x="95200" y="52400"/>
                </a:lnTo>
                <a:cubicBezTo>
                  <a:pt x="95200" y="52400"/>
                  <a:pt x="95200" y="52400"/>
                  <a:pt x="95200" y="52400"/>
                </a:cubicBezTo>
                <a:cubicBezTo>
                  <a:pt x="95200" y="78690"/>
                  <a:pt x="73890" y="100000"/>
                  <a:pt x="47600" y="100000"/>
                </a:cubicBezTo>
                <a:cubicBezTo>
                  <a:pt x="47600" y="100000"/>
                  <a:pt x="47600" y="100000"/>
                  <a:pt x="47600" y="100000"/>
                </a:cubicBezTo>
                <a:lnTo>
                  <a:pt x="47600" y="100000"/>
                </a:lnTo>
                <a:cubicBezTo>
                  <a:pt x="47600" y="100000"/>
                  <a:pt x="47600" y="100000"/>
                  <a:pt x="47600" y="100000"/>
                </a:cubicBezTo>
                <a:cubicBezTo>
                  <a:pt x="21310" y="100000"/>
                  <a:pt x="0" y="78690"/>
                  <a:pt x="0" y="52400"/>
                </a:cubicBezTo>
                <a:cubicBezTo>
                  <a:pt x="0" y="52400"/>
                  <a:pt x="0" y="52400"/>
                  <a:pt x="0" y="52400"/>
                </a:cubicBezTo>
                <a:lnTo>
                  <a:pt x="0" y="47600"/>
                </a:lnTo>
                <a:cubicBezTo>
                  <a:pt x="0" y="47600"/>
                  <a:pt x="0" y="47600"/>
                  <a:pt x="0" y="47600"/>
                </a:cubicBezTo>
                <a:cubicBezTo>
                  <a:pt x="0" y="21310"/>
                  <a:pt x="21310" y="0"/>
                  <a:pt x="47600" y="0"/>
                </a:cubicBezTo>
                <a:cubicBezTo>
                  <a:pt x="47600" y="0"/>
                  <a:pt x="47600" y="0"/>
                  <a:pt x="47600" y="0"/>
                </a:cubicBezTo>
                <a:close/>
              </a:path>
            </a:pathLst>
          </a:cu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7" name="Oval 111"/>
          <p:cNvSpPr/>
          <p:nvPr/>
        </p:nvSpPr>
        <p:spPr>
          <a:xfrm>
            <a:off x="6403340" y="1932940"/>
            <a:ext cx="45720" cy="45720"/>
          </a:xfrm>
          <a:prstGeom prst="ellipse">
            <a:avLst/>
          </a:pr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28" name="TextBox 112"/>
          <p:cNvSpPr txBox="1"/>
          <p:nvPr/>
        </p:nvSpPr>
        <p:spPr>
          <a:xfrm>
            <a:off x="6527800" y="1905000"/>
            <a:ext cx="889000" cy="127000"/>
          </a:xfrm>
          <a:prstGeom prst="rect">
            <a:avLst/>
          </a:prstGeom>
        </p:spPr>
        <p:txBody>
          <a:bodyPr wrap="square" lIns="0" tIns="0" rIns="0" bIns="0">
            <a:noAutofit/>
          </a:bodyPr>
          <a:lstStyle/>
          <a:p>
            <a:pPr>
              <a:lnSpc>
                <a:spcPct val="135000"/>
              </a:lnSpc>
            </a:pPr>
            <a:r>
              <a:rPr sz="460" spc="0">
                <a:solidFill>
                  <a:srgbClr val="67676E"/>
                </a:solidFill>
                <a:latin typeface="Telegraf"/>
              </a:rPr>
              <a:t>positive</a:t>
            </a:r>
            <a:endParaRPr sz="460" spc="0">
              <a:solidFill>
                <a:srgbClr val="67676E"/>
              </a:solidFill>
              <a:latin typeface="Telegraf"/>
            </a:endParaRPr>
          </a:p>
        </p:txBody>
      </p:sp>
      <p:sp>
        <p:nvSpPr>
          <p:cNvPr id="2129" name="TextBox 113"/>
          <p:cNvSpPr txBox="1"/>
          <p:nvPr/>
        </p:nvSpPr>
        <p:spPr>
          <a:xfrm>
            <a:off x="7315200" y="1905000"/>
            <a:ext cx="381000" cy="127000"/>
          </a:xfrm>
          <a:prstGeom prst="rect">
            <a:avLst/>
          </a:prstGeom>
        </p:spPr>
        <p:txBody>
          <a:bodyPr wrap="square" lIns="0" tIns="0" rIns="0" bIns="0">
            <a:noAutofit/>
          </a:bodyPr>
          <a:lstStyle/>
          <a:p>
            <a:pPr algn="r">
              <a:lnSpc>
                <a:spcPct val="135000"/>
              </a:lnSpc>
            </a:pPr>
            <a:r>
              <a:rPr sz="480" b="1" spc="0">
                <a:solidFill>
                  <a:srgbClr val="0A0A0A"/>
                </a:solidFill>
                <a:latin typeface="Telegraf"/>
              </a:rPr>
              <a:t>58%</a:t>
            </a:r>
            <a:endParaRPr sz="480" b="1" spc="0">
              <a:solidFill>
                <a:srgbClr val="0A0A0A"/>
              </a:solidFill>
              <a:latin typeface="Telegraf"/>
            </a:endParaRPr>
          </a:p>
        </p:txBody>
      </p:sp>
      <p:sp>
        <p:nvSpPr>
          <p:cNvPr id="2130" name="Oval 114"/>
          <p:cNvSpPr/>
          <p:nvPr/>
        </p:nvSpPr>
        <p:spPr>
          <a:xfrm>
            <a:off x="8206740" y="1932940"/>
            <a:ext cx="45720" cy="45720"/>
          </a:xfrm>
          <a:prstGeom prst="ellipse">
            <a:avLst/>
          </a:prstGeom>
          <a:solidFill>
            <a:srgbClr val="9CC9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31" name="TextBox 115"/>
          <p:cNvSpPr txBox="1"/>
          <p:nvPr/>
        </p:nvSpPr>
        <p:spPr>
          <a:xfrm>
            <a:off x="8331200" y="1905000"/>
            <a:ext cx="889000" cy="127000"/>
          </a:xfrm>
          <a:prstGeom prst="rect">
            <a:avLst/>
          </a:prstGeom>
        </p:spPr>
        <p:txBody>
          <a:bodyPr wrap="square" lIns="0" tIns="0" rIns="0" bIns="0">
            <a:noAutofit/>
          </a:bodyPr>
          <a:lstStyle/>
          <a:p>
            <a:pPr>
              <a:lnSpc>
                <a:spcPct val="135000"/>
              </a:lnSpc>
            </a:pPr>
            <a:r>
              <a:rPr sz="460" spc="0">
                <a:solidFill>
                  <a:srgbClr val="67676E"/>
                </a:solidFill>
                <a:latin typeface="Telegraf"/>
              </a:rPr>
              <a:t>neutral</a:t>
            </a:r>
            <a:endParaRPr sz="460" spc="0">
              <a:solidFill>
                <a:srgbClr val="67676E"/>
              </a:solidFill>
              <a:latin typeface="Telegraf"/>
            </a:endParaRPr>
          </a:p>
        </p:txBody>
      </p:sp>
      <p:sp>
        <p:nvSpPr>
          <p:cNvPr id="2132" name="TextBox 116"/>
          <p:cNvSpPr txBox="1"/>
          <p:nvPr/>
        </p:nvSpPr>
        <p:spPr>
          <a:xfrm>
            <a:off x="9118600" y="1905000"/>
            <a:ext cx="381000" cy="127000"/>
          </a:xfrm>
          <a:prstGeom prst="rect">
            <a:avLst/>
          </a:prstGeom>
        </p:spPr>
        <p:txBody>
          <a:bodyPr wrap="square" lIns="0" tIns="0" rIns="0" bIns="0">
            <a:noAutofit/>
          </a:bodyPr>
          <a:lstStyle/>
          <a:p>
            <a:pPr algn="r">
              <a:lnSpc>
                <a:spcPct val="135000"/>
              </a:lnSpc>
            </a:pPr>
            <a:r>
              <a:rPr sz="480" b="1" spc="0">
                <a:solidFill>
                  <a:srgbClr val="0A0A0A"/>
                </a:solidFill>
                <a:latin typeface="Telegraf"/>
              </a:rPr>
              <a:t>26%</a:t>
            </a:r>
            <a:endParaRPr sz="480" b="1" spc="0">
              <a:solidFill>
                <a:srgbClr val="0A0A0A"/>
              </a:solidFill>
              <a:latin typeface="Telegraf"/>
            </a:endParaRPr>
          </a:p>
        </p:txBody>
      </p:sp>
      <p:sp>
        <p:nvSpPr>
          <p:cNvPr id="2133" name="Oval 117"/>
          <p:cNvSpPr/>
          <p:nvPr/>
        </p:nvSpPr>
        <p:spPr>
          <a:xfrm>
            <a:off x="6403340" y="2212340"/>
            <a:ext cx="45720" cy="4572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34" name="TextBox 118"/>
          <p:cNvSpPr txBox="1"/>
          <p:nvPr/>
        </p:nvSpPr>
        <p:spPr>
          <a:xfrm>
            <a:off x="6527800" y="2184400"/>
            <a:ext cx="889000" cy="127000"/>
          </a:xfrm>
          <a:prstGeom prst="rect">
            <a:avLst/>
          </a:prstGeom>
        </p:spPr>
        <p:txBody>
          <a:bodyPr wrap="square" lIns="0" tIns="0" rIns="0" bIns="0">
            <a:noAutofit/>
          </a:bodyPr>
          <a:lstStyle/>
          <a:p>
            <a:pPr>
              <a:lnSpc>
                <a:spcPct val="135000"/>
              </a:lnSpc>
            </a:pPr>
            <a:r>
              <a:rPr sz="460" spc="0">
                <a:solidFill>
                  <a:srgbClr val="67676E"/>
                </a:solidFill>
                <a:latin typeface="Telegraf"/>
              </a:rPr>
              <a:t>frustrated</a:t>
            </a:r>
            <a:endParaRPr sz="460" spc="0">
              <a:solidFill>
                <a:srgbClr val="67676E"/>
              </a:solidFill>
              <a:latin typeface="Telegraf"/>
            </a:endParaRPr>
          </a:p>
        </p:txBody>
      </p:sp>
      <p:sp>
        <p:nvSpPr>
          <p:cNvPr id="2135" name="TextBox 119"/>
          <p:cNvSpPr txBox="1"/>
          <p:nvPr/>
        </p:nvSpPr>
        <p:spPr>
          <a:xfrm>
            <a:off x="7315200" y="2184400"/>
            <a:ext cx="381000" cy="127000"/>
          </a:xfrm>
          <a:prstGeom prst="rect">
            <a:avLst/>
          </a:prstGeom>
        </p:spPr>
        <p:txBody>
          <a:bodyPr wrap="square" lIns="0" tIns="0" rIns="0" bIns="0">
            <a:noAutofit/>
          </a:bodyPr>
          <a:lstStyle/>
          <a:p>
            <a:pPr algn="r">
              <a:lnSpc>
                <a:spcPct val="135000"/>
              </a:lnSpc>
            </a:pPr>
            <a:r>
              <a:rPr sz="480" b="1" spc="0">
                <a:solidFill>
                  <a:srgbClr val="0A0A0A"/>
                </a:solidFill>
                <a:latin typeface="Telegraf"/>
              </a:rPr>
              <a:t>12%</a:t>
            </a:r>
            <a:endParaRPr sz="480" b="1" spc="0">
              <a:solidFill>
                <a:srgbClr val="0A0A0A"/>
              </a:solidFill>
              <a:latin typeface="Telegraf"/>
            </a:endParaRPr>
          </a:p>
        </p:txBody>
      </p:sp>
      <p:sp>
        <p:nvSpPr>
          <p:cNvPr id="2136" name="Oval 120"/>
          <p:cNvSpPr/>
          <p:nvPr/>
        </p:nvSpPr>
        <p:spPr>
          <a:xfrm>
            <a:off x="8206740" y="2212340"/>
            <a:ext cx="45720" cy="4572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37" name="TextBox 121"/>
          <p:cNvSpPr txBox="1"/>
          <p:nvPr/>
        </p:nvSpPr>
        <p:spPr>
          <a:xfrm>
            <a:off x="8331200" y="2184400"/>
            <a:ext cx="889000" cy="127000"/>
          </a:xfrm>
          <a:prstGeom prst="rect">
            <a:avLst/>
          </a:prstGeom>
        </p:spPr>
        <p:txBody>
          <a:bodyPr wrap="square" lIns="0" tIns="0" rIns="0" bIns="0">
            <a:noAutofit/>
          </a:bodyPr>
          <a:lstStyle/>
          <a:p>
            <a:pPr>
              <a:lnSpc>
                <a:spcPct val="135000"/>
              </a:lnSpc>
            </a:pPr>
            <a:r>
              <a:rPr sz="460" spc="0">
                <a:solidFill>
                  <a:srgbClr val="67676E"/>
                </a:solidFill>
                <a:latin typeface="Telegraf"/>
              </a:rPr>
              <a:t>distressed</a:t>
            </a:r>
            <a:endParaRPr sz="460" spc="0">
              <a:solidFill>
                <a:srgbClr val="67676E"/>
              </a:solidFill>
              <a:latin typeface="Telegraf"/>
            </a:endParaRPr>
          </a:p>
        </p:txBody>
      </p:sp>
      <p:sp>
        <p:nvSpPr>
          <p:cNvPr id="2138" name="TextBox 122"/>
          <p:cNvSpPr txBox="1"/>
          <p:nvPr/>
        </p:nvSpPr>
        <p:spPr>
          <a:xfrm>
            <a:off x="9118600" y="2184400"/>
            <a:ext cx="381000" cy="127000"/>
          </a:xfrm>
          <a:prstGeom prst="rect">
            <a:avLst/>
          </a:prstGeom>
        </p:spPr>
        <p:txBody>
          <a:bodyPr wrap="square" lIns="0" tIns="0" rIns="0" bIns="0">
            <a:noAutofit/>
          </a:bodyPr>
          <a:lstStyle/>
          <a:p>
            <a:pPr algn="r">
              <a:lnSpc>
                <a:spcPct val="135000"/>
              </a:lnSpc>
            </a:pPr>
            <a:r>
              <a:rPr sz="480" b="1" spc="0">
                <a:solidFill>
                  <a:srgbClr val="0A0A0A"/>
                </a:solidFill>
                <a:latin typeface="Telegraf"/>
              </a:rPr>
              <a:t>4%</a:t>
            </a:r>
            <a:endParaRPr sz="480" b="1" spc="0">
              <a:solidFill>
                <a:srgbClr val="0A0A0A"/>
              </a:solidFill>
              <a:latin typeface="Telegraf"/>
            </a:endParaRPr>
          </a:p>
        </p:txBody>
      </p:sp>
      <p:sp>
        <p:nvSpPr>
          <p:cNvPr id="2139" name="TextBox 123"/>
          <p:cNvSpPr txBox="1"/>
          <p:nvPr/>
        </p:nvSpPr>
        <p:spPr>
          <a:xfrm>
            <a:off x="6400800" y="2540000"/>
            <a:ext cx="3530600" cy="304800"/>
          </a:xfrm>
          <a:prstGeom prst="rect">
            <a:avLst/>
          </a:prstGeom>
        </p:spPr>
        <p:txBody>
          <a:bodyPr wrap="square" lIns="0" tIns="0" rIns="0" bIns="0">
            <a:noAutofit/>
          </a:bodyPr>
          <a:lstStyle/>
          <a:p>
            <a:pPr>
              <a:lnSpc>
                <a:spcPct val="135000"/>
              </a:lnSpc>
            </a:pPr>
            <a:r>
              <a:rPr sz="430" spc="0">
                <a:solidFill>
                  <a:srgbClr val="A2A2A8"/>
                </a:solidFill>
                <a:latin typeface="Telegraf"/>
              </a:rPr>
              <a:t>Tickets counted once by their first sentiment — a reply does not vote twice.</a:t>
            </a:r>
            <a:endParaRPr sz="430" spc="0">
              <a:solidFill>
                <a:srgbClr val="A2A2A8"/>
              </a:solidFill>
              <a:latin typeface="Telegraf"/>
            </a:endParaRPr>
          </a:p>
        </p:txBody>
      </p:sp>
      <p:sp>
        <p:nvSpPr>
          <p:cNvPr id="2140" name="Rectangle 124"/>
          <p:cNvSpPr/>
          <p:nvPr/>
        </p:nvSpPr>
        <p:spPr>
          <a:xfrm>
            <a:off x="6223000" y="3098800"/>
            <a:ext cx="3886200" cy="1930400"/>
          </a:xfrm>
          <a:custGeom>
            <a:avLst/>
            <a:gdLst/>
            <a:ahLst/>
            <a:cxnLst/>
            <a:rect l="l" t="t" r="r" b="b"/>
            <a:pathLst>
              <a:path w="100000" h="49673">
                <a:moveTo>
                  <a:pt x="92157" y="0"/>
                </a:moveTo>
                <a:cubicBezTo>
                  <a:pt x="95854" y="0"/>
                  <a:pt x="97703" y="0"/>
                  <a:pt x="98851" y="1149"/>
                </a:cubicBezTo>
                <a:cubicBezTo>
                  <a:pt x="98851" y="1149"/>
                  <a:pt x="98851" y="1149"/>
                  <a:pt x="98851" y="1149"/>
                </a:cubicBezTo>
                <a:cubicBezTo>
                  <a:pt x="100000" y="2297"/>
                  <a:pt x="100000" y="4146"/>
                  <a:pt x="100000" y="7843"/>
                </a:cubicBezTo>
                <a:lnTo>
                  <a:pt x="100000" y="41830"/>
                </a:lnTo>
                <a:cubicBezTo>
                  <a:pt x="100000" y="45527"/>
                  <a:pt x="100000" y="47376"/>
                  <a:pt x="98851" y="48525"/>
                </a:cubicBezTo>
                <a:cubicBezTo>
                  <a:pt x="98851" y="48525"/>
                  <a:pt x="98851" y="48525"/>
                  <a:pt x="98851" y="48525"/>
                </a:cubicBezTo>
                <a:cubicBezTo>
                  <a:pt x="97703" y="49673"/>
                  <a:pt x="95854" y="49673"/>
                  <a:pt x="92157" y="49673"/>
                </a:cubicBezTo>
                <a:lnTo>
                  <a:pt x="7843" y="49673"/>
                </a:lnTo>
                <a:cubicBezTo>
                  <a:pt x="4146" y="49673"/>
                  <a:pt x="2297" y="49673"/>
                  <a:pt x="1149" y="48525"/>
                </a:cubicBezTo>
                <a:cubicBezTo>
                  <a:pt x="1149" y="48525"/>
                  <a:pt x="1149" y="48525"/>
                  <a:pt x="1149" y="48525"/>
                </a:cubicBezTo>
                <a:cubicBezTo>
                  <a:pt x="0" y="47376"/>
                  <a:pt x="0" y="45527"/>
                  <a:pt x="0" y="41830"/>
                </a:cubicBezTo>
                <a:lnTo>
                  <a:pt x="0" y="7843"/>
                </a:lnTo>
                <a:cubicBezTo>
                  <a:pt x="0" y="4146"/>
                  <a:pt x="0" y="2297"/>
                  <a:pt x="1149" y="1149"/>
                </a:cubicBezTo>
                <a:cubicBezTo>
                  <a:pt x="1149" y="1149"/>
                  <a:pt x="1149" y="1149"/>
                  <a:pt x="1149" y="1149"/>
                </a:cubicBezTo>
                <a:cubicBezTo>
                  <a:pt x="2297" y="0"/>
                  <a:pt x="4146" y="0"/>
                  <a:pt x="7843"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41" name="TextBox 125"/>
          <p:cNvSpPr txBox="1"/>
          <p:nvPr/>
        </p:nvSpPr>
        <p:spPr>
          <a:xfrm>
            <a:off x="6400800" y="3225800"/>
            <a:ext cx="2794000" cy="114300"/>
          </a:xfrm>
          <a:prstGeom prst="rect">
            <a:avLst/>
          </a:prstGeom>
        </p:spPr>
        <p:txBody>
          <a:bodyPr wrap="square" lIns="0" tIns="0" rIns="0" bIns="0">
            <a:noAutofit/>
          </a:bodyPr>
          <a:lstStyle/>
          <a:p>
            <a:r>
              <a:rPr sz="450" b="1" spc="105">
                <a:solidFill>
                  <a:srgbClr val="A2A2A8"/>
                </a:solidFill>
                <a:latin typeface="Telegraf"/>
              </a:rPr>
              <a:t>RECURRING COMPLAINTS  ·  BY INTENT</a:t>
            </a:r>
            <a:endParaRPr sz="450" b="1" spc="105">
              <a:solidFill>
                <a:srgbClr val="A2A2A8"/>
              </a:solidFill>
              <a:latin typeface="Telegraf"/>
            </a:endParaRPr>
          </a:p>
        </p:txBody>
      </p:sp>
      <p:sp>
        <p:nvSpPr>
          <p:cNvPr id="2142" name="TextBox 126"/>
          <p:cNvSpPr txBox="1"/>
          <p:nvPr/>
        </p:nvSpPr>
        <p:spPr>
          <a:xfrm>
            <a:off x="6400800" y="3454400"/>
            <a:ext cx="1524000" cy="127000"/>
          </a:xfrm>
          <a:prstGeom prst="rect">
            <a:avLst/>
          </a:prstGeom>
        </p:spPr>
        <p:txBody>
          <a:bodyPr wrap="square" lIns="0" tIns="0" rIns="0" bIns="0">
            <a:noAutofit/>
          </a:bodyPr>
          <a:lstStyle/>
          <a:p>
            <a:pPr>
              <a:lnSpc>
                <a:spcPct val="135000"/>
              </a:lnSpc>
            </a:pPr>
            <a:r>
              <a:rPr sz="480" spc="0">
                <a:solidFill>
                  <a:srgbClr val="0A0A0A"/>
                </a:solidFill>
                <a:latin typeface="Telegraf"/>
              </a:rPr>
              <a:t>refund_policy</a:t>
            </a:r>
            <a:endParaRPr sz="480" spc="0">
              <a:solidFill>
                <a:srgbClr val="0A0A0A"/>
              </a:solidFill>
              <a:latin typeface="Telegraf"/>
            </a:endParaRPr>
          </a:p>
        </p:txBody>
      </p:sp>
      <p:sp>
        <p:nvSpPr>
          <p:cNvPr id="2143" name="TextBox 127"/>
          <p:cNvSpPr txBox="1"/>
          <p:nvPr/>
        </p:nvSpPr>
        <p:spPr>
          <a:xfrm>
            <a:off x="7874000" y="3454400"/>
            <a:ext cx="304800" cy="127000"/>
          </a:xfrm>
          <a:prstGeom prst="rect">
            <a:avLst/>
          </a:prstGeom>
        </p:spPr>
        <p:txBody>
          <a:bodyPr wrap="square" lIns="0" tIns="0" rIns="0" bIns="0">
            <a:noAutofit/>
          </a:bodyPr>
          <a:lstStyle/>
          <a:p>
            <a:pPr>
              <a:lnSpc>
                <a:spcPct val="135000"/>
              </a:lnSpc>
            </a:pPr>
            <a:r>
              <a:rPr sz="480" b="1" spc="0">
                <a:solidFill>
                  <a:srgbClr val="0E6B5F"/>
                </a:solidFill>
                <a:latin typeface="Telegraf"/>
              </a:rPr>
              <a:t>×11</a:t>
            </a:r>
            <a:endParaRPr sz="480" b="1" spc="0">
              <a:solidFill>
                <a:srgbClr val="0E6B5F"/>
              </a:solidFill>
              <a:latin typeface="Telegraf"/>
            </a:endParaRPr>
          </a:p>
        </p:txBody>
      </p:sp>
      <p:sp>
        <p:nvSpPr>
          <p:cNvPr id="2144" name="Rectangle 128"/>
          <p:cNvSpPr/>
          <p:nvPr/>
        </p:nvSpPr>
        <p:spPr>
          <a:xfrm>
            <a:off x="6400800" y="3606800"/>
            <a:ext cx="3530600" cy="38100"/>
          </a:xfrm>
          <a:custGeom>
            <a:avLst/>
            <a:gdLst/>
            <a:ahLst/>
            <a:cxnLst/>
            <a:rect l="l" t="t" r="r" b="b"/>
            <a:pathLst>
              <a:path w="100000" h="1079">
                <a:moveTo>
                  <a:pt x="99460" y="0"/>
                </a:moveTo>
                <a:cubicBezTo>
                  <a:pt x="99460" y="0"/>
                  <a:pt x="99460" y="0"/>
                  <a:pt x="99460" y="0"/>
                </a:cubicBezTo>
                <a:cubicBezTo>
                  <a:pt x="99758" y="0"/>
                  <a:pt x="100000" y="242"/>
                  <a:pt x="100000" y="540"/>
                </a:cubicBezTo>
                <a:cubicBezTo>
                  <a:pt x="100000" y="540"/>
                  <a:pt x="100000" y="540"/>
                  <a:pt x="100000" y="540"/>
                </a:cubicBezTo>
                <a:lnTo>
                  <a:pt x="100000" y="540"/>
                </a:lnTo>
                <a:cubicBezTo>
                  <a:pt x="100000" y="540"/>
                  <a:pt x="100000" y="540"/>
                  <a:pt x="100000" y="540"/>
                </a:cubicBezTo>
                <a:cubicBezTo>
                  <a:pt x="100000" y="837"/>
                  <a:pt x="99758" y="1079"/>
                  <a:pt x="99460" y="1079"/>
                </a:cubicBezTo>
                <a:cubicBezTo>
                  <a:pt x="99460" y="1079"/>
                  <a:pt x="99460" y="1079"/>
                  <a:pt x="99460" y="1079"/>
                </a:cubicBezTo>
                <a:lnTo>
                  <a:pt x="540" y="1079"/>
                </a:lnTo>
                <a:cubicBezTo>
                  <a:pt x="540" y="1079"/>
                  <a:pt x="540" y="1079"/>
                  <a:pt x="540" y="1079"/>
                </a:cubicBezTo>
                <a:cubicBezTo>
                  <a:pt x="242" y="1079"/>
                  <a:pt x="0" y="837"/>
                  <a:pt x="0" y="540"/>
                </a:cubicBezTo>
                <a:cubicBezTo>
                  <a:pt x="0" y="540"/>
                  <a:pt x="0" y="540"/>
                  <a:pt x="0" y="540"/>
                </a:cubicBezTo>
                <a:lnTo>
                  <a:pt x="0" y="540"/>
                </a:lnTo>
                <a:cubicBezTo>
                  <a:pt x="0" y="540"/>
                  <a:pt x="0" y="540"/>
                  <a:pt x="0" y="540"/>
                </a:cubicBezTo>
                <a:cubicBezTo>
                  <a:pt x="0" y="242"/>
                  <a:pt x="242" y="0"/>
                  <a:pt x="540" y="0"/>
                </a:cubicBezTo>
                <a:cubicBezTo>
                  <a:pt x="540" y="0"/>
                  <a:pt x="540" y="0"/>
                  <a:pt x="540"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45" name="Rectangle 129"/>
          <p:cNvSpPr/>
          <p:nvPr/>
        </p:nvSpPr>
        <p:spPr>
          <a:xfrm>
            <a:off x="6400800" y="3606800"/>
            <a:ext cx="3530600" cy="38100"/>
          </a:xfrm>
          <a:custGeom>
            <a:avLst/>
            <a:gdLst/>
            <a:ahLst/>
            <a:cxnLst/>
            <a:rect l="l" t="t" r="r" b="b"/>
            <a:pathLst>
              <a:path w="100000" h="1079">
                <a:moveTo>
                  <a:pt x="99460" y="0"/>
                </a:moveTo>
                <a:cubicBezTo>
                  <a:pt x="99460" y="0"/>
                  <a:pt x="99460" y="0"/>
                  <a:pt x="99460" y="0"/>
                </a:cubicBezTo>
                <a:cubicBezTo>
                  <a:pt x="99758" y="0"/>
                  <a:pt x="100000" y="242"/>
                  <a:pt x="100000" y="540"/>
                </a:cubicBezTo>
                <a:cubicBezTo>
                  <a:pt x="100000" y="540"/>
                  <a:pt x="100000" y="540"/>
                  <a:pt x="100000" y="540"/>
                </a:cubicBezTo>
                <a:lnTo>
                  <a:pt x="100000" y="540"/>
                </a:lnTo>
                <a:cubicBezTo>
                  <a:pt x="100000" y="540"/>
                  <a:pt x="100000" y="540"/>
                  <a:pt x="100000" y="540"/>
                </a:cubicBezTo>
                <a:cubicBezTo>
                  <a:pt x="100000" y="837"/>
                  <a:pt x="99758" y="1079"/>
                  <a:pt x="99460" y="1079"/>
                </a:cubicBezTo>
                <a:cubicBezTo>
                  <a:pt x="99460" y="1079"/>
                  <a:pt x="99460" y="1079"/>
                  <a:pt x="99460" y="1079"/>
                </a:cubicBezTo>
                <a:lnTo>
                  <a:pt x="540" y="1079"/>
                </a:lnTo>
                <a:cubicBezTo>
                  <a:pt x="540" y="1079"/>
                  <a:pt x="540" y="1079"/>
                  <a:pt x="540" y="1079"/>
                </a:cubicBezTo>
                <a:cubicBezTo>
                  <a:pt x="242" y="1079"/>
                  <a:pt x="0" y="837"/>
                  <a:pt x="0" y="540"/>
                </a:cubicBezTo>
                <a:cubicBezTo>
                  <a:pt x="0" y="540"/>
                  <a:pt x="0" y="540"/>
                  <a:pt x="0" y="540"/>
                </a:cubicBezTo>
                <a:lnTo>
                  <a:pt x="0" y="540"/>
                </a:lnTo>
                <a:cubicBezTo>
                  <a:pt x="0" y="540"/>
                  <a:pt x="0" y="540"/>
                  <a:pt x="0" y="540"/>
                </a:cubicBezTo>
                <a:cubicBezTo>
                  <a:pt x="0" y="242"/>
                  <a:pt x="242" y="0"/>
                  <a:pt x="540" y="0"/>
                </a:cubicBezTo>
                <a:cubicBezTo>
                  <a:pt x="540" y="0"/>
                  <a:pt x="540" y="0"/>
                  <a:pt x="540"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46" name="TextBox 130"/>
          <p:cNvSpPr txBox="1"/>
          <p:nvPr/>
        </p:nvSpPr>
        <p:spPr>
          <a:xfrm>
            <a:off x="6400800" y="3835400"/>
            <a:ext cx="1524000" cy="127000"/>
          </a:xfrm>
          <a:prstGeom prst="rect">
            <a:avLst/>
          </a:prstGeom>
        </p:spPr>
        <p:txBody>
          <a:bodyPr wrap="square" lIns="0" tIns="0" rIns="0" bIns="0">
            <a:noAutofit/>
          </a:bodyPr>
          <a:lstStyle/>
          <a:p>
            <a:pPr>
              <a:lnSpc>
                <a:spcPct val="135000"/>
              </a:lnSpc>
            </a:pPr>
            <a:r>
              <a:rPr sz="480" spc="0">
                <a:solidFill>
                  <a:srgbClr val="0A0A0A"/>
                </a:solidFill>
                <a:latin typeface="Telegraf"/>
              </a:rPr>
              <a:t>delivery_eta</a:t>
            </a:r>
            <a:endParaRPr sz="480" spc="0">
              <a:solidFill>
                <a:srgbClr val="0A0A0A"/>
              </a:solidFill>
              <a:latin typeface="Telegraf"/>
            </a:endParaRPr>
          </a:p>
        </p:txBody>
      </p:sp>
      <p:sp>
        <p:nvSpPr>
          <p:cNvPr id="2147" name="TextBox 131"/>
          <p:cNvSpPr txBox="1"/>
          <p:nvPr/>
        </p:nvSpPr>
        <p:spPr>
          <a:xfrm>
            <a:off x="7874000" y="3835400"/>
            <a:ext cx="304800" cy="127000"/>
          </a:xfrm>
          <a:prstGeom prst="rect">
            <a:avLst/>
          </a:prstGeom>
        </p:spPr>
        <p:txBody>
          <a:bodyPr wrap="square" lIns="0" tIns="0" rIns="0" bIns="0">
            <a:noAutofit/>
          </a:bodyPr>
          <a:lstStyle/>
          <a:p>
            <a:pPr>
              <a:lnSpc>
                <a:spcPct val="135000"/>
              </a:lnSpc>
            </a:pPr>
            <a:r>
              <a:rPr sz="480" b="1" spc="0">
                <a:solidFill>
                  <a:srgbClr val="0E6B5F"/>
                </a:solidFill>
                <a:latin typeface="Telegraf"/>
              </a:rPr>
              <a:t>×8</a:t>
            </a:r>
            <a:endParaRPr sz="480" b="1" spc="0">
              <a:solidFill>
                <a:srgbClr val="0E6B5F"/>
              </a:solidFill>
              <a:latin typeface="Telegraf"/>
            </a:endParaRPr>
          </a:p>
        </p:txBody>
      </p:sp>
      <p:sp>
        <p:nvSpPr>
          <p:cNvPr id="2148" name="Rectangle 132"/>
          <p:cNvSpPr/>
          <p:nvPr/>
        </p:nvSpPr>
        <p:spPr>
          <a:xfrm>
            <a:off x="6400800" y="3987800"/>
            <a:ext cx="3530600" cy="38100"/>
          </a:xfrm>
          <a:custGeom>
            <a:avLst/>
            <a:gdLst/>
            <a:ahLst/>
            <a:cxnLst/>
            <a:rect l="l" t="t" r="r" b="b"/>
            <a:pathLst>
              <a:path w="100000" h="1079">
                <a:moveTo>
                  <a:pt x="99460" y="0"/>
                </a:moveTo>
                <a:cubicBezTo>
                  <a:pt x="99460" y="0"/>
                  <a:pt x="99460" y="0"/>
                  <a:pt x="99460" y="0"/>
                </a:cubicBezTo>
                <a:cubicBezTo>
                  <a:pt x="99758" y="0"/>
                  <a:pt x="100000" y="242"/>
                  <a:pt x="100000" y="540"/>
                </a:cubicBezTo>
                <a:cubicBezTo>
                  <a:pt x="100000" y="540"/>
                  <a:pt x="100000" y="540"/>
                  <a:pt x="100000" y="540"/>
                </a:cubicBezTo>
                <a:lnTo>
                  <a:pt x="100000" y="540"/>
                </a:lnTo>
                <a:cubicBezTo>
                  <a:pt x="100000" y="540"/>
                  <a:pt x="100000" y="540"/>
                  <a:pt x="100000" y="540"/>
                </a:cubicBezTo>
                <a:cubicBezTo>
                  <a:pt x="100000" y="837"/>
                  <a:pt x="99758" y="1079"/>
                  <a:pt x="99460" y="1079"/>
                </a:cubicBezTo>
                <a:cubicBezTo>
                  <a:pt x="99460" y="1079"/>
                  <a:pt x="99460" y="1079"/>
                  <a:pt x="99460" y="1079"/>
                </a:cubicBezTo>
                <a:lnTo>
                  <a:pt x="540" y="1079"/>
                </a:lnTo>
                <a:cubicBezTo>
                  <a:pt x="540" y="1079"/>
                  <a:pt x="540" y="1079"/>
                  <a:pt x="540" y="1079"/>
                </a:cubicBezTo>
                <a:cubicBezTo>
                  <a:pt x="242" y="1079"/>
                  <a:pt x="0" y="837"/>
                  <a:pt x="0" y="540"/>
                </a:cubicBezTo>
                <a:cubicBezTo>
                  <a:pt x="0" y="540"/>
                  <a:pt x="0" y="540"/>
                  <a:pt x="0" y="540"/>
                </a:cubicBezTo>
                <a:lnTo>
                  <a:pt x="0" y="540"/>
                </a:lnTo>
                <a:cubicBezTo>
                  <a:pt x="0" y="540"/>
                  <a:pt x="0" y="540"/>
                  <a:pt x="0" y="540"/>
                </a:cubicBezTo>
                <a:cubicBezTo>
                  <a:pt x="0" y="242"/>
                  <a:pt x="242" y="0"/>
                  <a:pt x="540" y="0"/>
                </a:cubicBezTo>
                <a:cubicBezTo>
                  <a:pt x="540" y="0"/>
                  <a:pt x="540" y="0"/>
                  <a:pt x="540"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49" name="Rectangle 133"/>
          <p:cNvSpPr/>
          <p:nvPr/>
        </p:nvSpPr>
        <p:spPr>
          <a:xfrm>
            <a:off x="6400800" y="3987800"/>
            <a:ext cx="2542032" cy="38100"/>
          </a:xfrm>
          <a:custGeom>
            <a:avLst/>
            <a:gdLst/>
            <a:ahLst/>
            <a:cxnLst/>
            <a:rect l="l" t="t" r="r" b="b"/>
            <a:pathLst>
              <a:path w="100000" h="1499">
                <a:moveTo>
                  <a:pt x="99251" y="0"/>
                </a:moveTo>
                <a:cubicBezTo>
                  <a:pt x="99251" y="0"/>
                  <a:pt x="99251" y="0"/>
                  <a:pt x="99251" y="0"/>
                </a:cubicBezTo>
                <a:cubicBezTo>
                  <a:pt x="99664" y="0"/>
                  <a:pt x="100000" y="336"/>
                  <a:pt x="100000" y="749"/>
                </a:cubicBezTo>
                <a:cubicBezTo>
                  <a:pt x="100000" y="749"/>
                  <a:pt x="100000" y="749"/>
                  <a:pt x="100000" y="749"/>
                </a:cubicBezTo>
                <a:lnTo>
                  <a:pt x="100000" y="749"/>
                </a:lnTo>
                <a:cubicBezTo>
                  <a:pt x="100000" y="749"/>
                  <a:pt x="100000" y="749"/>
                  <a:pt x="100000" y="749"/>
                </a:cubicBezTo>
                <a:cubicBezTo>
                  <a:pt x="100000" y="1163"/>
                  <a:pt x="99664" y="1499"/>
                  <a:pt x="99251" y="1499"/>
                </a:cubicBezTo>
                <a:cubicBezTo>
                  <a:pt x="99251" y="1499"/>
                  <a:pt x="99251" y="1499"/>
                  <a:pt x="99251" y="1499"/>
                </a:cubicBezTo>
                <a:lnTo>
                  <a:pt x="749" y="1499"/>
                </a:lnTo>
                <a:cubicBezTo>
                  <a:pt x="749" y="1499"/>
                  <a:pt x="749" y="1499"/>
                  <a:pt x="749" y="1499"/>
                </a:cubicBezTo>
                <a:cubicBezTo>
                  <a:pt x="336" y="1499"/>
                  <a:pt x="0" y="1163"/>
                  <a:pt x="0" y="749"/>
                </a:cubicBezTo>
                <a:cubicBezTo>
                  <a:pt x="0" y="749"/>
                  <a:pt x="0" y="749"/>
                  <a:pt x="0" y="749"/>
                </a:cubicBezTo>
                <a:lnTo>
                  <a:pt x="0" y="749"/>
                </a:lnTo>
                <a:cubicBezTo>
                  <a:pt x="0" y="749"/>
                  <a:pt x="0" y="749"/>
                  <a:pt x="0" y="749"/>
                </a:cubicBezTo>
                <a:cubicBezTo>
                  <a:pt x="0" y="336"/>
                  <a:pt x="336" y="0"/>
                  <a:pt x="749" y="0"/>
                </a:cubicBezTo>
                <a:cubicBezTo>
                  <a:pt x="749" y="0"/>
                  <a:pt x="749" y="0"/>
                  <a:pt x="749"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50" name="TextBox 134"/>
          <p:cNvSpPr txBox="1"/>
          <p:nvPr/>
        </p:nvSpPr>
        <p:spPr>
          <a:xfrm>
            <a:off x="6400800" y="4216400"/>
            <a:ext cx="1524000" cy="127000"/>
          </a:xfrm>
          <a:prstGeom prst="rect">
            <a:avLst/>
          </a:prstGeom>
        </p:spPr>
        <p:txBody>
          <a:bodyPr wrap="square" lIns="0" tIns="0" rIns="0" bIns="0">
            <a:noAutofit/>
          </a:bodyPr>
          <a:lstStyle/>
          <a:p>
            <a:pPr>
              <a:lnSpc>
                <a:spcPct val="135000"/>
              </a:lnSpc>
            </a:pPr>
            <a:r>
              <a:rPr sz="480" spc="0">
                <a:solidFill>
                  <a:srgbClr val="0A0A0A"/>
                </a:solidFill>
                <a:latin typeface="Telegraf"/>
              </a:rPr>
              <a:t>gst_invoice</a:t>
            </a:r>
            <a:endParaRPr sz="480" spc="0">
              <a:solidFill>
                <a:srgbClr val="0A0A0A"/>
              </a:solidFill>
              <a:latin typeface="Telegraf"/>
            </a:endParaRPr>
          </a:p>
        </p:txBody>
      </p:sp>
      <p:sp>
        <p:nvSpPr>
          <p:cNvPr id="2151" name="TextBox 135"/>
          <p:cNvSpPr txBox="1"/>
          <p:nvPr/>
        </p:nvSpPr>
        <p:spPr>
          <a:xfrm>
            <a:off x="7874000" y="4216400"/>
            <a:ext cx="304800" cy="127000"/>
          </a:xfrm>
          <a:prstGeom prst="rect">
            <a:avLst/>
          </a:prstGeom>
        </p:spPr>
        <p:txBody>
          <a:bodyPr wrap="square" lIns="0" tIns="0" rIns="0" bIns="0">
            <a:noAutofit/>
          </a:bodyPr>
          <a:lstStyle/>
          <a:p>
            <a:pPr>
              <a:lnSpc>
                <a:spcPct val="135000"/>
              </a:lnSpc>
            </a:pPr>
            <a:r>
              <a:rPr sz="480" b="1" spc="0">
                <a:solidFill>
                  <a:srgbClr val="0E6B5F"/>
                </a:solidFill>
                <a:latin typeface="Telegraf"/>
              </a:rPr>
              <a:t>×5</a:t>
            </a:r>
            <a:endParaRPr sz="480" b="1" spc="0">
              <a:solidFill>
                <a:srgbClr val="0E6B5F"/>
              </a:solidFill>
              <a:latin typeface="Telegraf"/>
            </a:endParaRPr>
          </a:p>
        </p:txBody>
      </p:sp>
      <p:sp>
        <p:nvSpPr>
          <p:cNvPr id="2152" name="Rectangle 136"/>
          <p:cNvSpPr/>
          <p:nvPr/>
        </p:nvSpPr>
        <p:spPr>
          <a:xfrm>
            <a:off x="6400800" y="4368800"/>
            <a:ext cx="3530600" cy="38100"/>
          </a:xfrm>
          <a:custGeom>
            <a:avLst/>
            <a:gdLst/>
            <a:ahLst/>
            <a:cxnLst/>
            <a:rect l="l" t="t" r="r" b="b"/>
            <a:pathLst>
              <a:path w="100000" h="1079">
                <a:moveTo>
                  <a:pt x="99460" y="0"/>
                </a:moveTo>
                <a:cubicBezTo>
                  <a:pt x="99460" y="0"/>
                  <a:pt x="99460" y="0"/>
                  <a:pt x="99460" y="0"/>
                </a:cubicBezTo>
                <a:cubicBezTo>
                  <a:pt x="99758" y="0"/>
                  <a:pt x="100000" y="242"/>
                  <a:pt x="100000" y="540"/>
                </a:cubicBezTo>
                <a:cubicBezTo>
                  <a:pt x="100000" y="540"/>
                  <a:pt x="100000" y="540"/>
                  <a:pt x="100000" y="540"/>
                </a:cubicBezTo>
                <a:lnTo>
                  <a:pt x="100000" y="540"/>
                </a:lnTo>
                <a:cubicBezTo>
                  <a:pt x="100000" y="540"/>
                  <a:pt x="100000" y="540"/>
                  <a:pt x="100000" y="540"/>
                </a:cubicBezTo>
                <a:cubicBezTo>
                  <a:pt x="100000" y="837"/>
                  <a:pt x="99758" y="1079"/>
                  <a:pt x="99460" y="1079"/>
                </a:cubicBezTo>
                <a:cubicBezTo>
                  <a:pt x="99460" y="1079"/>
                  <a:pt x="99460" y="1079"/>
                  <a:pt x="99460" y="1079"/>
                </a:cubicBezTo>
                <a:lnTo>
                  <a:pt x="540" y="1079"/>
                </a:lnTo>
                <a:cubicBezTo>
                  <a:pt x="540" y="1079"/>
                  <a:pt x="540" y="1079"/>
                  <a:pt x="540" y="1079"/>
                </a:cubicBezTo>
                <a:cubicBezTo>
                  <a:pt x="242" y="1079"/>
                  <a:pt x="0" y="837"/>
                  <a:pt x="0" y="540"/>
                </a:cubicBezTo>
                <a:cubicBezTo>
                  <a:pt x="0" y="540"/>
                  <a:pt x="0" y="540"/>
                  <a:pt x="0" y="540"/>
                </a:cubicBezTo>
                <a:lnTo>
                  <a:pt x="0" y="540"/>
                </a:lnTo>
                <a:cubicBezTo>
                  <a:pt x="0" y="540"/>
                  <a:pt x="0" y="540"/>
                  <a:pt x="0" y="540"/>
                </a:cubicBezTo>
                <a:cubicBezTo>
                  <a:pt x="0" y="242"/>
                  <a:pt x="242" y="0"/>
                  <a:pt x="540" y="0"/>
                </a:cubicBezTo>
                <a:cubicBezTo>
                  <a:pt x="540" y="0"/>
                  <a:pt x="540" y="0"/>
                  <a:pt x="540"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53" name="Rectangle 137"/>
          <p:cNvSpPr/>
          <p:nvPr/>
        </p:nvSpPr>
        <p:spPr>
          <a:xfrm>
            <a:off x="6400800" y="4368800"/>
            <a:ext cx="1588770" cy="38100"/>
          </a:xfrm>
          <a:custGeom>
            <a:avLst/>
            <a:gdLst/>
            <a:ahLst/>
            <a:cxnLst/>
            <a:rect l="l" t="t" r="r" b="b"/>
            <a:pathLst>
              <a:path w="100000" h="2398">
                <a:moveTo>
                  <a:pt x="98801" y="0"/>
                </a:moveTo>
                <a:cubicBezTo>
                  <a:pt x="98801" y="0"/>
                  <a:pt x="98801" y="0"/>
                  <a:pt x="98801" y="0"/>
                </a:cubicBezTo>
                <a:cubicBezTo>
                  <a:pt x="99463" y="0"/>
                  <a:pt x="100000" y="537"/>
                  <a:pt x="100000" y="1199"/>
                </a:cubicBezTo>
                <a:cubicBezTo>
                  <a:pt x="100000" y="1199"/>
                  <a:pt x="100000" y="1199"/>
                  <a:pt x="100000" y="1199"/>
                </a:cubicBezTo>
                <a:lnTo>
                  <a:pt x="100000" y="1199"/>
                </a:lnTo>
                <a:cubicBezTo>
                  <a:pt x="100000" y="1199"/>
                  <a:pt x="100000" y="1199"/>
                  <a:pt x="100000" y="1199"/>
                </a:cubicBezTo>
                <a:cubicBezTo>
                  <a:pt x="100000" y="1861"/>
                  <a:pt x="99463" y="2398"/>
                  <a:pt x="98801" y="2398"/>
                </a:cubicBezTo>
                <a:cubicBezTo>
                  <a:pt x="98801" y="2398"/>
                  <a:pt x="98801" y="2398"/>
                  <a:pt x="98801" y="2398"/>
                </a:cubicBezTo>
                <a:lnTo>
                  <a:pt x="1199" y="2398"/>
                </a:lnTo>
                <a:cubicBezTo>
                  <a:pt x="1199" y="2398"/>
                  <a:pt x="1199" y="2398"/>
                  <a:pt x="1199" y="2398"/>
                </a:cubicBezTo>
                <a:cubicBezTo>
                  <a:pt x="537" y="2398"/>
                  <a:pt x="0" y="1861"/>
                  <a:pt x="0" y="1199"/>
                </a:cubicBezTo>
                <a:cubicBezTo>
                  <a:pt x="0" y="1199"/>
                  <a:pt x="0" y="1199"/>
                  <a:pt x="0" y="1199"/>
                </a:cubicBezTo>
                <a:lnTo>
                  <a:pt x="0" y="1199"/>
                </a:lnTo>
                <a:cubicBezTo>
                  <a:pt x="0" y="1199"/>
                  <a:pt x="0" y="1199"/>
                  <a:pt x="0" y="1199"/>
                </a:cubicBezTo>
                <a:cubicBezTo>
                  <a:pt x="0" y="537"/>
                  <a:pt x="537" y="0"/>
                  <a:pt x="1199" y="0"/>
                </a:cubicBezTo>
                <a:cubicBezTo>
                  <a:pt x="1199" y="0"/>
                  <a:pt x="1199" y="0"/>
                  <a:pt x="1199" y="0"/>
                </a:cubicBezTo>
                <a:close/>
              </a:path>
            </a:pathLst>
          </a:custGeom>
          <a:solidFill>
            <a:srgbClr val="B9D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54" name="TextBox 138"/>
          <p:cNvSpPr txBox="1"/>
          <p:nvPr/>
        </p:nvSpPr>
        <p:spPr>
          <a:xfrm>
            <a:off x="6400800" y="4597400"/>
            <a:ext cx="1524000" cy="127000"/>
          </a:xfrm>
          <a:prstGeom prst="rect">
            <a:avLst/>
          </a:prstGeom>
        </p:spPr>
        <p:txBody>
          <a:bodyPr wrap="square" lIns="0" tIns="0" rIns="0" bIns="0">
            <a:noAutofit/>
          </a:bodyPr>
          <a:lstStyle/>
          <a:p>
            <a:pPr>
              <a:lnSpc>
                <a:spcPct val="135000"/>
              </a:lnSpc>
            </a:pPr>
            <a:r>
              <a:rPr sz="480" spc="0">
                <a:solidFill>
                  <a:srgbClr val="0A0A0A"/>
                </a:solidFill>
                <a:latin typeface="Telegraf"/>
              </a:rPr>
              <a:t>reschedule</a:t>
            </a:r>
            <a:endParaRPr sz="480" spc="0">
              <a:solidFill>
                <a:srgbClr val="0A0A0A"/>
              </a:solidFill>
              <a:latin typeface="Telegraf"/>
            </a:endParaRPr>
          </a:p>
        </p:txBody>
      </p:sp>
      <p:sp>
        <p:nvSpPr>
          <p:cNvPr id="2155" name="TextBox 139"/>
          <p:cNvSpPr txBox="1"/>
          <p:nvPr/>
        </p:nvSpPr>
        <p:spPr>
          <a:xfrm>
            <a:off x="7874000" y="4597400"/>
            <a:ext cx="304800" cy="127000"/>
          </a:xfrm>
          <a:prstGeom prst="rect">
            <a:avLst/>
          </a:prstGeom>
        </p:spPr>
        <p:txBody>
          <a:bodyPr wrap="square" lIns="0" tIns="0" rIns="0" bIns="0">
            <a:noAutofit/>
          </a:bodyPr>
          <a:lstStyle/>
          <a:p>
            <a:pPr>
              <a:lnSpc>
                <a:spcPct val="135000"/>
              </a:lnSpc>
            </a:pPr>
            <a:r>
              <a:rPr sz="480" b="1" spc="0">
                <a:solidFill>
                  <a:srgbClr val="0E6B5F"/>
                </a:solidFill>
                <a:latin typeface="Telegraf"/>
              </a:rPr>
              <a:t>×4</a:t>
            </a:r>
            <a:endParaRPr sz="480" b="1" spc="0">
              <a:solidFill>
                <a:srgbClr val="0E6B5F"/>
              </a:solidFill>
              <a:latin typeface="Telegraf"/>
            </a:endParaRPr>
          </a:p>
        </p:txBody>
      </p:sp>
      <p:sp>
        <p:nvSpPr>
          <p:cNvPr id="2156" name="Rectangle 140"/>
          <p:cNvSpPr/>
          <p:nvPr/>
        </p:nvSpPr>
        <p:spPr>
          <a:xfrm>
            <a:off x="6400800" y="4749800"/>
            <a:ext cx="3530600" cy="38100"/>
          </a:xfrm>
          <a:custGeom>
            <a:avLst/>
            <a:gdLst/>
            <a:ahLst/>
            <a:cxnLst/>
            <a:rect l="l" t="t" r="r" b="b"/>
            <a:pathLst>
              <a:path w="100000" h="1079">
                <a:moveTo>
                  <a:pt x="99460" y="0"/>
                </a:moveTo>
                <a:cubicBezTo>
                  <a:pt x="99460" y="0"/>
                  <a:pt x="99460" y="0"/>
                  <a:pt x="99460" y="0"/>
                </a:cubicBezTo>
                <a:cubicBezTo>
                  <a:pt x="99758" y="0"/>
                  <a:pt x="100000" y="242"/>
                  <a:pt x="100000" y="540"/>
                </a:cubicBezTo>
                <a:cubicBezTo>
                  <a:pt x="100000" y="540"/>
                  <a:pt x="100000" y="540"/>
                  <a:pt x="100000" y="540"/>
                </a:cubicBezTo>
                <a:lnTo>
                  <a:pt x="100000" y="540"/>
                </a:lnTo>
                <a:cubicBezTo>
                  <a:pt x="100000" y="540"/>
                  <a:pt x="100000" y="540"/>
                  <a:pt x="100000" y="540"/>
                </a:cubicBezTo>
                <a:cubicBezTo>
                  <a:pt x="100000" y="837"/>
                  <a:pt x="99758" y="1079"/>
                  <a:pt x="99460" y="1079"/>
                </a:cubicBezTo>
                <a:cubicBezTo>
                  <a:pt x="99460" y="1079"/>
                  <a:pt x="99460" y="1079"/>
                  <a:pt x="99460" y="1079"/>
                </a:cubicBezTo>
                <a:lnTo>
                  <a:pt x="540" y="1079"/>
                </a:lnTo>
                <a:cubicBezTo>
                  <a:pt x="540" y="1079"/>
                  <a:pt x="540" y="1079"/>
                  <a:pt x="540" y="1079"/>
                </a:cubicBezTo>
                <a:cubicBezTo>
                  <a:pt x="242" y="1079"/>
                  <a:pt x="0" y="837"/>
                  <a:pt x="0" y="540"/>
                </a:cubicBezTo>
                <a:cubicBezTo>
                  <a:pt x="0" y="540"/>
                  <a:pt x="0" y="540"/>
                  <a:pt x="0" y="540"/>
                </a:cubicBezTo>
                <a:lnTo>
                  <a:pt x="0" y="540"/>
                </a:lnTo>
                <a:cubicBezTo>
                  <a:pt x="0" y="540"/>
                  <a:pt x="0" y="540"/>
                  <a:pt x="0" y="540"/>
                </a:cubicBezTo>
                <a:cubicBezTo>
                  <a:pt x="0" y="242"/>
                  <a:pt x="242" y="0"/>
                  <a:pt x="540" y="0"/>
                </a:cubicBezTo>
                <a:cubicBezTo>
                  <a:pt x="540" y="0"/>
                  <a:pt x="540" y="0"/>
                  <a:pt x="540"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57" name="Rectangle 141"/>
          <p:cNvSpPr/>
          <p:nvPr/>
        </p:nvSpPr>
        <p:spPr>
          <a:xfrm>
            <a:off x="6400800" y="4749800"/>
            <a:ext cx="1271016" cy="38100"/>
          </a:xfrm>
          <a:custGeom>
            <a:avLst/>
            <a:gdLst/>
            <a:ahLst/>
            <a:cxnLst/>
            <a:rect l="l" t="t" r="r" b="b"/>
            <a:pathLst>
              <a:path w="100000" h="2998">
                <a:moveTo>
                  <a:pt x="98501" y="0"/>
                </a:moveTo>
                <a:cubicBezTo>
                  <a:pt x="98501" y="0"/>
                  <a:pt x="98501" y="0"/>
                  <a:pt x="98501" y="0"/>
                </a:cubicBezTo>
                <a:cubicBezTo>
                  <a:pt x="99329" y="0"/>
                  <a:pt x="100000" y="671"/>
                  <a:pt x="100000" y="1499"/>
                </a:cubicBezTo>
                <a:cubicBezTo>
                  <a:pt x="100000" y="1499"/>
                  <a:pt x="100000" y="1499"/>
                  <a:pt x="100000" y="1499"/>
                </a:cubicBezTo>
                <a:lnTo>
                  <a:pt x="100000" y="1499"/>
                </a:lnTo>
                <a:cubicBezTo>
                  <a:pt x="100000" y="1499"/>
                  <a:pt x="100000" y="1499"/>
                  <a:pt x="100000" y="1499"/>
                </a:cubicBezTo>
                <a:cubicBezTo>
                  <a:pt x="100000" y="2326"/>
                  <a:pt x="99329" y="2998"/>
                  <a:pt x="98501" y="2998"/>
                </a:cubicBezTo>
                <a:cubicBezTo>
                  <a:pt x="98501" y="2998"/>
                  <a:pt x="98501" y="2998"/>
                  <a:pt x="98501" y="2998"/>
                </a:cubicBezTo>
                <a:lnTo>
                  <a:pt x="1499" y="2998"/>
                </a:lnTo>
                <a:cubicBezTo>
                  <a:pt x="1499" y="2998"/>
                  <a:pt x="1499" y="2998"/>
                  <a:pt x="1499" y="2998"/>
                </a:cubicBezTo>
                <a:cubicBezTo>
                  <a:pt x="671" y="2998"/>
                  <a:pt x="0" y="2326"/>
                  <a:pt x="0" y="1499"/>
                </a:cubicBezTo>
                <a:cubicBezTo>
                  <a:pt x="0" y="1499"/>
                  <a:pt x="0" y="1499"/>
                  <a:pt x="0" y="1499"/>
                </a:cubicBezTo>
                <a:lnTo>
                  <a:pt x="0" y="1499"/>
                </a:lnTo>
                <a:cubicBezTo>
                  <a:pt x="0" y="1499"/>
                  <a:pt x="0" y="1499"/>
                  <a:pt x="0" y="1499"/>
                </a:cubicBezTo>
                <a:cubicBezTo>
                  <a:pt x="0" y="671"/>
                  <a:pt x="671" y="0"/>
                  <a:pt x="1499" y="0"/>
                </a:cubicBezTo>
                <a:cubicBezTo>
                  <a:pt x="1499" y="0"/>
                  <a:pt x="1499" y="0"/>
                  <a:pt x="1499" y="0"/>
                </a:cubicBezTo>
                <a:close/>
              </a:path>
            </a:pathLst>
          </a:custGeom>
          <a:solidFill>
            <a:srgbClr val="B9DCD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58" name="TextBox 142"/>
          <p:cNvSpPr txBox="1"/>
          <p:nvPr/>
        </p:nvSpPr>
        <p:spPr>
          <a:xfrm>
            <a:off x="6400800" y="4749800"/>
            <a:ext cx="3530600" cy="127000"/>
          </a:xfrm>
          <a:prstGeom prst="rect">
            <a:avLst/>
          </a:prstGeom>
        </p:spPr>
        <p:txBody>
          <a:bodyPr wrap="square" lIns="0" tIns="0" rIns="0" bIns="0">
            <a:noAutofit/>
          </a:bodyPr>
          <a:lstStyle/>
          <a:p>
            <a:pPr>
              <a:lnSpc>
                <a:spcPct val="135000"/>
              </a:lnSpc>
            </a:pPr>
            <a:r>
              <a:rPr sz="430" spc="0">
                <a:solidFill>
                  <a:srgbClr val="A2A2A8"/>
                </a:solidFill>
                <a:latin typeface="Telegraf"/>
              </a:rPr>
              <a:t>GET /api/businesses/[id]/insights groups by intent, then sentiment.</a:t>
            </a:r>
            <a:endParaRPr sz="430" spc="0">
              <a:solidFill>
                <a:srgbClr val="A2A2A8"/>
              </a:solidFill>
              <a:latin typeface="Telegraf"/>
            </a:endParaRPr>
          </a:p>
        </p:txBody>
      </p:sp>
      <p:sp>
        <p:nvSpPr>
          <p:cNvPr id="2159" name="Rectangle 143"/>
          <p:cNvSpPr/>
          <p:nvPr/>
        </p:nvSpPr>
        <p:spPr>
          <a:xfrm>
            <a:off x="6223000" y="5181600"/>
            <a:ext cx="3886200" cy="1117600"/>
          </a:xfrm>
          <a:custGeom>
            <a:avLst/>
            <a:gdLst/>
            <a:ahLst/>
            <a:cxnLst/>
            <a:rect l="l" t="t" r="r" b="b"/>
            <a:pathLst>
              <a:path w="100000" h="28758">
                <a:moveTo>
                  <a:pt x="92157" y="0"/>
                </a:moveTo>
                <a:cubicBezTo>
                  <a:pt x="95854" y="0"/>
                  <a:pt x="97703" y="0"/>
                  <a:pt x="98851" y="1149"/>
                </a:cubicBezTo>
                <a:cubicBezTo>
                  <a:pt x="98851" y="1149"/>
                  <a:pt x="98851" y="1149"/>
                  <a:pt x="98851" y="1149"/>
                </a:cubicBezTo>
                <a:cubicBezTo>
                  <a:pt x="100000" y="2297"/>
                  <a:pt x="100000" y="4146"/>
                  <a:pt x="100000" y="7843"/>
                </a:cubicBezTo>
                <a:lnTo>
                  <a:pt x="100000" y="20915"/>
                </a:lnTo>
                <a:cubicBezTo>
                  <a:pt x="100000" y="24612"/>
                  <a:pt x="100000" y="26461"/>
                  <a:pt x="98851" y="27609"/>
                </a:cubicBezTo>
                <a:cubicBezTo>
                  <a:pt x="98851" y="27609"/>
                  <a:pt x="98851" y="27609"/>
                  <a:pt x="98851" y="27609"/>
                </a:cubicBezTo>
                <a:cubicBezTo>
                  <a:pt x="97703" y="28758"/>
                  <a:pt x="95854" y="28758"/>
                  <a:pt x="92157" y="28758"/>
                </a:cubicBezTo>
                <a:lnTo>
                  <a:pt x="7843" y="28758"/>
                </a:lnTo>
                <a:cubicBezTo>
                  <a:pt x="4146" y="28758"/>
                  <a:pt x="2297" y="28758"/>
                  <a:pt x="1149" y="27609"/>
                </a:cubicBezTo>
                <a:cubicBezTo>
                  <a:pt x="1149" y="27609"/>
                  <a:pt x="1149" y="27609"/>
                  <a:pt x="1149" y="27609"/>
                </a:cubicBezTo>
                <a:cubicBezTo>
                  <a:pt x="0" y="26461"/>
                  <a:pt x="0" y="24612"/>
                  <a:pt x="0" y="20915"/>
                </a:cubicBezTo>
                <a:lnTo>
                  <a:pt x="0" y="7843"/>
                </a:lnTo>
                <a:cubicBezTo>
                  <a:pt x="0" y="4146"/>
                  <a:pt x="0" y="2297"/>
                  <a:pt x="1149" y="1149"/>
                </a:cubicBezTo>
                <a:cubicBezTo>
                  <a:pt x="1149" y="1149"/>
                  <a:pt x="1149" y="1149"/>
                  <a:pt x="1149" y="1149"/>
                </a:cubicBezTo>
                <a:cubicBezTo>
                  <a:pt x="2297" y="0"/>
                  <a:pt x="4146" y="0"/>
                  <a:pt x="784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60" name="TextBox 144"/>
          <p:cNvSpPr txBox="1"/>
          <p:nvPr/>
        </p:nvSpPr>
        <p:spPr>
          <a:xfrm>
            <a:off x="6400800" y="5308600"/>
            <a:ext cx="2540000" cy="114300"/>
          </a:xfrm>
          <a:prstGeom prst="rect">
            <a:avLst/>
          </a:prstGeom>
        </p:spPr>
        <p:txBody>
          <a:bodyPr wrap="square" lIns="0" tIns="0" rIns="0" bIns="0">
            <a:noAutofit/>
          </a:bodyPr>
          <a:lstStyle/>
          <a:p>
            <a:r>
              <a:rPr sz="440" b="1" spc="105">
                <a:solidFill>
                  <a:srgbClr val="0E6B5F"/>
                </a:solidFill>
                <a:latin typeface="Telegraf"/>
              </a:rPr>
              <a:t>TOP INTENT THIS WEEK</a:t>
            </a:r>
            <a:endParaRPr sz="440" b="1" spc="105">
              <a:solidFill>
                <a:srgbClr val="0E6B5F"/>
              </a:solidFill>
              <a:latin typeface="Telegraf"/>
            </a:endParaRPr>
          </a:p>
        </p:txBody>
      </p:sp>
      <p:sp>
        <p:nvSpPr>
          <p:cNvPr id="2161" name="TextBox 145"/>
          <p:cNvSpPr txBox="1"/>
          <p:nvPr/>
        </p:nvSpPr>
        <p:spPr>
          <a:xfrm>
            <a:off x="6388100" y="5435600"/>
            <a:ext cx="2540000" cy="381000"/>
          </a:xfrm>
          <a:prstGeom prst="rect">
            <a:avLst/>
          </a:prstGeom>
        </p:spPr>
        <p:txBody>
          <a:bodyPr wrap="square" lIns="0" tIns="0" rIns="0" bIns="0">
            <a:noAutofit/>
          </a:bodyPr>
          <a:lstStyle/>
          <a:p>
            <a:pPr>
              <a:lnSpc>
                <a:spcPct val="102000"/>
              </a:lnSpc>
            </a:pPr>
            <a:r>
              <a:rPr sz="1700" spc="-50">
                <a:solidFill>
                  <a:srgbClr val="0E6B5F"/>
                </a:solidFill>
                <a:latin typeface="PP Editorial New Ultralight"/>
              </a:rPr>
              <a:t>refund_policy</a:t>
            </a:r>
            <a:endParaRPr sz="1700" spc="-50">
              <a:solidFill>
                <a:srgbClr val="0E6B5F"/>
              </a:solidFill>
              <a:latin typeface="PP Editorial New Ultralight"/>
            </a:endParaRPr>
          </a:p>
        </p:txBody>
      </p:sp>
      <p:sp>
        <p:nvSpPr>
          <p:cNvPr id="2162" name="TextBox 146"/>
          <p:cNvSpPr txBox="1"/>
          <p:nvPr/>
        </p:nvSpPr>
        <p:spPr>
          <a:xfrm>
            <a:off x="6400800" y="5765800"/>
            <a:ext cx="2413000" cy="279400"/>
          </a:xfrm>
          <a:prstGeom prst="rect">
            <a:avLst/>
          </a:prstGeom>
        </p:spPr>
        <p:txBody>
          <a:bodyPr wrap="square" lIns="0" tIns="0" rIns="0" bIns="0">
            <a:noAutofit/>
          </a:bodyPr>
          <a:lstStyle/>
          <a:p>
            <a:pPr>
              <a:lnSpc>
                <a:spcPct val="135000"/>
              </a:lnSpc>
            </a:pPr>
            <a:r>
              <a:rPr sz="460" spc="0">
                <a:solidFill>
                  <a:srgbClr val="0E6B5F"/>
                </a:solidFill>
                <a:latin typeface="Telegraf"/>
              </a:rPr>
              <a:t>×11  ·  26% of volume  ·  8 answered, 3 escalated</a:t>
            </a:r>
            <a:endParaRPr sz="460" spc="0">
              <a:solidFill>
                <a:srgbClr val="0E6B5F"/>
              </a:solidFill>
              <a:latin typeface="Telegraf"/>
            </a:endParaRPr>
          </a:p>
        </p:txBody>
      </p:sp>
      <p:sp>
        <p:nvSpPr>
          <p:cNvPr id="2163" name="Rectangle 147"/>
          <p:cNvSpPr/>
          <p:nvPr/>
        </p:nvSpPr>
        <p:spPr>
          <a:xfrm>
            <a:off x="8890000" y="5689600"/>
            <a:ext cx="462534" cy="146050"/>
          </a:xfrm>
          <a:custGeom>
            <a:avLst/>
            <a:gdLst/>
            <a:ahLst/>
            <a:cxnLst/>
            <a:rect l="l" t="t" r="r" b="b"/>
            <a:pathLst>
              <a:path w="100000" h="31576">
                <a:moveTo>
                  <a:pt x="84212" y="0"/>
                </a:moveTo>
                <a:cubicBezTo>
                  <a:pt x="84212" y="0"/>
                  <a:pt x="84212" y="0"/>
                  <a:pt x="84212" y="0"/>
                </a:cubicBezTo>
                <a:cubicBezTo>
                  <a:pt x="92932" y="0"/>
                  <a:pt x="100000" y="7068"/>
                  <a:pt x="100000" y="15788"/>
                </a:cubicBezTo>
                <a:cubicBezTo>
                  <a:pt x="100000" y="15788"/>
                  <a:pt x="100000" y="15788"/>
                  <a:pt x="100000" y="15788"/>
                </a:cubicBezTo>
                <a:lnTo>
                  <a:pt x="100000" y="15788"/>
                </a:lnTo>
                <a:cubicBezTo>
                  <a:pt x="100000" y="15788"/>
                  <a:pt x="100000" y="15788"/>
                  <a:pt x="100000" y="15788"/>
                </a:cubicBezTo>
                <a:cubicBezTo>
                  <a:pt x="100000" y="24509"/>
                  <a:pt x="92932" y="31576"/>
                  <a:pt x="84212" y="31576"/>
                </a:cubicBezTo>
                <a:cubicBezTo>
                  <a:pt x="84212" y="31576"/>
                  <a:pt x="84212" y="31576"/>
                  <a:pt x="84212" y="31576"/>
                </a:cubicBezTo>
                <a:lnTo>
                  <a:pt x="15788" y="31576"/>
                </a:lnTo>
                <a:cubicBezTo>
                  <a:pt x="15788" y="31576"/>
                  <a:pt x="15788" y="31576"/>
                  <a:pt x="15788" y="31576"/>
                </a:cubicBezTo>
                <a:cubicBezTo>
                  <a:pt x="7068" y="31576"/>
                  <a:pt x="0" y="24509"/>
                  <a:pt x="0" y="15788"/>
                </a:cubicBezTo>
                <a:cubicBezTo>
                  <a:pt x="0" y="15788"/>
                  <a:pt x="0" y="15788"/>
                  <a:pt x="0" y="15788"/>
                </a:cubicBezTo>
                <a:lnTo>
                  <a:pt x="0" y="15788"/>
                </a:lnTo>
                <a:cubicBezTo>
                  <a:pt x="0" y="15788"/>
                  <a:pt x="0" y="15788"/>
                  <a:pt x="0" y="15788"/>
                </a:cubicBezTo>
                <a:cubicBezTo>
                  <a:pt x="0" y="7068"/>
                  <a:pt x="7068" y="0"/>
                  <a:pt x="15788" y="0"/>
                </a:cubicBezTo>
                <a:cubicBezTo>
                  <a:pt x="15788" y="0"/>
                  <a:pt x="15788" y="0"/>
                  <a:pt x="15788"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64" name="Oval 148"/>
          <p:cNvSpPr/>
          <p:nvPr/>
        </p:nvSpPr>
        <p:spPr>
          <a:xfrm>
            <a:off x="8942070" y="57410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65" name="TextBox 149"/>
          <p:cNvSpPr txBox="1"/>
          <p:nvPr/>
        </p:nvSpPr>
        <p:spPr>
          <a:xfrm>
            <a:off x="9019540" y="5689600"/>
            <a:ext cx="310134"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answered</a:t>
            </a:r>
            <a:endParaRPr sz="440" b="1" spc="0">
              <a:solidFill>
                <a:srgbClr val="0B5C44"/>
              </a:solidFill>
              <a:latin typeface="Telegraf"/>
            </a:endParaRPr>
          </a:p>
        </p:txBody>
      </p:sp>
      <p:sp>
        <p:nvSpPr>
          <p:cNvPr id="2166" name="Oval 150"/>
          <p:cNvSpPr/>
          <p:nvPr/>
        </p:nvSpPr>
        <p:spPr>
          <a:xfrm>
            <a:off x="574040" y="1336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67" name="Oval 151"/>
          <p:cNvSpPr/>
          <p:nvPr/>
        </p:nvSpPr>
        <p:spPr>
          <a:xfrm>
            <a:off x="598170" y="1360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68" name="TextBox 152"/>
          <p:cNvSpPr txBox="1"/>
          <p:nvPr/>
        </p:nvSpPr>
        <p:spPr>
          <a:xfrm>
            <a:off x="598170" y="1360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2169" name="Oval 153"/>
          <p:cNvSpPr/>
          <p:nvPr/>
        </p:nvSpPr>
        <p:spPr>
          <a:xfrm>
            <a:off x="574040" y="3799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0" name="Oval 154"/>
          <p:cNvSpPr/>
          <p:nvPr/>
        </p:nvSpPr>
        <p:spPr>
          <a:xfrm>
            <a:off x="598170" y="3823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1" name="TextBox 155"/>
          <p:cNvSpPr txBox="1"/>
          <p:nvPr/>
        </p:nvSpPr>
        <p:spPr>
          <a:xfrm>
            <a:off x="598170" y="3823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2172" name="Oval 156"/>
          <p:cNvSpPr/>
          <p:nvPr/>
        </p:nvSpPr>
        <p:spPr>
          <a:xfrm>
            <a:off x="6035040" y="1132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3" name="Oval 157"/>
          <p:cNvSpPr/>
          <p:nvPr/>
        </p:nvSpPr>
        <p:spPr>
          <a:xfrm>
            <a:off x="6059170" y="1156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4" name="TextBox 158"/>
          <p:cNvSpPr txBox="1"/>
          <p:nvPr/>
        </p:nvSpPr>
        <p:spPr>
          <a:xfrm>
            <a:off x="6059170" y="1156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2175" name="Oval 159"/>
          <p:cNvSpPr/>
          <p:nvPr/>
        </p:nvSpPr>
        <p:spPr>
          <a:xfrm>
            <a:off x="6035040" y="30124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6" name="Oval 160"/>
          <p:cNvSpPr/>
          <p:nvPr/>
        </p:nvSpPr>
        <p:spPr>
          <a:xfrm>
            <a:off x="6059170" y="30365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7" name="TextBox 161"/>
          <p:cNvSpPr txBox="1"/>
          <p:nvPr/>
        </p:nvSpPr>
        <p:spPr>
          <a:xfrm>
            <a:off x="6059170" y="30365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2178" name="Rectangle 162"/>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79" name="TextBox 163"/>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15  —  DASHBOARD · BRAIN</a:t>
            </a:r>
            <a:endParaRPr sz="490" b="1" spc="120">
              <a:solidFill>
                <a:srgbClr val="8FE0CE"/>
              </a:solidFill>
              <a:latin typeface="Telegraf"/>
            </a:endParaRPr>
          </a:p>
        </p:txBody>
      </p:sp>
      <p:sp>
        <p:nvSpPr>
          <p:cNvPr id="2180" name="TextBox 164"/>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The file is real,</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and countable.</a:t>
            </a:r>
            <a:endParaRPr sz="1650" spc="-50">
              <a:solidFill>
                <a:srgbClr val="FFFFFF"/>
              </a:solidFill>
              <a:latin typeface="PP Editorial New Ultralight"/>
            </a:endParaRPr>
          </a:p>
        </p:txBody>
      </p:sp>
      <p:sp>
        <p:nvSpPr>
          <p:cNvPr id="2181" name="Rectangle 165"/>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82" name="TextBox 166"/>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2183" name="TextBox 167"/>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Chunk table</a:t>
            </a:r>
            <a:endParaRPr sz="590" b="1" spc="0">
              <a:solidFill>
                <a:srgbClr val="FFFFFF"/>
              </a:solidFill>
              <a:latin typeface="Telegraf"/>
            </a:endParaRPr>
          </a:p>
        </p:txBody>
      </p:sp>
      <p:sp>
        <p:nvSpPr>
          <p:cNvPr id="2184" name="TextBox 168"/>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Id, section, words, score: the rows the retriever actually ranks.</a:t>
            </a:r>
            <a:endParaRPr sz="550" spc="0">
              <a:solidFill>
                <a:srgbClr val="A8A8A8"/>
              </a:solidFill>
              <a:latin typeface="Telegraf"/>
            </a:endParaRPr>
          </a:p>
        </p:txBody>
      </p:sp>
      <p:sp>
        <p:nvSpPr>
          <p:cNvPr id="2185" name="TextBox 169"/>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2186" name="TextBox 170"/>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Compile card</a:t>
            </a:r>
            <a:endParaRPr sz="590" b="1" spc="0">
              <a:solidFill>
                <a:srgbClr val="FFFFFF"/>
              </a:solidFill>
              <a:latin typeface="Telegraf"/>
            </a:endParaRPr>
          </a:p>
        </p:txBody>
      </p:sp>
      <p:sp>
        <p:nvSpPr>
          <p:cNvPr id="2187" name="TextBox 171"/>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Version, word count and the index meter, in one line a judge can read.</a:t>
            </a:r>
            <a:endParaRPr sz="550" spc="0">
              <a:solidFill>
                <a:srgbClr val="A8A8A8"/>
              </a:solidFill>
              <a:latin typeface="Telegraf"/>
            </a:endParaRPr>
          </a:p>
        </p:txBody>
      </p:sp>
      <p:sp>
        <p:nvSpPr>
          <p:cNvPr id="2188" name="TextBox 172"/>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2189" name="TextBox 173"/>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Sentiment</a:t>
            </a:r>
            <a:endParaRPr sz="590" b="1" spc="0">
              <a:solidFill>
                <a:srgbClr val="FFFFFF"/>
              </a:solidFill>
              <a:latin typeface="Telegraf"/>
            </a:endParaRPr>
          </a:p>
        </p:txBody>
      </p:sp>
      <p:sp>
        <p:nvSpPr>
          <p:cNvPr id="2190" name="TextBox 174"/>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Stacked bar, four buckets, counted once per ticket.</a:t>
            </a:r>
            <a:endParaRPr sz="550" spc="0">
              <a:solidFill>
                <a:srgbClr val="A8A8A8"/>
              </a:solidFill>
              <a:latin typeface="Telegraf"/>
            </a:endParaRPr>
          </a:p>
        </p:txBody>
      </p:sp>
      <p:sp>
        <p:nvSpPr>
          <p:cNvPr id="2191" name="TextBox 175"/>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2192" name="TextBox 176"/>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Recurring</a:t>
            </a:r>
            <a:endParaRPr sz="590" b="1" spc="0">
              <a:solidFill>
                <a:srgbClr val="FFFFFF"/>
              </a:solidFill>
              <a:latin typeface="Telegraf"/>
            </a:endParaRPr>
          </a:p>
        </p:txBody>
      </p:sp>
      <p:sp>
        <p:nvSpPr>
          <p:cNvPr id="2193" name="TextBox 177"/>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bonus twist: the same complaint as a number, not a feeling.</a:t>
            </a:r>
            <a:endParaRPr sz="550" spc="0">
              <a:solidFill>
                <a:srgbClr val="A8A8A8"/>
              </a:solidFill>
              <a:latin typeface="Telegraf"/>
            </a:endParaRPr>
          </a:p>
        </p:txBody>
      </p:sp>
      <p:sp>
        <p:nvSpPr>
          <p:cNvPr id="2194" name="TextBox 178"/>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2195" name="TextBox 179"/>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/dashboard?tab=brain</a:t>
            </a:r>
            <a:endParaRPr sz="560" spc="0">
              <a:solidFill>
                <a:srgbClr val="FFFFFF"/>
              </a:solidFill>
              <a:latin typeface="Telegraf"/>
            </a:endParaRPr>
          </a:p>
        </p:txBody>
      </p:sp>
      <p:sp>
        <p:nvSpPr>
          <p:cNvPr id="2196" name="TextBox 180"/>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2197" name="TextBox 181"/>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components/dashboard/BrainInsightsPanel.tsx; ChunkTable.tsx; GET /api/businesses/[id]/insights</a:t>
            </a:r>
            <a:endParaRPr sz="530" spc="0">
              <a:solidFill>
                <a:srgbClr val="CFCFCF"/>
              </a:solidFill>
              <a:latin typeface="Telegraf"/>
            </a:endParaRPr>
          </a:p>
        </p:txBody>
      </p:sp>
      <p:sp>
        <p:nvSpPr>
          <p:cNvPr id="2198" name="Rectangle 182"/>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199" name="TextBox 183"/>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1" name="Rectangle 1"/>
          <p:cNvSpPr/>
          <p:nvPr/>
        </p:nvSpPr>
        <p:spPr>
          <a:xfrm>
            <a:off x="0" y="0"/>
            <a:ext cx="558800" cy="685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2" name="Rectangle 2"/>
          <p:cNvSpPr/>
          <p:nvPr/>
        </p:nvSpPr>
        <p:spPr>
          <a:xfrm>
            <a:off x="548640" y="0"/>
            <a:ext cx="11430" cy="685800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3" name="Rectangle 3"/>
          <p:cNvSpPr/>
          <p:nvPr/>
        </p:nvSpPr>
        <p:spPr>
          <a:xfrm>
            <a:off x="152400" y="152400"/>
            <a:ext cx="254000" cy="254000"/>
          </a:xfrm>
          <a:custGeom>
            <a:avLst/>
            <a:gdLst/>
            <a:ahLst/>
            <a:cxnLst/>
            <a:rect l="l" t="t" r="r" b="b"/>
            <a:pathLst>
              <a:path w="100000" h="100000">
                <a:moveTo>
                  <a:pt x="50000" y="0"/>
                </a:moveTo>
                <a:cubicBezTo>
                  <a:pt x="66790" y="0"/>
                  <a:pt x="75185" y="0"/>
                  <a:pt x="81680" y="3070"/>
                </a:cubicBezTo>
                <a:cubicBezTo>
                  <a:pt x="88375" y="6240"/>
                  <a:pt x="93760" y="11625"/>
                  <a:pt x="96930" y="18320"/>
                </a:cubicBezTo>
                <a:cubicBezTo>
                  <a:pt x="100000" y="24815"/>
                  <a:pt x="100000" y="33210"/>
                  <a:pt x="100000" y="50000"/>
                </a:cubicBezTo>
                <a:lnTo>
                  <a:pt x="100000" y="50000"/>
                </a:lnTo>
                <a:cubicBezTo>
                  <a:pt x="100000" y="66790"/>
                  <a:pt x="100000" y="75185"/>
                  <a:pt x="96930" y="81680"/>
                </a:cubicBezTo>
                <a:cubicBezTo>
                  <a:pt x="93760" y="88375"/>
                  <a:pt x="88375" y="93760"/>
                  <a:pt x="81680" y="96930"/>
                </a:cubicBezTo>
                <a:cubicBezTo>
                  <a:pt x="75185" y="100000"/>
                  <a:pt x="66790" y="100000"/>
                  <a:pt x="50000" y="100000"/>
                </a:cubicBezTo>
                <a:lnTo>
                  <a:pt x="50000" y="100000"/>
                </a:lnTo>
                <a:cubicBezTo>
                  <a:pt x="33210" y="100000"/>
                  <a:pt x="24815" y="100000"/>
                  <a:pt x="18320" y="96930"/>
                </a:cubicBezTo>
                <a:cubicBezTo>
                  <a:pt x="11625" y="93760"/>
                  <a:pt x="6240" y="88375"/>
                  <a:pt x="3070" y="81680"/>
                </a:cubicBezTo>
                <a:cubicBezTo>
                  <a:pt x="0" y="75185"/>
                  <a:pt x="0" y="66790"/>
                  <a:pt x="0" y="50000"/>
                </a:cubicBezTo>
                <a:lnTo>
                  <a:pt x="0" y="50000"/>
                </a:lnTo>
                <a:cubicBezTo>
                  <a:pt x="0" y="33210"/>
                  <a:pt x="0" y="24815"/>
                  <a:pt x="3070" y="18320"/>
                </a:cubicBezTo>
                <a:cubicBezTo>
                  <a:pt x="6240" y="11625"/>
                  <a:pt x="11625" y="6240"/>
                  <a:pt x="18320" y="3070"/>
                </a:cubicBezTo>
                <a:cubicBezTo>
                  <a:pt x="24815" y="0"/>
                  <a:pt x="33210" y="0"/>
                  <a:pt x="5000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4" name="TextBox 4"/>
          <p:cNvSpPr txBox="1"/>
          <p:nvPr/>
        </p:nvSpPr>
        <p:spPr>
          <a:xfrm>
            <a:off x="152400" y="152400"/>
            <a:ext cx="254000" cy="254000"/>
          </a:xfrm>
          <a:prstGeom prst="rect">
            <a:avLst/>
          </a:prstGeom>
        </p:spPr>
        <p:txBody>
          <a:bodyPr wrap="square" lIns="0" tIns="0" rIns="0" bIns="0" anchor="ctr">
            <a:noAutofit/>
          </a:bodyPr>
          <a:lstStyle/>
          <a:p>
            <a:pPr algn="ctr">
              <a:lnSpc>
                <a:spcPct val="102000"/>
              </a:lnSpc>
            </a:pPr>
            <a:r>
              <a:rPr sz="1150" spc="-90">
                <a:solidFill>
                  <a:srgbClr val="8FE0CE"/>
                </a:solidFill>
                <a:latin typeface="PP Editorial New Ultralight"/>
              </a:rPr>
              <a:t>a</a:t>
            </a:r>
            <a:endParaRPr sz="1150" spc="-90">
              <a:solidFill>
                <a:srgbClr val="8FE0CE"/>
              </a:solidFill>
              <a:latin typeface="PP Editorial New Ultralight"/>
            </a:endParaRPr>
          </a:p>
        </p:txBody>
      </p:sp>
      <p:sp>
        <p:nvSpPr>
          <p:cNvPr id="2205" name="Rectangle 5"/>
          <p:cNvSpPr/>
          <p:nvPr/>
        </p:nvSpPr>
        <p:spPr>
          <a:xfrm>
            <a:off x="210820" y="728980"/>
            <a:ext cx="137160" cy="24130"/>
          </a:xfrm>
          <a:custGeom>
            <a:avLst/>
            <a:gdLst/>
            <a:ahLst/>
            <a:cxnLst/>
            <a:rect l="l" t="t" r="r" b="b"/>
            <a:pathLst>
              <a:path w="100000" h="17593">
                <a:moveTo>
                  <a:pt x="91204" y="0"/>
                </a:moveTo>
                <a:cubicBezTo>
                  <a:pt x="91204" y="0"/>
                  <a:pt x="91204" y="0"/>
                  <a:pt x="91204" y="0"/>
                </a:cubicBezTo>
                <a:cubicBezTo>
                  <a:pt x="96065" y="0"/>
                  <a:pt x="100000" y="3935"/>
                  <a:pt x="100000" y="8796"/>
                </a:cubicBezTo>
                <a:cubicBezTo>
                  <a:pt x="100000" y="8796"/>
                  <a:pt x="100000" y="8796"/>
                  <a:pt x="100000" y="8796"/>
                </a:cubicBezTo>
                <a:lnTo>
                  <a:pt x="100000" y="8796"/>
                </a:lnTo>
                <a:cubicBezTo>
                  <a:pt x="100000" y="8796"/>
                  <a:pt x="100000" y="8796"/>
                  <a:pt x="100000" y="8796"/>
                </a:cubicBezTo>
                <a:cubicBezTo>
                  <a:pt x="100000" y="13657"/>
                  <a:pt x="96065" y="17593"/>
                  <a:pt x="91204" y="17593"/>
                </a:cubicBezTo>
                <a:cubicBezTo>
                  <a:pt x="91204" y="17593"/>
                  <a:pt x="91204" y="17593"/>
                  <a:pt x="91204" y="17593"/>
                </a:cubicBezTo>
                <a:lnTo>
                  <a:pt x="8796" y="17593"/>
                </a:lnTo>
                <a:cubicBezTo>
                  <a:pt x="8796" y="17593"/>
                  <a:pt x="8796" y="17593"/>
                  <a:pt x="8796" y="17593"/>
                </a:cubicBezTo>
                <a:cubicBezTo>
                  <a:pt x="3935" y="17593"/>
                  <a:pt x="0" y="13657"/>
                  <a:pt x="0" y="8796"/>
                </a:cubicBezTo>
                <a:cubicBezTo>
                  <a:pt x="0" y="8796"/>
                  <a:pt x="0" y="8796"/>
                  <a:pt x="0" y="8796"/>
                </a:cubicBezTo>
                <a:lnTo>
                  <a:pt x="0" y="8796"/>
                </a:lnTo>
                <a:cubicBezTo>
                  <a:pt x="0" y="8796"/>
                  <a:pt x="0" y="8796"/>
                  <a:pt x="0" y="8796"/>
                </a:cubicBezTo>
                <a:cubicBezTo>
                  <a:pt x="0" y="3935"/>
                  <a:pt x="3935" y="0"/>
                  <a:pt x="8796" y="0"/>
                </a:cubicBezTo>
                <a:cubicBezTo>
                  <a:pt x="8796" y="0"/>
                  <a:pt x="8796" y="0"/>
                  <a:pt x="8796"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6" name="Rectangle 6"/>
          <p:cNvSpPr/>
          <p:nvPr/>
        </p:nvSpPr>
        <p:spPr>
          <a:xfrm>
            <a:off x="210820" y="778510"/>
            <a:ext cx="104140" cy="24130"/>
          </a:xfrm>
          <a:custGeom>
            <a:avLst/>
            <a:gdLst/>
            <a:ahLst/>
            <a:cxnLst/>
            <a:rect l="l" t="t" r="r" b="b"/>
            <a:pathLst>
              <a:path w="100000" h="23171">
                <a:moveTo>
                  <a:pt x="88415" y="0"/>
                </a:moveTo>
                <a:cubicBezTo>
                  <a:pt x="88415" y="0"/>
                  <a:pt x="88415" y="0"/>
                  <a:pt x="88415" y="0"/>
                </a:cubicBezTo>
                <a:cubicBezTo>
                  <a:pt x="94817" y="0"/>
                  <a:pt x="100000" y="5183"/>
                  <a:pt x="100000" y="11585"/>
                </a:cubicBezTo>
                <a:cubicBezTo>
                  <a:pt x="100000" y="11585"/>
                  <a:pt x="100000" y="11585"/>
                  <a:pt x="100000" y="11585"/>
                </a:cubicBezTo>
                <a:lnTo>
                  <a:pt x="100000" y="11585"/>
                </a:lnTo>
                <a:cubicBezTo>
                  <a:pt x="100000" y="11585"/>
                  <a:pt x="100000" y="11585"/>
                  <a:pt x="100000" y="11585"/>
                </a:cubicBezTo>
                <a:cubicBezTo>
                  <a:pt x="100000" y="17988"/>
                  <a:pt x="94817" y="23171"/>
                  <a:pt x="88415" y="23171"/>
                </a:cubicBezTo>
                <a:cubicBezTo>
                  <a:pt x="88415" y="23171"/>
                  <a:pt x="88415" y="23171"/>
                  <a:pt x="88415" y="23171"/>
                </a:cubicBezTo>
                <a:lnTo>
                  <a:pt x="11585" y="23171"/>
                </a:lnTo>
                <a:cubicBezTo>
                  <a:pt x="11585" y="23171"/>
                  <a:pt x="11585" y="23171"/>
                  <a:pt x="11585" y="23171"/>
                </a:cubicBezTo>
                <a:cubicBezTo>
                  <a:pt x="5183" y="23171"/>
                  <a:pt x="0" y="17988"/>
                  <a:pt x="0" y="11585"/>
                </a:cubicBezTo>
                <a:cubicBezTo>
                  <a:pt x="0" y="11585"/>
                  <a:pt x="0" y="11585"/>
                  <a:pt x="0" y="11585"/>
                </a:cubicBezTo>
                <a:lnTo>
                  <a:pt x="0" y="11585"/>
                </a:lnTo>
                <a:cubicBezTo>
                  <a:pt x="0" y="11585"/>
                  <a:pt x="0" y="11585"/>
                  <a:pt x="0" y="11585"/>
                </a:cubicBezTo>
                <a:cubicBezTo>
                  <a:pt x="0" y="5183"/>
                  <a:pt x="5183" y="0"/>
                  <a:pt x="11585" y="0"/>
                </a:cubicBezTo>
                <a:cubicBezTo>
                  <a:pt x="11585" y="0"/>
                  <a:pt x="11585" y="0"/>
                  <a:pt x="1158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7" name="Rectangle 7"/>
          <p:cNvSpPr/>
          <p:nvPr/>
        </p:nvSpPr>
        <p:spPr>
          <a:xfrm>
            <a:off x="210820" y="828040"/>
            <a:ext cx="71120" cy="24130"/>
          </a:xfrm>
          <a:custGeom>
            <a:avLst/>
            <a:gdLst/>
            <a:ahLst/>
            <a:cxnLst/>
            <a:rect l="l" t="t" r="r" b="b"/>
            <a:pathLst>
              <a:path w="100000" h="33929">
                <a:moveTo>
                  <a:pt x="83036" y="0"/>
                </a:moveTo>
                <a:cubicBezTo>
                  <a:pt x="83036" y="0"/>
                  <a:pt x="83036" y="0"/>
                  <a:pt x="83036" y="0"/>
                </a:cubicBezTo>
                <a:cubicBezTo>
                  <a:pt x="92411" y="0"/>
                  <a:pt x="100000" y="7589"/>
                  <a:pt x="100000" y="16964"/>
                </a:cubicBezTo>
                <a:cubicBezTo>
                  <a:pt x="100000" y="16964"/>
                  <a:pt x="100000" y="16964"/>
                  <a:pt x="100000" y="16964"/>
                </a:cubicBezTo>
                <a:lnTo>
                  <a:pt x="100000" y="16964"/>
                </a:lnTo>
                <a:cubicBezTo>
                  <a:pt x="100000" y="16964"/>
                  <a:pt x="100000" y="16964"/>
                  <a:pt x="100000" y="16964"/>
                </a:cubicBezTo>
                <a:cubicBezTo>
                  <a:pt x="100000" y="26339"/>
                  <a:pt x="92411" y="33929"/>
                  <a:pt x="83036" y="33929"/>
                </a:cubicBezTo>
                <a:cubicBezTo>
                  <a:pt x="83036" y="33929"/>
                  <a:pt x="83036" y="33929"/>
                  <a:pt x="83036" y="33929"/>
                </a:cubicBezTo>
                <a:lnTo>
                  <a:pt x="16964" y="33929"/>
                </a:lnTo>
                <a:cubicBezTo>
                  <a:pt x="16964" y="33929"/>
                  <a:pt x="16964" y="33929"/>
                  <a:pt x="16964" y="33929"/>
                </a:cubicBezTo>
                <a:cubicBezTo>
                  <a:pt x="7589" y="33929"/>
                  <a:pt x="0" y="26339"/>
                  <a:pt x="0" y="16964"/>
                </a:cubicBezTo>
                <a:cubicBezTo>
                  <a:pt x="0" y="16964"/>
                  <a:pt x="0" y="16964"/>
                  <a:pt x="0" y="16964"/>
                </a:cubicBezTo>
                <a:lnTo>
                  <a:pt x="0" y="16964"/>
                </a:lnTo>
                <a:cubicBezTo>
                  <a:pt x="0" y="16964"/>
                  <a:pt x="0" y="16964"/>
                  <a:pt x="0" y="16964"/>
                </a:cubicBezTo>
                <a:cubicBezTo>
                  <a:pt x="0" y="7589"/>
                  <a:pt x="7589" y="0"/>
                  <a:pt x="16964" y="0"/>
                </a:cubicBezTo>
                <a:cubicBezTo>
                  <a:pt x="16964" y="0"/>
                  <a:pt x="16964" y="0"/>
                  <a:pt x="16964"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8" name="Oval 8"/>
          <p:cNvSpPr/>
          <p:nvPr/>
        </p:nvSpPr>
        <p:spPr>
          <a:xfrm>
            <a:off x="261874" y="1118743"/>
            <a:ext cx="35052" cy="35052"/>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09" name="Rectangle 9"/>
          <p:cNvSpPr/>
          <p:nvPr/>
        </p:nvSpPr>
        <p:spPr>
          <a:xfrm>
            <a:off x="273685" y="1161415"/>
            <a:ext cx="11430" cy="42037"/>
          </a:xfrm>
          <a:custGeom>
            <a:avLst/>
            <a:gdLst/>
            <a:ahLst/>
            <a:cxnLst/>
            <a:rect l="l" t="t" r="r" b="b"/>
            <a:pathLst>
              <a:path w="27190" h="100000">
                <a:moveTo>
                  <a:pt x="13595" y="0"/>
                </a:moveTo>
                <a:cubicBezTo>
                  <a:pt x="14985" y="0"/>
                  <a:pt x="15710" y="0"/>
                  <a:pt x="16284" y="60"/>
                </a:cubicBezTo>
                <a:cubicBezTo>
                  <a:pt x="22024" y="634"/>
                  <a:pt x="26556" y="5166"/>
                  <a:pt x="27130" y="10906"/>
                </a:cubicBezTo>
                <a:cubicBezTo>
                  <a:pt x="27190" y="11480"/>
                  <a:pt x="27190" y="12205"/>
                  <a:pt x="27190" y="13595"/>
                </a:cubicBezTo>
                <a:lnTo>
                  <a:pt x="27190" y="86405"/>
                </a:lnTo>
                <a:cubicBezTo>
                  <a:pt x="27190" y="87795"/>
                  <a:pt x="27190" y="88520"/>
                  <a:pt x="27130" y="89094"/>
                </a:cubicBezTo>
                <a:cubicBezTo>
                  <a:pt x="26556" y="94834"/>
                  <a:pt x="22024" y="99366"/>
                  <a:pt x="16284" y="99940"/>
                </a:cubicBezTo>
                <a:cubicBezTo>
                  <a:pt x="15710" y="100000"/>
                  <a:pt x="14985" y="100000"/>
                  <a:pt x="13595" y="100000"/>
                </a:cubicBezTo>
                <a:lnTo>
                  <a:pt x="13595" y="100000"/>
                </a:lnTo>
                <a:cubicBezTo>
                  <a:pt x="12205" y="100000"/>
                  <a:pt x="11480" y="100000"/>
                  <a:pt x="10906" y="99940"/>
                </a:cubicBezTo>
                <a:cubicBezTo>
                  <a:pt x="5166" y="99366"/>
                  <a:pt x="634" y="94834"/>
                  <a:pt x="60" y="89094"/>
                </a:cubicBezTo>
                <a:cubicBezTo>
                  <a:pt x="0" y="88520"/>
                  <a:pt x="0" y="87795"/>
                  <a:pt x="0" y="86405"/>
                </a:cubicBezTo>
                <a:lnTo>
                  <a:pt x="0" y="13595"/>
                </a:lnTo>
                <a:cubicBezTo>
                  <a:pt x="0" y="12205"/>
                  <a:pt x="0" y="11480"/>
                  <a:pt x="60" y="10906"/>
                </a:cubicBezTo>
                <a:cubicBezTo>
                  <a:pt x="634" y="5166"/>
                  <a:pt x="5166" y="634"/>
                  <a:pt x="10906" y="60"/>
                </a:cubicBezTo>
                <a:cubicBezTo>
                  <a:pt x="11480" y="0"/>
                  <a:pt x="12205" y="0"/>
                  <a:pt x="1359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0" name="Rectangle 10"/>
          <p:cNvSpPr/>
          <p:nvPr/>
        </p:nvSpPr>
        <p:spPr>
          <a:xfrm>
            <a:off x="240792" y="1192911"/>
            <a:ext cx="77089" cy="10795"/>
          </a:xfrm>
          <a:custGeom>
            <a:avLst/>
            <a:gdLst/>
            <a:ahLst/>
            <a:cxnLst/>
            <a:rect l="l" t="t" r="r" b="b"/>
            <a:pathLst>
              <a:path w="100000" h="14003">
                <a:moveTo>
                  <a:pt x="92998" y="0"/>
                </a:moveTo>
                <a:cubicBezTo>
                  <a:pt x="93377" y="0"/>
                  <a:pt x="93575" y="0"/>
                  <a:pt x="93740" y="0"/>
                </a:cubicBezTo>
                <a:cubicBezTo>
                  <a:pt x="97117" y="181"/>
                  <a:pt x="99819" y="2883"/>
                  <a:pt x="100000" y="6260"/>
                </a:cubicBezTo>
                <a:cubicBezTo>
                  <a:pt x="100000" y="6425"/>
                  <a:pt x="100000" y="6623"/>
                  <a:pt x="100000" y="7002"/>
                </a:cubicBezTo>
                <a:lnTo>
                  <a:pt x="100000" y="7002"/>
                </a:lnTo>
                <a:cubicBezTo>
                  <a:pt x="100000" y="7381"/>
                  <a:pt x="100000" y="7578"/>
                  <a:pt x="100000" y="7743"/>
                </a:cubicBezTo>
                <a:cubicBezTo>
                  <a:pt x="99819" y="11120"/>
                  <a:pt x="97117" y="13822"/>
                  <a:pt x="93740" y="14003"/>
                </a:cubicBezTo>
                <a:cubicBezTo>
                  <a:pt x="93575" y="14003"/>
                  <a:pt x="93377" y="14003"/>
                  <a:pt x="92998" y="14003"/>
                </a:cubicBezTo>
                <a:lnTo>
                  <a:pt x="7002" y="14003"/>
                </a:lnTo>
                <a:cubicBezTo>
                  <a:pt x="6623" y="14003"/>
                  <a:pt x="6425" y="14003"/>
                  <a:pt x="6260" y="14003"/>
                </a:cubicBezTo>
                <a:cubicBezTo>
                  <a:pt x="2883" y="13822"/>
                  <a:pt x="181" y="11120"/>
                  <a:pt x="0" y="7743"/>
                </a:cubicBezTo>
                <a:cubicBezTo>
                  <a:pt x="0" y="7578"/>
                  <a:pt x="0" y="7381"/>
                  <a:pt x="0" y="7002"/>
                </a:cubicBezTo>
                <a:lnTo>
                  <a:pt x="0" y="7002"/>
                </a:lnTo>
                <a:cubicBezTo>
                  <a:pt x="0" y="6623"/>
                  <a:pt x="0" y="6425"/>
                  <a:pt x="0" y="6260"/>
                </a:cubicBezTo>
                <a:cubicBezTo>
                  <a:pt x="181" y="2883"/>
                  <a:pt x="2883" y="181"/>
                  <a:pt x="6260" y="0"/>
                </a:cubicBezTo>
                <a:cubicBezTo>
                  <a:pt x="6425" y="0"/>
                  <a:pt x="6623" y="0"/>
                  <a:pt x="7002"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1" name="Oval 11"/>
          <p:cNvSpPr/>
          <p:nvPr/>
        </p:nvSpPr>
        <p:spPr>
          <a:xfrm>
            <a:off x="21463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2" name="Oval 12"/>
          <p:cNvSpPr/>
          <p:nvPr/>
        </p:nvSpPr>
        <p:spPr>
          <a:xfrm>
            <a:off x="293370" y="149606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3" name="Oval 13"/>
          <p:cNvSpPr/>
          <p:nvPr/>
        </p:nvSpPr>
        <p:spPr>
          <a:xfrm>
            <a:off x="254000" y="1558290"/>
            <a:ext cx="50800" cy="50800"/>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4" name="Freeform 2214"/>
          <p:cNvSpPr/>
          <p:nvPr/>
        </p:nvSpPr>
        <p:spPr>
          <a:xfrm>
            <a:off x="251460" y="1537970"/>
            <a:ext cx="22860" cy="30480"/>
          </a:xfrm>
          <a:custGeom>
            <a:avLst/>
            <a:gdLst/>
            <a:ahLst/>
            <a:cxnLst/>
            <a:rect l="l" t="t" r="r" b="b"/>
            <a:pathLst>
              <a:path w="75000" h="100000" fill="none">
                <a:moveTo>
                  <a:pt x="0" y="0"/>
                </a:moveTo>
                <a:lnTo>
                  <a:pt x="7500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2215" name="Freeform 2215"/>
          <p:cNvSpPr/>
          <p:nvPr/>
        </p:nvSpPr>
        <p:spPr>
          <a:xfrm>
            <a:off x="284480" y="1537970"/>
            <a:ext cx="22860" cy="30480"/>
          </a:xfrm>
          <a:custGeom>
            <a:avLst/>
            <a:gdLst/>
            <a:ahLst/>
            <a:cxnLst/>
            <a:rect l="l" t="t" r="r" b="b"/>
            <a:pathLst>
              <a:path w="75000" h="100000" fill="none">
                <a:moveTo>
                  <a:pt x="75000" y="0"/>
                </a:moveTo>
                <a:lnTo>
                  <a:pt x="0" y="100000"/>
                </a:lnTo>
              </a:path>
            </a:pathLst>
          </a:custGeom>
          <a:noFill/>
          <a:ln w="952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2216" name="Rectangle 16"/>
          <p:cNvSpPr/>
          <p:nvPr/>
        </p:nvSpPr>
        <p:spPr>
          <a:xfrm>
            <a:off x="88900" y="1765300"/>
            <a:ext cx="381000" cy="330200"/>
          </a:xfrm>
          <a:custGeom>
            <a:avLst/>
            <a:gdLst/>
            <a:ahLst/>
            <a:cxnLst/>
            <a:rect l="l" t="t" r="r" b="b"/>
            <a:pathLst>
              <a:path w="100000" h="86667">
                <a:moveTo>
                  <a:pt x="56667" y="0"/>
                </a:moveTo>
                <a:cubicBezTo>
                  <a:pt x="69083" y="0"/>
                  <a:pt x="75290" y="0"/>
                  <a:pt x="80260" y="1810"/>
                </a:cubicBezTo>
                <a:cubicBezTo>
                  <a:pt x="88593" y="4843"/>
                  <a:pt x="95157" y="11407"/>
                  <a:pt x="98190" y="19740"/>
                </a:cubicBezTo>
                <a:cubicBezTo>
                  <a:pt x="100000" y="24710"/>
                  <a:pt x="100000" y="30917"/>
                  <a:pt x="100000" y="43333"/>
                </a:cubicBezTo>
                <a:lnTo>
                  <a:pt x="100000" y="43333"/>
                </a:lnTo>
                <a:cubicBezTo>
                  <a:pt x="100000" y="55750"/>
                  <a:pt x="100000" y="61957"/>
                  <a:pt x="98190" y="66927"/>
                </a:cubicBezTo>
                <a:cubicBezTo>
                  <a:pt x="95157" y="75260"/>
                  <a:pt x="88593" y="81823"/>
                  <a:pt x="80260" y="84857"/>
                </a:cubicBezTo>
                <a:cubicBezTo>
                  <a:pt x="75290" y="86667"/>
                  <a:pt x="69083" y="86667"/>
                  <a:pt x="56667" y="86667"/>
                </a:cubicBezTo>
                <a:lnTo>
                  <a:pt x="43333" y="86667"/>
                </a:lnTo>
                <a:cubicBezTo>
                  <a:pt x="30917" y="86667"/>
                  <a:pt x="24710" y="86667"/>
                  <a:pt x="19740" y="84857"/>
                </a:cubicBezTo>
                <a:cubicBezTo>
                  <a:pt x="11407" y="81823"/>
                  <a:pt x="4843" y="75260"/>
                  <a:pt x="1810" y="66927"/>
                </a:cubicBezTo>
                <a:cubicBezTo>
                  <a:pt x="0" y="61957"/>
                  <a:pt x="0" y="55750"/>
                  <a:pt x="0" y="43333"/>
                </a:cubicBezTo>
                <a:lnTo>
                  <a:pt x="0" y="43333"/>
                </a:lnTo>
                <a:cubicBezTo>
                  <a:pt x="0" y="30917"/>
                  <a:pt x="0" y="24710"/>
                  <a:pt x="1810" y="19740"/>
                </a:cubicBezTo>
                <a:cubicBezTo>
                  <a:pt x="4843" y="11407"/>
                  <a:pt x="11407" y="4843"/>
                  <a:pt x="19740" y="1810"/>
                </a:cubicBezTo>
                <a:cubicBezTo>
                  <a:pt x="24710" y="0"/>
                  <a:pt x="30917" y="0"/>
                  <a:pt x="43333" y="0"/>
                </a:cubicBezTo>
                <a:close/>
              </a:path>
            </a:pathLst>
          </a:cu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7" name="Rectangle 17"/>
          <p:cNvSpPr/>
          <p:nvPr/>
        </p:nvSpPr>
        <p:spPr>
          <a:xfrm>
            <a:off x="0" y="1828800"/>
            <a:ext cx="25400" cy="203200"/>
          </a:xfrm>
          <a:custGeom>
            <a:avLst/>
            <a:gdLst/>
            <a:ahLst/>
            <a:cxnLst/>
            <a:rect l="l" t="t" r="r" b="b"/>
            <a:pathLst>
              <a:path w="12500" h="100000">
                <a:moveTo>
                  <a:pt x="6250" y="0"/>
                </a:moveTo>
                <a:cubicBezTo>
                  <a:pt x="6250" y="0"/>
                  <a:pt x="6250" y="0"/>
                  <a:pt x="6250" y="0"/>
                </a:cubicBezTo>
                <a:cubicBezTo>
                  <a:pt x="9700" y="0"/>
                  <a:pt x="12500" y="2800"/>
                  <a:pt x="12500" y="6250"/>
                </a:cubicBezTo>
                <a:cubicBezTo>
                  <a:pt x="12500" y="6250"/>
                  <a:pt x="12500" y="6250"/>
                  <a:pt x="12500" y="6250"/>
                </a:cubicBezTo>
                <a:lnTo>
                  <a:pt x="12500" y="93750"/>
                </a:lnTo>
                <a:cubicBezTo>
                  <a:pt x="12500" y="93750"/>
                  <a:pt x="12500" y="93750"/>
                  <a:pt x="12500" y="93750"/>
                </a:cubicBezTo>
                <a:cubicBezTo>
                  <a:pt x="12500" y="97200"/>
                  <a:pt x="9700" y="100000"/>
                  <a:pt x="6250" y="100000"/>
                </a:cubicBezTo>
                <a:cubicBezTo>
                  <a:pt x="6250" y="100000"/>
                  <a:pt x="6250" y="100000"/>
                  <a:pt x="6250" y="100000"/>
                </a:cubicBezTo>
                <a:lnTo>
                  <a:pt x="6250" y="100000"/>
                </a:lnTo>
                <a:cubicBezTo>
                  <a:pt x="6250" y="100000"/>
                  <a:pt x="6250" y="100000"/>
                  <a:pt x="6250" y="100000"/>
                </a:cubicBezTo>
                <a:cubicBezTo>
                  <a:pt x="2800" y="100000"/>
                  <a:pt x="0" y="97200"/>
                  <a:pt x="0" y="93750"/>
                </a:cubicBezTo>
                <a:cubicBezTo>
                  <a:pt x="0" y="93750"/>
                  <a:pt x="0" y="93750"/>
                  <a:pt x="0" y="93750"/>
                </a:cubicBezTo>
                <a:lnTo>
                  <a:pt x="0" y="6250"/>
                </a:lnTo>
                <a:cubicBezTo>
                  <a:pt x="0" y="6250"/>
                  <a:pt x="0" y="6250"/>
                  <a:pt x="0" y="6250"/>
                </a:cubicBezTo>
                <a:cubicBezTo>
                  <a:pt x="0" y="2800"/>
                  <a:pt x="2800" y="0"/>
                  <a:pt x="6250" y="0"/>
                </a:cubicBezTo>
                <a:cubicBezTo>
                  <a:pt x="6250" y="0"/>
                  <a:pt x="6250" y="0"/>
                  <a:pt x="6250"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8" name="Rectangle 18"/>
          <p:cNvSpPr/>
          <p:nvPr/>
        </p:nvSpPr>
        <p:spPr>
          <a:xfrm>
            <a:off x="21209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19" name="Rectangle 19"/>
          <p:cNvSpPr/>
          <p:nvPr/>
        </p:nvSpPr>
        <p:spPr>
          <a:xfrm>
            <a:off x="285750" y="186309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0" name="Rectangle 20"/>
          <p:cNvSpPr/>
          <p:nvPr/>
        </p:nvSpPr>
        <p:spPr>
          <a:xfrm>
            <a:off x="212090" y="1936750"/>
            <a:ext cx="60960" cy="60960"/>
          </a:xfrm>
          <a:custGeom>
            <a:avLst/>
            <a:gdLst/>
            <a:ahLst/>
            <a:cxnLst/>
            <a:rect l="l" t="t" r="r" b="b"/>
            <a:pathLst>
              <a:path w="100000" h="100000">
                <a:moveTo>
                  <a:pt x="50000" y="0"/>
                </a:moveTo>
                <a:cubicBezTo>
                  <a:pt x="69500" y="0"/>
                  <a:pt x="79229" y="0"/>
                  <a:pt x="86354" y="4479"/>
                </a:cubicBezTo>
                <a:cubicBezTo>
                  <a:pt x="90063" y="6792"/>
                  <a:pt x="93208" y="9938"/>
                  <a:pt x="95521" y="13646"/>
                </a:cubicBezTo>
                <a:cubicBezTo>
                  <a:pt x="100000" y="20771"/>
                  <a:pt x="100000" y="30500"/>
                  <a:pt x="100000" y="50000"/>
                </a:cubicBezTo>
                <a:lnTo>
                  <a:pt x="100000" y="50000"/>
                </a:lnTo>
                <a:cubicBezTo>
                  <a:pt x="100000" y="69500"/>
                  <a:pt x="100000" y="79229"/>
                  <a:pt x="95521" y="86354"/>
                </a:cubicBezTo>
                <a:cubicBezTo>
                  <a:pt x="93208" y="90063"/>
                  <a:pt x="90063" y="93208"/>
                  <a:pt x="86354" y="95521"/>
                </a:cubicBezTo>
                <a:cubicBezTo>
                  <a:pt x="79229" y="100000"/>
                  <a:pt x="69500" y="100000"/>
                  <a:pt x="50000" y="100000"/>
                </a:cubicBezTo>
                <a:lnTo>
                  <a:pt x="50000" y="100000"/>
                </a:lnTo>
                <a:cubicBezTo>
                  <a:pt x="30500" y="100000"/>
                  <a:pt x="20771" y="100000"/>
                  <a:pt x="13646" y="95521"/>
                </a:cubicBezTo>
                <a:cubicBezTo>
                  <a:pt x="9938" y="93208"/>
                  <a:pt x="6792" y="90063"/>
                  <a:pt x="4479" y="86354"/>
                </a:cubicBezTo>
                <a:cubicBezTo>
                  <a:pt x="0" y="79229"/>
                  <a:pt x="0" y="69500"/>
                  <a:pt x="0" y="50000"/>
                </a:cubicBezTo>
                <a:lnTo>
                  <a:pt x="0" y="50000"/>
                </a:lnTo>
                <a:cubicBezTo>
                  <a:pt x="0" y="30500"/>
                  <a:pt x="0" y="20771"/>
                  <a:pt x="4479" y="13646"/>
                </a:cubicBezTo>
                <a:cubicBezTo>
                  <a:pt x="6792" y="9938"/>
                  <a:pt x="9938" y="6792"/>
                  <a:pt x="13646" y="4479"/>
                </a:cubicBezTo>
                <a:cubicBezTo>
                  <a:pt x="20771" y="0"/>
                  <a:pt x="30500" y="0"/>
                  <a:pt x="50000" y="0"/>
                </a:cubicBez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1" name="Rectangle 21"/>
          <p:cNvSpPr/>
          <p:nvPr/>
        </p:nvSpPr>
        <p:spPr>
          <a:xfrm>
            <a:off x="234696" y="6308979"/>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2" name="Rectangle 22"/>
          <p:cNvSpPr/>
          <p:nvPr/>
        </p:nvSpPr>
        <p:spPr>
          <a:xfrm>
            <a:off x="234696" y="6343650"/>
            <a:ext cx="89408" cy="11430"/>
          </a:xfrm>
          <a:prstGeom prst="roundRect">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3" name="Oval 23"/>
          <p:cNvSpPr/>
          <p:nvPr/>
        </p:nvSpPr>
        <p:spPr>
          <a:xfrm>
            <a:off x="171450" y="6496050"/>
            <a:ext cx="215900" cy="2159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4" name="TextBox 24"/>
          <p:cNvSpPr txBox="1"/>
          <p:nvPr/>
        </p:nvSpPr>
        <p:spPr>
          <a:xfrm>
            <a:off x="171450" y="6496050"/>
            <a:ext cx="215900" cy="215900"/>
          </a:xfrm>
          <a:prstGeom prst="rect">
            <a:avLst/>
          </a:prstGeom>
        </p:spPr>
        <p:txBody>
          <a:bodyPr wrap="square" lIns="0" tIns="0" rIns="0" bIns="0" anchor="ctr">
            <a:noAutofit/>
          </a:bodyPr>
          <a:lstStyle/>
          <a:p>
            <a:pPr algn="ctr">
              <a:lnSpc>
                <a:spcPct val="135000"/>
              </a:lnSpc>
            </a:pPr>
            <a:r>
              <a:rPr sz="460" b="1" spc="0">
                <a:solidFill>
                  <a:srgbClr val="67676E"/>
                </a:solidFill>
                <a:latin typeface="Telegraf"/>
              </a:rPr>
              <a:t>PN</a:t>
            </a:r>
            <a:endParaRPr sz="460" b="1" spc="0">
              <a:solidFill>
                <a:srgbClr val="67676E"/>
              </a:solidFill>
              <a:latin typeface="Telegraf"/>
            </a:endParaRPr>
          </a:p>
        </p:txBody>
      </p:sp>
      <p:sp>
        <p:nvSpPr>
          <p:cNvPr id="2225" name="Rectangle 25"/>
          <p:cNvSpPr/>
          <p:nvPr/>
        </p:nvSpPr>
        <p:spPr>
          <a:xfrm>
            <a:off x="558800" y="0"/>
            <a:ext cx="9753600" cy="508000"/>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6" name="Rectangle 26"/>
          <p:cNvSpPr/>
          <p:nvPr/>
        </p:nvSpPr>
        <p:spPr>
          <a:xfrm>
            <a:off x="558800" y="497840"/>
            <a:ext cx="9753600" cy="11430"/>
          </a:xfrm>
          <a:prstGeom prst="roundRect">
            <a:avLst/>
          </a:prstGeom>
          <a:solidFill>
            <a:srgbClr val="E4E4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7" name="Rectangle 27"/>
          <p:cNvSpPr/>
          <p:nvPr/>
        </p:nvSpPr>
        <p:spPr>
          <a:xfrm>
            <a:off x="711200" y="114300"/>
            <a:ext cx="1625600" cy="292100"/>
          </a:xfrm>
          <a:custGeom>
            <a:avLst/>
            <a:gdLst/>
            <a:ahLst/>
            <a:cxnLst/>
            <a:rect l="l" t="t" r="r" b="b"/>
            <a:pathLst>
              <a:path w="100000" h="17969">
                <a:moveTo>
                  <a:pt x="91016" y="0"/>
                </a:moveTo>
                <a:cubicBezTo>
                  <a:pt x="93929" y="0"/>
                  <a:pt x="95386" y="0"/>
                  <a:pt x="96524" y="506"/>
                </a:cubicBezTo>
                <a:cubicBezTo>
                  <a:pt x="97847" y="1095"/>
                  <a:pt x="98905" y="2153"/>
                  <a:pt x="99494" y="3476"/>
                </a:cubicBezTo>
                <a:cubicBezTo>
                  <a:pt x="100000" y="4614"/>
                  <a:pt x="100000" y="6071"/>
                  <a:pt x="100000" y="8984"/>
                </a:cubicBezTo>
                <a:lnTo>
                  <a:pt x="100000" y="8984"/>
                </a:lnTo>
                <a:cubicBezTo>
                  <a:pt x="100000" y="11898"/>
                  <a:pt x="100000" y="13355"/>
                  <a:pt x="99494" y="14493"/>
                </a:cubicBezTo>
                <a:cubicBezTo>
                  <a:pt x="98905" y="15816"/>
                  <a:pt x="97847" y="16873"/>
                  <a:pt x="96524" y="17463"/>
                </a:cubicBezTo>
                <a:cubicBezTo>
                  <a:pt x="95386" y="17969"/>
                  <a:pt x="93929" y="17969"/>
                  <a:pt x="91016" y="17969"/>
                </a:cubicBezTo>
                <a:lnTo>
                  <a:pt x="8984" y="17969"/>
                </a:lnTo>
                <a:cubicBezTo>
                  <a:pt x="6071" y="17969"/>
                  <a:pt x="4614" y="17969"/>
                  <a:pt x="3476" y="17463"/>
                </a:cubicBezTo>
                <a:cubicBezTo>
                  <a:pt x="2153" y="16873"/>
                  <a:pt x="1095" y="15816"/>
                  <a:pt x="506" y="14493"/>
                </a:cubicBezTo>
                <a:cubicBezTo>
                  <a:pt x="0" y="13355"/>
                  <a:pt x="0" y="11898"/>
                  <a:pt x="0" y="8984"/>
                </a:cubicBezTo>
                <a:lnTo>
                  <a:pt x="0" y="8984"/>
                </a:lnTo>
                <a:cubicBezTo>
                  <a:pt x="0" y="6071"/>
                  <a:pt x="0" y="4614"/>
                  <a:pt x="506" y="3476"/>
                </a:cubicBezTo>
                <a:cubicBezTo>
                  <a:pt x="1095" y="2153"/>
                  <a:pt x="2153" y="1095"/>
                  <a:pt x="3476" y="506"/>
                </a:cubicBezTo>
                <a:cubicBezTo>
                  <a:pt x="4614" y="0"/>
                  <a:pt x="6071" y="0"/>
                  <a:pt x="8984"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28" name="TextBox 28"/>
          <p:cNvSpPr txBox="1"/>
          <p:nvPr/>
        </p:nvSpPr>
        <p:spPr>
          <a:xfrm>
            <a:off x="825500" y="114300"/>
            <a:ext cx="1219200" cy="292100"/>
          </a:xfrm>
          <a:prstGeom prst="rect">
            <a:avLst/>
          </a:prstGeom>
        </p:spPr>
        <p:txBody>
          <a:bodyPr wrap="square" lIns="0" tIns="0" rIns="0" bIns="0" anchor="ctr">
            <a:noAutofit/>
          </a:bodyPr>
          <a:lstStyle/>
          <a:p>
            <a:pPr>
              <a:lnSpc>
                <a:spcPct val="135000"/>
              </a:lnSpc>
            </a:pPr>
            <a:r>
              <a:rPr sz="660" b="1" spc="0">
                <a:solidFill>
                  <a:srgbClr val="0A0A0A"/>
                </a:solidFill>
                <a:latin typeface="Telegraf"/>
              </a:rPr>
              <a:t>CloudPulse CRM</a:t>
            </a:r>
            <a:endParaRPr sz="660" b="1" spc="0">
              <a:solidFill>
                <a:srgbClr val="0A0A0A"/>
              </a:solidFill>
              <a:latin typeface="Telegraf"/>
            </a:endParaRPr>
          </a:p>
        </p:txBody>
      </p:sp>
      <p:sp>
        <p:nvSpPr>
          <p:cNvPr id="2229" name="Freeform 2229"/>
          <p:cNvSpPr/>
          <p:nvPr/>
        </p:nvSpPr>
        <p:spPr>
          <a:xfrm>
            <a:off x="2148840" y="242570"/>
            <a:ext cx="71120" cy="35560"/>
          </a:xfrm>
          <a:custGeom>
            <a:avLst/>
            <a:gdLst/>
            <a:ahLst/>
            <a:cxnLst/>
            <a:rect l="l" t="t" r="r" b="b"/>
            <a:pathLst>
              <a:path w="100000" h="50000" fill="none">
                <a:moveTo>
                  <a:pt x="0" y="0"/>
                </a:moveTo>
                <a:lnTo>
                  <a:pt x="50000" y="50000"/>
                </a:lnTo>
                <a:lnTo>
                  <a:pt x="100000" y="0"/>
                </a:lnTo>
              </a:path>
            </a:pathLst>
          </a:custGeom>
          <a:noFill/>
          <a:ln w="11430"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2230" name="Oval 30"/>
          <p:cNvSpPr/>
          <p:nvPr/>
        </p:nvSpPr>
        <p:spPr>
          <a:xfrm>
            <a:off x="9861550" y="133350"/>
            <a:ext cx="241300" cy="241300"/>
          </a:xfrm>
          <a:prstGeom prst="ellipse">
            <a:avLst/>
          </a:prstGeom>
          <a:solidFill>
            <a:srgbClr val="EA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31" name="TextBox 31"/>
          <p:cNvSpPr txBox="1"/>
          <p:nvPr/>
        </p:nvSpPr>
        <p:spPr>
          <a:xfrm>
            <a:off x="9861550" y="133350"/>
            <a:ext cx="241300" cy="241300"/>
          </a:xfrm>
          <a:prstGeom prst="rect">
            <a:avLst/>
          </a:prstGeom>
        </p:spPr>
        <p:txBody>
          <a:bodyPr wrap="square" lIns="0" tIns="0" rIns="0" bIns="0" anchor="ctr">
            <a:noAutofit/>
          </a:bodyPr>
          <a:lstStyle/>
          <a:p>
            <a:pPr algn="ctr">
              <a:lnSpc>
                <a:spcPct val="135000"/>
              </a:lnSpc>
            </a:pPr>
            <a:r>
              <a:rPr sz="500" b="1" spc="0">
                <a:solidFill>
                  <a:srgbClr val="0E6B5F"/>
                </a:solidFill>
                <a:latin typeface="Telegraf"/>
              </a:rPr>
              <a:t>PN</a:t>
            </a:r>
            <a:endParaRPr sz="500" b="1" spc="0">
              <a:solidFill>
                <a:srgbClr val="0E6B5F"/>
              </a:solidFill>
              <a:latin typeface="Telegraf"/>
            </a:endParaRPr>
          </a:p>
        </p:txBody>
      </p:sp>
      <p:sp>
        <p:nvSpPr>
          <p:cNvPr id="2232" name="Rectangle 32"/>
          <p:cNvSpPr/>
          <p:nvPr/>
        </p:nvSpPr>
        <p:spPr>
          <a:xfrm>
            <a:off x="9728200" y="127000"/>
            <a:ext cx="203200" cy="254000"/>
          </a:xfrm>
          <a:custGeom>
            <a:avLst/>
            <a:gdLst/>
            <a:ahLst/>
            <a:cxnLst/>
            <a:rect l="l" t="t" r="r" b="b"/>
            <a:pathLst>
              <a:path w="80000" h="100000">
                <a:moveTo>
                  <a:pt x="40000" y="0"/>
                </a:moveTo>
                <a:cubicBezTo>
                  <a:pt x="54000" y="0"/>
                  <a:pt x="61000" y="0"/>
                  <a:pt x="66350" y="2725"/>
                </a:cubicBezTo>
                <a:cubicBezTo>
                  <a:pt x="71055" y="5120"/>
                  <a:pt x="74880" y="8945"/>
                  <a:pt x="77275" y="13650"/>
                </a:cubicBezTo>
                <a:cubicBezTo>
                  <a:pt x="80000" y="19000"/>
                  <a:pt x="80000" y="26000"/>
                  <a:pt x="80000" y="40000"/>
                </a:cubicBezTo>
                <a:lnTo>
                  <a:pt x="80000" y="60000"/>
                </a:lnTo>
                <a:cubicBezTo>
                  <a:pt x="80000" y="74000"/>
                  <a:pt x="80000" y="81000"/>
                  <a:pt x="77275" y="86350"/>
                </a:cubicBezTo>
                <a:cubicBezTo>
                  <a:pt x="74880" y="91055"/>
                  <a:pt x="71055" y="94880"/>
                  <a:pt x="66350" y="97275"/>
                </a:cubicBezTo>
                <a:cubicBezTo>
                  <a:pt x="61000" y="100000"/>
                  <a:pt x="54000" y="100000"/>
                  <a:pt x="40000" y="100000"/>
                </a:cubicBezTo>
                <a:lnTo>
                  <a:pt x="40000" y="100000"/>
                </a:lnTo>
                <a:cubicBezTo>
                  <a:pt x="26000" y="100000"/>
                  <a:pt x="19000" y="100000"/>
                  <a:pt x="13650" y="97275"/>
                </a:cubicBezTo>
                <a:cubicBezTo>
                  <a:pt x="8945" y="94880"/>
                  <a:pt x="5120" y="91055"/>
                  <a:pt x="2725" y="86350"/>
                </a:cubicBezTo>
                <a:cubicBezTo>
                  <a:pt x="0" y="81000"/>
                  <a:pt x="0" y="74000"/>
                  <a:pt x="0" y="60000"/>
                </a:cubicBezTo>
                <a:lnTo>
                  <a:pt x="0" y="40000"/>
                </a:lnTo>
                <a:cubicBezTo>
                  <a:pt x="0" y="26000"/>
                  <a:pt x="0" y="19000"/>
                  <a:pt x="2725" y="13650"/>
                </a:cubicBezTo>
                <a:cubicBezTo>
                  <a:pt x="5120" y="8945"/>
                  <a:pt x="8945" y="5120"/>
                  <a:pt x="13650" y="2725"/>
                </a:cubicBezTo>
                <a:cubicBezTo>
                  <a:pt x="19000" y="0"/>
                  <a:pt x="26000" y="0"/>
                  <a:pt x="40000"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33" name="TextBox 33"/>
          <p:cNvSpPr txBox="1"/>
          <p:nvPr/>
        </p:nvSpPr>
        <p:spPr>
          <a:xfrm>
            <a:off x="9728200" y="127000"/>
            <a:ext cx="203200" cy="254000"/>
          </a:xfrm>
          <a:prstGeom prst="rect">
            <a:avLst/>
          </a:prstGeom>
        </p:spPr>
        <p:txBody>
          <a:bodyPr wrap="square" lIns="0" tIns="0" rIns="0" bIns="0" anchor="ctr">
            <a:noAutofit/>
          </a:bodyPr>
          <a:lstStyle/>
          <a:p>
            <a:pPr algn="ctr">
              <a:lnSpc>
                <a:spcPct val="135000"/>
              </a:lnSpc>
            </a:pPr>
            <a:r>
              <a:rPr sz="640" spc="0">
                <a:solidFill>
                  <a:srgbClr val="67676E"/>
                </a:solidFill>
                <a:latin typeface="Telegraf"/>
              </a:rPr>
              <a:t>↺</a:t>
            </a:r>
            <a:endParaRPr sz="640" spc="0">
              <a:solidFill>
                <a:srgbClr val="67676E"/>
              </a:solidFill>
              <a:latin typeface="Telegraf"/>
            </a:endParaRPr>
          </a:p>
        </p:txBody>
      </p:sp>
      <p:sp>
        <p:nvSpPr>
          <p:cNvPr id="2234" name="Rectangle 34"/>
          <p:cNvSpPr/>
          <p:nvPr/>
        </p:nvSpPr>
        <p:spPr>
          <a:xfrm>
            <a:off x="8612632" y="114300"/>
            <a:ext cx="988568" cy="292100"/>
          </a:xfrm>
          <a:custGeom>
            <a:avLst/>
            <a:gdLst/>
            <a:ahLst/>
            <a:cxnLst/>
            <a:rect l="l" t="t" r="r" b="b"/>
            <a:pathLst>
              <a:path w="100000" h="29548">
                <a:moveTo>
                  <a:pt x="85226" y="0"/>
                </a:moveTo>
                <a:cubicBezTo>
                  <a:pt x="85226" y="0"/>
                  <a:pt x="85226" y="0"/>
                  <a:pt x="85226" y="0"/>
                </a:cubicBezTo>
                <a:cubicBezTo>
                  <a:pt x="93385" y="0"/>
                  <a:pt x="100000" y="6615"/>
                  <a:pt x="100000" y="14774"/>
                </a:cubicBezTo>
                <a:cubicBezTo>
                  <a:pt x="100000" y="14774"/>
                  <a:pt x="100000" y="14774"/>
                  <a:pt x="100000" y="14774"/>
                </a:cubicBezTo>
                <a:lnTo>
                  <a:pt x="100000" y="14774"/>
                </a:lnTo>
                <a:cubicBezTo>
                  <a:pt x="100000" y="14774"/>
                  <a:pt x="100000" y="14774"/>
                  <a:pt x="100000" y="14774"/>
                </a:cubicBezTo>
                <a:cubicBezTo>
                  <a:pt x="100000" y="22933"/>
                  <a:pt x="93385" y="29548"/>
                  <a:pt x="85226" y="29548"/>
                </a:cubicBezTo>
                <a:cubicBezTo>
                  <a:pt x="85226" y="29548"/>
                  <a:pt x="85226" y="29548"/>
                  <a:pt x="85226" y="29548"/>
                </a:cubicBezTo>
                <a:lnTo>
                  <a:pt x="14774" y="29548"/>
                </a:lnTo>
                <a:cubicBezTo>
                  <a:pt x="14774" y="29548"/>
                  <a:pt x="14774" y="29548"/>
                  <a:pt x="14774" y="29548"/>
                </a:cubicBezTo>
                <a:cubicBezTo>
                  <a:pt x="6615" y="29548"/>
                  <a:pt x="0" y="22933"/>
                  <a:pt x="0" y="14774"/>
                </a:cubicBezTo>
                <a:cubicBezTo>
                  <a:pt x="0" y="14774"/>
                  <a:pt x="0" y="14774"/>
                  <a:pt x="0" y="14774"/>
                </a:cubicBezTo>
                <a:lnTo>
                  <a:pt x="0" y="14774"/>
                </a:lnTo>
                <a:cubicBezTo>
                  <a:pt x="0" y="14774"/>
                  <a:pt x="0" y="14774"/>
                  <a:pt x="0" y="14774"/>
                </a:cubicBezTo>
                <a:cubicBezTo>
                  <a:pt x="0" y="6615"/>
                  <a:pt x="6615" y="0"/>
                  <a:pt x="14774" y="0"/>
                </a:cubicBezTo>
                <a:cubicBezTo>
                  <a:pt x="14774" y="0"/>
                  <a:pt x="14774" y="0"/>
                  <a:pt x="14774"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35" name="Oval 35"/>
          <p:cNvSpPr/>
          <p:nvPr/>
        </p:nvSpPr>
        <p:spPr>
          <a:xfrm>
            <a:off x="8674862" y="24130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36" name="TextBox 36"/>
          <p:cNvSpPr txBox="1"/>
          <p:nvPr/>
        </p:nvSpPr>
        <p:spPr>
          <a:xfrm>
            <a:off x="8777732" y="114300"/>
            <a:ext cx="772668" cy="292100"/>
          </a:xfrm>
          <a:prstGeom prst="rect">
            <a:avLst/>
          </a:prstGeom>
        </p:spPr>
        <p:txBody>
          <a:bodyPr wrap="square" lIns="0" tIns="0" rIns="0" bIns="0" anchor="ctr">
            <a:noAutofit/>
          </a:bodyPr>
          <a:lstStyle/>
          <a:p>
            <a:pPr>
              <a:lnSpc>
                <a:spcPct val="135000"/>
              </a:lnSpc>
            </a:pPr>
            <a:r>
              <a:rPr sz="580" b="1" spc="10">
                <a:solidFill>
                  <a:srgbClr val="FFFFFF"/>
                </a:solidFill>
                <a:latin typeface="Telegraf"/>
              </a:rPr>
              <a:t>Test my AI agent</a:t>
            </a:r>
            <a:endParaRPr sz="580" b="1" spc="10">
              <a:solidFill>
                <a:srgbClr val="FFFFFF"/>
              </a:solidFill>
              <a:latin typeface="Telegraf"/>
            </a:endParaRPr>
          </a:p>
        </p:txBody>
      </p:sp>
      <p:sp>
        <p:nvSpPr>
          <p:cNvPr id="2237" name="Rectangle 37"/>
          <p:cNvSpPr/>
          <p:nvPr/>
        </p:nvSpPr>
        <p:spPr>
          <a:xfrm>
            <a:off x="7215632" y="114300"/>
            <a:ext cx="1168400" cy="292100"/>
          </a:xfrm>
          <a:custGeom>
            <a:avLst/>
            <a:gdLst/>
            <a:ahLst/>
            <a:cxnLst/>
            <a:rect l="l" t="t" r="r" b="b"/>
            <a:pathLst>
              <a:path w="100000" h="25000">
                <a:moveTo>
                  <a:pt x="87500" y="0"/>
                </a:moveTo>
                <a:cubicBezTo>
                  <a:pt x="87500" y="0"/>
                  <a:pt x="87500" y="0"/>
                  <a:pt x="87500" y="0"/>
                </a:cubicBezTo>
                <a:cubicBezTo>
                  <a:pt x="94403" y="0"/>
                  <a:pt x="100000" y="5597"/>
                  <a:pt x="100000" y="12500"/>
                </a:cubicBezTo>
                <a:cubicBezTo>
                  <a:pt x="100000" y="12500"/>
                  <a:pt x="100000" y="12500"/>
                  <a:pt x="100000" y="12500"/>
                </a:cubicBezTo>
                <a:lnTo>
                  <a:pt x="100000" y="12500"/>
                </a:lnTo>
                <a:cubicBezTo>
                  <a:pt x="100000" y="12500"/>
                  <a:pt x="100000" y="12500"/>
                  <a:pt x="100000" y="12500"/>
                </a:cubicBezTo>
                <a:cubicBezTo>
                  <a:pt x="100000" y="19403"/>
                  <a:pt x="94403" y="25000"/>
                  <a:pt x="87500" y="25000"/>
                </a:cubicBezTo>
                <a:cubicBezTo>
                  <a:pt x="87500" y="25000"/>
                  <a:pt x="87500" y="25000"/>
                  <a:pt x="87500" y="25000"/>
                </a:cubicBezTo>
                <a:lnTo>
                  <a:pt x="12500" y="25000"/>
                </a:lnTo>
                <a:cubicBezTo>
                  <a:pt x="12500" y="25000"/>
                  <a:pt x="12500" y="25000"/>
                  <a:pt x="12500" y="25000"/>
                </a:cubicBezTo>
                <a:cubicBezTo>
                  <a:pt x="5597" y="25000"/>
                  <a:pt x="0" y="19403"/>
                  <a:pt x="0" y="12500"/>
                </a:cubicBezTo>
                <a:cubicBezTo>
                  <a:pt x="0" y="12500"/>
                  <a:pt x="0" y="12500"/>
                  <a:pt x="0" y="12500"/>
                </a:cubicBezTo>
                <a:lnTo>
                  <a:pt x="0" y="12500"/>
                </a:lnTo>
                <a:cubicBezTo>
                  <a:pt x="0" y="12500"/>
                  <a:pt x="0" y="12500"/>
                  <a:pt x="0" y="12500"/>
                </a:cubicBezTo>
                <a:cubicBezTo>
                  <a:pt x="0" y="5597"/>
                  <a:pt x="5597" y="0"/>
                  <a:pt x="12500" y="0"/>
                </a:cubicBezTo>
                <a:cubicBezTo>
                  <a:pt x="12500" y="0"/>
                  <a:pt x="12500" y="0"/>
                  <a:pt x="125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38" name="Oval 38"/>
          <p:cNvSpPr/>
          <p:nvPr/>
        </p:nvSpPr>
        <p:spPr>
          <a:xfrm>
            <a:off x="7276719" y="219837"/>
            <a:ext cx="59817" cy="59817"/>
          </a:xfrm>
          <a:prstGeom prst="ellipse">
            <a:avLst/>
          </a:pr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39" name="Freeform 2239"/>
          <p:cNvSpPr/>
          <p:nvPr/>
        </p:nvSpPr>
        <p:spPr>
          <a:xfrm>
            <a:off x="7330694" y="273812"/>
            <a:ext cx="28067" cy="28067"/>
          </a:xfrm>
          <a:custGeom>
            <a:avLst/>
            <a:gdLst/>
            <a:ahLst/>
            <a:cxnLst/>
            <a:rect l="l" t="t" r="r" b="b"/>
            <a:pathLst>
              <a:path w="100000" h="100000" fill="none">
                <a:moveTo>
                  <a:pt x="0" y="0"/>
                </a:moveTo>
                <a:lnTo>
                  <a:pt x="100000" y="100000"/>
                </a:lnTo>
              </a:path>
            </a:pathLst>
          </a:custGeom>
          <a:noFill/>
          <a:ln w="12065" cap="rnd">
            <a:solidFill>
              <a:srgbClr val="A2A2A8"/>
            </a:solidFill>
            <a:round/>
          </a:ln>
        </p:spPr>
        <p:style>
          <a:lnRef idx="1">
            <a:schemeClr val="accent1"/>
          </a:lnRef>
          <a:fillRef idx="0">
            <a:schemeClr val="accent1"/>
          </a:fillRef>
          <a:effectRef idx="0">
            <a:schemeClr val="accent1"/>
          </a:effectRef>
          <a:fontRef idx="minor">
            <a:schemeClr val="tx1"/>
          </a:fontRef>
        </p:style>
      </p:sp>
      <p:sp>
        <p:nvSpPr>
          <p:cNvPr id="2240" name="TextBox 40"/>
          <p:cNvSpPr txBox="1"/>
          <p:nvPr/>
        </p:nvSpPr>
        <p:spPr>
          <a:xfrm>
            <a:off x="7418832" y="114300"/>
            <a:ext cx="889000" cy="292100"/>
          </a:xfrm>
          <a:prstGeom prst="rect">
            <a:avLst/>
          </a:prstGeom>
        </p:spPr>
        <p:txBody>
          <a:bodyPr wrap="square" lIns="0" tIns="0" rIns="0" bIns="0" anchor="ctr">
            <a:noAutofit/>
          </a:bodyPr>
          <a:lstStyle/>
          <a:p>
            <a:pPr>
              <a:lnSpc>
                <a:spcPct val="135000"/>
              </a:lnSpc>
            </a:pPr>
            <a:r>
              <a:rPr sz="560" spc="0">
                <a:solidFill>
                  <a:srgbClr val="A2A2A8"/>
                </a:solidFill>
                <a:latin typeface="Telegraf"/>
              </a:rPr>
              <a:t>Search tickets</a:t>
            </a:r>
            <a:endParaRPr sz="560" spc="0">
              <a:solidFill>
                <a:srgbClr val="A2A2A8"/>
              </a:solidFill>
              <a:latin typeface="Telegraf"/>
            </a:endParaRPr>
          </a:p>
        </p:txBody>
      </p:sp>
      <p:sp>
        <p:nvSpPr>
          <p:cNvPr id="2241" name="TextBox 41"/>
          <p:cNvSpPr txBox="1"/>
          <p:nvPr/>
        </p:nvSpPr>
        <p:spPr>
          <a:xfrm>
            <a:off x="762000" y="685800"/>
            <a:ext cx="3810000" cy="381000"/>
          </a:xfrm>
          <a:prstGeom prst="rect">
            <a:avLst/>
          </a:prstGeom>
        </p:spPr>
        <p:txBody>
          <a:bodyPr wrap="square" lIns="0" tIns="0" rIns="0" bIns="0">
            <a:noAutofit/>
          </a:bodyPr>
          <a:lstStyle/>
          <a:p>
            <a:pPr>
              <a:lnSpc>
                <a:spcPct val="102000"/>
              </a:lnSpc>
            </a:pPr>
            <a:r>
              <a:rPr sz="2500" spc="-100">
                <a:solidFill>
                  <a:srgbClr val="0A0A0A"/>
                </a:solidFill>
                <a:latin typeface="PP Editorial New Ultralight"/>
              </a:rPr>
              <a:t>Channels.</a:t>
            </a:r>
            <a:endParaRPr sz="2500" spc="-100">
              <a:solidFill>
                <a:srgbClr val="0A0A0A"/>
              </a:solidFill>
              <a:latin typeface="PP Editorial New Ultralight"/>
            </a:endParaRPr>
          </a:p>
        </p:txBody>
      </p:sp>
      <p:sp>
        <p:nvSpPr>
          <p:cNvPr id="2242" name="TextBox 42"/>
          <p:cNvSpPr txBox="1"/>
          <p:nvPr/>
        </p:nvSpPr>
        <p:spPr>
          <a:xfrm>
            <a:off x="774700" y="1066800"/>
            <a:ext cx="5080000" cy="152400"/>
          </a:xfrm>
          <a:prstGeom prst="rect">
            <a:avLst/>
          </a:prstGeom>
        </p:spPr>
        <p:txBody>
          <a:bodyPr wrap="square" lIns="0" tIns="0" rIns="0" bIns="0">
            <a:noAutofit/>
          </a:bodyPr>
          <a:lstStyle/>
          <a:p>
            <a:pPr>
              <a:lnSpc>
                <a:spcPct val="135000"/>
              </a:lnSpc>
            </a:pPr>
            <a:r>
              <a:rPr sz="540" spc="0">
                <a:solidFill>
                  <a:srgbClr val="67676E"/>
                </a:solidFill>
                <a:latin typeface="Telegraf"/>
              </a:rPr>
              <a:t>Four ways in  ·  one honest state each  ·  every one simulatable</a:t>
            </a:r>
            <a:endParaRPr sz="540" spc="0">
              <a:solidFill>
                <a:srgbClr val="67676E"/>
              </a:solidFill>
              <a:latin typeface="Telegraf"/>
            </a:endParaRPr>
          </a:p>
        </p:txBody>
      </p:sp>
      <p:sp>
        <p:nvSpPr>
          <p:cNvPr id="2243" name="Rectangle 43"/>
          <p:cNvSpPr/>
          <p:nvPr/>
        </p:nvSpPr>
        <p:spPr>
          <a:xfrm>
            <a:off x="762000" y="1270000"/>
            <a:ext cx="2895600" cy="1320800"/>
          </a:xfrm>
          <a:custGeom>
            <a:avLst/>
            <a:gdLst/>
            <a:ahLst/>
            <a:cxnLst/>
            <a:rect l="l" t="t" r="r" b="b"/>
            <a:pathLst>
              <a:path w="100000" h="45614">
                <a:moveTo>
                  <a:pt x="89474" y="0"/>
                </a:moveTo>
                <a:cubicBezTo>
                  <a:pt x="94436" y="0"/>
                  <a:pt x="96917" y="0"/>
                  <a:pt x="98458" y="1542"/>
                </a:cubicBezTo>
                <a:cubicBezTo>
                  <a:pt x="98458" y="1542"/>
                  <a:pt x="98458" y="1542"/>
                  <a:pt x="98458" y="1542"/>
                </a:cubicBezTo>
                <a:cubicBezTo>
                  <a:pt x="100000" y="3083"/>
                  <a:pt x="100000" y="5564"/>
                  <a:pt x="100000" y="10526"/>
                </a:cubicBezTo>
                <a:lnTo>
                  <a:pt x="100000" y="35088"/>
                </a:lnTo>
                <a:cubicBezTo>
                  <a:pt x="100000" y="40050"/>
                  <a:pt x="100000" y="42531"/>
                  <a:pt x="98458" y="44072"/>
                </a:cubicBezTo>
                <a:cubicBezTo>
                  <a:pt x="98458" y="44072"/>
                  <a:pt x="98458" y="44072"/>
                  <a:pt x="98458" y="44072"/>
                </a:cubicBezTo>
                <a:cubicBezTo>
                  <a:pt x="96917" y="45614"/>
                  <a:pt x="94436" y="45614"/>
                  <a:pt x="89474" y="45614"/>
                </a:cubicBezTo>
                <a:lnTo>
                  <a:pt x="10526" y="45614"/>
                </a:lnTo>
                <a:cubicBezTo>
                  <a:pt x="5564" y="45614"/>
                  <a:pt x="3083" y="45614"/>
                  <a:pt x="1542" y="44072"/>
                </a:cubicBezTo>
                <a:cubicBezTo>
                  <a:pt x="1542" y="44072"/>
                  <a:pt x="1542" y="44072"/>
                  <a:pt x="1542" y="44072"/>
                </a:cubicBezTo>
                <a:cubicBezTo>
                  <a:pt x="0" y="42531"/>
                  <a:pt x="0" y="40050"/>
                  <a:pt x="0" y="35088"/>
                </a:cubicBezTo>
                <a:lnTo>
                  <a:pt x="0" y="10526"/>
                </a:lnTo>
                <a:cubicBezTo>
                  <a:pt x="0" y="5564"/>
                  <a:pt x="0" y="3083"/>
                  <a:pt x="1542" y="1542"/>
                </a:cubicBezTo>
                <a:cubicBezTo>
                  <a:pt x="1542" y="1542"/>
                  <a:pt x="1542" y="1542"/>
                  <a:pt x="1542" y="1542"/>
                </a:cubicBezTo>
                <a:cubicBezTo>
                  <a:pt x="3083" y="0"/>
                  <a:pt x="5564" y="0"/>
                  <a:pt x="1052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44" name="Oval 44"/>
          <p:cNvSpPr/>
          <p:nvPr/>
        </p:nvSpPr>
        <p:spPr>
          <a:xfrm>
            <a:off x="915797" y="1444117"/>
            <a:ext cx="149606" cy="149606"/>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45" name="Freeform 2245"/>
          <p:cNvSpPr/>
          <p:nvPr/>
        </p:nvSpPr>
        <p:spPr>
          <a:xfrm>
            <a:off x="945896" y="1565275"/>
            <a:ext cx="69088" cy="71882"/>
          </a:xfrm>
          <a:custGeom>
            <a:avLst/>
            <a:gdLst/>
            <a:ahLst/>
            <a:cxnLst/>
            <a:rect l="l" t="t" r="r" b="b"/>
            <a:pathLst>
              <a:path w="96113" h="100000">
                <a:moveTo>
                  <a:pt x="0" y="50000"/>
                </a:moveTo>
                <a:lnTo>
                  <a:pt x="96113" y="0"/>
                </a:lnTo>
                <a:lnTo>
                  <a:pt x="96113" y="100000"/>
                </a:lnTo>
                <a:close/>
              </a:path>
            </a:pathLst>
          </a:cu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46" name="TextBox 46"/>
          <p:cNvSpPr txBox="1"/>
          <p:nvPr/>
        </p:nvSpPr>
        <p:spPr>
          <a:xfrm>
            <a:off x="1168400" y="1397000"/>
            <a:ext cx="1524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WhatsApp</a:t>
            </a:r>
            <a:endParaRPr sz="640" b="1" spc="0">
              <a:solidFill>
                <a:srgbClr val="0A0A0A"/>
              </a:solidFill>
              <a:latin typeface="Telegraf"/>
            </a:endParaRPr>
          </a:p>
        </p:txBody>
      </p:sp>
      <p:sp>
        <p:nvSpPr>
          <p:cNvPr id="2247" name="Rectangle 47"/>
          <p:cNvSpPr/>
          <p:nvPr/>
        </p:nvSpPr>
        <p:spPr>
          <a:xfrm>
            <a:off x="939800" y="1701800"/>
            <a:ext cx="494919" cy="146050"/>
          </a:xfrm>
          <a:custGeom>
            <a:avLst/>
            <a:gdLst/>
            <a:ahLst/>
            <a:cxnLst/>
            <a:rect l="l" t="t" r="r" b="b"/>
            <a:pathLst>
              <a:path w="100000" h="29510">
                <a:moveTo>
                  <a:pt x="85245" y="0"/>
                </a:moveTo>
                <a:cubicBezTo>
                  <a:pt x="85245" y="0"/>
                  <a:pt x="85245" y="0"/>
                  <a:pt x="85245" y="0"/>
                </a:cubicBezTo>
                <a:cubicBezTo>
                  <a:pt x="93395" y="0"/>
                  <a:pt x="100000" y="6605"/>
                  <a:pt x="100000" y="14755"/>
                </a:cubicBezTo>
                <a:cubicBezTo>
                  <a:pt x="100000" y="14755"/>
                  <a:pt x="100000" y="14755"/>
                  <a:pt x="100000" y="14755"/>
                </a:cubicBezTo>
                <a:lnTo>
                  <a:pt x="100000" y="14755"/>
                </a:lnTo>
                <a:cubicBezTo>
                  <a:pt x="100000" y="14755"/>
                  <a:pt x="100000" y="14755"/>
                  <a:pt x="100000" y="14755"/>
                </a:cubicBezTo>
                <a:cubicBezTo>
                  <a:pt x="100000" y="22905"/>
                  <a:pt x="93395" y="29510"/>
                  <a:pt x="85245" y="29510"/>
                </a:cubicBezTo>
                <a:cubicBezTo>
                  <a:pt x="85245" y="29510"/>
                  <a:pt x="85245" y="29510"/>
                  <a:pt x="85245" y="29510"/>
                </a:cubicBezTo>
                <a:lnTo>
                  <a:pt x="14755" y="29510"/>
                </a:lnTo>
                <a:cubicBezTo>
                  <a:pt x="14755" y="29510"/>
                  <a:pt x="14755" y="29510"/>
                  <a:pt x="14755" y="29510"/>
                </a:cubicBezTo>
                <a:cubicBezTo>
                  <a:pt x="6605" y="29510"/>
                  <a:pt x="0" y="22905"/>
                  <a:pt x="0" y="14755"/>
                </a:cubicBezTo>
                <a:cubicBezTo>
                  <a:pt x="0" y="14755"/>
                  <a:pt x="0" y="14755"/>
                  <a:pt x="0" y="14755"/>
                </a:cubicBezTo>
                <a:lnTo>
                  <a:pt x="0" y="14755"/>
                </a:lnTo>
                <a:cubicBezTo>
                  <a:pt x="0" y="14755"/>
                  <a:pt x="0" y="14755"/>
                  <a:pt x="0" y="14755"/>
                </a:cubicBezTo>
                <a:cubicBezTo>
                  <a:pt x="0" y="6605"/>
                  <a:pt x="6605" y="0"/>
                  <a:pt x="14755" y="0"/>
                </a:cubicBezTo>
                <a:cubicBezTo>
                  <a:pt x="14755" y="0"/>
                  <a:pt x="14755" y="0"/>
                  <a:pt x="14755"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48" name="Oval 48"/>
          <p:cNvSpPr/>
          <p:nvPr/>
        </p:nvSpPr>
        <p:spPr>
          <a:xfrm>
            <a:off x="991870" y="17532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49" name="TextBox 49"/>
          <p:cNvSpPr txBox="1"/>
          <p:nvPr/>
        </p:nvSpPr>
        <p:spPr>
          <a:xfrm>
            <a:off x="1069340" y="1701800"/>
            <a:ext cx="342519"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connected</a:t>
            </a:r>
            <a:endParaRPr sz="440" b="1" spc="0">
              <a:solidFill>
                <a:srgbClr val="0B5C44"/>
              </a:solidFill>
              <a:latin typeface="Telegraf"/>
            </a:endParaRPr>
          </a:p>
        </p:txBody>
      </p:sp>
      <p:sp>
        <p:nvSpPr>
          <p:cNvPr id="2250" name="TextBox 50"/>
          <p:cNvSpPr txBox="1"/>
          <p:nvPr/>
        </p:nvSpPr>
        <p:spPr>
          <a:xfrm>
            <a:off x="939800" y="1930400"/>
            <a:ext cx="889000" cy="127000"/>
          </a:xfrm>
          <a:prstGeom prst="rect">
            <a:avLst/>
          </a:prstGeom>
        </p:spPr>
        <p:txBody>
          <a:bodyPr wrap="square" lIns="0" tIns="0" rIns="0" bIns="0">
            <a:noAutofit/>
          </a:bodyPr>
          <a:lstStyle/>
          <a:p>
            <a:pPr>
              <a:lnSpc>
                <a:spcPct val="135000"/>
              </a:lnSpc>
            </a:pPr>
            <a:r>
              <a:rPr sz="440" spc="0">
                <a:solidFill>
                  <a:srgbClr val="A2A2A8"/>
                </a:solidFill>
                <a:latin typeface="Telegraf"/>
              </a:rPr>
              <a:t>auto-send</a:t>
            </a:r>
            <a:endParaRPr sz="440" spc="0">
              <a:solidFill>
                <a:srgbClr val="A2A2A8"/>
              </a:solidFill>
              <a:latin typeface="Telegraf"/>
            </a:endParaRPr>
          </a:p>
        </p:txBody>
      </p:sp>
      <p:sp>
        <p:nvSpPr>
          <p:cNvPr id="2251" name="Rectangle 51"/>
          <p:cNvSpPr/>
          <p:nvPr/>
        </p:nvSpPr>
        <p:spPr>
          <a:xfrm>
            <a:off x="1524000" y="19177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52" name="Oval 52"/>
          <p:cNvSpPr/>
          <p:nvPr/>
        </p:nvSpPr>
        <p:spPr>
          <a:xfrm>
            <a:off x="1663700" y="19367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53" name="Rectangle 53"/>
          <p:cNvSpPr/>
          <p:nvPr/>
        </p:nvSpPr>
        <p:spPr>
          <a:xfrm>
            <a:off x="939800" y="2133600"/>
            <a:ext cx="2540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54" name="TextBox 54"/>
          <p:cNvSpPr txBox="1"/>
          <p:nvPr/>
        </p:nvSpPr>
        <p:spPr>
          <a:xfrm>
            <a:off x="939800" y="2209800"/>
            <a:ext cx="1651000" cy="127000"/>
          </a:xfrm>
          <a:prstGeom prst="rect">
            <a:avLst/>
          </a:prstGeom>
        </p:spPr>
        <p:txBody>
          <a:bodyPr wrap="square" lIns="0" tIns="0" rIns="0" bIns="0">
            <a:noAutofit/>
          </a:bodyPr>
          <a:lstStyle/>
          <a:p>
            <a:pPr>
              <a:lnSpc>
                <a:spcPct val="135000"/>
              </a:lnSpc>
            </a:pPr>
            <a:r>
              <a:rPr sz="410" spc="0">
                <a:solidFill>
                  <a:srgbClr val="0E6B5F"/>
                </a:solidFill>
                <a:latin typeface="Telegraf"/>
              </a:rPr>
              <a:t>/api/channels/webhook/whatsapp</a:t>
            </a:r>
            <a:endParaRPr sz="410" spc="0">
              <a:solidFill>
                <a:srgbClr val="0E6B5F"/>
              </a:solidFill>
              <a:latin typeface="Telegraf"/>
            </a:endParaRPr>
          </a:p>
        </p:txBody>
      </p:sp>
      <p:sp>
        <p:nvSpPr>
          <p:cNvPr id="2255" name="TextBox 55"/>
          <p:cNvSpPr txBox="1"/>
          <p:nvPr/>
        </p:nvSpPr>
        <p:spPr>
          <a:xfrm>
            <a:off x="939800" y="2362200"/>
            <a:ext cx="2540000" cy="127000"/>
          </a:xfrm>
          <a:prstGeom prst="rect">
            <a:avLst/>
          </a:prstGeom>
        </p:spPr>
        <p:txBody>
          <a:bodyPr wrap="square" lIns="0" tIns="0" rIns="0" bIns="0">
            <a:noAutofit/>
          </a:bodyPr>
          <a:lstStyle/>
          <a:p>
            <a:pPr>
              <a:lnSpc>
                <a:spcPct val="135000"/>
              </a:lnSpc>
            </a:pPr>
            <a:r>
              <a:rPr sz="420" spc="0">
                <a:solidFill>
                  <a:srgbClr val="A2A2A8"/>
                </a:solidFill>
                <a:latin typeface="Telegraf"/>
              </a:rPr>
              <a:t>inbound 2m ago  ·  14 today</a:t>
            </a:r>
            <a:endParaRPr sz="420" spc="0">
              <a:solidFill>
                <a:srgbClr val="A2A2A8"/>
              </a:solidFill>
              <a:latin typeface="Telegraf"/>
            </a:endParaRPr>
          </a:p>
        </p:txBody>
      </p:sp>
      <p:sp>
        <p:nvSpPr>
          <p:cNvPr id="2256" name="Rectangle 56"/>
          <p:cNvSpPr/>
          <p:nvPr/>
        </p:nvSpPr>
        <p:spPr>
          <a:xfrm>
            <a:off x="2641600" y="1905000"/>
            <a:ext cx="838200" cy="215900"/>
          </a:xfrm>
          <a:custGeom>
            <a:avLst/>
            <a:gdLst/>
            <a:ahLst/>
            <a:cxnLst/>
            <a:rect l="l" t="t" r="r" b="b"/>
            <a:pathLst>
              <a:path w="100000" h="25758">
                <a:moveTo>
                  <a:pt x="87121" y="0"/>
                </a:moveTo>
                <a:cubicBezTo>
                  <a:pt x="87121" y="0"/>
                  <a:pt x="87121" y="0"/>
                  <a:pt x="87121" y="0"/>
                </a:cubicBezTo>
                <a:cubicBezTo>
                  <a:pt x="94233" y="0"/>
                  <a:pt x="100000" y="5767"/>
                  <a:pt x="100000" y="12879"/>
                </a:cubicBezTo>
                <a:cubicBezTo>
                  <a:pt x="100000" y="12879"/>
                  <a:pt x="100000" y="12879"/>
                  <a:pt x="100000" y="12879"/>
                </a:cubicBezTo>
                <a:lnTo>
                  <a:pt x="100000" y="12879"/>
                </a:lnTo>
                <a:cubicBezTo>
                  <a:pt x="100000" y="12879"/>
                  <a:pt x="100000" y="12879"/>
                  <a:pt x="100000" y="12879"/>
                </a:cubicBezTo>
                <a:cubicBezTo>
                  <a:pt x="100000" y="19991"/>
                  <a:pt x="94233" y="25758"/>
                  <a:pt x="87121" y="25758"/>
                </a:cubicBezTo>
                <a:cubicBezTo>
                  <a:pt x="87121" y="25758"/>
                  <a:pt x="87121" y="25758"/>
                  <a:pt x="87121" y="25758"/>
                </a:cubicBezTo>
                <a:lnTo>
                  <a:pt x="12879" y="25758"/>
                </a:lnTo>
                <a:cubicBezTo>
                  <a:pt x="12879" y="25758"/>
                  <a:pt x="12879" y="25758"/>
                  <a:pt x="12879" y="25758"/>
                </a:cubicBezTo>
                <a:cubicBezTo>
                  <a:pt x="5767" y="25758"/>
                  <a:pt x="0" y="19991"/>
                  <a:pt x="0" y="12879"/>
                </a:cubicBezTo>
                <a:cubicBezTo>
                  <a:pt x="0" y="12879"/>
                  <a:pt x="0" y="12879"/>
                  <a:pt x="0" y="12879"/>
                </a:cubicBezTo>
                <a:lnTo>
                  <a:pt x="0" y="12879"/>
                </a:lnTo>
                <a:cubicBezTo>
                  <a:pt x="0" y="12879"/>
                  <a:pt x="0" y="12879"/>
                  <a:pt x="0" y="12879"/>
                </a:cubicBezTo>
                <a:cubicBezTo>
                  <a:pt x="0" y="5767"/>
                  <a:pt x="5767" y="0"/>
                  <a:pt x="12879" y="0"/>
                </a:cubicBezTo>
                <a:cubicBezTo>
                  <a:pt x="12879" y="0"/>
                  <a:pt x="12879" y="0"/>
                  <a:pt x="1287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57" name="TextBox 57"/>
          <p:cNvSpPr txBox="1"/>
          <p:nvPr/>
        </p:nvSpPr>
        <p:spPr>
          <a:xfrm>
            <a:off x="2717800" y="1905000"/>
            <a:ext cx="711200" cy="215900"/>
          </a:xfrm>
          <a:prstGeom prst="rect">
            <a:avLst/>
          </a:prstGeom>
        </p:spPr>
        <p:txBody>
          <a:bodyPr wrap="square" lIns="0" tIns="0" rIns="0" bIns="0" anchor="ctr">
            <a:noAutofit/>
          </a:bodyPr>
          <a:lstStyle/>
          <a:p>
            <a:pPr>
              <a:lnSpc>
                <a:spcPct val="135000"/>
              </a:lnSpc>
            </a:pPr>
            <a:r>
              <a:rPr sz="410" b="1" spc="10">
                <a:solidFill>
                  <a:srgbClr val="67676E"/>
                </a:solidFill>
                <a:latin typeface="Telegraf"/>
              </a:rPr>
              <a:t>Simulate →</a:t>
            </a:r>
            <a:endParaRPr sz="410" b="1" spc="10">
              <a:solidFill>
                <a:srgbClr val="67676E"/>
              </a:solidFill>
              <a:latin typeface="Telegraf"/>
            </a:endParaRPr>
          </a:p>
        </p:txBody>
      </p:sp>
      <p:sp>
        <p:nvSpPr>
          <p:cNvPr id="2258" name="Rectangle 58"/>
          <p:cNvSpPr/>
          <p:nvPr/>
        </p:nvSpPr>
        <p:spPr>
          <a:xfrm>
            <a:off x="3810000" y="1270000"/>
            <a:ext cx="2895600" cy="1320800"/>
          </a:xfrm>
          <a:custGeom>
            <a:avLst/>
            <a:gdLst/>
            <a:ahLst/>
            <a:cxnLst/>
            <a:rect l="l" t="t" r="r" b="b"/>
            <a:pathLst>
              <a:path w="100000" h="45614">
                <a:moveTo>
                  <a:pt x="89474" y="0"/>
                </a:moveTo>
                <a:cubicBezTo>
                  <a:pt x="94436" y="0"/>
                  <a:pt x="96917" y="0"/>
                  <a:pt x="98458" y="1542"/>
                </a:cubicBezTo>
                <a:cubicBezTo>
                  <a:pt x="98458" y="1542"/>
                  <a:pt x="98458" y="1542"/>
                  <a:pt x="98458" y="1542"/>
                </a:cubicBezTo>
                <a:cubicBezTo>
                  <a:pt x="100000" y="3083"/>
                  <a:pt x="100000" y="5564"/>
                  <a:pt x="100000" y="10526"/>
                </a:cubicBezTo>
                <a:lnTo>
                  <a:pt x="100000" y="35088"/>
                </a:lnTo>
                <a:cubicBezTo>
                  <a:pt x="100000" y="40050"/>
                  <a:pt x="100000" y="42531"/>
                  <a:pt x="98458" y="44072"/>
                </a:cubicBezTo>
                <a:cubicBezTo>
                  <a:pt x="98458" y="44072"/>
                  <a:pt x="98458" y="44072"/>
                  <a:pt x="98458" y="44072"/>
                </a:cubicBezTo>
                <a:cubicBezTo>
                  <a:pt x="96917" y="45614"/>
                  <a:pt x="94436" y="45614"/>
                  <a:pt x="89474" y="45614"/>
                </a:cubicBezTo>
                <a:lnTo>
                  <a:pt x="10526" y="45614"/>
                </a:lnTo>
                <a:cubicBezTo>
                  <a:pt x="5564" y="45614"/>
                  <a:pt x="3083" y="45614"/>
                  <a:pt x="1542" y="44072"/>
                </a:cubicBezTo>
                <a:cubicBezTo>
                  <a:pt x="1542" y="44072"/>
                  <a:pt x="1542" y="44072"/>
                  <a:pt x="1542" y="44072"/>
                </a:cubicBezTo>
                <a:cubicBezTo>
                  <a:pt x="0" y="42531"/>
                  <a:pt x="0" y="40050"/>
                  <a:pt x="0" y="35088"/>
                </a:cubicBezTo>
                <a:lnTo>
                  <a:pt x="0" y="10526"/>
                </a:lnTo>
                <a:cubicBezTo>
                  <a:pt x="0" y="5564"/>
                  <a:pt x="0" y="3083"/>
                  <a:pt x="1542" y="1542"/>
                </a:cubicBezTo>
                <a:cubicBezTo>
                  <a:pt x="1542" y="1542"/>
                  <a:pt x="1542" y="1542"/>
                  <a:pt x="1542" y="1542"/>
                </a:cubicBezTo>
                <a:cubicBezTo>
                  <a:pt x="3083" y="0"/>
                  <a:pt x="5564" y="0"/>
                  <a:pt x="1052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59" name="Rectangle 59"/>
          <p:cNvSpPr/>
          <p:nvPr/>
        </p:nvSpPr>
        <p:spPr>
          <a:xfrm>
            <a:off x="3957320" y="1442720"/>
            <a:ext cx="162560" cy="162560"/>
          </a:xfrm>
          <a:custGeom>
            <a:avLst/>
            <a:gdLst/>
            <a:ahLst/>
            <a:cxnLst/>
            <a:rect l="l" t="t" r="r" b="b"/>
            <a:pathLst>
              <a:path w="100000" h="100000">
                <a:moveTo>
                  <a:pt x="50000" y="0"/>
                </a:moveTo>
                <a:cubicBezTo>
                  <a:pt x="67742" y="0"/>
                  <a:pt x="76609" y="0"/>
                  <a:pt x="83352" y="3523"/>
                </a:cubicBezTo>
                <a:cubicBezTo>
                  <a:pt x="88969" y="6453"/>
                  <a:pt x="93547" y="11031"/>
                  <a:pt x="96477" y="16648"/>
                </a:cubicBezTo>
                <a:cubicBezTo>
                  <a:pt x="100000" y="23391"/>
                  <a:pt x="100000" y="32258"/>
                  <a:pt x="100000" y="50000"/>
                </a:cubicBezTo>
                <a:lnTo>
                  <a:pt x="100000" y="50000"/>
                </a:lnTo>
                <a:cubicBezTo>
                  <a:pt x="100000" y="67742"/>
                  <a:pt x="100000" y="76609"/>
                  <a:pt x="96477" y="83352"/>
                </a:cubicBezTo>
                <a:cubicBezTo>
                  <a:pt x="93547" y="88969"/>
                  <a:pt x="88969" y="93547"/>
                  <a:pt x="83352" y="96477"/>
                </a:cubicBezTo>
                <a:cubicBezTo>
                  <a:pt x="76609" y="100000"/>
                  <a:pt x="67742" y="100000"/>
                  <a:pt x="50000" y="100000"/>
                </a:cubicBezTo>
                <a:lnTo>
                  <a:pt x="50000" y="100000"/>
                </a:lnTo>
                <a:cubicBezTo>
                  <a:pt x="32258" y="100000"/>
                  <a:pt x="23391" y="100000"/>
                  <a:pt x="16648" y="96477"/>
                </a:cubicBezTo>
                <a:cubicBezTo>
                  <a:pt x="11031" y="93547"/>
                  <a:pt x="6453" y="88969"/>
                  <a:pt x="3523" y="83352"/>
                </a:cubicBezTo>
                <a:cubicBezTo>
                  <a:pt x="0" y="76609"/>
                  <a:pt x="0" y="67742"/>
                  <a:pt x="0" y="50000"/>
                </a:cubicBezTo>
                <a:lnTo>
                  <a:pt x="0" y="50000"/>
                </a:lnTo>
                <a:cubicBezTo>
                  <a:pt x="0" y="32258"/>
                  <a:pt x="0" y="23391"/>
                  <a:pt x="3523" y="16648"/>
                </a:cubicBezTo>
                <a:cubicBezTo>
                  <a:pt x="6453" y="11031"/>
                  <a:pt x="11031" y="6453"/>
                  <a:pt x="16648" y="3523"/>
                </a:cubicBezTo>
                <a:cubicBezTo>
                  <a:pt x="23391" y="0"/>
                  <a:pt x="32258" y="0"/>
                  <a:pt x="50000" y="0"/>
                </a:cubicBezTo>
                <a:close/>
              </a:path>
            </a:pathLst>
          </a:custGeom>
          <a:noFill/>
          <a:ln w="1143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0" name="Oval 60"/>
          <p:cNvSpPr/>
          <p:nvPr/>
        </p:nvSpPr>
        <p:spPr>
          <a:xfrm>
            <a:off x="4010914" y="1496314"/>
            <a:ext cx="55245" cy="55245"/>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1" name="Oval 61"/>
          <p:cNvSpPr/>
          <p:nvPr/>
        </p:nvSpPr>
        <p:spPr>
          <a:xfrm>
            <a:off x="4071874" y="1467866"/>
            <a:ext cx="22860" cy="22860"/>
          </a:xfrm>
          <a:prstGeom prst="ellipse">
            <a:avLst/>
          </a:prstGeom>
          <a:solidFill>
            <a:srgbClr val="0E6B5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2" name="TextBox 62"/>
          <p:cNvSpPr txBox="1"/>
          <p:nvPr/>
        </p:nvSpPr>
        <p:spPr>
          <a:xfrm>
            <a:off x="4216400" y="1397000"/>
            <a:ext cx="1524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Instagram DM</a:t>
            </a:r>
            <a:endParaRPr sz="640" b="1" spc="0">
              <a:solidFill>
                <a:srgbClr val="0A0A0A"/>
              </a:solidFill>
              <a:latin typeface="Telegraf"/>
            </a:endParaRPr>
          </a:p>
        </p:txBody>
      </p:sp>
      <p:sp>
        <p:nvSpPr>
          <p:cNvPr id="2263" name="Rectangle 63"/>
          <p:cNvSpPr/>
          <p:nvPr/>
        </p:nvSpPr>
        <p:spPr>
          <a:xfrm>
            <a:off x="3987800" y="1701800"/>
            <a:ext cx="527304" cy="146050"/>
          </a:xfrm>
          <a:custGeom>
            <a:avLst/>
            <a:gdLst/>
            <a:ahLst/>
            <a:cxnLst/>
            <a:rect l="l" t="t" r="r" b="b"/>
            <a:pathLst>
              <a:path w="100000" h="27697">
                <a:moveTo>
                  <a:pt x="86151" y="0"/>
                </a:moveTo>
                <a:cubicBezTo>
                  <a:pt x="86151" y="0"/>
                  <a:pt x="86151" y="0"/>
                  <a:pt x="86151" y="0"/>
                </a:cubicBezTo>
                <a:cubicBezTo>
                  <a:pt x="93801" y="0"/>
                  <a:pt x="100000" y="6199"/>
                  <a:pt x="100000" y="13849"/>
                </a:cubicBezTo>
                <a:cubicBezTo>
                  <a:pt x="100000" y="13849"/>
                  <a:pt x="100000" y="13849"/>
                  <a:pt x="100000" y="13849"/>
                </a:cubicBezTo>
                <a:lnTo>
                  <a:pt x="100000" y="13849"/>
                </a:lnTo>
                <a:cubicBezTo>
                  <a:pt x="100000" y="13849"/>
                  <a:pt x="100000" y="13849"/>
                  <a:pt x="100000" y="13849"/>
                </a:cubicBezTo>
                <a:cubicBezTo>
                  <a:pt x="100000" y="21498"/>
                  <a:pt x="93801" y="27697"/>
                  <a:pt x="86151" y="27697"/>
                </a:cubicBezTo>
                <a:cubicBezTo>
                  <a:pt x="86151" y="27697"/>
                  <a:pt x="86151" y="27697"/>
                  <a:pt x="86151" y="27697"/>
                </a:cubicBezTo>
                <a:lnTo>
                  <a:pt x="13849" y="27697"/>
                </a:lnTo>
                <a:cubicBezTo>
                  <a:pt x="13849" y="27697"/>
                  <a:pt x="13849" y="27697"/>
                  <a:pt x="13849" y="27697"/>
                </a:cubicBezTo>
                <a:cubicBezTo>
                  <a:pt x="6199" y="27697"/>
                  <a:pt x="0" y="21498"/>
                  <a:pt x="0" y="13849"/>
                </a:cubicBezTo>
                <a:cubicBezTo>
                  <a:pt x="0" y="13849"/>
                  <a:pt x="0" y="13849"/>
                  <a:pt x="0" y="13849"/>
                </a:cubicBezTo>
                <a:lnTo>
                  <a:pt x="0" y="13849"/>
                </a:lnTo>
                <a:cubicBezTo>
                  <a:pt x="0" y="13849"/>
                  <a:pt x="0" y="13849"/>
                  <a:pt x="0" y="13849"/>
                </a:cubicBezTo>
                <a:cubicBezTo>
                  <a:pt x="0" y="6199"/>
                  <a:pt x="6199" y="0"/>
                  <a:pt x="13849" y="0"/>
                </a:cubicBezTo>
                <a:cubicBezTo>
                  <a:pt x="13849" y="0"/>
                  <a:pt x="13849" y="0"/>
                  <a:pt x="13849"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4" name="Oval 64"/>
          <p:cNvSpPr/>
          <p:nvPr/>
        </p:nvSpPr>
        <p:spPr>
          <a:xfrm>
            <a:off x="4039870" y="175323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5" name="TextBox 65"/>
          <p:cNvSpPr txBox="1"/>
          <p:nvPr/>
        </p:nvSpPr>
        <p:spPr>
          <a:xfrm>
            <a:off x="4117340" y="1701800"/>
            <a:ext cx="374904" cy="146050"/>
          </a:xfrm>
          <a:prstGeom prst="rect">
            <a:avLst/>
          </a:prstGeom>
        </p:spPr>
        <p:txBody>
          <a:bodyPr wrap="square" lIns="0" tIns="0" rIns="0" bIns="0" anchor="ctr">
            <a:noAutofit/>
          </a:bodyPr>
          <a:lstStyle/>
          <a:p>
            <a:pPr>
              <a:lnSpc>
                <a:spcPct val="135000"/>
              </a:lnSpc>
            </a:pPr>
            <a:r>
              <a:rPr sz="440" b="1" spc="0">
                <a:solidFill>
                  <a:srgbClr val="8A4B08"/>
                </a:solidFill>
                <a:latin typeface="Telegraf"/>
              </a:rPr>
              <a:t>draft only</a:t>
            </a:r>
            <a:endParaRPr sz="440" b="1" spc="0">
              <a:solidFill>
                <a:srgbClr val="8A4B08"/>
              </a:solidFill>
              <a:latin typeface="Telegraf"/>
            </a:endParaRPr>
          </a:p>
        </p:txBody>
      </p:sp>
      <p:sp>
        <p:nvSpPr>
          <p:cNvPr id="2266" name="TextBox 66"/>
          <p:cNvSpPr txBox="1"/>
          <p:nvPr/>
        </p:nvSpPr>
        <p:spPr>
          <a:xfrm>
            <a:off x="3987800" y="1930400"/>
            <a:ext cx="889000" cy="127000"/>
          </a:xfrm>
          <a:prstGeom prst="rect">
            <a:avLst/>
          </a:prstGeom>
        </p:spPr>
        <p:txBody>
          <a:bodyPr wrap="square" lIns="0" tIns="0" rIns="0" bIns="0">
            <a:noAutofit/>
          </a:bodyPr>
          <a:lstStyle/>
          <a:p>
            <a:pPr>
              <a:lnSpc>
                <a:spcPct val="135000"/>
              </a:lnSpc>
            </a:pPr>
            <a:r>
              <a:rPr sz="440" spc="0">
                <a:solidFill>
                  <a:srgbClr val="A2A2A8"/>
                </a:solidFill>
                <a:latin typeface="Telegraf"/>
              </a:rPr>
              <a:t>auto-send</a:t>
            </a:r>
            <a:endParaRPr sz="440" spc="0">
              <a:solidFill>
                <a:srgbClr val="A2A2A8"/>
              </a:solidFill>
              <a:latin typeface="Telegraf"/>
            </a:endParaRPr>
          </a:p>
        </p:txBody>
      </p:sp>
      <p:sp>
        <p:nvSpPr>
          <p:cNvPr id="2267" name="Rectangle 67"/>
          <p:cNvSpPr/>
          <p:nvPr/>
        </p:nvSpPr>
        <p:spPr>
          <a:xfrm>
            <a:off x="4572000" y="19177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DCDC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8" name="Oval 68"/>
          <p:cNvSpPr/>
          <p:nvPr/>
        </p:nvSpPr>
        <p:spPr>
          <a:xfrm>
            <a:off x="4591050" y="19367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69" name="Rectangle 69"/>
          <p:cNvSpPr/>
          <p:nvPr/>
        </p:nvSpPr>
        <p:spPr>
          <a:xfrm>
            <a:off x="3987800" y="2133600"/>
            <a:ext cx="2540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70" name="TextBox 70"/>
          <p:cNvSpPr txBox="1"/>
          <p:nvPr/>
        </p:nvSpPr>
        <p:spPr>
          <a:xfrm>
            <a:off x="3987800" y="2209800"/>
            <a:ext cx="1651000" cy="127000"/>
          </a:xfrm>
          <a:prstGeom prst="rect">
            <a:avLst/>
          </a:prstGeom>
        </p:spPr>
        <p:txBody>
          <a:bodyPr wrap="square" lIns="0" tIns="0" rIns="0" bIns="0">
            <a:noAutofit/>
          </a:bodyPr>
          <a:lstStyle/>
          <a:p>
            <a:pPr>
              <a:lnSpc>
                <a:spcPct val="135000"/>
              </a:lnSpc>
            </a:pPr>
            <a:r>
              <a:rPr sz="410" spc="0">
                <a:solidFill>
                  <a:srgbClr val="0E6B5F"/>
                </a:solidFill>
                <a:latin typeface="Telegraf"/>
              </a:rPr>
              <a:t>/api/channels/webhook/instagram</a:t>
            </a:r>
            <a:endParaRPr sz="410" spc="0">
              <a:solidFill>
                <a:srgbClr val="0E6B5F"/>
              </a:solidFill>
              <a:latin typeface="Telegraf"/>
            </a:endParaRPr>
          </a:p>
        </p:txBody>
      </p:sp>
      <p:sp>
        <p:nvSpPr>
          <p:cNvPr id="2271" name="TextBox 71"/>
          <p:cNvSpPr txBox="1"/>
          <p:nvPr/>
        </p:nvSpPr>
        <p:spPr>
          <a:xfrm>
            <a:off x="3987800" y="2362200"/>
            <a:ext cx="2540000" cy="127000"/>
          </a:xfrm>
          <a:prstGeom prst="rect">
            <a:avLst/>
          </a:prstGeom>
        </p:spPr>
        <p:txBody>
          <a:bodyPr wrap="square" lIns="0" tIns="0" rIns="0" bIns="0">
            <a:noAutofit/>
          </a:bodyPr>
          <a:lstStyle/>
          <a:p>
            <a:pPr>
              <a:lnSpc>
                <a:spcPct val="135000"/>
              </a:lnSpc>
            </a:pPr>
            <a:r>
              <a:rPr sz="420" spc="0">
                <a:solidFill>
                  <a:srgbClr val="A2A2A8"/>
                </a:solidFill>
                <a:latin typeface="Telegraf"/>
              </a:rPr>
              <a:t>sandbox  ·  auto-send off (R5)</a:t>
            </a:r>
            <a:endParaRPr sz="420" spc="0">
              <a:solidFill>
                <a:srgbClr val="A2A2A8"/>
              </a:solidFill>
              <a:latin typeface="Telegraf"/>
            </a:endParaRPr>
          </a:p>
        </p:txBody>
      </p:sp>
      <p:sp>
        <p:nvSpPr>
          <p:cNvPr id="2272" name="Rectangle 72"/>
          <p:cNvSpPr/>
          <p:nvPr/>
        </p:nvSpPr>
        <p:spPr>
          <a:xfrm>
            <a:off x="5689600" y="1905000"/>
            <a:ext cx="838200" cy="215900"/>
          </a:xfrm>
          <a:custGeom>
            <a:avLst/>
            <a:gdLst/>
            <a:ahLst/>
            <a:cxnLst/>
            <a:rect l="l" t="t" r="r" b="b"/>
            <a:pathLst>
              <a:path w="100000" h="25758">
                <a:moveTo>
                  <a:pt x="87121" y="0"/>
                </a:moveTo>
                <a:cubicBezTo>
                  <a:pt x="87121" y="0"/>
                  <a:pt x="87121" y="0"/>
                  <a:pt x="87121" y="0"/>
                </a:cubicBezTo>
                <a:cubicBezTo>
                  <a:pt x="94233" y="0"/>
                  <a:pt x="100000" y="5767"/>
                  <a:pt x="100000" y="12879"/>
                </a:cubicBezTo>
                <a:cubicBezTo>
                  <a:pt x="100000" y="12879"/>
                  <a:pt x="100000" y="12879"/>
                  <a:pt x="100000" y="12879"/>
                </a:cubicBezTo>
                <a:lnTo>
                  <a:pt x="100000" y="12879"/>
                </a:lnTo>
                <a:cubicBezTo>
                  <a:pt x="100000" y="12879"/>
                  <a:pt x="100000" y="12879"/>
                  <a:pt x="100000" y="12879"/>
                </a:cubicBezTo>
                <a:cubicBezTo>
                  <a:pt x="100000" y="19991"/>
                  <a:pt x="94233" y="25758"/>
                  <a:pt x="87121" y="25758"/>
                </a:cubicBezTo>
                <a:cubicBezTo>
                  <a:pt x="87121" y="25758"/>
                  <a:pt x="87121" y="25758"/>
                  <a:pt x="87121" y="25758"/>
                </a:cubicBezTo>
                <a:lnTo>
                  <a:pt x="12879" y="25758"/>
                </a:lnTo>
                <a:cubicBezTo>
                  <a:pt x="12879" y="25758"/>
                  <a:pt x="12879" y="25758"/>
                  <a:pt x="12879" y="25758"/>
                </a:cubicBezTo>
                <a:cubicBezTo>
                  <a:pt x="5767" y="25758"/>
                  <a:pt x="0" y="19991"/>
                  <a:pt x="0" y="12879"/>
                </a:cubicBezTo>
                <a:cubicBezTo>
                  <a:pt x="0" y="12879"/>
                  <a:pt x="0" y="12879"/>
                  <a:pt x="0" y="12879"/>
                </a:cubicBezTo>
                <a:lnTo>
                  <a:pt x="0" y="12879"/>
                </a:lnTo>
                <a:cubicBezTo>
                  <a:pt x="0" y="12879"/>
                  <a:pt x="0" y="12879"/>
                  <a:pt x="0" y="12879"/>
                </a:cubicBezTo>
                <a:cubicBezTo>
                  <a:pt x="0" y="5767"/>
                  <a:pt x="5767" y="0"/>
                  <a:pt x="12879" y="0"/>
                </a:cubicBezTo>
                <a:cubicBezTo>
                  <a:pt x="12879" y="0"/>
                  <a:pt x="12879" y="0"/>
                  <a:pt x="1287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73" name="TextBox 73"/>
          <p:cNvSpPr txBox="1"/>
          <p:nvPr/>
        </p:nvSpPr>
        <p:spPr>
          <a:xfrm>
            <a:off x="5765800" y="1905000"/>
            <a:ext cx="711200" cy="215900"/>
          </a:xfrm>
          <a:prstGeom prst="rect">
            <a:avLst/>
          </a:prstGeom>
        </p:spPr>
        <p:txBody>
          <a:bodyPr wrap="square" lIns="0" tIns="0" rIns="0" bIns="0" anchor="ctr">
            <a:noAutofit/>
          </a:bodyPr>
          <a:lstStyle/>
          <a:p>
            <a:pPr>
              <a:lnSpc>
                <a:spcPct val="135000"/>
              </a:lnSpc>
            </a:pPr>
            <a:r>
              <a:rPr sz="410" b="1" spc="10">
                <a:solidFill>
                  <a:srgbClr val="67676E"/>
                </a:solidFill>
                <a:latin typeface="Telegraf"/>
              </a:rPr>
              <a:t>Simulate →</a:t>
            </a:r>
            <a:endParaRPr sz="410" b="1" spc="10">
              <a:solidFill>
                <a:srgbClr val="67676E"/>
              </a:solidFill>
              <a:latin typeface="Telegraf"/>
            </a:endParaRPr>
          </a:p>
        </p:txBody>
      </p:sp>
      <p:sp>
        <p:nvSpPr>
          <p:cNvPr id="2274" name="Rectangle 74"/>
          <p:cNvSpPr/>
          <p:nvPr/>
        </p:nvSpPr>
        <p:spPr>
          <a:xfrm>
            <a:off x="762000" y="2743200"/>
            <a:ext cx="2895600" cy="1320800"/>
          </a:xfrm>
          <a:custGeom>
            <a:avLst/>
            <a:gdLst/>
            <a:ahLst/>
            <a:cxnLst/>
            <a:rect l="l" t="t" r="r" b="b"/>
            <a:pathLst>
              <a:path w="100000" h="45614">
                <a:moveTo>
                  <a:pt x="89474" y="0"/>
                </a:moveTo>
                <a:cubicBezTo>
                  <a:pt x="94436" y="0"/>
                  <a:pt x="96917" y="0"/>
                  <a:pt x="98458" y="1542"/>
                </a:cubicBezTo>
                <a:cubicBezTo>
                  <a:pt x="98458" y="1542"/>
                  <a:pt x="98458" y="1542"/>
                  <a:pt x="98458" y="1542"/>
                </a:cubicBezTo>
                <a:cubicBezTo>
                  <a:pt x="100000" y="3083"/>
                  <a:pt x="100000" y="5564"/>
                  <a:pt x="100000" y="10526"/>
                </a:cubicBezTo>
                <a:lnTo>
                  <a:pt x="100000" y="35088"/>
                </a:lnTo>
                <a:cubicBezTo>
                  <a:pt x="100000" y="40050"/>
                  <a:pt x="100000" y="42531"/>
                  <a:pt x="98458" y="44072"/>
                </a:cubicBezTo>
                <a:cubicBezTo>
                  <a:pt x="98458" y="44072"/>
                  <a:pt x="98458" y="44072"/>
                  <a:pt x="98458" y="44072"/>
                </a:cubicBezTo>
                <a:cubicBezTo>
                  <a:pt x="96917" y="45614"/>
                  <a:pt x="94436" y="45614"/>
                  <a:pt x="89474" y="45614"/>
                </a:cubicBezTo>
                <a:lnTo>
                  <a:pt x="10526" y="45614"/>
                </a:lnTo>
                <a:cubicBezTo>
                  <a:pt x="5564" y="45614"/>
                  <a:pt x="3083" y="45614"/>
                  <a:pt x="1542" y="44072"/>
                </a:cubicBezTo>
                <a:cubicBezTo>
                  <a:pt x="1542" y="44072"/>
                  <a:pt x="1542" y="44072"/>
                  <a:pt x="1542" y="44072"/>
                </a:cubicBezTo>
                <a:cubicBezTo>
                  <a:pt x="0" y="42531"/>
                  <a:pt x="0" y="40050"/>
                  <a:pt x="0" y="35088"/>
                </a:cubicBezTo>
                <a:lnTo>
                  <a:pt x="0" y="10526"/>
                </a:lnTo>
                <a:cubicBezTo>
                  <a:pt x="0" y="5564"/>
                  <a:pt x="0" y="3083"/>
                  <a:pt x="1542" y="1542"/>
                </a:cubicBezTo>
                <a:cubicBezTo>
                  <a:pt x="1542" y="1542"/>
                  <a:pt x="1542" y="1542"/>
                  <a:pt x="1542" y="1542"/>
                </a:cubicBezTo>
                <a:cubicBezTo>
                  <a:pt x="3083" y="0"/>
                  <a:pt x="5564" y="0"/>
                  <a:pt x="1052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75" name="Rectangle 75"/>
          <p:cNvSpPr/>
          <p:nvPr/>
        </p:nvSpPr>
        <p:spPr>
          <a:xfrm>
            <a:off x="909320" y="2938653"/>
            <a:ext cx="162560" cy="117094"/>
          </a:xfrm>
          <a:custGeom>
            <a:avLst/>
            <a:gdLst/>
            <a:ahLst/>
            <a:cxnLst/>
            <a:rect l="l" t="t" r="r" b="b"/>
            <a:pathLst>
              <a:path w="100000" h="72031">
                <a:moveTo>
                  <a:pt x="87500" y="0"/>
                </a:moveTo>
                <a:cubicBezTo>
                  <a:pt x="93391" y="0"/>
                  <a:pt x="96336" y="0"/>
                  <a:pt x="98172" y="1828"/>
                </a:cubicBezTo>
                <a:cubicBezTo>
                  <a:pt x="98172" y="1828"/>
                  <a:pt x="98172" y="1828"/>
                  <a:pt x="98172" y="1828"/>
                </a:cubicBezTo>
                <a:cubicBezTo>
                  <a:pt x="100000" y="3664"/>
                  <a:pt x="100000" y="6609"/>
                  <a:pt x="100000" y="12500"/>
                </a:cubicBezTo>
                <a:lnTo>
                  <a:pt x="100000" y="59531"/>
                </a:lnTo>
                <a:cubicBezTo>
                  <a:pt x="100000" y="65422"/>
                  <a:pt x="100000" y="68367"/>
                  <a:pt x="98172" y="70203"/>
                </a:cubicBezTo>
                <a:cubicBezTo>
                  <a:pt x="98172" y="70203"/>
                  <a:pt x="98172" y="70203"/>
                  <a:pt x="98172" y="70203"/>
                </a:cubicBezTo>
                <a:cubicBezTo>
                  <a:pt x="96336" y="72031"/>
                  <a:pt x="93391" y="72031"/>
                  <a:pt x="87500" y="72031"/>
                </a:cubicBezTo>
                <a:lnTo>
                  <a:pt x="12500" y="72031"/>
                </a:lnTo>
                <a:cubicBezTo>
                  <a:pt x="6609" y="72031"/>
                  <a:pt x="3664" y="72031"/>
                  <a:pt x="1828" y="70203"/>
                </a:cubicBezTo>
                <a:cubicBezTo>
                  <a:pt x="1828" y="70203"/>
                  <a:pt x="1828" y="70203"/>
                  <a:pt x="1828" y="70203"/>
                </a:cubicBezTo>
                <a:cubicBezTo>
                  <a:pt x="0" y="68367"/>
                  <a:pt x="0" y="65422"/>
                  <a:pt x="0" y="59531"/>
                </a:cubicBezTo>
                <a:lnTo>
                  <a:pt x="0" y="12500"/>
                </a:lnTo>
                <a:cubicBezTo>
                  <a:pt x="0" y="6609"/>
                  <a:pt x="0" y="3664"/>
                  <a:pt x="1828" y="1828"/>
                </a:cubicBezTo>
                <a:cubicBezTo>
                  <a:pt x="1828" y="1828"/>
                  <a:pt x="1828" y="1828"/>
                  <a:pt x="1828" y="1828"/>
                </a:cubicBezTo>
                <a:cubicBezTo>
                  <a:pt x="3664" y="0"/>
                  <a:pt x="6609" y="0"/>
                  <a:pt x="12500" y="0"/>
                </a:cubicBezTo>
                <a:close/>
              </a:path>
            </a:pathLst>
          </a:custGeom>
          <a:noFill/>
          <a:ln w="10795">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76" name="Freeform 2276"/>
          <p:cNvSpPr/>
          <p:nvPr/>
        </p:nvSpPr>
        <p:spPr>
          <a:xfrm>
            <a:off x="909320" y="2943606"/>
            <a:ext cx="162560" cy="77978"/>
          </a:xfrm>
          <a:custGeom>
            <a:avLst/>
            <a:gdLst/>
            <a:ahLst/>
            <a:cxnLst/>
            <a:rect l="l" t="t" r="r" b="b"/>
            <a:pathLst>
              <a:path w="100000" h="47969" fill="none">
                <a:moveTo>
                  <a:pt x="0" y="0"/>
                </a:moveTo>
                <a:lnTo>
                  <a:pt x="50000" y="47969"/>
                </a:lnTo>
                <a:lnTo>
                  <a:pt x="100000" y="0"/>
                </a:lnTo>
              </a:path>
            </a:pathLst>
          </a:custGeom>
          <a:noFill/>
          <a:ln w="10795" cap="rnd">
            <a:solidFill>
              <a:srgbClr val="0E6B5F"/>
            </a:solidFill>
            <a:round/>
          </a:ln>
        </p:spPr>
        <p:style>
          <a:lnRef idx="1">
            <a:schemeClr val="accent1"/>
          </a:lnRef>
          <a:fillRef idx="0">
            <a:schemeClr val="accent1"/>
          </a:fillRef>
          <a:effectRef idx="0">
            <a:schemeClr val="accent1"/>
          </a:effectRef>
          <a:fontRef idx="minor">
            <a:schemeClr val="tx1"/>
          </a:fontRef>
        </p:style>
      </p:sp>
      <p:sp>
        <p:nvSpPr>
          <p:cNvPr id="2277" name="TextBox 77"/>
          <p:cNvSpPr txBox="1"/>
          <p:nvPr/>
        </p:nvSpPr>
        <p:spPr>
          <a:xfrm>
            <a:off x="1168400" y="2870200"/>
            <a:ext cx="1524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Gmail</a:t>
            </a:r>
            <a:endParaRPr sz="640" b="1" spc="0">
              <a:solidFill>
                <a:srgbClr val="0A0A0A"/>
              </a:solidFill>
              <a:latin typeface="Telegraf"/>
            </a:endParaRPr>
          </a:p>
        </p:txBody>
      </p:sp>
      <p:sp>
        <p:nvSpPr>
          <p:cNvPr id="2278" name="Rectangle 78"/>
          <p:cNvSpPr/>
          <p:nvPr/>
        </p:nvSpPr>
        <p:spPr>
          <a:xfrm>
            <a:off x="939800" y="3175000"/>
            <a:ext cx="494919" cy="146050"/>
          </a:xfrm>
          <a:custGeom>
            <a:avLst/>
            <a:gdLst/>
            <a:ahLst/>
            <a:cxnLst/>
            <a:rect l="l" t="t" r="r" b="b"/>
            <a:pathLst>
              <a:path w="100000" h="29510">
                <a:moveTo>
                  <a:pt x="85245" y="0"/>
                </a:moveTo>
                <a:cubicBezTo>
                  <a:pt x="85245" y="0"/>
                  <a:pt x="85245" y="0"/>
                  <a:pt x="85245" y="0"/>
                </a:cubicBezTo>
                <a:cubicBezTo>
                  <a:pt x="93395" y="0"/>
                  <a:pt x="100000" y="6605"/>
                  <a:pt x="100000" y="14755"/>
                </a:cubicBezTo>
                <a:cubicBezTo>
                  <a:pt x="100000" y="14755"/>
                  <a:pt x="100000" y="14755"/>
                  <a:pt x="100000" y="14755"/>
                </a:cubicBezTo>
                <a:lnTo>
                  <a:pt x="100000" y="14755"/>
                </a:lnTo>
                <a:cubicBezTo>
                  <a:pt x="100000" y="14755"/>
                  <a:pt x="100000" y="14755"/>
                  <a:pt x="100000" y="14755"/>
                </a:cubicBezTo>
                <a:cubicBezTo>
                  <a:pt x="100000" y="22905"/>
                  <a:pt x="93395" y="29510"/>
                  <a:pt x="85245" y="29510"/>
                </a:cubicBezTo>
                <a:cubicBezTo>
                  <a:pt x="85245" y="29510"/>
                  <a:pt x="85245" y="29510"/>
                  <a:pt x="85245" y="29510"/>
                </a:cubicBezTo>
                <a:lnTo>
                  <a:pt x="14755" y="29510"/>
                </a:lnTo>
                <a:cubicBezTo>
                  <a:pt x="14755" y="29510"/>
                  <a:pt x="14755" y="29510"/>
                  <a:pt x="14755" y="29510"/>
                </a:cubicBezTo>
                <a:cubicBezTo>
                  <a:pt x="6605" y="29510"/>
                  <a:pt x="0" y="22905"/>
                  <a:pt x="0" y="14755"/>
                </a:cubicBezTo>
                <a:cubicBezTo>
                  <a:pt x="0" y="14755"/>
                  <a:pt x="0" y="14755"/>
                  <a:pt x="0" y="14755"/>
                </a:cubicBezTo>
                <a:lnTo>
                  <a:pt x="0" y="14755"/>
                </a:lnTo>
                <a:cubicBezTo>
                  <a:pt x="0" y="14755"/>
                  <a:pt x="0" y="14755"/>
                  <a:pt x="0" y="14755"/>
                </a:cubicBezTo>
                <a:cubicBezTo>
                  <a:pt x="0" y="6605"/>
                  <a:pt x="6605" y="0"/>
                  <a:pt x="14755" y="0"/>
                </a:cubicBezTo>
                <a:cubicBezTo>
                  <a:pt x="14755" y="0"/>
                  <a:pt x="14755" y="0"/>
                  <a:pt x="14755"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79" name="Oval 79"/>
          <p:cNvSpPr/>
          <p:nvPr/>
        </p:nvSpPr>
        <p:spPr>
          <a:xfrm>
            <a:off x="991870" y="32264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80" name="TextBox 80"/>
          <p:cNvSpPr txBox="1"/>
          <p:nvPr/>
        </p:nvSpPr>
        <p:spPr>
          <a:xfrm>
            <a:off x="1069340" y="3175000"/>
            <a:ext cx="342519"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connected</a:t>
            </a:r>
            <a:endParaRPr sz="440" b="1" spc="0">
              <a:solidFill>
                <a:srgbClr val="0B5C44"/>
              </a:solidFill>
              <a:latin typeface="Telegraf"/>
            </a:endParaRPr>
          </a:p>
        </p:txBody>
      </p:sp>
      <p:sp>
        <p:nvSpPr>
          <p:cNvPr id="2281" name="TextBox 81"/>
          <p:cNvSpPr txBox="1"/>
          <p:nvPr/>
        </p:nvSpPr>
        <p:spPr>
          <a:xfrm>
            <a:off x="939800" y="3403600"/>
            <a:ext cx="889000" cy="127000"/>
          </a:xfrm>
          <a:prstGeom prst="rect">
            <a:avLst/>
          </a:prstGeom>
        </p:spPr>
        <p:txBody>
          <a:bodyPr wrap="square" lIns="0" tIns="0" rIns="0" bIns="0">
            <a:noAutofit/>
          </a:bodyPr>
          <a:lstStyle/>
          <a:p>
            <a:pPr>
              <a:lnSpc>
                <a:spcPct val="135000"/>
              </a:lnSpc>
            </a:pPr>
            <a:r>
              <a:rPr sz="440" spc="0">
                <a:solidFill>
                  <a:srgbClr val="A2A2A8"/>
                </a:solidFill>
                <a:latin typeface="Telegraf"/>
              </a:rPr>
              <a:t>auto-send</a:t>
            </a:r>
            <a:endParaRPr sz="440" spc="0">
              <a:solidFill>
                <a:srgbClr val="A2A2A8"/>
              </a:solidFill>
              <a:latin typeface="Telegraf"/>
            </a:endParaRPr>
          </a:p>
        </p:txBody>
      </p:sp>
      <p:sp>
        <p:nvSpPr>
          <p:cNvPr id="2282" name="Rectangle 82"/>
          <p:cNvSpPr/>
          <p:nvPr/>
        </p:nvSpPr>
        <p:spPr>
          <a:xfrm>
            <a:off x="1524000" y="33909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83" name="Oval 83"/>
          <p:cNvSpPr/>
          <p:nvPr/>
        </p:nvSpPr>
        <p:spPr>
          <a:xfrm>
            <a:off x="1663700" y="34099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84" name="Rectangle 84"/>
          <p:cNvSpPr/>
          <p:nvPr/>
        </p:nvSpPr>
        <p:spPr>
          <a:xfrm>
            <a:off x="939800" y="3606800"/>
            <a:ext cx="2540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85" name="TextBox 85"/>
          <p:cNvSpPr txBox="1"/>
          <p:nvPr/>
        </p:nvSpPr>
        <p:spPr>
          <a:xfrm>
            <a:off x="939800" y="3683000"/>
            <a:ext cx="1651000" cy="127000"/>
          </a:xfrm>
          <a:prstGeom prst="rect">
            <a:avLst/>
          </a:prstGeom>
        </p:spPr>
        <p:txBody>
          <a:bodyPr wrap="square" lIns="0" tIns="0" rIns="0" bIns="0">
            <a:noAutofit/>
          </a:bodyPr>
          <a:lstStyle/>
          <a:p>
            <a:pPr>
              <a:lnSpc>
                <a:spcPct val="135000"/>
              </a:lnSpc>
            </a:pPr>
            <a:r>
              <a:rPr sz="410" spc="0">
                <a:solidFill>
                  <a:srgbClr val="0E6B5F"/>
                </a:solidFill>
                <a:latin typeface="Telegraf"/>
              </a:rPr>
              <a:t>/api/channels/webhook/gmail</a:t>
            </a:r>
            <a:endParaRPr sz="410" spc="0">
              <a:solidFill>
                <a:srgbClr val="0E6B5F"/>
              </a:solidFill>
              <a:latin typeface="Telegraf"/>
            </a:endParaRPr>
          </a:p>
        </p:txBody>
      </p:sp>
      <p:sp>
        <p:nvSpPr>
          <p:cNvPr id="2286" name="TextBox 86"/>
          <p:cNvSpPr txBox="1"/>
          <p:nvPr/>
        </p:nvSpPr>
        <p:spPr>
          <a:xfrm>
            <a:off x="939800" y="3835400"/>
            <a:ext cx="2540000" cy="127000"/>
          </a:xfrm>
          <a:prstGeom prst="rect">
            <a:avLst/>
          </a:prstGeom>
        </p:spPr>
        <p:txBody>
          <a:bodyPr wrap="square" lIns="0" tIns="0" rIns="0" bIns="0">
            <a:noAutofit/>
          </a:bodyPr>
          <a:lstStyle/>
          <a:p>
            <a:pPr>
              <a:lnSpc>
                <a:spcPct val="135000"/>
              </a:lnSpc>
            </a:pPr>
            <a:r>
              <a:rPr sz="420" spc="0">
                <a:solidFill>
                  <a:srgbClr val="A2A2A8"/>
                </a:solidFill>
                <a:latin typeface="Telegraf"/>
              </a:rPr>
              <a:t>inbound 14m ago  ·  9 today</a:t>
            </a:r>
            <a:endParaRPr sz="420" spc="0">
              <a:solidFill>
                <a:srgbClr val="A2A2A8"/>
              </a:solidFill>
              <a:latin typeface="Telegraf"/>
            </a:endParaRPr>
          </a:p>
        </p:txBody>
      </p:sp>
      <p:sp>
        <p:nvSpPr>
          <p:cNvPr id="2287" name="Rectangle 87"/>
          <p:cNvSpPr/>
          <p:nvPr/>
        </p:nvSpPr>
        <p:spPr>
          <a:xfrm>
            <a:off x="2641600" y="3378200"/>
            <a:ext cx="838200" cy="215900"/>
          </a:xfrm>
          <a:custGeom>
            <a:avLst/>
            <a:gdLst/>
            <a:ahLst/>
            <a:cxnLst/>
            <a:rect l="l" t="t" r="r" b="b"/>
            <a:pathLst>
              <a:path w="100000" h="25758">
                <a:moveTo>
                  <a:pt x="87121" y="0"/>
                </a:moveTo>
                <a:cubicBezTo>
                  <a:pt x="87121" y="0"/>
                  <a:pt x="87121" y="0"/>
                  <a:pt x="87121" y="0"/>
                </a:cubicBezTo>
                <a:cubicBezTo>
                  <a:pt x="94233" y="0"/>
                  <a:pt x="100000" y="5767"/>
                  <a:pt x="100000" y="12879"/>
                </a:cubicBezTo>
                <a:cubicBezTo>
                  <a:pt x="100000" y="12879"/>
                  <a:pt x="100000" y="12879"/>
                  <a:pt x="100000" y="12879"/>
                </a:cubicBezTo>
                <a:lnTo>
                  <a:pt x="100000" y="12879"/>
                </a:lnTo>
                <a:cubicBezTo>
                  <a:pt x="100000" y="12879"/>
                  <a:pt x="100000" y="12879"/>
                  <a:pt x="100000" y="12879"/>
                </a:cubicBezTo>
                <a:cubicBezTo>
                  <a:pt x="100000" y="19991"/>
                  <a:pt x="94233" y="25758"/>
                  <a:pt x="87121" y="25758"/>
                </a:cubicBezTo>
                <a:cubicBezTo>
                  <a:pt x="87121" y="25758"/>
                  <a:pt x="87121" y="25758"/>
                  <a:pt x="87121" y="25758"/>
                </a:cubicBezTo>
                <a:lnTo>
                  <a:pt x="12879" y="25758"/>
                </a:lnTo>
                <a:cubicBezTo>
                  <a:pt x="12879" y="25758"/>
                  <a:pt x="12879" y="25758"/>
                  <a:pt x="12879" y="25758"/>
                </a:cubicBezTo>
                <a:cubicBezTo>
                  <a:pt x="5767" y="25758"/>
                  <a:pt x="0" y="19991"/>
                  <a:pt x="0" y="12879"/>
                </a:cubicBezTo>
                <a:cubicBezTo>
                  <a:pt x="0" y="12879"/>
                  <a:pt x="0" y="12879"/>
                  <a:pt x="0" y="12879"/>
                </a:cubicBezTo>
                <a:lnTo>
                  <a:pt x="0" y="12879"/>
                </a:lnTo>
                <a:cubicBezTo>
                  <a:pt x="0" y="12879"/>
                  <a:pt x="0" y="12879"/>
                  <a:pt x="0" y="12879"/>
                </a:cubicBezTo>
                <a:cubicBezTo>
                  <a:pt x="0" y="5767"/>
                  <a:pt x="5767" y="0"/>
                  <a:pt x="12879" y="0"/>
                </a:cubicBezTo>
                <a:cubicBezTo>
                  <a:pt x="12879" y="0"/>
                  <a:pt x="12879" y="0"/>
                  <a:pt x="1287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88" name="TextBox 88"/>
          <p:cNvSpPr txBox="1"/>
          <p:nvPr/>
        </p:nvSpPr>
        <p:spPr>
          <a:xfrm>
            <a:off x="2717800" y="3378200"/>
            <a:ext cx="711200" cy="215900"/>
          </a:xfrm>
          <a:prstGeom prst="rect">
            <a:avLst/>
          </a:prstGeom>
        </p:spPr>
        <p:txBody>
          <a:bodyPr wrap="square" lIns="0" tIns="0" rIns="0" bIns="0" anchor="ctr">
            <a:noAutofit/>
          </a:bodyPr>
          <a:lstStyle/>
          <a:p>
            <a:pPr>
              <a:lnSpc>
                <a:spcPct val="135000"/>
              </a:lnSpc>
            </a:pPr>
            <a:r>
              <a:rPr sz="410" b="1" spc="10">
                <a:solidFill>
                  <a:srgbClr val="67676E"/>
                </a:solidFill>
                <a:latin typeface="Telegraf"/>
              </a:rPr>
              <a:t>Simulate →</a:t>
            </a:r>
            <a:endParaRPr sz="410" b="1" spc="10">
              <a:solidFill>
                <a:srgbClr val="67676E"/>
              </a:solidFill>
              <a:latin typeface="Telegraf"/>
            </a:endParaRPr>
          </a:p>
        </p:txBody>
      </p:sp>
      <p:sp>
        <p:nvSpPr>
          <p:cNvPr id="2289" name="Rectangle 89"/>
          <p:cNvSpPr/>
          <p:nvPr/>
        </p:nvSpPr>
        <p:spPr>
          <a:xfrm>
            <a:off x="3810000" y="2743200"/>
            <a:ext cx="2895600" cy="1320800"/>
          </a:xfrm>
          <a:custGeom>
            <a:avLst/>
            <a:gdLst/>
            <a:ahLst/>
            <a:cxnLst/>
            <a:rect l="l" t="t" r="r" b="b"/>
            <a:pathLst>
              <a:path w="100000" h="45614">
                <a:moveTo>
                  <a:pt x="89474" y="0"/>
                </a:moveTo>
                <a:cubicBezTo>
                  <a:pt x="94436" y="0"/>
                  <a:pt x="96917" y="0"/>
                  <a:pt x="98458" y="1542"/>
                </a:cubicBezTo>
                <a:cubicBezTo>
                  <a:pt x="98458" y="1542"/>
                  <a:pt x="98458" y="1542"/>
                  <a:pt x="98458" y="1542"/>
                </a:cubicBezTo>
                <a:cubicBezTo>
                  <a:pt x="100000" y="3083"/>
                  <a:pt x="100000" y="5564"/>
                  <a:pt x="100000" y="10526"/>
                </a:cubicBezTo>
                <a:lnTo>
                  <a:pt x="100000" y="35088"/>
                </a:lnTo>
                <a:cubicBezTo>
                  <a:pt x="100000" y="40050"/>
                  <a:pt x="100000" y="42531"/>
                  <a:pt x="98458" y="44072"/>
                </a:cubicBezTo>
                <a:cubicBezTo>
                  <a:pt x="98458" y="44072"/>
                  <a:pt x="98458" y="44072"/>
                  <a:pt x="98458" y="44072"/>
                </a:cubicBezTo>
                <a:cubicBezTo>
                  <a:pt x="96917" y="45614"/>
                  <a:pt x="94436" y="45614"/>
                  <a:pt x="89474" y="45614"/>
                </a:cubicBezTo>
                <a:lnTo>
                  <a:pt x="10526" y="45614"/>
                </a:lnTo>
                <a:cubicBezTo>
                  <a:pt x="5564" y="45614"/>
                  <a:pt x="3083" y="45614"/>
                  <a:pt x="1542" y="44072"/>
                </a:cubicBezTo>
                <a:cubicBezTo>
                  <a:pt x="1542" y="44072"/>
                  <a:pt x="1542" y="44072"/>
                  <a:pt x="1542" y="44072"/>
                </a:cubicBezTo>
                <a:cubicBezTo>
                  <a:pt x="0" y="42531"/>
                  <a:pt x="0" y="40050"/>
                  <a:pt x="0" y="35088"/>
                </a:cubicBezTo>
                <a:lnTo>
                  <a:pt x="0" y="10526"/>
                </a:lnTo>
                <a:cubicBezTo>
                  <a:pt x="0" y="5564"/>
                  <a:pt x="0" y="3083"/>
                  <a:pt x="1542" y="1542"/>
                </a:cubicBezTo>
                <a:cubicBezTo>
                  <a:pt x="1542" y="1542"/>
                  <a:pt x="1542" y="1542"/>
                  <a:pt x="1542" y="1542"/>
                </a:cubicBezTo>
                <a:cubicBezTo>
                  <a:pt x="3083" y="0"/>
                  <a:pt x="5564" y="0"/>
                  <a:pt x="10526"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0" name="Oval 90"/>
          <p:cNvSpPr/>
          <p:nvPr/>
        </p:nvSpPr>
        <p:spPr>
          <a:xfrm>
            <a:off x="4014216" y="2928112"/>
            <a:ext cx="48768" cy="48768"/>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1" name="Rectangle 91"/>
          <p:cNvSpPr/>
          <p:nvPr/>
        </p:nvSpPr>
        <p:spPr>
          <a:xfrm>
            <a:off x="4032885" y="2987421"/>
            <a:ext cx="11430" cy="58547"/>
          </a:xfrm>
          <a:custGeom>
            <a:avLst/>
            <a:gdLst/>
            <a:ahLst/>
            <a:cxnLst/>
            <a:rect l="l" t="t" r="r" b="b"/>
            <a:pathLst>
              <a:path w="19523" h="100000">
                <a:moveTo>
                  <a:pt x="9761" y="0"/>
                </a:moveTo>
                <a:cubicBezTo>
                  <a:pt x="10759" y="0"/>
                  <a:pt x="11280" y="0"/>
                  <a:pt x="11692" y="43"/>
                </a:cubicBezTo>
                <a:cubicBezTo>
                  <a:pt x="15813" y="456"/>
                  <a:pt x="19067" y="3709"/>
                  <a:pt x="19479" y="7831"/>
                </a:cubicBezTo>
                <a:cubicBezTo>
                  <a:pt x="19523" y="8243"/>
                  <a:pt x="19523" y="8764"/>
                  <a:pt x="19523" y="9761"/>
                </a:cubicBezTo>
                <a:lnTo>
                  <a:pt x="19523" y="90239"/>
                </a:lnTo>
                <a:cubicBezTo>
                  <a:pt x="19523" y="91236"/>
                  <a:pt x="19523" y="91757"/>
                  <a:pt x="19479" y="92169"/>
                </a:cubicBezTo>
                <a:cubicBezTo>
                  <a:pt x="19067" y="96291"/>
                  <a:pt x="15813" y="99544"/>
                  <a:pt x="11692" y="99957"/>
                </a:cubicBezTo>
                <a:cubicBezTo>
                  <a:pt x="11280" y="100000"/>
                  <a:pt x="10759" y="100000"/>
                  <a:pt x="9761" y="100000"/>
                </a:cubicBezTo>
                <a:lnTo>
                  <a:pt x="9761" y="100000"/>
                </a:lnTo>
                <a:cubicBezTo>
                  <a:pt x="8764" y="100000"/>
                  <a:pt x="8243" y="100000"/>
                  <a:pt x="7831" y="99957"/>
                </a:cubicBezTo>
                <a:cubicBezTo>
                  <a:pt x="3709" y="99544"/>
                  <a:pt x="456" y="96291"/>
                  <a:pt x="43" y="92169"/>
                </a:cubicBezTo>
                <a:cubicBezTo>
                  <a:pt x="0" y="91757"/>
                  <a:pt x="0" y="91236"/>
                  <a:pt x="0" y="90239"/>
                </a:cubicBezTo>
                <a:lnTo>
                  <a:pt x="0" y="9761"/>
                </a:lnTo>
                <a:cubicBezTo>
                  <a:pt x="0" y="8764"/>
                  <a:pt x="0" y="8243"/>
                  <a:pt x="43" y="7831"/>
                </a:cubicBezTo>
                <a:cubicBezTo>
                  <a:pt x="456" y="3709"/>
                  <a:pt x="3709" y="456"/>
                  <a:pt x="7831" y="43"/>
                </a:cubicBezTo>
                <a:cubicBezTo>
                  <a:pt x="8243" y="0"/>
                  <a:pt x="8764" y="0"/>
                  <a:pt x="9761"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2" name="Rectangle 92"/>
          <p:cNvSpPr/>
          <p:nvPr/>
        </p:nvSpPr>
        <p:spPr>
          <a:xfrm>
            <a:off x="3985006" y="3031363"/>
            <a:ext cx="107315" cy="10795"/>
          </a:xfrm>
          <a:custGeom>
            <a:avLst/>
            <a:gdLst/>
            <a:ahLst/>
            <a:cxnLst/>
            <a:rect l="l" t="t" r="r" b="b"/>
            <a:pathLst>
              <a:path w="100000" h="10059">
                <a:moveTo>
                  <a:pt x="94970" y="0"/>
                </a:moveTo>
                <a:cubicBezTo>
                  <a:pt x="95243" y="0"/>
                  <a:pt x="95385" y="0"/>
                  <a:pt x="95503" y="0"/>
                </a:cubicBezTo>
                <a:cubicBezTo>
                  <a:pt x="97929" y="130"/>
                  <a:pt x="99870" y="2071"/>
                  <a:pt x="100000" y="4497"/>
                </a:cubicBezTo>
                <a:cubicBezTo>
                  <a:pt x="100000" y="4615"/>
                  <a:pt x="100000" y="4757"/>
                  <a:pt x="100000" y="5030"/>
                </a:cubicBezTo>
                <a:lnTo>
                  <a:pt x="100000" y="5030"/>
                </a:lnTo>
                <a:cubicBezTo>
                  <a:pt x="100000" y="5302"/>
                  <a:pt x="100000" y="5444"/>
                  <a:pt x="100000" y="5562"/>
                </a:cubicBezTo>
                <a:cubicBezTo>
                  <a:pt x="99870" y="7988"/>
                  <a:pt x="97929" y="9929"/>
                  <a:pt x="95503" y="10059"/>
                </a:cubicBezTo>
                <a:cubicBezTo>
                  <a:pt x="95385" y="10059"/>
                  <a:pt x="95243" y="10059"/>
                  <a:pt x="94970" y="10059"/>
                </a:cubicBezTo>
                <a:lnTo>
                  <a:pt x="5030" y="10059"/>
                </a:lnTo>
                <a:cubicBezTo>
                  <a:pt x="4757" y="10059"/>
                  <a:pt x="4615" y="10059"/>
                  <a:pt x="4497" y="10059"/>
                </a:cubicBezTo>
                <a:cubicBezTo>
                  <a:pt x="2071" y="9929"/>
                  <a:pt x="130" y="7988"/>
                  <a:pt x="0" y="5562"/>
                </a:cubicBezTo>
                <a:cubicBezTo>
                  <a:pt x="0" y="5444"/>
                  <a:pt x="0" y="5302"/>
                  <a:pt x="0" y="5030"/>
                </a:cubicBezTo>
                <a:lnTo>
                  <a:pt x="0" y="5030"/>
                </a:lnTo>
                <a:cubicBezTo>
                  <a:pt x="0" y="4757"/>
                  <a:pt x="0" y="4615"/>
                  <a:pt x="0" y="4497"/>
                </a:cubicBezTo>
                <a:cubicBezTo>
                  <a:pt x="130" y="2071"/>
                  <a:pt x="2071" y="130"/>
                  <a:pt x="4497" y="0"/>
                </a:cubicBezTo>
                <a:cubicBezTo>
                  <a:pt x="4615" y="0"/>
                  <a:pt x="4757" y="0"/>
                  <a:pt x="5030" y="0"/>
                </a:cubicBezTo>
                <a:close/>
              </a:path>
            </a:pathLst>
          </a:cu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3" name="TextBox 93"/>
          <p:cNvSpPr txBox="1"/>
          <p:nvPr/>
        </p:nvSpPr>
        <p:spPr>
          <a:xfrm>
            <a:off x="4216400" y="2870200"/>
            <a:ext cx="1524000" cy="152400"/>
          </a:xfrm>
          <a:prstGeom prst="rect">
            <a:avLst/>
          </a:prstGeom>
        </p:spPr>
        <p:txBody>
          <a:bodyPr wrap="square" lIns="0" tIns="0" rIns="0" bIns="0">
            <a:noAutofit/>
          </a:bodyPr>
          <a:lstStyle/>
          <a:p>
            <a:pPr>
              <a:lnSpc>
                <a:spcPct val="135000"/>
              </a:lnSpc>
            </a:pPr>
            <a:r>
              <a:rPr sz="640" b="1" spc="0">
                <a:solidFill>
                  <a:srgbClr val="0A0A0A"/>
                </a:solidFill>
                <a:latin typeface="Telegraf"/>
              </a:rPr>
              <a:t>Sarvam voice</a:t>
            </a:r>
            <a:endParaRPr sz="640" b="1" spc="0">
              <a:solidFill>
                <a:srgbClr val="0A0A0A"/>
              </a:solidFill>
              <a:latin typeface="Telegraf"/>
            </a:endParaRPr>
          </a:p>
        </p:txBody>
      </p:sp>
      <p:sp>
        <p:nvSpPr>
          <p:cNvPr id="2294" name="Rectangle 94"/>
          <p:cNvSpPr/>
          <p:nvPr/>
        </p:nvSpPr>
        <p:spPr>
          <a:xfrm>
            <a:off x="3987800" y="3175000"/>
            <a:ext cx="494919" cy="146050"/>
          </a:xfrm>
          <a:custGeom>
            <a:avLst/>
            <a:gdLst/>
            <a:ahLst/>
            <a:cxnLst/>
            <a:rect l="l" t="t" r="r" b="b"/>
            <a:pathLst>
              <a:path w="100000" h="29510">
                <a:moveTo>
                  <a:pt x="85245" y="0"/>
                </a:moveTo>
                <a:cubicBezTo>
                  <a:pt x="85245" y="0"/>
                  <a:pt x="85245" y="0"/>
                  <a:pt x="85245" y="0"/>
                </a:cubicBezTo>
                <a:cubicBezTo>
                  <a:pt x="93395" y="0"/>
                  <a:pt x="100000" y="6605"/>
                  <a:pt x="100000" y="14755"/>
                </a:cubicBezTo>
                <a:cubicBezTo>
                  <a:pt x="100000" y="14755"/>
                  <a:pt x="100000" y="14755"/>
                  <a:pt x="100000" y="14755"/>
                </a:cubicBezTo>
                <a:lnTo>
                  <a:pt x="100000" y="14755"/>
                </a:lnTo>
                <a:cubicBezTo>
                  <a:pt x="100000" y="14755"/>
                  <a:pt x="100000" y="14755"/>
                  <a:pt x="100000" y="14755"/>
                </a:cubicBezTo>
                <a:cubicBezTo>
                  <a:pt x="100000" y="22905"/>
                  <a:pt x="93395" y="29510"/>
                  <a:pt x="85245" y="29510"/>
                </a:cubicBezTo>
                <a:cubicBezTo>
                  <a:pt x="85245" y="29510"/>
                  <a:pt x="85245" y="29510"/>
                  <a:pt x="85245" y="29510"/>
                </a:cubicBezTo>
                <a:lnTo>
                  <a:pt x="14755" y="29510"/>
                </a:lnTo>
                <a:cubicBezTo>
                  <a:pt x="14755" y="29510"/>
                  <a:pt x="14755" y="29510"/>
                  <a:pt x="14755" y="29510"/>
                </a:cubicBezTo>
                <a:cubicBezTo>
                  <a:pt x="6605" y="29510"/>
                  <a:pt x="0" y="22905"/>
                  <a:pt x="0" y="14755"/>
                </a:cubicBezTo>
                <a:cubicBezTo>
                  <a:pt x="0" y="14755"/>
                  <a:pt x="0" y="14755"/>
                  <a:pt x="0" y="14755"/>
                </a:cubicBezTo>
                <a:lnTo>
                  <a:pt x="0" y="14755"/>
                </a:lnTo>
                <a:cubicBezTo>
                  <a:pt x="0" y="14755"/>
                  <a:pt x="0" y="14755"/>
                  <a:pt x="0" y="14755"/>
                </a:cubicBezTo>
                <a:cubicBezTo>
                  <a:pt x="0" y="6605"/>
                  <a:pt x="6605" y="0"/>
                  <a:pt x="14755" y="0"/>
                </a:cubicBezTo>
                <a:cubicBezTo>
                  <a:pt x="14755" y="0"/>
                  <a:pt x="14755" y="0"/>
                  <a:pt x="14755"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5" name="Oval 95"/>
          <p:cNvSpPr/>
          <p:nvPr/>
        </p:nvSpPr>
        <p:spPr>
          <a:xfrm>
            <a:off x="4039870" y="32264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6" name="TextBox 96"/>
          <p:cNvSpPr txBox="1"/>
          <p:nvPr/>
        </p:nvSpPr>
        <p:spPr>
          <a:xfrm>
            <a:off x="4117340" y="3175000"/>
            <a:ext cx="342519"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connected</a:t>
            </a:r>
            <a:endParaRPr sz="440" b="1" spc="0">
              <a:solidFill>
                <a:srgbClr val="0B5C44"/>
              </a:solidFill>
              <a:latin typeface="Telegraf"/>
            </a:endParaRPr>
          </a:p>
        </p:txBody>
      </p:sp>
      <p:sp>
        <p:nvSpPr>
          <p:cNvPr id="2297" name="TextBox 97"/>
          <p:cNvSpPr txBox="1"/>
          <p:nvPr/>
        </p:nvSpPr>
        <p:spPr>
          <a:xfrm>
            <a:off x="3987800" y="3403600"/>
            <a:ext cx="889000" cy="127000"/>
          </a:xfrm>
          <a:prstGeom prst="rect">
            <a:avLst/>
          </a:prstGeom>
        </p:spPr>
        <p:txBody>
          <a:bodyPr wrap="square" lIns="0" tIns="0" rIns="0" bIns="0">
            <a:noAutofit/>
          </a:bodyPr>
          <a:lstStyle/>
          <a:p>
            <a:pPr>
              <a:lnSpc>
                <a:spcPct val="135000"/>
              </a:lnSpc>
            </a:pPr>
            <a:r>
              <a:rPr sz="440" spc="0">
                <a:solidFill>
                  <a:srgbClr val="A2A2A8"/>
                </a:solidFill>
                <a:latin typeface="Telegraf"/>
              </a:rPr>
              <a:t>auto-send</a:t>
            </a:r>
            <a:endParaRPr sz="440" spc="0">
              <a:solidFill>
                <a:srgbClr val="A2A2A8"/>
              </a:solidFill>
              <a:latin typeface="Telegraf"/>
            </a:endParaRPr>
          </a:p>
        </p:txBody>
      </p:sp>
      <p:sp>
        <p:nvSpPr>
          <p:cNvPr id="2298" name="Rectangle 98"/>
          <p:cNvSpPr/>
          <p:nvPr/>
        </p:nvSpPr>
        <p:spPr>
          <a:xfrm>
            <a:off x="4572000" y="3390900"/>
            <a:ext cx="254000" cy="133350"/>
          </a:xfrm>
          <a:custGeom>
            <a:avLst/>
            <a:gdLst/>
            <a:ahLst/>
            <a:cxnLst/>
            <a:rect l="l" t="t" r="r" b="b"/>
            <a:pathLst>
              <a:path w="100000" h="52500">
                <a:moveTo>
                  <a:pt x="73750" y="0"/>
                </a:moveTo>
                <a:cubicBezTo>
                  <a:pt x="73750" y="0"/>
                  <a:pt x="73750" y="0"/>
                  <a:pt x="73750" y="0"/>
                </a:cubicBezTo>
                <a:cubicBezTo>
                  <a:pt x="88245" y="0"/>
                  <a:pt x="100000" y="11755"/>
                  <a:pt x="100000" y="26250"/>
                </a:cubicBezTo>
                <a:cubicBezTo>
                  <a:pt x="100000" y="26250"/>
                  <a:pt x="100000" y="26250"/>
                  <a:pt x="100000" y="26250"/>
                </a:cubicBezTo>
                <a:lnTo>
                  <a:pt x="100000" y="26250"/>
                </a:lnTo>
                <a:cubicBezTo>
                  <a:pt x="100000" y="26250"/>
                  <a:pt x="100000" y="26250"/>
                  <a:pt x="100000" y="26250"/>
                </a:cubicBezTo>
                <a:cubicBezTo>
                  <a:pt x="100000" y="40745"/>
                  <a:pt x="88245" y="52500"/>
                  <a:pt x="73750" y="52500"/>
                </a:cubicBezTo>
                <a:cubicBezTo>
                  <a:pt x="73750" y="52500"/>
                  <a:pt x="73750" y="52500"/>
                  <a:pt x="73750" y="52500"/>
                </a:cubicBezTo>
                <a:lnTo>
                  <a:pt x="26250" y="52500"/>
                </a:lnTo>
                <a:cubicBezTo>
                  <a:pt x="26250" y="52500"/>
                  <a:pt x="26250" y="52500"/>
                  <a:pt x="26250" y="52500"/>
                </a:cubicBezTo>
                <a:cubicBezTo>
                  <a:pt x="11755" y="52500"/>
                  <a:pt x="0" y="40745"/>
                  <a:pt x="0" y="26250"/>
                </a:cubicBezTo>
                <a:cubicBezTo>
                  <a:pt x="0" y="26250"/>
                  <a:pt x="0" y="26250"/>
                  <a:pt x="0" y="26250"/>
                </a:cubicBezTo>
                <a:lnTo>
                  <a:pt x="0" y="26250"/>
                </a:lnTo>
                <a:cubicBezTo>
                  <a:pt x="0" y="26250"/>
                  <a:pt x="0" y="26250"/>
                  <a:pt x="0" y="26250"/>
                </a:cubicBezTo>
                <a:cubicBezTo>
                  <a:pt x="0" y="11755"/>
                  <a:pt x="11755" y="0"/>
                  <a:pt x="26250" y="0"/>
                </a:cubicBezTo>
                <a:cubicBezTo>
                  <a:pt x="26250" y="0"/>
                  <a:pt x="26250" y="0"/>
                  <a:pt x="2625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299" name="Oval 99"/>
          <p:cNvSpPr/>
          <p:nvPr/>
        </p:nvSpPr>
        <p:spPr>
          <a:xfrm>
            <a:off x="4711700" y="3409950"/>
            <a:ext cx="95250" cy="9525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00" name="Rectangle 100"/>
          <p:cNvSpPr/>
          <p:nvPr/>
        </p:nvSpPr>
        <p:spPr>
          <a:xfrm>
            <a:off x="3987800" y="3606800"/>
            <a:ext cx="25400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01" name="TextBox 101"/>
          <p:cNvSpPr txBox="1"/>
          <p:nvPr/>
        </p:nvSpPr>
        <p:spPr>
          <a:xfrm>
            <a:off x="3987800" y="3683000"/>
            <a:ext cx="1651000" cy="127000"/>
          </a:xfrm>
          <a:prstGeom prst="rect">
            <a:avLst/>
          </a:prstGeom>
        </p:spPr>
        <p:txBody>
          <a:bodyPr wrap="square" lIns="0" tIns="0" rIns="0" bIns="0">
            <a:noAutofit/>
          </a:bodyPr>
          <a:lstStyle/>
          <a:p>
            <a:pPr>
              <a:lnSpc>
                <a:spcPct val="135000"/>
              </a:lnSpc>
            </a:pPr>
            <a:r>
              <a:rPr sz="410" spc="0">
                <a:solidFill>
                  <a:srgbClr val="0E6B5F"/>
                </a:solidFill>
                <a:latin typeface="Telegraf"/>
              </a:rPr>
              <a:t>/api/voice/sarvam-webhook</a:t>
            </a:r>
            <a:endParaRPr sz="410" spc="0">
              <a:solidFill>
                <a:srgbClr val="0E6B5F"/>
              </a:solidFill>
              <a:latin typeface="Telegraf"/>
            </a:endParaRPr>
          </a:p>
        </p:txBody>
      </p:sp>
      <p:sp>
        <p:nvSpPr>
          <p:cNvPr id="2302" name="TextBox 102"/>
          <p:cNvSpPr txBox="1"/>
          <p:nvPr/>
        </p:nvSpPr>
        <p:spPr>
          <a:xfrm>
            <a:off x="3987800" y="3835400"/>
            <a:ext cx="2540000" cy="127000"/>
          </a:xfrm>
          <a:prstGeom prst="rect">
            <a:avLst/>
          </a:prstGeom>
        </p:spPr>
        <p:txBody>
          <a:bodyPr wrap="square" lIns="0" tIns="0" rIns="0" bIns="0">
            <a:noAutofit/>
          </a:bodyPr>
          <a:lstStyle/>
          <a:p>
            <a:pPr>
              <a:lnSpc>
                <a:spcPct val="135000"/>
              </a:lnSpc>
            </a:pPr>
            <a:r>
              <a:rPr sz="420" spc="0">
                <a:solidFill>
                  <a:srgbClr val="A2A2A8"/>
                </a:solidFill>
                <a:latin typeface="Telegraf"/>
              </a:rPr>
              <a:t>call completed  ·  yesterday</a:t>
            </a:r>
            <a:endParaRPr sz="420" spc="0">
              <a:solidFill>
                <a:srgbClr val="A2A2A8"/>
              </a:solidFill>
              <a:latin typeface="Telegraf"/>
            </a:endParaRPr>
          </a:p>
        </p:txBody>
      </p:sp>
      <p:sp>
        <p:nvSpPr>
          <p:cNvPr id="2303" name="Rectangle 103"/>
          <p:cNvSpPr/>
          <p:nvPr/>
        </p:nvSpPr>
        <p:spPr>
          <a:xfrm>
            <a:off x="5689600" y="3378200"/>
            <a:ext cx="838200" cy="215900"/>
          </a:xfrm>
          <a:custGeom>
            <a:avLst/>
            <a:gdLst/>
            <a:ahLst/>
            <a:cxnLst/>
            <a:rect l="l" t="t" r="r" b="b"/>
            <a:pathLst>
              <a:path w="100000" h="25758">
                <a:moveTo>
                  <a:pt x="87121" y="0"/>
                </a:moveTo>
                <a:cubicBezTo>
                  <a:pt x="87121" y="0"/>
                  <a:pt x="87121" y="0"/>
                  <a:pt x="87121" y="0"/>
                </a:cubicBezTo>
                <a:cubicBezTo>
                  <a:pt x="94233" y="0"/>
                  <a:pt x="100000" y="5767"/>
                  <a:pt x="100000" y="12879"/>
                </a:cubicBezTo>
                <a:cubicBezTo>
                  <a:pt x="100000" y="12879"/>
                  <a:pt x="100000" y="12879"/>
                  <a:pt x="100000" y="12879"/>
                </a:cubicBezTo>
                <a:lnTo>
                  <a:pt x="100000" y="12879"/>
                </a:lnTo>
                <a:cubicBezTo>
                  <a:pt x="100000" y="12879"/>
                  <a:pt x="100000" y="12879"/>
                  <a:pt x="100000" y="12879"/>
                </a:cubicBezTo>
                <a:cubicBezTo>
                  <a:pt x="100000" y="19991"/>
                  <a:pt x="94233" y="25758"/>
                  <a:pt x="87121" y="25758"/>
                </a:cubicBezTo>
                <a:cubicBezTo>
                  <a:pt x="87121" y="25758"/>
                  <a:pt x="87121" y="25758"/>
                  <a:pt x="87121" y="25758"/>
                </a:cubicBezTo>
                <a:lnTo>
                  <a:pt x="12879" y="25758"/>
                </a:lnTo>
                <a:cubicBezTo>
                  <a:pt x="12879" y="25758"/>
                  <a:pt x="12879" y="25758"/>
                  <a:pt x="12879" y="25758"/>
                </a:cubicBezTo>
                <a:cubicBezTo>
                  <a:pt x="5767" y="25758"/>
                  <a:pt x="0" y="19991"/>
                  <a:pt x="0" y="12879"/>
                </a:cubicBezTo>
                <a:cubicBezTo>
                  <a:pt x="0" y="12879"/>
                  <a:pt x="0" y="12879"/>
                  <a:pt x="0" y="12879"/>
                </a:cubicBezTo>
                <a:lnTo>
                  <a:pt x="0" y="12879"/>
                </a:lnTo>
                <a:cubicBezTo>
                  <a:pt x="0" y="12879"/>
                  <a:pt x="0" y="12879"/>
                  <a:pt x="0" y="12879"/>
                </a:cubicBezTo>
                <a:cubicBezTo>
                  <a:pt x="0" y="5767"/>
                  <a:pt x="5767" y="0"/>
                  <a:pt x="12879" y="0"/>
                </a:cubicBezTo>
                <a:cubicBezTo>
                  <a:pt x="12879" y="0"/>
                  <a:pt x="12879" y="0"/>
                  <a:pt x="1287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04" name="TextBox 104"/>
          <p:cNvSpPr txBox="1"/>
          <p:nvPr/>
        </p:nvSpPr>
        <p:spPr>
          <a:xfrm>
            <a:off x="5765800" y="3378200"/>
            <a:ext cx="711200" cy="215900"/>
          </a:xfrm>
          <a:prstGeom prst="rect">
            <a:avLst/>
          </a:prstGeom>
        </p:spPr>
        <p:txBody>
          <a:bodyPr wrap="square" lIns="0" tIns="0" rIns="0" bIns="0" anchor="ctr">
            <a:noAutofit/>
          </a:bodyPr>
          <a:lstStyle/>
          <a:p>
            <a:pPr>
              <a:lnSpc>
                <a:spcPct val="135000"/>
              </a:lnSpc>
            </a:pPr>
            <a:r>
              <a:rPr sz="410" b="1" spc="10">
                <a:solidFill>
                  <a:srgbClr val="67676E"/>
                </a:solidFill>
                <a:latin typeface="Telegraf"/>
              </a:rPr>
              <a:t>Simulate →</a:t>
            </a:r>
            <a:endParaRPr sz="410" b="1" spc="10">
              <a:solidFill>
                <a:srgbClr val="67676E"/>
              </a:solidFill>
              <a:latin typeface="Telegraf"/>
            </a:endParaRPr>
          </a:p>
        </p:txBody>
      </p:sp>
      <p:sp>
        <p:nvSpPr>
          <p:cNvPr id="2305" name="Rectangle 105"/>
          <p:cNvSpPr/>
          <p:nvPr/>
        </p:nvSpPr>
        <p:spPr>
          <a:xfrm>
            <a:off x="6959600" y="1270000"/>
            <a:ext cx="3149600" cy="1320800"/>
          </a:xfrm>
          <a:custGeom>
            <a:avLst/>
            <a:gdLst/>
            <a:ahLst/>
            <a:cxnLst/>
            <a:rect l="l" t="t" r="r" b="b"/>
            <a:pathLst>
              <a:path w="100000" h="41935">
                <a:moveTo>
                  <a:pt x="90323" y="0"/>
                </a:moveTo>
                <a:cubicBezTo>
                  <a:pt x="94885" y="0"/>
                  <a:pt x="97166" y="0"/>
                  <a:pt x="98583" y="1417"/>
                </a:cubicBezTo>
                <a:cubicBezTo>
                  <a:pt x="98583" y="1417"/>
                  <a:pt x="98583" y="1417"/>
                  <a:pt x="98583" y="1417"/>
                </a:cubicBezTo>
                <a:cubicBezTo>
                  <a:pt x="100000" y="2834"/>
                  <a:pt x="100000" y="5115"/>
                  <a:pt x="100000" y="9677"/>
                </a:cubicBezTo>
                <a:lnTo>
                  <a:pt x="100000" y="32258"/>
                </a:lnTo>
                <a:cubicBezTo>
                  <a:pt x="100000" y="36820"/>
                  <a:pt x="100000" y="39101"/>
                  <a:pt x="98583" y="40518"/>
                </a:cubicBezTo>
                <a:cubicBezTo>
                  <a:pt x="98583" y="40518"/>
                  <a:pt x="98583" y="40518"/>
                  <a:pt x="98583" y="40518"/>
                </a:cubicBezTo>
                <a:cubicBezTo>
                  <a:pt x="97166" y="41935"/>
                  <a:pt x="94885" y="41935"/>
                  <a:pt x="90323" y="41935"/>
                </a:cubicBezTo>
                <a:lnTo>
                  <a:pt x="9677" y="41935"/>
                </a:lnTo>
                <a:cubicBezTo>
                  <a:pt x="5115" y="41935"/>
                  <a:pt x="2834" y="41935"/>
                  <a:pt x="1417" y="40518"/>
                </a:cubicBezTo>
                <a:cubicBezTo>
                  <a:pt x="1417" y="40518"/>
                  <a:pt x="1417" y="40518"/>
                  <a:pt x="1417" y="40518"/>
                </a:cubicBezTo>
                <a:cubicBezTo>
                  <a:pt x="0" y="39101"/>
                  <a:pt x="0" y="36820"/>
                  <a:pt x="0" y="32258"/>
                </a:cubicBezTo>
                <a:lnTo>
                  <a:pt x="0" y="9677"/>
                </a:lnTo>
                <a:cubicBezTo>
                  <a:pt x="0" y="5115"/>
                  <a:pt x="0" y="2834"/>
                  <a:pt x="1417" y="1417"/>
                </a:cubicBezTo>
                <a:cubicBezTo>
                  <a:pt x="1417" y="1417"/>
                  <a:pt x="1417" y="1417"/>
                  <a:pt x="1417" y="1417"/>
                </a:cubicBezTo>
                <a:cubicBezTo>
                  <a:pt x="2834" y="0"/>
                  <a:pt x="5115" y="0"/>
                  <a:pt x="9677"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06" name="TextBox 106"/>
          <p:cNvSpPr txBox="1"/>
          <p:nvPr/>
        </p:nvSpPr>
        <p:spPr>
          <a:xfrm>
            <a:off x="7137400" y="1397000"/>
            <a:ext cx="2540000" cy="114300"/>
          </a:xfrm>
          <a:prstGeom prst="rect">
            <a:avLst/>
          </a:prstGeom>
        </p:spPr>
        <p:txBody>
          <a:bodyPr wrap="square" lIns="0" tIns="0" rIns="0" bIns="0">
            <a:noAutofit/>
          </a:bodyPr>
          <a:lstStyle/>
          <a:p>
            <a:r>
              <a:rPr sz="440" b="1" spc="105">
                <a:solidFill>
                  <a:srgbClr val="8FE0CE"/>
                </a:solidFill>
                <a:latin typeface="Telegraf"/>
              </a:rPr>
              <a:t>IDEMPOTENCY  ·  AT-10</a:t>
            </a:r>
            <a:endParaRPr sz="440" b="1" spc="105">
              <a:solidFill>
                <a:srgbClr val="8FE0CE"/>
              </a:solidFill>
              <a:latin typeface="Telegraf"/>
            </a:endParaRPr>
          </a:p>
        </p:txBody>
      </p:sp>
      <p:sp>
        <p:nvSpPr>
          <p:cNvPr id="2307" name="TextBox 107"/>
          <p:cNvSpPr txBox="1"/>
          <p:nvPr/>
        </p:nvSpPr>
        <p:spPr>
          <a:xfrm>
            <a:off x="7137400" y="1549400"/>
            <a:ext cx="2794000" cy="152400"/>
          </a:xfrm>
          <a:prstGeom prst="rect">
            <a:avLst/>
          </a:prstGeom>
        </p:spPr>
        <p:txBody>
          <a:bodyPr wrap="square" lIns="0" tIns="0" rIns="0" bIns="0">
            <a:noAutofit/>
          </a:bodyPr>
          <a:lstStyle/>
          <a:p>
            <a:pPr>
              <a:lnSpc>
                <a:spcPct val="135000"/>
              </a:lnSpc>
            </a:pPr>
            <a:r>
              <a:rPr sz="620" b="1" spc="0">
                <a:solidFill>
                  <a:srgbClr val="FFFFFF"/>
                </a:solidFill>
                <a:latin typeface="Telegraf"/>
              </a:rPr>
              <a:t>The same webhook, twice</a:t>
            </a:r>
            <a:endParaRPr sz="620" b="1" spc="0">
              <a:solidFill>
                <a:srgbClr val="FFFFFF"/>
              </a:solidFill>
              <a:latin typeface="Telegraf"/>
            </a:endParaRPr>
          </a:p>
        </p:txBody>
      </p:sp>
      <p:sp>
        <p:nvSpPr>
          <p:cNvPr id="2308" name="TextBox 108"/>
          <p:cNvSpPr txBox="1"/>
          <p:nvPr/>
        </p:nvSpPr>
        <p:spPr>
          <a:xfrm>
            <a:off x="7137400" y="1752600"/>
            <a:ext cx="2794000" cy="127000"/>
          </a:xfrm>
          <a:prstGeom prst="rect">
            <a:avLst/>
          </a:prstGeom>
        </p:spPr>
        <p:txBody>
          <a:bodyPr wrap="square" lIns="0" tIns="0" rIns="0" bIns="0">
            <a:noAutofit/>
          </a:bodyPr>
          <a:lstStyle/>
          <a:p>
            <a:pPr>
              <a:lnSpc>
                <a:spcPct val="135000"/>
              </a:lnSpc>
            </a:pPr>
            <a:r>
              <a:rPr sz="420" spc="0">
                <a:solidFill>
                  <a:srgbClr val="A9C4BF"/>
                </a:solidFill>
                <a:latin typeface="Telegraf"/>
              </a:rPr>
              <a:t>externalMessageId  wamid.HBgM</a:t>
            </a:r>
            <a:endParaRPr sz="420" spc="0">
              <a:solidFill>
                <a:srgbClr val="A9C4BF"/>
              </a:solidFill>
              <a:latin typeface="Telegraf"/>
            </a:endParaRPr>
          </a:p>
        </p:txBody>
      </p:sp>
      <p:sp>
        <p:nvSpPr>
          <p:cNvPr id="2309" name="TextBox 109"/>
          <p:cNvSpPr txBox="1"/>
          <p:nvPr/>
        </p:nvSpPr>
        <p:spPr>
          <a:xfrm>
            <a:off x="7137400" y="1905000"/>
            <a:ext cx="2794000" cy="127000"/>
          </a:xfrm>
          <a:prstGeom prst="rect">
            <a:avLst/>
          </a:prstGeom>
        </p:spPr>
        <p:txBody>
          <a:bodyPr wrap="square" lIns="0" tIns="0" rIns="0" bIns="0">
            <a:noAutofit/>
          </a:bodyPr>
          <a:lstStyle/>
          <a:p>
            <a:pPr>
              <a:lnSpc>
                <a:spcPct val="135000"/>
              </a:lnSpc>
            </a:pPr>
            <a:r>
              <a:rPr sz="420" spc="0">
                <a:solidFill>
                  <a:srgbClr val="A9C4BF"/>
                </a:solidFill>
                <a:latin typeface="Telegraf"/>
              </a:rPr>
              <a:t>externalMessageId  wamid.HBgM</a:t>
            </a:r>
            <a:endParaRPr sz="420" spc="0">
              <a:solidFill>
                <a:srgbClr val="A9C4BF"/>
              </a:solidFill>
              <a:latin typeface="Telegraf"/>
            </a:endParaRPr>
          </a:p>
        </p:txBody>
      </p:sp>
      <p:sp>
        <p:nvSpPr>
          <p:cNvPr id="2310" name="Rectangle 110"/>
          <p:cNvSpPr/>
          <p:nvPr/>
        </p:nvSpPr>
        <p:spPr>
          <a:xfrm>
            <a:off x="7137400" y="2082800"/>
            <a:ext cx="2794000" cy="11430"/>
          </a:xfrm>
          <a:prstGeom prst="roundRect">
            <a:avLst/>
          </a:prstGeom>
          <a:solidFill>
            <a:srgbClr val="2A51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11" name="TextBox 111"/>
          <p:cNvSpPr txBox="1"/>
          <p:nvPr/>
        </p:nvSpPr>
        <p:spPr>
          <a:xfrm>
            <a:off x="7137400" y="2159000"/>
            <a:ext cx="1778000" cy="127000"/>
          </a:xfrm>
          <a:prstGeom prst="rect">
            <a:avLst/>
          </a:prstGeom>
        </p:spPr>
        <p:txBody>
          <a:bodyPr wrap="square" lIns="0" tIns="0" rIns="0" bIns="0">
            <a:noAutofit/>
          </a:bodyPr>
          <a:lstStyle/>
          <a:p>
            <a:pPr>
              <a:lnSpc>
                <a:spcPct val="135000"/>
              </a:lnSpc>
            </a:pPr>
            <a:r>
              <a:rPr sz="520" b="1" spc="0">
                <a:solidFill>
                  <a:srgbClr val="8FE0CE"/>
                </a:solidFill>
                <a:latin typeface="Telegraf"/>
              </a:rPr>
              <a:t>1 ticket  ·  1 decision</a:t>
            </a:r>
            <a:endParaRPr sz="520" b="1" spc="0">
              <a:solidFill>
                <a:srgbClr val="8FE0CE"/>
              </a:solidFill>
              <a:latin typeface="Telegraf"/>
            </a:endParaRPr>
          </a:p>
        </p:txBody>
      </p:sp>
      <p:sp>
        <p:nvSpPr>
          <p:cNvPr id="2312" name="TextBox 112"/>
          <p:cNvSpPr txBox="1"/>
          <p:nvPr/>
        </p:nvSpPr>
        <p:spPr>
          <a:xfrm>
            <a:off x="7137400" y="2336800"/>
            <a:ext cx="2794000" cy="127000"/>
          </a:xfrm>
          <a:prstGeom prst="rect">
            <a:avLst/>
          </a:prstGeom>
        </p:spPr>
        <p:txBody>
          <a:bodyPr wrap="square" lIns="0" tIns="0" rIns="0" bIns="0">
            <a:noAutofit/>
          </a:bodyPr>
          <a:lstStyle/>
          <a:p>
            <a:pPr>
              <a:lnSpc>
                <a:spcPct val="135000"/>
              </a:lnSpc>
            </a:pPr>
            <a:r>
              <a:rPr sz="420" spc="0">
                <a:solidFill>
                  <a:srgbClr val="8FB2AC"/>
                </a:solidFill>
                <a:latin typeface="Telegraf"/>
              </a:rPr>
              <a:t>Second event is dropped before routing.</a:t>
            </a:r>
            <a:endParaRPr sz="420" spc="0">
              <a:solidFill>
                <a:srgbClr val="8FB2AC"/>
              </a:solidFill>
              <a:latin typeface="Telegraf"/>
            </a:endParaRPr>
          </a:p>
        </p:txBody>
      </p:sp>
      <p:sp>
        <p:nvSpPr>
          <p:cNvPr id="2313" name="Rectangle 113"/>
          <p:cNvSpPr/>
          <p:nvPr/>
        </p:nvSpPr>
        <p:spPr>
          <a:xfrm>
            <a:off x="6959600" y="2743200"/>
            <a:ext cx="3149600" cy="1320800"/>
          </a:xfrm>
          <a:custGeom>
            <a:avLst/>
            <a:gdLst/>
            <a:ahLst/>
            <a:cxnLst/>
            <a:rect l="l" t="t" r="r" b="b"/>
            <a:pathLst>
              <a:path w="100000" h="41935">
                <a:moveTo>
                  <a:pt x="90323" y="0"/>
                </a:moveTo>
                <a:cubicBezTo>
                  <a:pt x="94885" y="0"/>
                  <a:pt x="97166" y="0"/>
                  <a:pt x="98583" y="1417"/>
                </a:cubicBezTo>
                <a:cubicBezTo>
                  <a:pt x="98583" y="1417"/>
                  <a:pt x="98583" y="1417"/>
                  <a:pt x="98583" y="1417"/>
                </a:cubicBezTo>
                <a:cubicBezTo>
                  <a:pt x="100000" y="2834"/>
                  <a:pt x="100000" y="5115"/>
                  <a:pt x="100000" y="9677"/>
                </a:cubicBezTo>
                <a:lnTo>
                  <a:pt x="100000" y="32258"/>
                </a:lnTo>
                <a:cubicBezTo>
                  <a:pt x="100000" y="36820"/>
                  <a:pt x="100000" y="39101"/>
                  <a:pt x="98583" y="40518"/>
                </a:cubicBezTo>
                <a:cubicBezTo>
                  <a:pt x="98583" y="40518"/>
                  <a:pt x="98583" y="40518"/>
                  <a:pt x="98583" y="40518"/>
                </a:cubicBezTo>
                <a:cubicBezTo>
                  <a:pt x="97166" y="41935"/>
                  <a:pt x="94885" y="41935"/>
                  <a:pt x="90323" y="41935"/>
                </a:cubicBezTo>
                <a:lnTo>
                  <a:pt x="9677" y="41935"/>
                </a:lnTo>
                <a:cubicBezTo>
                  <a:pt x="5115" y="41935"/>
                  <a:pt x="2834" y="41935"/>
                  <a:pt x="1417" y="40518"/>
                </a:cubicBezTo>
                <a:cubicBezTo>
                  <a:pt x="1417" y="40518"/>
                  <a:pt x="1417" y="40518"/>
                  <a:pt x="1417" y="40518"/>
                </a:cubicBezTo>
                <a:cubicBezTo>
                  <a:pt x="0" y="39101"/>
                  <a:pt x="0" y="36820"/>
                  <a:pt x="0" y="32258"/>
                </a:cubicBezTo>
                <a:lnTo>
                  <a:pt x="0" y="9677"/>
                </a:lnTo>
                <a:cubicBezTo>
                  <a:pt x="0" y="5115"/>
                  <a:pt x="0" y="2834"/>
                  <a:pt x="1417" y="1417"/>
                </a:cubicBezTo>
                <a:cubicBezTo>
                  <a:pt x="1417" y="1417"/>
                  <a:pt x="1417" y="1417"/>
                  <a:pt x="1417" y="1417"/>
                </a:cubicBezTo>
                <a:cubicBezTo>
                  <a:pt x="2834" y="0"/>
                  <a:pt x="5115" y="0"/>
                  <a:pt x="967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14" name="TextBox 114"/>
          <p:cNvSpPr txBox="1"/>
          <p:nvPr/>
        </p:nvSpPr>
        <p:spPr>
          <a:xfrm>
            <a:off x="7137400" y="2870200"/>
            <a:ext cx="2540000" cy="114300"/>
          </a:xfrm>
          <a:prstGeom prst="rect">
            <a:avLst/>
          </a:prstGeom>
        </p:spPr>
        <p:txBody>
          <a:bodyPr wrap="square" lIns="0" tIns="0" rIns="0" bIns="0">
            <a:noAutofit/>
          </a:bodyPr>
          <a:lstStyle/>
          <a:p>
            <a:r>
              <a:rPr sz="440" b="1" spc="105">
                <a:solidFill>
                  <a:srgbClr val="A2A2A8"/>
                </a:solidFill>
                <a:latin typeface="Telegraf"/>
              </a:rPr>
              <a:t>WEBHOOK SIMULATOR</a:t>
            </a:r>
            <a:endParaRPr sz="440" b="1" spc="105">
              <a:solidFill>
                <a:srgbClr val="A2A2A8"/>
              </a:solidFill>
              <a:latin typeface="Telegraf"/>
            </a:endParaRPr>
          </a:p>
        </p:txBody>
      </p:sp>
      <p:sp>
        <p:nvSpPr>
          <p:cNvPr id="2315" name="Rectangle 115"/>
          <p:cNvSpPr/>
          <p:nvPr/>
        </p:nvSpPr>
        <p:spPr>
          <a:xfrm>
            <a:off x="7137400" y="3022600"/>
            <a:ext cx="685800" cy="228600"/>
          </a:xfrm>
          <a:custGeom>
            <a:avLst/>
            <a:gdLst/>
            <a:ahLst/>
            <a:cxnLst/>
            <a:rect l="l" t="t" r="r" b="b"/>
            <a:pathLst>
              <a:path w="100000" h="33333">
                <a:moveTo>
                  <a:pt x="83333" y="0"/>
                </a:moveTo>
                <a:cubicBezTo>
                  <a:pt x="83333" y="0"/>
                  <a:pt x="83333" y="0"/>
                  <a:pt x="83333" y="0"/>
                </a:cubicBezTo>
                <a:cubicBezTo>
                  <a:pt x="92539" y="0"/>
                  <a:pt x="100000" y="7461"/>
                  <a:pt x="100000" y="16667"/>
                </a:cubicBezTo>
                <a:cubicBezTo>
                  <a:pt x="100000" y="16667"/>
                  <a:pt x="100000" y="16667"/>
                  <a:pt x="100000" y="16667"/>
                </a:cubicBezTo>
                <a:lnTo>
                  <a:pt x="100000" y="16667"/>
                </a:lnTo>
                <a:cubicBezTo>
                  <a:pt x="100000" y="16667"/>
                  <a:pt x="100000" y="16667"/>
                  <a:pt x="100000" y="16667"/>
                </a:cubicBezTo>
                <a:cubicBezTo>
                  <a:pt x="100000" y="25872"/>
                  <a:pt x="92539" y="33333"/>
                  <a:pt x="83333" y="33333"/>
                </a:cubicBezTo>
                <a:cubicBezTo>
                  <a:pt x="83333" y="33333"/>
                  <a:pt x="83333" y="33333"/>
                  <a:pt x="83333" y="33333"/>
                </a:cubicBezTo>
                <a:lnTo>
                  <a:pt x="16667" y="33333"/>
                </a:lnTo>
                <a:cubicBezTo>
                  <a:pt x="16667" y="33333"/>
                  <a:pt x="16667" y="33333"/>
                  <a:pt x="16667" y="33333"/>
                </a:cubicBezTo>
                <a:cubicBezTo>
                  <a:pt x="7461" y="33333"/>
                  <a:pt x="0" y="25872"/>
                  <a:pt x="0" y="16667"/>
                </a:cubicBezTo>
                <a:cubicBezTo>
                  <a:pt x="0" y="16667"/>
                  <a:pt x="0" y="16667"/>
                  <a:pt x="0" y="16667"/>
                </a:cubicBezTo>
                <a:lnTo>
                  <a:pt x="0" y="16667"/>
                </a:lnTo>
                <a:cubicBezTo>
                  <a:pt x="0" y="16667"/>
                  <a:pt x="0" y="16667"/>
                  <a:pt x="0" y="16667"/>
                </a:cubicBezTo>
                <a:cubicBezTo>
                  <a:pt x="0" y="7461"/>
                  <a:pt x="7461" y="0"/>
                  <a:pt x="16667" y="0"/>
                </a:cubicBezTo>
                <a:cubicBezTo>
                  <a:pt x="16667" y="0"/>
                  <a:pt x="16667" y="0"/>
                  <a:pt x="16667"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16" name="TextBox 116"/>
          <p:cNvSpPr txBox="1"/>
          <p:nvPr/>
        </p:nvSpPr>
        <p:spPr>
          <a:xfrm>
            <a:off x="7226300" y="3022600"/>
            <a:ext cx="533400" cy="228600"/>
          </a:xfrm>
          <a:prstGeom prst="rect">
            <a:avLst/>
          </a:prstGeom>
        </p:spPr>
        <p:txBody>
          <a:bodyPr wrap="square" lIns="0" tIns="0" rIns="0" bIns="0" anchor="ctr">
            <a:noAutofit/>
          </a:bodyPr>
          <a:lstStyle/>
          <a:p>
            <a:pPr>
              <a:lnSpc>
                <a:spcPct val="135000"/>
              </a:lnSpc>
            </a:pPr>
            <a:r>
              <a:rPr sz="420" b="1" spc="0">
                <a:solidFill>
                  <a:srgbClr val="FFFFFF"/>
                </a:solidFill>
                <a:latin typeface="Telegraf"/>
              </a:rPr>
              <a:t>WhatsApp</a:t>
            </a:r>
            <a:endParaRPr sz="420" b="1" spc="0">
              <a:solidFill>
                <a:srgbClr val="FFFFFF"/>
              </a:solidFill>
              <a:latin typeface="Telegraf"/>
            </a:endParaRPr>
          </a:p>
        </p:txBody>
      </p:sp>
      <p:sp>
        <p:nvSpPr>
          <p:cNvPr id="2317" name="Rectangle 117"/>
          <p:cNvSpPr/>
          <p:nvPr/>
        </p:nvSpPr>
        <p:spPr>
          <a:xfrm>
            <a:off x="7874000" y="3022600"/>
            <a:ext cx="685800" cy="228600"/>
          </a:xfrm>
          <a:custGeom>
            <a:avLst/>
            <a:gdLst/>
            <a:ahLst/>
            <a:cxnLst/>
            <a:rect l="l" t="t" r="r" b="b"/>
            <a:pathLst>
              <a:path w="100000" h="33333">
                <a:moveTo>
                  <a:pt x="83333" y="0"/>
                </a:moveTo>
                <a:cubicBezTo>
                  <a:pt x="83333" y="0"/>
                  <a:pt x="83333" y="0"/>
                  <a:pt x="83333" y="0"/>
                </a:cubicBezTo>
                <a:cubicBezTo>
                  <a:pt x="92539" y="0"/>
                  <a:pt x="100000" y="7461"/>
                  <a:pt x="100000" y="16667"/>
                </a:cubicBezTo>
                <a:cubicBezTo>
                  <a:pt x="100000" y="16667"/>
                  <a:pt x="100000" y="16667"/>
                  <a:pt x="100000" y="16667"/>
                </a:cubicBezTo>
                <a:lnTo>
                  <a:pt x="100000" y="16667"/>
                </a:lnTo>
                <a:cubicBezTo>
                  <a:pt x="100000" y="16667"/>
                  <a:pt x="100000" y="16667"/>
                  <a:pt x="100000" y="16667"/>
                </a:cubicBezTo>
                <a:cubicBezTo>
                  <a:pt x="100000" y="25872"/>
                  <a:pt x="92539" y="33333"/>
                  <a:pt x="83333" y="33333"/>
                </a:cubicBezTo>
                <a:cubicBezTo>
                  <a:pt x="83333" y="33333"/>
                  <a:pt x="83333" y="33333"/>
                  <a:pt x="83333" y="33333"/>
                </a:cubicBezTo>
                <a:lnTo>
                  <a:pt x="16667" y="33333"/>
                </a:lnTo>
                <a:cubicBezTo>
                  <a:pt x="16667" y="33333"/>
                  <a:pt x="16667" y="33333"/>
                  <a:pt x="16667" y="33333"/>
                </a:cubicBezTo>
                <a:cubicBezTo>
                  <a:pt x="7461" y="33333"/>
                  <a:pt x="0" y="25872"/>
                  <a:pt x="0" y="16667"/>
                </a:cubicBezTo>
                <a:cubicBezTo>
                  <a:pt x="0" y="16667"/>
                  <a:pt x="0" y="16667"/>
                  <a:pt x="0" y="16667"/>
                </a:cubicBezTo>
                <a:lnTo>
                  <a:pt x="0" y="16667"/>
                </a:lnTo>
                <a:cubicBezTo>
                  <a:pt x="0" y="16667"/>
                  <a:pt x="0" y="16667"/>
                  <a:pt x="0" y="16667"/>
                </a:cubicBezTo>
                <a:cubicBezTo>
                  <a:pt x="0" y="7461"/>
                  <a:pt x="7461" y="0"/>
                  <a:pt x="16667" y="0"/>
                </a:cubicBezTo>
                <a:cubicBezTo>
                  <a:pt x="16667" y="0"/>
                  <a:pt x="16667" y="0"/>
                  <a:pt x="1666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18" name="TextBox 118"/>
          <p:cNvSpPr txBox="1"/>
          <p:nvPr/>
        </p:nvSpPr>
        <p:spPr>
          <a:xfrm>
            <a:off x="7962900" y="3022600"/>
            <a:ext cx="533400" cy="228600"/>
          </a:xfrm>
          <a:prstGeom prst="rect">
            <a:avLst/>
          </a:prstGeom>
        </p:spPr>
        <p:txBody>
          <a:bodyPr wrap="square" lIns="0" tIns="0" rIns="0" bIns="0" anchor="ctr">
            <a:noAutofit/>
          </a:bodyPr>
          <a:lstStyle/>
          <a:p>
            <a:pPr>
              <a:lnSpc>
                <a:spcPct val="135000"/>
              </a:lnSpc>
            </a:pPr>
            <a:r>
              <a:rPr sz="420" spc="0">
                <a:solidFill>
                  <a:srgbClr val="67676E"/>
                </a:solidFill>
                <a:latin typeface="Telegraf"/>
              </a:rPr>
              <a:t>Instagram</a:t>
            </a:r>
            <a:endParaRPr sz="420" spc="0">
              <a:solidFill>
                <a:srgbClr val="67676E"/>
              </a:solidFill>
              <a:latin typeface="Telegraf"/>
            </a:endParaRPr>
          </a:p>
        </p:txBody>
      </p:sp>
      <p:sp>
        <p:nvSpPr>
          <p:cNvPr id="2319" name="Rectangle 119"/>
          <p:cNvSpPr/>
          <p:nvPr/>
        </p:nvSpPr>
        <p:spPr>
          <a:xfrm>
            <a:off x="8610600" y="3022600"/>
            <a:ext cx="685800" cy="228600"/>
          </a:xfrm>
          <a:custGeom>
            <a:avLst/>
            <a:gdLst/>
            <a:ahLst/>
            <a:cxnLst/>
            <a:rect l="l" t="t" r="r" b="b"/>
            <a:pathLst>
              <a:path w="100000" h="33333">
                <a:moveTo>
                  <a:pt x="83333" y="0"/>
                </a:moveTo>
                <a:cubicBezTo>
                  <a:pt x="83333" y="0"/>
                  <a:pt x="83333" y="0"/>
                  <a:pt x="83333" y="0"/>
                </a:cubicBezTo>
                <a:cubicBezTo>
                  <a:pt x="92539" y="0"/>
                  <a:pt x="100000" y="7461"/>
                  <a:pt x="100000" y="16667"/>
                </a:cubicBezTo>
                <a:cubicBezTo>
                  <a:pt x="100000" y="16667"/>
                  <a:pt x="100000" y="16667"/>
                  <a:pt x="100000" y="16667"/>
                </a:cubicBezTo>
                <a:lnTo>
                  <a:pt x="100000" y="16667"/>
                </a:lnTo>
                <a:cubicBezTo>
                  <a:pt x="100000" y="16667"/>
                  <a:pt x="100000" y="16667"/>
                  <a:pt x="100000" y="16667"/>
                </a:cubicBezTo>
                <a:cubicBezTo>
                  <a:pt x="100000" y="25872"/>
                  <a:pt x="92539" y="33333"/>
                  <a:pt x="83333" y="33333"/>
                </a:cubicBezTo>
                <a:cubicBezTo>
                  <a:pt x="83333" y="33333"/>
                  <a:pt x="83333" y="33333"/>
                  <a:pt x="83333" y="33333"/>
                </a:cubicBezTo>
                <a:lnTo>
                  <a:pt x="16667" y="33333"/>
                </a:lnTo>
                <a:cubicBezTo>
                  <a:pt x="16667" y="33333"/>
                  <a:pt x="16667" y="33333"/>
                  <a:pt x="16667" y="33333"/>
                </a:cubicBezTo>
                <a:cubicBezTo>
                  <a:pt x="7461" y="33333"/>
                  <a:pt x="0" y="25872"/>
                  <a:pt x="0" y="16667"/>
                </a:cubicBezTo>
                <a:cubicBezTo>
                  <a:pt x="0" y="16667"/>
                  <a:pt x="0" y="16667"/>
                  <a:pt x="0" y="16667"/>
                </a:cubicBezTo>
                <a:lnTo>
                  <a:pt x="0" y="16667"/>
                </a:lnTo>
                <a:cubicBezTo>
                  <a:pt x="0" y="16667"/>
                  <a:pt x="0" y="16667"/>
                  <a:pt x="0" y="16667"/>
                </a:cubicBezTo>
                <a:cubicBezTo>
                  <a:pt x="0" y="7461"/>
                  <a:pt x="7461" y="0"/>
                  <a:pt x="16667" y="0"/>
                </a:cubicBezTo>
                <a:cubicBezTo>
                  <a:pt x="16667" y="0"/>
                  <a:pt x="16667" y="0"/>
                  <a:pt x="1666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20" name="TextBox 120"/>
          <p:cNvSpPr txBox="1"/>
          <p:nvPr/>
        </p:nvSpPr>
        <p:spPr>
          <a:xfrm>
            <a:off x="8699500" y="3022600"/>
            <a:ext cx="533400" cy="228600"/>
          </a:xfrm>
          <a:prstGeom prst="rect">
            <a:avLst/>
          </a:prstGeom>
        </p:spPr>
        <p:txBody>
          <a:bodyPr wrap="square" lIns="0" tIns="0" rIns="0" bIns="0" anchor="ctr">
            <a:noAutofit/>
          </a:bodyPr>
          <a:lstStyle/>
          <a:p>
            <a:pPr>
              <a:lnSpc>
                <a:spcPct val="135000"/>
              </a:lnSpc>
            </a:pPr>
            <a:r>
              <a:rPr sz="420" spc="0">
                <a:solidFill>
                  <a:srgbClr val="67676E"/>
                </a:solidFill>
                <a:latin typeface="Telegraf"/>
              </a:rPr>
              <a:t>Gmail</a:t>
            </a:r>
            <a:endParaRPr sz="420" spc="0">
              <a:solidFill>
                <a:srgbClr val="67676E"/>
              </a:solidFill>
              <a:latin typeface="Telegraf"/>
            </a:endParaRPr>
          </a:p>
        </p:txBody>
      </p:sp>
      <p:sp>
        <p:nvSpPr>
          <p:cNvPr id="2321" name="Rectangle 121"/>
          <p:cNvSpPr/>
          <p:nvPr/>
        </p:nvSpPr>
        <p:spPr>
          <a:xfrm>
            <a:off x="7137400" y="3352800"/>
            <a:ext cx="2794000" cy="304800"/>
          </a:xfrm>
          <a:custGeom>
            <a:avLst/>
            <a:gdLst/>
            <a:ahLst/>
            <a:cxnLst/>
            <a:rect l="l" t="t" r="r" b="b"/>
            <a:pathLst>
              <a:path w="100000" h="10909">
                <a:moveTo>
                  <a:pt x="94545" y="0"/>
                </a:moveTo>
                <a:cubicBezTo>
                  <a:pt x="97117" y="0"/>
                  <a:pt x="98402" y="0"/>
                  <a:pt x="99201" y="799"/>
                </a:cubicBezTo>
                <a:cubicBezTo>
                  <a:pt x="99201" y="799"/>
                  <a:pt x="99201" y="799"/>
                  <a:pt x="99201" y="799"/>
                </a:cubicBezTo>
                <a:cubicBezTo>
                  <a:pt x="100000" y="1598"/>
                  <a:pt x="100000" y="2883"/>
                  <a:pt x="100000" y="5455"/>
                </a:cubicBezTo>
                <a:lnTo>
                  <a:pt x="100000" y="5455"/>
                </a:lnTo>
                <a:cubicBezTo>
                  <a:pt x="100000" y="8026"/>
                  <a:pt x="100000" y="9311"/>
                  <a:pt x="99201" y="10110"/>
                </a:cubicBezTo>
                <a:cubicBezTo>
                  <a:pt x="99201" y="10110"/>
                  <a:pt x="99201" y="10110"/>
                  <a:pt x="99201" y="10110"/>
                </a:cubicBezTo>
                <a:cubicBezTo>
                  <a:pt x="98402" y="10909"/>
                  <a:pt x="97117" y="10909"/>
                  <a:pt x="94545" y="10909"/>
                </a:cubicBezTo>
                <a:lnTo>
                  <a:pt x="5455" y="10909"/>
                </a:lnTo>
                <a:cubicBezTo>
                  <a:pt x="2883" y="10909"/>
                  <a:pt x="1598" y="10909"/>
                  <a:pt x="799" y="10110"/>
                </a:cubicBezTo>
                <a:cubicBezTo>
                  <a:pt x="799" y="10110"/>
                  <a:pt x="799" y="10110"/>
                  <a:pt x="799" y="10110"/>
                </a:cubicBezTo>
                <a:cubicBezTo>
                  <a:pt x="0" y="9311"/>
                  <a:pt x="0" y="8026"/>
                  <a:pt x="0" y="5455"/>
                </a:cubicBezTo>
                <a:lnTo>
                  <a:pt x="0" y="5455"/>
                </a:lnTo>
                <a:cubicBezTo>
                  <a:pt x="0" y="2883"/>
                  <a:pt x="0" y="1598"/>
                  <a:pt x="799" y="799"/>
                </a:cubicBezTo>
                <a:cubicBezTo>
                  <a:pt x="799" y="799"/>
                  <a:pt x="799" y="799"/>
                  <a:pt x="799" y="799"/>
                </a:cubicBezTo>
                <a:cubicBezTo>
                  <a:pt x="1598" y="0"/>
                  <a:pt x="2883" y="0"/>
                  <a:pt x="5455"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22" name="TextBox 122"/>
          <p:cNvSpPr txBox="1"/>
          <p:nvPr/>
        </p:nvSpPr>
        <p:spPr>
          <a:xfrm>
            <a:off x="7239000" y="3352800"/>
            <a:ext cx="2540000" cy="304800"/>
          </a:xfrm>
          <a:prstGeom prst="rect">
            <a:avLst/>
          </a:prstGeom>
        </p:spPr>
        <p:txBody>
          <a:bodyPr wrap="square" lIns="0" tIns="0" rIns="0" bIns="0" anchor="ctr">
            <a:noAutofit/>
          </a:bodyPr>
          <a:lstStyle/>
          <a:p>
            <a:pPr>
              <a:lnSpc>
                <a:spcPct val="135000"/>
              </a:lnSpc>
            </a:pPr>
            <a:r>
              <a:rPr sz="410" spc="0">
                <a:solidFill>
                  <a:srgbClr val="67676E"/>
                </a:solidFill>
                <a:latin typeface="Telegraf"/>
              </a:rPr>
              <a:t>POST /api/channels/webhook/whatsapp</a:t>
            </a:r>
            <a:endParaRPr sz="410" spc="0">
              <a:solidFill>
                <a:srgbClr val="67676E"/>
              </a:solidFill>
              <a:latin typeface="Telegraf"/>
            </a:endParaRPr>
          </a:p>
        </p:txBody>
      </p:sp>
      <p:sp>
        <p:nvSpPr>
          <p:cNvPr id="2323" name="Rectangle 123"/>
          <p:cNvSpPr/>
          <p:nvPr/>
        </p:nvSpPr>
        <p:spPr>
          <a:xfrm>
            <a:off x="7137400" y="3733800"/>
            <a:ext cx="1143000" cy="228600"/>
          </a:xfrm>
          <a:custGeom>
            <a:avLst/>
            <a:gdLst/>
            <a:ahLst/>
            <a:cxnLst/>
            <a:rect l="l" t="t" r="r" b="b"/>
            <a:pathLst>
              <a:path w="100000" h="20000">
                <a:moveTo>
                  <a:pt x="90000" y="0"/>
                </a:moveTo>
                <a:cubicBezTo>
                  <a:pt x="90000" y="0"/>
                  <a:pt x="90000" y="0"/>
                  <a:pt x="90000" y="0"/>
                </a:cubicBezTo>
                <a:cubicBezTo>
                  <a:pt x="95523" y="0"/>
                  <a:pt x="100000" y="4477"/>
                  <a:pt x="100000" y="10000"/>
                </a:cubicBezTo>
                <a:cubicBezTo>
                  <a:pt x="100000" y="10000"/>
                  <a:pt x="100000" y="10000"/>
                  <a:pt x="100000" y="10000"/>
                </a:cubicBezTo>
                <a:lnTo>
                  <a:pt x="100000" y="10000"/>
                </a:lnTo>
                <a:cubicBezTo>
                  <a:pt x="100000" y="10000"/>
                  <a:pt x="100000" y="10000"/>
                  <a:pt x="100000" y="10000"/>
                </a:cubicBezTo>
                <a:cubicBezTo>
                  <a:pt x="100000" y="15523"/>
                  <a:pt x="95523" y="20000"/>
                  <a:pt x="90000" y="20000"/>
                </a:cubicBezTo>
                <a:cubicBezTo>
                  <a:pt x="90000" y="20000"/>
                  <a:pt x="90000" y="20000"/>
                  <a:pt x="90000" y="20000"/>
                </a:cubicBezTo>
                <a:lnTo>
                  <a:pt x="10000" y="20000"/>
                </a:lnTo>
                <a:cubicBezTo>
                  <a:pt x="10000" y="20000"/>
                  <a:pt x="10000" y="20000"/>
                  <a:pt x="10000" y="20000"/>
                </a:cubicBezTo>
                <a:cubicBezTo>
                  <a:pt x="4477" y="20000"/>
                  <a:pt x="0" y="15523"/>
                  <a:pt x="0" y="10000"/>
                </a:cubicBezTo>
                <a:cubicBezTo>
                  <a:pt x="0" y="10000"/>
                  <a:pt x="0" y="10000"/>
                  <a:pt x="0" y="10000"/>
                </a:cubicBezTo>
                <a:lnTo>
                  <a:pt x="0" y="10000"/>
                </a:lnTo>
                <a:cubicBezTo>
                  <a:pt x="0" y="10000"/>
                  <a:pt x="0" y="10000"/>
                  <a:pt x="0" y="10000"/>
                </a:cubicBezTo>
                <a:cubicBezTo>
                  <a:pt x="0" y="4477"/>
                  <a:pt x="4477" y="0"/>
                  <a:pt x="10000" y="0"/>
                </a:cubicBezTo>
                <a:cubicBezTo>
                  <a:pt x="10000" y="0"/>
                  <a:pt x="10000" y="0"/>
                  <a:pt x="1000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24" name="Oval 124"/>
          <p:cNvSpPr/>
          <p:nvPr/>
        </p:nvSpPr>
        <p:spPr>
          <a:xfrm>
            <a:off x="7199630" y="3829050"/>
            <a:ext cx="38100" cy="38100"/>
          </a:xfrm>
          <a:prstGeom prst="ellipse">
            <a:avLst/>
          </a:pr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25" name="TextBox 125"/>
          <p:cNvSpPr txBox="1"/>
          <p:nvPr/>
        </p:nvSpPr>
        <p:spPr>
          <a:xfrm>
            <a:off x="7302500" y="3733800"/>
            <a:ext cx="927100" cy="228600"/>
          </a:xfrm>
          <a:prstGeom prst="rect">
            <a:avLst/>
          </a:prstGeom>
        </p:spPr>
        <p:txBody>
          <a:bodyPr wrap="square" lIns="0" tIns="0" rIns="0" bIns="0" anchor="ctr">
            <a:noAutofit/>
          </a:bodyPr>
          <a:lstStyle/>
          <a:p>
            <a:pPr>
              <a:lnSpc>
                <a:spcPct val="135000"/>
              </a:lnSpc>
            </a:pPr>
            <a:r>
              <a:rPr sz="440" b="1" spc="10">
                <a:solidFill>
                  <a:srgbClr val="FFFFFF"/>
                </a:solidFill>
                <a:latin typeface="Telegraf"/>
              </a:rPr>
              <a:t>Fire event</a:t>
            </a:r>
            <a:endParaRPr sz="440" b="1" spc="10">
              <a:solidFill>
                <a:srgbClr val="FFFFFF"/>
              </a:solidFill>
              <a:latin typeface="Telegraf"/>
            </a:endParaRPr>
          </a:p>
        </p:txBody>
      </p:sp>
      <p:sp>
        <p:nvSpPr>
          <p:cNvPr id="2326" name="TextBox 126"/>
          <p:cNvSpPr txBox="1"/>
          <p:nvPr/>
        </p:nvSpPr>
        <p:spPr>
          <a:xfrm>
            <a:off x="8382000" y="3733800"/>
            <a:ext cx="1549400" cy="228600"/>
          </a:xfrm>
          <a:prstGeom prst="rect">
            <a:avLst/>
          </a:prstGeom>
        </p:spPr>
        <p:txBody>
          <a:bodyPr wrap="square" lIns="0" tIns="0" rIns="0" bIns="0" anchor="ctr">
            <a:noAutofit/>
          </a:bodyPr>
          <a:lstStyle/>
          <a:p>
            <a:pPr>
              <a:lnSpc>
                <a:spcPct val="135000"/>
              </a:lnSpc>
            </a:pPr>
            <a:r>
              <a:rPr sz="410" spc="0">
                <a:solidFill>
                  <a:srgbClr val="A2A2A8"/>
                </a:solidFill>
                <a:latin typeface="Telegraf"/>
              </a:rPr>
              <a:t>runs the full pipeline</a:t>
            </a:r>
            <a:endParaRPr sz="410" spc="0">
              <a:solidFill>
                <a:srgbClr val="A2A2A8"/>
              </a:solidFill>
              <a:latin typeface="Telegraf"/>
            </a:endParaRPr>
          </a:p>
        </p:txBody>
      </p:sp>
      <p:sp>
        <p:nvSpPr>
          <p:cNvPr id="2327" name="Rectangle 127"/>
          <p:cNvSpPr/>
          <p:nvPr/>
        </p:nvSpPr>
        <p:spPr>
          <a:xfrm>
            <a:off x="6959600" y="4216400"/>
            <a:ext cx="3149600" cy="2159000"/>
          </a:xfrm>
          <a:custGeom>
            <a:avLst/>
            <a:gdLst/>
            <a:ahLst/>
            <a:cxnLst/>
            <a:rect l="l" t="t" r="r" b="b"/>
            <a:pathLst>
              <a:path w="100000" h="68548">
                <a:moveTo>
                  <a:pt x="90323" y="0"/>
                </a:moveTo>
                <a:cubicBezTo>
                  <a:pt x="94885" y="0"/>
                  <a:pt x="97166" y="0"/>
                  <a:pt x="98583" y="1417"/>
                </a:cubicBezTo>
                <a:cubicBezTo>
                  <a:pt x="98583" y="1417"/>
                  <a:pt x="98583" y="1417"/>
                  <a:pt x="98583" y="1417"/>
                </a:cubicBezTo>
                <a:cubicBezTo>
                  <a:pt x="100000" y="2834"/>
                  <a:pt x="100000" y="5115"/>
                  <a:pt x="100000" y="9677"/>
                </a:cubicBezTo>
                <a:lnTo>
                  <a:pt x="100000" y="58871"/>
                </a:lnTo>
                <a:cubicBezTo>
                  <a:pt x="100000" y="63433"/>
                  <a:pt x="100000" y="65714"/>
                  <a:pt x="98583" y="67131"/>
                </a:cubicBezTo>
                <a:cubicBezTo>
                  <a:pt x="98583" y="67131"/>
                  <a:pt x="98583" y="67131"/>
                  <a:pt x="98583" y="67131"/>
                </a:cubicBezTo>
                <a:cubicBezTo>
                  <a:pt x="97166" y="68548"/>
                  <a:pt x="94885" y="68548"/>
                  <a:pt x="90323" y="68548"/>
                </a:cubicBezTo>
                <a:lnTo>
                  <a:pt x="9677" y="68548"/>
                </a:lnTo>
                <a:cubicBezTo>
                  <a:pt x="5115" y="68548"/>
                  <a:pt x="2834" y="68548"/>
                  <a:pt x="1417" y="67131"/>
                </a:cubicBezTo>
                <a:cubicBezTo>
                  <a:pt x="1417" y="67131"/>
                  <a:pt x="1417" y="67131"/>
                  <a:pt x="1417" y="67131"/>
                </a:cubicBezTo>
                <a:cubicBezTo>
                  <a:pt x="0" y="65714"/>
                  <a:pt x="0" y="63433"/>
                  <a:pt x="0" y="58871"/>
                </a:cubicBezTo>
                <a:lnTo>
                  <a:pt x="0" y="9677"/>
                </a:lnTo>
                <a:cubicBezTo>
                  <a:pt x="0" y="5115"/>
                  <a:pt x="0" y="2834"/>
                  <a:pt x="1417" y="1417"/>
                </a:cubicBezTo>
                <a:cubicBezTo>
                  <a:pt x="1417" y="1417"/>
                  <a:pt x="1417" y="1417"/>
                  <a:pt x="1417" y="1417"/>
                </a:cubicBezTo>
                <a:cubicBezTo>
                  <a:pt x="2834" y="0"/>
                  <a:pt x="5115" y="0"/>
                  <a:pt x="9677"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28" name="TextBox 128"/>
          <p:cNvSpPr txBox="1"/>
          <p:nvPr/>
        </p:nvSpPr>
        <p:spPr>
          <a:xfrm>
            <a:off x="7137400" y="4343400"/>
            <a:ext cx="2540000" cy="114300"/>
          </a:xfrm>
          <a:prstGeom prst="rect">
            <a:avLst/>
          </a:prstGeom>
        </p:spPr>
        <p:txBody>
          <a:bodyPr wrap="square" lIns="0" tIns="0" rIns="0" bIns="0">
            <a:noAutofit/>
          </a:bodyPr>
          <a:lstStyle/>
          <a:p>
            <a:r>
              <a:rPr sz="440" b="1" spc="105">
                <a:solidFill>
                  <a:srgbClr val="A2A2A8"/>
                </a:solidFill>
                <a:latin typeface="Telegraf"/>
              </a:rPr>
              <a:t>READINESS</a:t>
            </a:r>
            <a:endParaRPr sz="440" b="1" spc="105">
              <a:solidFill>
                <a:srgbClr val="A2A2A8"/>
              </a:solidFill>
              <a:latin typeface="Telegraf"/>
            </a:endParaRPr>
          </a:p>
        </p:txBody>
      </p:sp>
      <p:sp>
        <p:nvSpPr>
          <p:cNvPr id="2329" name="Freeform 2329"/>
          <p:cNvSpPr/>
          <p:nvPr/>
        </p:nvSpPr>
        <p:spPr>
          <a:xfrm>
            <a:off x="7155180" y="45726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2330" name="TextBox 130"/>
          <p:cNvSpPr txBox="1"/>
          <p:nvPr/>
        </p:nvSpPr>
        <p:spPr>
          <a:xfrm>
            <a:off x="7315200" y="4546600"/>
            <a:ext cx="2667000" cy="127000"/>
          </a:xfrm>
          <a:prstGeom prst="rect">
            <a:avLst/>
          </a:prstGeom>
        </p:spPr>
        <p:txBody>
          <a:bodyPr wrap="square" lIns="0" tIns="0" rIns="0" bIns="0">
            <a:noAutofit/>
          </a:bodyPr>
          <a:lstStyle/>
          <a:p>
            <a:pPr>
              <a:lnSpc>
                <a:spcPct val="135000"/>
              </a:lnSpc>
            </a:pPr>
            <a:r>
              <a:rPr sz="450" spc="0">
                <a:solidFill>
                  <a:srgbClr val="0A0A0A"/>
                </a:solidFill>
                <a:latin typeface="Telegraf"/>
              </a:rPr>
              <a:t>One channel can demo end-to-end</a:t>
            </a:r>
            <a:endParaRPr sz="450" spc="0">
              <a:solidFill>
                <a:srgbClr val="0A0A0A"/>
              </a:solidFill>
              <a:latin typeface="Telegraf"/>
            </a:endParaRPr>
          </a:p>
        </p:txBody>
      </p:sp>
      <p:sp>
        <p:nvSpPr>
          <p:cNvPr id="2331" name="Freeform 2331"/>
          <p:cNvSpPr/>
          <p:nvPr/>
        </p:nvSpPr>
        <p:spPr>
          <a:xfrm>
            <a:off x="7155180" y="48012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2332" name="TextBox 132"/>
          <p:cNvSpPr txBox="1"/>
          <p:nvPr/>
        </p:nvSpPr>
        <p:spPr>
          <a:xfrm>
            <a:off x="7315200" y="4775200"/>
            <a:ext cx="2667000" cy="127000"/>
          </a:xfrm>
          <a:prstGeom prst="rect">
            <a:avLst/>
          </a:prstGeom>
        </p:spPr>
        <p:txBody>
          <a:bodyPr wrap="square" lIns="0" tIns="0" rIns="0" bIns="0">
            <a:noAutofit/>
          </a:bodyPr>
          <a:lstStyle/>
          <a:p>
            <a:pPr>
              <a:lnSpc>
                <a:spcPct val="135000"/>
              </a:lnSpc>
            </a:pPr>
            <a:r>
              <a:rPr sz="450" spc="0">
                <a:solidFill>
                  <a:srgbClr val="0A0A0A"/>
                </a:solidFill>
                <a:latin typeface="Telegraf"/>
              </a:rPr>
              <a:t>Draft-only is labelled amber</a:t>
            </a:r>
            <a:endParaRPr sz="450" spc="0">
              <a:solidFill>
                <a:srgbClr val="0A0A0A"/>
              </a:solidFill>
              <a:latin typeface="Telegraf"/>
            </a:endParaRPr>
          </a:p>
        </p:txBody>
      </p:sp>
      <p:sp>
        <p:nvSpPr>
          <p:cNvPr id="2333" name="Freeform 2333"/>
          <p:cNvSpPr/>
          <p:nvPr/>
        </p:nvSpPr>
        <p:spPr>
          <a:xfrm>
            <a:off x="7155180" y="50298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2334" name="TextBox 134"/>
          <p:cNvSpPr txBox="1"/>
          <p:nvPr/>
        </p:nvSpPr>
        <p:spPr>
          <a:xfrm>
            <a:off x="7315200" y="5003800"/>
            <a:ext cx="2667000" cy="127000"/>
          </a:xfrm>
          <a:prstGeom prst="rect">
            <a:avLst/>
          </a:prstGeom>
        </p:spPr>
        <p:txBody>
          <a:bodyPr wrap="square" lIns="0" tIns="0" rIns="0" bIns="0">
            <a:noAutofit/>
          </a:bodyPr>
          <a:lstStyle/>
          <a:p>
            <a:pPr>
              <a:lnSpc>
                <a:spcPct val="135000"/>
              </a:lnSpc>
            </a:pPr>
            <a:r>
              <a:rPr sz="450" spc="0">
                <a:solidFill>
                  <a:srgbClr val="0A0A0A"/>
                </a:solidFill>
                <a:latin typeface="Telegraf"/>
              </a:rPr>
              <a:t>Duplicate payload is dropped</a:t>
            </a:r>
            <a:endParaRPr sz="450" spc="0">
              <a:solidFill>
                <a:srgbClr val="0A0A0A"/>
              </a:solidFill>
              <a:latin typeface="Telegraf"/>
            </a:endParaRPr>
          </a:p>
        </p:txBody>
      </p:sp>
      <p:sp>
        <p:nvSpPr>
          <p:cNvPr id="2335" name="Freeform 2335"/>
          <p:cNvSpPr/>
          <p:nvPr/>
        </p:nvSpPr>
        <p:spPr>
          <a:xfrm>
            <a:off x="7155180" y="52584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2336" name="TextBox 136"/>
          <p:cNvSpPr txBox="1"/>
          <p:nvPr/>
        </p:nvSpPr>
        <p:spPr>
          <a:xfrm>
            <a:off x="7315200" y="5232400"/>
            <a:ext cx="2667000" cy="127000"/>
          </a:xfrm>
          <a:prstGeom prst="rect">
            <a:avLst/>
          </a:prstGeom>
        </p:spPr>
        <p:txBody>
          <a:bodyPr wrap="square" lIns="0" tIns="0" rIns="0" bIns="0">
            <a:noAutofit/>
          </a:bodyPr>
          <a:lstStyle/>
          <a:p>
            <a:pPr>
              <a:lnSpc>
                <a:spcPct val="135000"/>
              </a:lnSpc>
            </a:pPr>
            <a:r>
              <a:rPr sz="450" spc="0">
                <a:solidFill>
                  <a:srgbClr val="0A0A0A"/>
                </a:solidFill>
                <a:latin typeface="Telegraf"/>
              </a:rPr>
              <a:t>Every path is real or says it is not</a:t>
            </a:r>
            <a:endParaRPr sz="450" spc="0">
              <a:solidFill>
                <a:srgbClr val="0A0A0A"/>
              </a:solidFill>
              <a:latin typeface="Telegraf"/>
            </a:endParaRPr>
          </a:p>
        </p:txBody>
      </p:sp>
      <p:sp>
        <p:nvSpPr>
          <p:cNvPr id="2337" name="Freeform 2337"/>
          <p:cNvSpPr/>
          <p:nvPr/>
        </p:nvSpPr>
        <p:spPr>
          <a:xfrm>
            <a:off x="7155180" y="5487035"/>
            <a:ext cx="66040" cy="47879"/>
          </a:xfrm>
          <a:custGeom>
            <a:avLst/>
            <a:gdLst/>
            <a:ahLst/>
            <a:cxnLst/>
            <a:rect l="l" t="t" r="r" b="b"/>
            <a:pathLst>
              <a:path w="100000" h="72500" fill="none">
                <a:moveTo>
                  <a:pt x="0" y="37500"/>
                </a:moveTo>
                <a:lnTo>
                  <a:pt x="37500" y="72500"/>
                </a:lnTo>
                <a:lnTo>
                  <a:pt x="100000" y="0"/>
                </a:lnTo>
              </a:path>
            </a:pathLst>
          </a:custGeom>
          <a:noFill/>
          <a:ln w="12700" cap="rnd">
            <a:solidFill>
              <a:srgbClr val="12A594"/>
            </a:solidFill>
            <a:round/>
          </a:ln>
        </p:spPr>
        <p:style>
          <a:lnRef idx="1">
            <a:schemeClr val="accent1"/>
          </a:lnRef>
          <a:fillRef idx="0">
            <a:schemeClr val="accent1"/>
          </a:fillRef>
          <a:effectRef idx="0">
            <a:schemeClr val="accent1"/>
          </a:effectRef>
          <a:fontRef idx="minor">
            <a:schemeClr val="tx1"/>
          </a:fontRef>
        </p:style>
      </p:sp>
      <p:sp>
        <p:nvSpPr>
          <p:cNvPr id="2338" name="TextBox 138"/>
          <p:cNvSpPr txBox="1"/>
          <p:nvPr/>
        </p:nvSpPr>
        <p:spPr>
          <a:xfrm>
            <a:off x="7315200" y="5461000"/>
            <a:ext cx="2667000" cy="127000"/>
          </a:xfrm>
          <a:prstGeom prst="rect">
            <a:avLst/>
          </a:prstGeom>
        </p:spPr>
        <p:txBody>
          <a:bodyPr wrap="square" lIns="0" tIns="0" rIns="0" bIns="0">
            <a:noAutofit/>
          </a:bodyPr>
          <a:lstStyle/>
          <a:p>
            <a:pPr>
              <a:lnSpc>
                <a:spcPct val="135000"/>
              </a:lnSpc>
            </a:pPr>
            <a:r>
              <a:rPr sz="450" spc="0">
                <a:solidFill>
                  <a:srgbClr val="0A0A0A"/>
                </a:solidFill>
                <a:latin typeface="Telegraf"/>
              </a:rPr>
              <a:t>No secret in the client bundle</a:t>
            </a:r>
            <a:endParaRPr sz="450" spc="0">
              <a:solidFill>
                <a:srgbClr val="0A0A0A"/>
              </a:solidFill>
              <a:latin typeface="Telegraf"/>
            </a:endParaRPr>
          </a:p>
        </p:txBody>
      </p:sp>
      <p:sp>
        <p:nvSpPr>
          <p:cNvPr id="2339" name="TextBox 139"/>
          <p:cNvSpPr txBox="1"/>
          <p:nvPr/>
        </p:nvSpPr>
        <p:spPr>
          <a:xfrm>
            <a:off x="7137400" y="5867400"/>
            <a:ext cx="2794000" cy="381000"/>
          </a:xfrm>
          <a:prstGeom prst="rect">
            <a:avLst/>
          </a:prstGeom>
        </p:spPr>
        <p:txBody>
          <a:bodyPr wrap="square" lIns="0" tIns="0" rIns="0" bIns="0">
            <a:noAutofit/>
          </a:bodyPr>
          <a:lstStyle/>
          <a:p>
            <a:pPr>
              <a:lnSpc>
                <a:spcPct val="135000"/>
              </a:lnSpc>
            </a:pPr>
            <a:r>
              <a:rPr sz="420" spc="0">
                <a:solidFill>
                  <a:srgbClr val="A2A2A8"/>
                </a:solidFill>
                <a:latin typeface="Telegraf"/>
              </a:rPr>
              <a:t>Status is derived from the adapter, never written by hand — a dead channel cannot show green.</a:t>
            </a:r>
            <a:endParaRPr sz="420" spc="0">
              <a:solidFill>
                <a:srgbClr val="A2A2A8"/>
              </a:solidFill>
              <a:latin typeface="Telegraf"/>
            </a:endParaRPr>
          </a:p>
        </p:txBody>
      </p:sp>
      <p:sp>
        <p:nvSpPr>
          <p:cNvPr id="2340" name="TextBox 140"/>
          <p:cNvSpPr txBox="1"/>
          <p:nvPr/>
        </p:nvSpPr>
        <p:spPr>
          <a:xfrm>
            <a:off x="762000" y="4241800"/>
            <a:ext cx="2540000" cy="114300"/>
          </a:xfrm>
          <a:prstGeom prst="rect">
            <a:avLst/>
          </a:prstGeom>
        </p:spPr>
        <p:txBody>
          <a:bodyPr wrap="square" lIns="0" tIns="0" rIns="0" bIns="0">
            <a:noAutofit/>
          </a:bodyPr>
          <a:lstStyle/>
          <a:p>
            <a:r>
              <a:rPr sz="450" b="1" spc="105">
                <a:solidFill>
                  <a:srgbClr val="A2A2A8"/>
                </a:solidFill>
                <a:latin typeface="Telegraf"/>
              </a:rPr>
              <a:t>EVENT LOG  ·  LAST FIVE</a:t>
            </a:r>
            <a:endParaRPr sz="450" b="1" spc="105">
              <a:solidFill>
                <a:srgbClr val="A2A2A8"/>
              </a:solidFill>
              <a:latin typeface="Telegraf"/>
            </a:endParaRPr>
          </a:p>
        </p:txBody>
      </p:sp>
      <p:sp>
        <p:nvSpPr>
          <p:cNvPr id="2341" name="TextBox 141"/>
          <p:cNvSpPr txBox="1"/>
          <p:nvPr/>
        </p:nvSpPr>
        <p:spPr>
          <a:xfrm>
            <a:off x="762000" y="4419600"/>
            <a:ext cx="508000" cy="127000"/>
          </a:xfrm>
          <a:prstGeom prst="rect">
            <a:avLst/>
          </a:prstGeom>
        </p:spPr>
        <p:txBody>
          <a:bodyPr wrap="square" lIns="0" tIns="0" rIns="0" bIns="0">
            <a:noAutofit/>
          </a:bodyPr>
          <a:lstStyle/>
          <a:p>
            <a:pPr>
              <a:lnSpc>
                <a:spcPct val="135000"/>
              </a:lnSpc>
            </a:pPr>
            <a:r>
              <a:rPr sz="430" spc="0">
                <a:solidFill>
                  <a:srgbClr val="A2A2A8"/>
                </a:solidFill>
                <a:latin typeface="Telegraf"/>
              </a:rPr>
              <a:t>14:07:02</a:t>
            </a:r>
            <a:endParaRPr sz="430" spc="0">
              <a:solidFill>
                <a:srgbClr val="A2A2A8"/>
              </a:solidFill>
              <a:latin typeface="Telegraf"/>
            </a:endParaRPr>
          </a:p>
        </p:txBody>
      </p:sp>
      <p:sp>
        <p:nvSpPr>
          <p:cNvPr id="2342" name="TextBox 142"/>
          <p:cNvSpPr txBox="1"/>
          <p:nvPr/>
        </p:nvSpPr>
        <p:spPr>
          <a:xfrm>
            <a:off x="1320800" y="4419600"/>
            <a:ext cx="1371600" cy="127000"/>
          </a:xfrm>
          <a:prstGeom prst="rect">
            <a:avLst/>
          </a:prstGeom>
        </p:spPr>
        <p:txBody>
          <a:bodyPr wrap="square" lIns="0" tIns="0" rIns="0" bIns="0">
            <a:noAutofit/>
          </a:bodyPr>
          <a:lstStyle/>
          <a:p>
            <a:pPr>
              <a:lnSpc>
                <a:spcPct val="135000"/>
              </a:lnSpc>
            </a:pPr>
            <a:r>
              <a:rPr sz="440" b="1" spc="0">
                <a:solidFill>
                  <a:srgbClr val="0A0A0A"/>
                </a:solidFill>
                <a:latin typeface="Telegraf"/>
              </a:rPr>
              <a:t>INBOUND_RECEIVED</a:t>
            </a:r>
            <a:endParaRPr sz="440" b="1" spc="0">
              <a:solidFill>
                <a:srgbClr val="0A0A0A"/>
              </a:solidFill>
              <a:latin typeface="Telegraf"/>
            </a:endParaRPr>
          </a:p>
        </p:txBody>
      </p:sp>
      <p:sp>
        <p:nvSpPr>
          <p:cNvPr id="2343" name="TextBox 143"/>
          <p:cNvSpPr txBox="1"/>
          <p:nvPr/>
        </p:nvSpPr>
        <p:spPr>
          <a:xfrm>
            <a:off x="2743200" y="4419600"/>
            <a:ext cx="2540000" cy="127000"/>
          </a:xfrm>
          <a:prstGeom prst="rect">
            <a:avLst/>
          </a:prstGeom>
        </p:spPr>
        <p:txBody>
          <a:bodyPr wrap="square" lIns="0" tIns="0" rIns="0" bIns="0">
            <a:noAutofit/>
          </a:bodyPr>
          <a:lstStyle/>
          <a:p>
            <a:pPr>
              <a:lnSpc>
                <a:spcPct val="135000"/>
              </a:lnSpc>
            </a:pPr>
            <a:r>
              <a:rPr sz="430" spc="0">
                <a:solidFill>
                  <a:srgbClr val="67676E"/>
                </a:solidFill>
                <a:latin typeface="Telegraf"/>
              </a:rPr>
              <a:t>whatsapp  ·  wamid.HBgM</a:t>
            </a:r>
            <a:endParaRPr sz="430" spc="0">
              <a:solidFill>
                <a:srgbClr val="67676E"/>
              </a:solidFill>
              <a:latin typeface="Telegraf"/>
            </a:endParaRPr>
          </a:p>
        </p:txBody>
      </p:sp>
      <p:sp>
        <p:nvSpPr>
          <p:cNvPr id="2344" name="Rectangle 144"/>
          <p:cNvSpPr/>
          <p:nvPr/>
        </p:nvSpPr>
        <p:spPr>
          <a:xfrm>
            <a:off x="5080000" y="4394200"/>
            <a:ext cx="291592" cy="133350"/>
          </a:xfrm>
          <a:custGeom>
            <a:avLst/>
            <a:gdLst/>
            <a:ahLst/>
            <a:cxnLst/>
            <a:rect l="l" t="t" r="r" b="b"/>
            <a:pathLst>
              <a:path w="100000" h="45732">
                <a:moveTo>
                  <a:pt x="77134" y="0"/>
                </a:moveTo>
                <a:cubicBezTo>
                  <a:pt x="77134" y="0"/>
                  <a:pt x="77134" y="0"/>
                  <a:pt x="77134" y="0"/>
                </a:cubicBezTo>
                <a:cubicBezTo>
                  <a:pt x="89760" y="0"/>
                  <a:pt x="100000" y="10240"/>
                  <a:pt x="100000" y="22866"/>
                </a:cubicBezTo>
                <a:cubicBezTo>
                  <a:pt x="100000" y="22866"/>
                  <a:pt x="100000" y="22866"/>
                  <a:pt x="100000" y="22866"/>
                </a:cubicBezTo>
                <a:lnTo>
                  <a:pt x="100000" y="22866"/>
                </a:lnTo>
                <a:cubicBezTo>
                  <a:pt x="100000" y="22866"/>
                  <a:pt x="100000" y="22866"/>
                  <a:pt x="100000" y="22866"/>
                </a:cubicBezTo>
                <a:cubicBezTo>
                  <a:pt x="100000" y="35492"/>
                  <a:pt x="89760" y="45732"/>
                  <a:pt x="77134" y="45732"/>
                </a:cubicBezTo>
                <a:cubicBezTo>
                  <a:pt x="77134" y="45732"/>
                  <a:pt x="77134" y="45732"/>
                  <a:pt x="77134" y="45732"/>
                </a:cubicBezTo>
                <a:lnTo>
                  <a:pt x="22866" y="45732"/>
                </a:lnTo>
                <a:cubicBezTo>
                  <a:pt x="22866" y="45732"/>
                  <a:pt x="22866" y="45732"/>
                  <a:pt x="22866" y="45732"/>
                </a:cubicBezTo>
                <a:cubicBezTo>
                  <a:pt x="10240" y="45732"/>
                  <a:pt x="0" y="35492"/>
                  <a:pt x="0" y="22866"/>
                </a:cubicBezTo>
                <a:cubicBezTo>
                  <a:pt x="0" y="22866"/>
                  <a:pt x="0" y="22866"/>
                  <a:pt x="0" y="22866"/>
                </a:cubicBezTo>
                <a:lnTo>
                  <a:pt x="0" y="22866"/>
                </a:lnTo>
                <a:cubicBezTo>
                  <a:pt x="0" y="22866"/>
                  <a:pt x="0" y="22866"/>
                  <a:pt x="0" y="22866"/>
                </a:cubicBezTo>
                <a:cubicBezTo>
                  <a:pt x="0" y="10240"/>
                  <a:pt x="10240" y="0"/>
                  <a:pt x="22866" y="0"/>
                </a:cubicBezTo>
                <a:cubicBezTo>
                  <a:pt x="22866" y="0"/>
                  <a:pt x="22866" y="0"/>
                  <a:pt x="22866" y="0"/>
                </a:cubicBezTo>
                <a:close/>
              </a:path>
            </a:pathLst>
          </a:custGeom>
          <a:solidFill>
            <a:srgbClr val="EAF0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45" name="Oval 145"/>
          <p:cNvSpPr/>
          <p:nvPr/>
        </p:nvSpPr>
        <p:spPr>
          <a:xfrm>
            <a:off x="5132070" y="4439285"/>
            <a:ext cx="43180" cy="43180"/>
          </a:xfrm>
          <a:prstGeom prst="ellipse">
            <a:avLst/>
          </a:prstGeom>
          <a:solidFill>
            <a:srgbClr val="1E63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46" name="TextBox 146"/>
          <p:cNvSpPr txBox="1"/>
          <p:nvPr/>
        </p:nvSpPr>
        <p:spPr>
          <a:xfrm>
            <a:off x="5209540" y="4394200"/>
            <a:ext cx="139192" cy="133350"/>
          </a:xfrm>
          <a:prstGeom prst="rect">
            <a:avLst/>
          </a:prstGeom>
        </p:spPr>
        <p:txBody>
          <a:bodyPr wrap="square" lIns="0" tIns="0" rIns="0" bIns="0" anchor="ctr">
            <a:noAutofit/>
          </a:bodyPr>
          <a:lstStyle/>
          <a:p>
            <a:pPr>
              <a:lnSpc>
                <a:spcPct val="135000"/>
              </a:lnSpc>
            </a:pPr>
            <a:r>
              <a:rPr sz="400" b="1" spc="0">
                <a:solidFill>
                  <a:srgbClr val="1B3F9E"/>
                </a:solidFill>
                <a:latin typeface="Telegraf"/>
              </a:rPr>
              <a:t>new</a:t>
            </a:r>
            <a:endParaRPr sz="400" b="1" spc="0">
              <a:solidFill>
                <a:srgbClr val="1B3F9E"/>
              </a:solidFill>
              <a:latin typeface="Telegraf"/>
            </a:endParaRPr>
          </a:p>
        </p:txBody>
      </p:sp>
      <p:sp>
        <p:nvSpPr>
          <p:cNvPr id="2347" name="Rectangle 147"/>
          <p:cNvSpPr/>
          <p:nvPr/>
        </p:nvSpPr>
        <p:spPr>
          <a:xfrm>
            <a:off x="762000" y="4597400"/>
            <a:ext cx="5943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48" name="TextBox 148"/>
          <p:cNvSpPr txBox="1"/>
          <p:nvPr/>
        </p:nvSpPr>
        <p:spPr>
          <a:xfrm>
            <a:off x="762000" y="4749800"/>
            <a:ext cx="508000" cy="127000"/>
          </a:xfrm>
          <a:prstGeom prst="rect">
            <a:avLst/>
          </a:prstGeom>
        </p:spPr>
        <p:txBody>
          <a:bodyPr wrap="square" lIns="0" tIns="0" rIns="0" bIns="0">
            <a:noAutofit/>
          </a:bodyPr>
          <a:lstStyle/>
          <a:p>
            <a:pPr>
              <a:lnSpc>
                <a:spcPct val="135000"/>
              </a:lnSpc>
            </a:pPr>
            <a:r>
              <a:rPr sz="430" spc="0">
                <a:solidFill>
                  <a:srgbClr val="A2A2A8"/>
                </a:solidFill>
                <a:latin typeface="Telegraf"/>
              </a:rPr>
              <a:t>14:07:03</a:t>
            </a:r>
            <a:endParaRPr sz="430" spc="0">
              <a:solidFill>
                <a:srgbClr val="A2A2A8"/>
              </a:solidFill>
              <a:latin typeface="Telegraf"/>
            </a:endParaRPr>
          </a:p>
        </p:txBody>
      </p:sp>
      <p:sp>
        <p:nvSpPr>
          <p:cNvPr id="2349" name="TextBox 149"/>
          <p:cNvSpPr txBox="1"/>
          <p:nvPr/>
        </p:nvSpPr>
        <p:spPr>
          <a:xfrm>
            <a:off x="1320800" y="4749800"/>
            <a:ext cx="1371600" cy="127000"/>
          </a:xfrm>
          <a:prstGeom prst="rect">
            <a:avLst/>
          </a:prstGeom>
        </p:spPr>
        <p:txBody>
          <a:bodyPr wrap="square" lIns="0" tIns="0" rIns="0" bIns="0">
            <a:noAutofit/>
          </a:bodyPr>
          <a:lstStyle/>
          <a:p>
            <a:pPr>
              <a:lnSpc>
                <a:spcPct val="135000"/>
              </a:lnSpc>
            </a:pPr>
            <a:r>
              <a:rPr sz="440" b="1" spc="0">
                <a:solidFill>
                  <a:srgbClr val="0A0A0A"/>
                </a:solidFill>
                <a:latin typeface="Telegraf"/>
              </a:rPr>
              <a:t>RAG_RETRIEVED</a:t>
            </a:r>
            <a:endParaRPr sz="440" b="1" spc="0">
              <a:solidFill>
                <a:srgbClr val="0A0A0A"/>
              </a:solidFill>
              <a:latin typeface="Telegraf"/>
            </a:endParaRPr>
          </a:p>
        </p:txBody>
      </p:sp>
      <p:sp>
        <p:nvSpPr>
          <p:cNvPr id="2350" name="TextBox 150"/>
          <p:cNvSpPr txBox="1"/>
          <p:nvPr/>
        </p:nvSpPr>
        <p:spPr>
          <a:xfrm>
            <a:off x="2743200" y="4749800"/>
            <a:ext cx="2540000" cy="127000"/>
          </a:xfrm>
          <a:prstGeom prst="rect">
            <a:avLst/>
          </a:prstGeom>
        </p:spPr>
        <p:txBody>
          <a:bodyPr wrap="square" lIns="0" tIns="0" rIns="0" bIns="0">
            <a:noAutofit/>
          </a:bodyPr>
          <a:lstStyle/>
          <a:p>
            <a:pPr>
              <a:lnSpc>
                <a:spcPct val="135000"/>
              </a:lnSpc>
            </a:pPr>
            <a:r>
              <a:rPr sz="430" spc="0">
                <a:solidFill>
                  <a:srgbClr val="67676E"/>
                </a:solidFill>
                <a:latin typeface="Telegraf"/>
              </a:rPr>
              <a:t>chk_cp_06  ·  score 0.91</a:t>
            </a:r>
            <a:endParaRPr sz="430" spc="0">
              <a:solidFill>
                <a:srgbClr val="67676E"/>
              </a:solidFill>
              <a:latin typeface="Telegraf"/>
            </a:endParaRPr>
          </a:p>
        </p:txBody>
      </p:sp>
      <p:sp>
        <p:nvSpPr>
          <p:cNvPr id="2351" name="Rectangle 151"/>
          <p:cNvSpPr/>
          <p:nvPr/>
        </p:nvSpPr>
        <p:spPr>
          <a:xfrm>
            <a:off x="5080000" y="4724400"/>
            <a:ext cx="291592" cy="133350"/>
          </a:xfrm>
          <a:custGeom>
            <a:avLst/>
            <a:gdLst/>
            <a:ahLst/>
            <a:cxnLst/>
            <a:rect l="l" t="t" r="r" b="b"/>
            <a:pathLst>
              <a:path w="100000" h="45732">
                <a:moveTo>
                  <a:pt x="77134" y="0"/>
                </a:moveTo>
                <a:cubicBezTo>
                  <a:pt x="77134" y="0"/>
                  <a:pt x="77134" y="0"/>
                  <a:pt x="77134" y="0"/>
                </a:cubicBezTo>
                <a:cubicBezTo>
                  <a:pt x="89760" y="0"/>
                  <a:pt x="100000" y="10240"/>
                  <a:pt x="100000" y="22866"/>
                </a:cubicBezTo>
                <a:cubicBezTo>
                  <a:pt x="100000" y="22866"/>
                  <a:pt x="100000" y="22866"/>
                  <a:pt x="100000" y="22866"/>
                </a:cubicBezTo>
                <a:lnTo>
                  <a:pt x="100000" y="22866"/>
                </a:lnTo>
                <a:cubicBezTo>
                  <a:pt x="100000" y="22866"/>
                  <a:pt x="100000" y="22866"/>
                  <a:pt x="100000" y="22866"/>
                </a:cubicBezTo>
                <a:cubicBezTo>
                  <a:pt x="100000" y="35492"/>
                  <a:pt x="89760" y="45732"/>
                  <a:pt x="77134" y="45732"/>
                </a:cubicBezTo>
                <a:cubicBezTo>
                  <a:pt x="77134" y="45732"/>
                  <a:pt x="77134" y="45732"/>
                  <a:pt x="77134" y="45732"/>
                </a:cubicBezTo>
                <a:lnTo>
                  <a:pt x="22866" y="45732"/>
                </a:lnTo>
                <a:cubicBezTo>
                  <a:pt x="22866" y="45732"/>
                  <a:pt x="22866" y="45732"/>
                  <a:pt x="22866" y="45732"/>
                </a:cubicBezTo>
                <a:cubicBezTo>
                  <a:pt x="10240" y="45732"/>
                  <a:pt x="0" y="35492"/>
                  <a:pt x="0" y="22866"/>
                </a:cubicBezTo>
                <a:cubicBezTo>
                  <a:pt x="0" y="22866"/>
                  <a:pt x="0" y="22866"/>
                  <a:pt x="0" y="22866"/>
                </a:cubicBezTo>
                <a:lnTo>
                  <a:pt x="0" y="22866"/>
                </a:lnTo>
                <a:cubicBezTo>
                  <a:pt x="0" y="22866"/>
                  <a:pt x="0" y="22866"/>
                  <a:pt x="0" y="22866"/>
                </a:cubicBezTo>
                <a:cubicBezTo>
                  <a:pt x="0" y="10240"/>
                  <a:pt x="10240" y="0"/>
                  <a:pt x="22866" y="0"/>
                </a:cubicBezTo>
                <a:cubicBezTo>
                  <a:pt x="22866" y="0"/>
                  <a:pt x="22866" y="0"/>
                  <a:pt x="22866" y="0"/>
                </a:cubicBezTo>
                <a:close/>
              </a:path>
            </a:pathLst>
          </a:custGeom>
          <a:solidFill>
            <a:srgbClr val="EAF0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52" name="Oval 152"/>
          <p:cNvSpPr/>
          <p:nvPr/>
        </p:nvSpPr>
        <p:spPr>
          <a:xfrm>
            <a:off x="5132070" y="4769485"/>
            <a:ext cx="43180" cy="43180"/>
          </a:xfrm>
          <a:prstGeom prst="ellipse">
            <a:avLst/>
          </a:prstGeom>
          <a:solidFill>
            <a:srgbClr val="1E63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53" name="TextBox 153"/>
          <p:cNvSpPr txBox="1"/>
          <p:nvPr/>
        </p:nvSpPr>
        <p:spPr>
          <a:xfrm>
            <a:off x="5209540" y="4724400"/>
            <a:ext cx="139192" cy="133350"/>
          </a:xfrm>
          <a:prstGeom prst="rect">
            <a:avLst/>
          </a:prstGeom>
        </p:spPr>
        <p:txBody>
          <a:bodyPr wrap="square" lIns="0" tIns="0" rIns="0" bIns="0" anchor="ctr">
            <a:noAutofit/>
          </a:bodyPr>
          <a:lstStyle/>
          <a:p>
            <a:pPr>
              <a:lnSpc>
                <a:spcPct val="135000"/>
              </a:lnSpc>
            </a:pPr>
            <a:r>
              <a:rPr sz="400" b="1" spc="0">
                <a:solidFill>
                  <a:srgbClr val="1B3F9E"/>
                </a:solidFill>
                <a:latin typeface="Telegraf"/>
              </a:rPr>
              <a:t>new</a:t>
            </a:r>
            <a:endParaRPr sz="400" b="1" spc="0">
              <a:solidFill>
                <a:srgbClr val="1B3F9E"/>
              </a:solidFill>
              <a:latin typeface="Telegraf"/>
            </a:endParaRPr>
          </a:p>
        </p:txBody>
      </p:sp>
      <p:sp>
        <p:nvSpPr>
          <p:cNvPr id="2354" name="Rectangle 154"/>
          <p:cNvSpPr/>
          <p:nvPr/>
        </p:nvSpPr>
        <p:spPr>
          <a:xfrm>
            <a:off x="762000" y="4927600"/>
            <a:ext cx="5943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55" name="TextBox 155"/>
          <p:cNvSpPr txBox="1"/>
          <p:nvPr/>
        </p:nvSpPr>
        <p:spPr>
          <a:xfrm>
            <a:off x="762000" y="5080000"/>
            <a:ext cx="508000" cy="127000"/>
          </a:xfrm>
          <a:prstGeom prst="rect">
            <a:avLst/>
          </a:prstGeom>
        </p:spPr>
        <p:txBody>
          <a:bodyPr wrap="square" lIns="0" tIns="0" rIns="0" bIns="0">
            <a:noAutofit/>
          </a:bodyPr>
          <a:lstStyle/>
          <a:p>
            <a:pPr>
              <a:lnSpc>
                <a:spcPct val="135000"/>
              </a:lnSpc>
            </a:pPr>
            <a:r>
              <a:rPr sz="430" spc="0">
                <a:solidFill>
                  <a:srgbClr val="A2A2A8"/>
                </a:solidFill>
                <a:latin typeface="Telegraf"/>
              </a:rPr>
              <a:t>14:07:03</a:t>
            </a:r>
            <a:endParaRPr sz="430" spc="0">
              <a:solidFill>
                <a:srgbClr val="A2A2A8"/>
              </a:solidFill>
              <a:latin typeface="Telegraf"/>
            </a:endParaRPr>
          </a:p>
        </p:txBody>
      </p:sp>
      <p:sp>
        <p:nvSpPr>
          <p:cNvPr id="2356" name="TextBox 156"/>
          <p:cNvSpPr txBox="1"/>
          <p:nvPr/>
        </p:nvSpPr>
        <p:spPr>
          <a:xfrm>
            <a:off x="1320800" y="5080000"/>
            <a:ext cx="1371600" cy="127000"/>
          </a:xfrm>
          <a:prstGeom prst="rect">
            <a:avLst/>
          </a:prstGeom>
        </p:spPr>
        <p:txBody>
          <a:bodyPr wrap="square" lIns="0" tIns="0" rIns="0" bIns="0">
            <a:noAutofit/>
          </a:bodyPr>
          <a:lstStyle/>
          <a:p>
            <a:pPr>
              <a:lnSpc>
                <a:spcPct val="135000"/>
              </a:lnSpc>
            </a:pPr>
            <a:r>
              <a:rPr sz="440" b="1" spc="0">
                <a:solidFill>
                  <a:srgbClr val="0A0A0A"/>
                </a:solidFill>
                <a:latin typeface="Telegraf"/>
              </a:rPr>
              <a:t>ROUTING_DECIDED</a:t>
            </a:r>
            <a:endParaRPr sz="440" b="1" spc="0">
              <a:solidFill>
                <a:srgbClr val="0A0A0A"/>
              </a:solidFill>
              <a:latin typeface="Telegraf"/>
            </a:endParaRPr>
          </a:p>
        </p:txBody>
      </p:sp>
      <p:sp>
        <p:nvSpPr>
          <p:cNvPr id="2357" name="TextBox 157"/>
          <p:cNvSpPr txBox="1"/>
          <p:nvPr/>
        </p:nvSpPr>
        <p:spPr>
          <a:xfrm>
            <a:off x="2743200" y="5080000"/>
            <a:ext cx="2540000" cy="127000"/>
          </a:xfrm>
          <a:prstGeom prst="rect">
            <a:avLst/>
          </a:prstGeom>
        </p:spPr>
        <p:txBody>
          <a:bodyPr wrap="square" lIns="0" tIns="0" rIns="0" bIns="0">
            <a:noAutofit/>
          </a:bodyPr>
          <a:lstStyle/>
          <a:p>
            <a:pPr>
              <a:lnSpc>
                <a:spcPct val="135000"/>
              </a:lnSpc>
            </a:pPr>
            <a:r>
              <a:rPr sz="430" spc="0">
                <a:solidFill>
                  <a:srgbClr val="67676E"/>
                </a:solidFill>
                <a:latin typeface="Telegraf"/>
              </a:rPr>
              <a:t>R6  ·  conf 71  ·  urgency 62</a:t>
            </a:r>
            <a:endParaRPr sz="430" spc="0">
              <a:solidFill>
                <a:srgbClr val="67676E"/>
              </a:solidFill>
              <a:latin typeface="Telegraf"/>
            </a:endParaRPr>
          </a:p>
        </p:txBody>
      </p:sp>
      <p:sp>
        <p:nvSpPr>
          <p:cNvPr id="2358" name="Rectangle 158"/>
          <p:cNvSpPr/>
          <p:nvPr/>
        </p:nvSpPr>
        <p:spPr>
          <a:xfrm>
            <a:off x="5080000" y="5054600"/>
            <a:ext cx="291592" cy="133350"/>
          </a:xfrm>
          <a:custGeom>
            <a:avLst/>
            <a:gdLst/>
            <a:ahLst/>
            <a:cxnLst/>
            <a:rect l="l" t="t" r="r" b="b"/>
            <a:pathLst>
              <a:path w="100000" h="45732">
                <a:moveTo>
                  <a:pt x="77134" y="0"/>
                </a:moveTo>
                <a:cubicBezTo>
                  <a:pt x="77134" y="0"/>
                  <a:pt x="77134" y="0"/>
                  <a:pt x="77134" y="0"/>
                </a:cubicBezTo>
                <a:cubicBezTo>
                  <a:pt x="89760" y="0"/>
                  <a:pt x="100000" y="10240"/>
                  <a:pt x="100000" y="22866"/>
                </a:cubicBezTo>
                <a:cubicBezTo>
                  <a:pt x="100000" y="22866"/>
                  <a:pt x="100000" y="22866"/>
                  <a:pt x="100000" y="22866"/>
                </a:cubicBezTo>
                <a:lnTo>
                  <a:pt x="100000" y="22866"/>
                </a:lnTo>
                <a:cubicBezTo>
                  <a:pt x="100000" y="22866"/>
                  <a:pt x="100000" y="22866"/>
                  <a:pt x="100000" y="22866"/>
                </a:cubicBezTo>
                <a:cubicBezTo>
                  <a:pt x="100000" y="35492"/>
                  <a:pt x="89760" y="45732"/>
                  <a:pt x="77134" y="45732"/>
                </a:cubicBezTo>
                <a:cubicBezTo>
                  <a:pt x="77134" y="45732"/>
                  <a:pt x="77134" y="45732"/>
                  <a:pt x="77134" y="45732"/>
                </a:cubicBezTo>
                <a:lnTo>
                  <a:pt x="22866" y="45732"/>
                </a:lnTo>
                <a:cubicBezTo>
                  <a:pt x="22866" y="45732"/>
                  <a:pt x="22866" y="45732"/>
                  <a:pt x="22866" y="45732"/>
                </a:cubicBezTo>
                <a:cubicBezTo>
                  <a:pt x="10240" y="45732"/>
                  <a:pt x="0" y="35492"/>
                  <a:pt x="0" y="22866"/>
                </a:cubicBezTo>
                <a:cubicBezTo>
                  <a:pt x="0" y="22866"/>
                  <a:pt x="0" y="22866"/>
                  <a:pt x="0" y="22866"/>
                </a:cubicBezTo>
                <a:lnTo>
                  <a:pt x="0" y="22866"/>
                </a:lnTo>
                <a:cubicBezTo>
                  <a:pt x="0" y="22866"/>
                  <a:pt x="0" y="22866"/>
                  <a:pt x="0" y="22866"/>
                </a:cubicBezTo>
                <a:cubicBezTo>
                  <a:pt x="0" y="10240"/>
                  <a:pt x="10240" y="0"/>
                  <a:pt x="22866" y="0"/>
                </a:cubicBezTo>
                <a:cubicBezTo>
                  <a:pt x="22866" y="0"/>
                  <a:pt x="22866" y="0"/>
                  <a:pt x="22866" y="0"/>
                </a:cubicBezTo>
                <a:close/>
              </a:path>
            </a:pathLst>
          </a:custGeom>
          <a:solidFill>
            <a:srgbClr val="EAF0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59" name="Oval 159"/>
          <p:cNvSpPr/>
          <p:nvPr/>
        </p:nvSpPr>
        <p:spPr>
          <a:xfrm>
            <a:off x="5132070" y="5099685"/>
            <a:ext cx="43180" cy="43180"/>
          </a:xfrm>
          <a:prstGeom prst="ellipse">
            <a:avLst/>
          </a:prstGeom>
          <a:solidFill>
            <a:srgbClr val="1E63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60" name="TextBox 160"/>
          <p:cNvSpPr txBox="1"/>
          <p:nvPr/>
        </p:nvSpPr>
        <p:spPr>
          <a:xfrm>
            <a:off x="5209540" y="5054600"/>
            <a:ext cx="139192" cy="133350"/>
          </a:xfrm>
          <a:prstGeom prst="rect">
            <a:avLst/>
          </a:prstGeom>
        </p:spPr>
        <p:txBody>
          <a:bodyPr wrap="square" lIns="0" tIns="0" rIns="0" bIns="0" anchor="ctr">
            <a:noAutofit/>
          </a:bodyPr>
          <a:lstStyle/>
          <a:p>
            <a:pPr>
              <a:lnSpc>
                <a:spcPct val="135000"/>
              </a:lnSpc>
            </a:pPr>
            <a:r>
              <a:rPr sz="400" b="1" spc="0">
                <a:solidFill>
                  <a:srgbClr val="1B3F9E"/>
                </a:solidFill>
                <a:latin typeface="Telegraf"/>
              </a:rPr>
              <a:t>new</a:t>
            </a:r>
            <a:endParaRPr sz="400" b="1" spc="0">
              <a:solidFill>
                <a:srgbClr val="1B3F9E"/>
              </a:solidFill>
              <a:latin typeface="Telegraf"/>
            </a:endParaRPr>
          </a:p>
        </p:txBody>
      </p:sp>
      <p:sp>
        <p:nvSpPr>
          <p:cNvPr id="2361" name="Rectangle 161"/>
          <p:cNvSpPr/>
          <p:nvPr/>
        </p:nvSpPr>
        <p:spPr>
          <a:xfrm>
            <a:off x="762000" y="5257800"/>
            <a:ext cx="5943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62" name="TextBox 162"/>
          <p:cNvSpPr txBox="1"/>
          <p:nvPr/>
        </p:nvSpPr>
        <p:spPr>
          <a:xfrm>
            <a:off x="762000" y="5410200"/>
            <a:ext cx="508000" cy="127000"/>
          </a:xfrm>
          <a:prstGeom prst="rect">
            <a:avLst/>
          </a:prstGeom>
        </p:spPr>
        <p:txBody>
          <a:bodyPr wrap="square" lIns="0" tIns="0" rIns="0" bIns="0">
            <a:noAutofit/>
          </a:bodyPr>
          <a:lstStyle/>
          <a:p>
            <a:pPr>
              <a:lnSpc>
                <a:spcPct val="135000"/>
              </a:lnSpc>
            </a:pPr>
            <a:r>
              <a:rPr sz="430" spc="0">
                <a:solidFill>
                  <a:srgbClr val="A2A2A8"/>
                </a:solidFill>
                <a:latin typeface="Telegraf"/>
              </a:rPr>
              <a:t>14:07:04</a:t>
            </a:r>
            <a:endParaRPr sz="430" spc="0">
              <a:solidFill>
                <a:srgbClr val="A2A2A8"/>
              </a:solidFill>
              <a:latin typeface="Telegraf"/>
            </a:endParaRPr>
          </a:p>
        </p:txBody>
      </p:sp>
      <p:sp>
        <p:nvSpPr>
          <p:cNvPr id="2363" name="TextBox 163"/>
          <p:cNvSpPr txBox="1"/>
          <p:nvPr/>
        </p:nvSpPr>
        <p:spPr>
          <a:xfrm>
            <a:off x="1320800" y="5410200"/>
            <a:ext cx="1371600" cy="127000"/>
          </a:xfrm>
          <a:prstGeom prst="rect">
            <a:avLst/>
          </a:prstGeom>
        </p:spPr>
        <p:txBody>
          <a:bodyPr wrap="square" lIns="0" tIns="0" rIns="0" bIns="0">
            <a:noAutofit/>
          </a:bodyPr>
          <a:lstStyle/>
          <a:p>
            <a:pPr>
              <a:lnSpc>
                <a:spcPct val="135000"/>
              </a:lnSpc>
            </a:pPr>
            <a:r>
              <a:rPr sz="440" b="1" spc="0">
                <a:solidFill>
                  <a:srgbClr val="0A0A0A"/>
                </a:solidFill>
                <a:latin typeface="Telegraf"/>
              </a:rPr>
              <a:t>DRAFT_SAVED</a:t>
            </a:r>
            <a:endParaRPr sz="440" b="1" spc="0">
              <a:solidFill>
                <a:srgbClr val="0A0A0A"/>
              </a:solidFill>
              <a:latin typeface="Telegraf"/>
            </a:endParaRPr>
          </a:p>
        </p:txBody>
      </p:sp>
      <p:sp>
        <p:nvSpPr>
          <p:cNvPr id="2364" name="TextBox 164"/>
          <p:cNvSpPr txBox="1"/>
          <p:nvPr/>
        </p:nvSpPr>
        <p:spPr>
          <a:xfrm>
            <a:off x="2743200" y="5410200"/>
            <a:ext cx="2540000" cy="127000"/>
          </a:xfrm>
          <a:prstGeom prst="rect">
            <a:avLst/>
          </a:prstGeom>
        </p:spPr>
        <p:txBody>
          <a:bodyPr wrap="square" lIns="0" tIns="0" rIns="0" bIns="0">
            <a:noAutofit/>
          </a:bodyPr>
          <a:lstStyle/>
          <a:p>
            <a:pPr>
              <a:lnSpc>
                <a:spcPct val="135000"/>
              </a:lnSpc>
            </a:pPr>
            <a:r>
              <a:rPr sz="430" spc="0">
                <a:solidFill>
                  <a:srgbClr val="67676E"/>
                </a:solidFill>
                <a:latin typeface="Telegraf"/>
              </a:rPr>
              <a:t>awaiting owner approval</a:t>
            </a:r>
            <a:endParaRPr sz="430" spc="0">
              <a:solidFill>
                <a:srgbClr val="67676E"/>
              </a:solidFill>
              <a:latin typeface="Telegraf"/>
            </a:endParaRPr>
          </a:p>
        </p:txBody>
      </p:sp>
      <p:sp>
        <p:nvSpPr>
          <p:cNvPr id="2365" name="Rectangle 165"/>
          <p:cNvSpPr/>
          <p:nvPr/>
        </p:nvSpPr>
        <p:spPr>
          <a:xfrm>
            <a:off x="5080000" y="5384800"/>
            <a:ext cx="350520" cy="133350"/>
          </a:xfrm>
          <a:custGeom>
            <a:avLst/>
            <a:gdLst/>
            <a:ahLst/>
            <a:cxnLst/>
            <a:rect l="l" t="t" r="r" b="b"/>
            <a:pathLst>
              <a:path w="100000" h="38043">
                <a:moveTo>
                  <a:pt x="80978" y="0"/>
                </a:moveTo>
                <a:cubicBezTo>
                  <a:pt x="80978" y="0"/>
                  <a:pt x="80978" y="0"/>
                  <a:pt x="80978" y="0"/>
                </a:cubicBezTo>
                <a:cubicBezTo>
                  <a:pt x="91482" y="0"/>
                  <a:pt x="100000" y="8518"/>
                  <a:pt x="100000" y="19022"/>
                </a:cubicBezTo>
                <a:cubicBezTo>
                  <a:pt x="100000" y="19022"/>
                  <a:pt x="100000" y="19022"/>
                  <a:pt x="100000" y="19022"/>
                </a:cubicBezTo>
                <a:lnTo>
                  <a:pt x="100000" y="19022"/>
                </a:lnTo>
                <a:cubicBezTo>
                  <a:pt x="100000" y="19022"/>
                  <a:pt x="100000" y="19022"/>
                  <a:pt x="100000" y="19022"/>
                </a:cubicBezTo>
                <a:cubicBezTo>
                  <a:pt x="100000" y="29525"/>
                  <a:pt x="91482" y="38043"/>
                  <a:pt x="80978" y="38043"/>
                </a:cubicBezTo>
                <a:cubicBezTo>
                  <a:pt x="80978" y="38043"/>
                  <a:pt x="80978" y="38043"/>
                  <a:pt x="80978" y="38043"/>
                </a:cubicBezTo>
                <a:lnTo>
                  <a:pt x="19022" y="38043"/>
                </a:lnTo>
                <a:cubicBezTo>
                  <a:pt x="19022" y="38043"/>
                  <a:pt x="19022" y="38043"/>
                  <a:pt x="19022" y="38043"/>
                </a:cubicBezTo>
                <a:cubicBezTo>
                  <a:pt x="8518" y="38043"/>
                  <a:pt x="0" y="29525"/>
                  <a:pt x="0" y="19022"/>
                </a:cubicBezTo>
                <a:cubicBezTo>
                  <a:pt x="0" y="19022"/>
                  <a:pt x="0" y="19022"/>
                  <a:pt x="0" y="19022"/>
                </a:cubicBezTo>
                <a:lnTo>
                  <a:pt x="0" y="19022"/>
                </a:lnTo>
                <a:cubicBezTo>
                  <a:pt x="0" y="19022"/>
                  <a:pt x="0" y="19022"/>
                  <a:pt x="0" y="19022"/>
                </a:cubicBezTo>
                <a:cubicBezTo>
                  <a:pt x="0" y="8518"/>
                  <a:pt x="8518" y="0"/>
                  <a:pt x="19022" y="0"/>
                </a:cubicBezTo>
                <a:cubicBezTo>
                  <a:pt x="19022" y="0"/>
                  <a:pt x="19022" y="0"/>
                  <a:pt x="19022"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66" name="Oval 166"/>
          <p:cNvSpPr/>
          <p:nvPr/>
        </p:nvSpPr>
        <p:spPr>
          <a:xfrm>
            <a:off x="5132070" y="542988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67" name="TextBox 167"/>
          <p:cNvSpPr txBox="1"/>
          <p:nvPr/>
        </p:nvSpPr>
        <p:spPr>
          <a:xfrm>
            <a:off x="5209540" y="5384800"/>
            <a:ext cx="198120" cy="133350"/>
          </a:xfrm>
          <a:prstGeom prst="rect">
            <a:avLst/>
          </a:prstGeom>
        </p:spPr>
        <p:txBody>
          <a:bodyPr wrap="square" lIns="0" tIns="0" rIns="0" bIns="0" anchor="ctr">
            <a:noAutofit/>
          </a:bodyPr>
          <a:lstStyle/>
          <a:p>
            <a:pPr>
              <a:lnSpc>
                <a:spcPct val="135000"/>
              </a:lnSpc>
            </a:pPr>
            <a:r>
              <a:rPr sz="400" b="1" spc="0">
                <a:solidFill>
                  <a:srgbClr val="8A4B08"/>
                </a:solidFill>
                <a:latin typeface="Telegraf"/>
              </a:rPr>
              <a:t>draft</a:t>
            </a:r>
            <a:endParaRPr sz="400" b="1" spc="0">
              <a:solidFill>
                <a:srgbClr val="8A4B08"/>
              </a:solidFill>
              <a:latin typeface="Telegraf"/>
            </a:endParaRPr>
          </a:p>
        </p:txBody>
      </p:sp>
      <p:sp>
        <p:nvSpPr>
          <p:cNvPr id="2368" name="Rectangle 168"/>
          <p:cNvSpPr/>
          <p:nvPr/>
        </p:nvSpPr>
        <p:spPr>
          <a:xfrm>
            <a:off x="762000" y="5588000"/>
            <a:ext cx="5943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69" name="TextBox 169"/>
          <p:cNvSpPr txBox="1"/>
          <p:nvPr/>
        </p:nvSpPr>
        <p:spPr>
          <a:xfrm>
            <a:off x="762000" y="5740400"/>
            <a:ext cx="508000" cy="127000"/>
          </a:xfrm>
          <a:prstGeom prst="rect">
            <a:avLst/>
          </a:prstGeom>
        </p:spPr>
        <p:txBody>
          <a:bodyPr wrap="square" lIns="0" tIns="0" rIns="0" bIns="0">
            <a:noAutofit/>
          </a:bodyPr>
          <a:lstStyle/>
          <a:p>
            <a:pPr>
              <a:lnSpc>
                <a:spcPct val="135000"/>
              </a:lnSpc>
            </a:pPr>
            <a:r>
              <a:rPr sz="430" spc="0">
                <a:solidFill>
                  <a:srgbClr val="A2A2A8"/>
                </a:solidFill>
                <a:latin typeface="Telegraf"/>
              </a:rPr>
              <a:t>14:06:41</a:t>
            </a:r>
            <a:endParaRPr sz="430" spc="0">
              <a:solidFill>
                <a:srgbClr val="A2A2A8"/>
              </a:solidFill>
              <a:latin typeface="Telegraf"/>
            </a:endParaRPr>
          </a:p>
        </p:txBody>
      </p:sp>
      <p:sp>
        <p:nvSpPr>
          <p:cNvPr id="2370" name="TextBox 170"/>
          <p:cNvSpPr txBox="1"/>
          <p:nvPr/>
        </p:nvSpPr>
        <p:spPr>
          <a:xfrm>
            <a:off x="1320800" y="5740400"/>
            <a:ext cx="1371600" cy="127000"/>
          </a:xfrm>
          <a:prstGeom prst="rect">
            <a:avLst/>
          </a:prstGeom>
        </p:spPr>
        <p:txBody>
          <a:bodyPr wrap="square" lIns="0" tIns="0" rIns="0" bIns="0">
            <a:noAutofit/>
          </a:bodyPr>
          <a:lstStyle/>
          <a:p>
            <a:pPr>
              <a:lnSpc>
                <a:spcPct val="135000"/>
              </a:lnSpc>
            </a:pPr>
            <a:r>
              <a:rPr sz="440" b="1" spc="0">
                <a:solidFill>
                  <a:srgbClr val="0A0A0A"/>
                </a:solidFill>
                <a:latin typeface="Telegraf"/>
              </a:rPr>
              <a:t>ESCALATED</a:t>
            </a:r>
            <a:endParaRPr sz="440" b="1" spc="0">
              <a:solidFill>
                <a:srgbClr val="0A0A0A"/>
              </a:solidFill>
              <a:latin typeface="Telegraf"/>
            </a:endParaRPr>
          </a:p>
        </p:txBody>
      </p:sp>
      <p:sp>
        <p:nvSpPr>
          <p:cNvPr id="2371" name="TextBox 171"/>
          <p:cNvSpPr txBox="1"/>
          <p:nvPr/>
        </p:nvSpPr>
        <p:spPr>
          <a:xfrm>
            <a:off x="2743200" y="5740400"/>
            <a:ext cx="2540000" cy="127000"/>
          </a:xfrm>
          <a:prstGeom prst="rect">
            <a:avLst/>
          </a:prstGeom>
        </p:spPr>
        <p:txBody>
          <a:bodyPr wrap="square" lIns="0" tIns="0" rIns="0" bIns="0">
            <a:noAutofit/>
          </a:bodyPr>
          <a:lstStyle/>
          <a:p>
            <a:pPr>
              <a:lnSpc>
                <a:spcPct val="135000"/>
              </a:lnSpc>
            </a:pPr>
            <a:r>
              <a:rPr sz="430" spc="0">
                <a:solidFill>
                  <a:srgbClr val="67676E"/>
                </a:solidFill>
                <a:latin typeface="Telegraf"/>
              </a:rPr>
              <a:t>R1  ·  human requested</a:t>
            </a:r>
            <a:endParaRPr sz="430" spc="0">
              <a:solidFill>
                <a:srgbClr val="67676E"/>
              </a:solidFill>
              <a:latin typeface="Telegraf"/>
            </a:endParaRPr>
          </a:p>
        </p:txBody>
      </p:sp>
      <p:sp>
        <p:nvSpPr>
          <p:cNvPr id="2372" name="Rectangle 172"/>
          <p:cNvSpPr/>
          <p:nvPr/>
        </p:nvSpPr>
        <p:spPr>
          <a:xfrm>
            <a:off x="5080000" y="5715000"/>
            <a:ext cx="468376" cy="133350"/>
          </a:xfrm>
          <a:custGeom>
            <a:avLst/>
            <a:gdLst/>
            <a:ahLst/>
            <a:cxnLst/>
            <a:rect l="l" t="t" r="r" b="b"/>
            <a:pathLst>
              <a:path w="100000" h="28471">
                <a:moveTo>
                  <a:pt x="85765" y="0"/>
                </a:moveTo>
                <a:cubicBezTo>
                  <a:pt x="85765" y="0"/>
                  <a:pt x="85765" y="0"/>
                  <a:pt x="85765" y="0"/>
                </a:cubicBezTo>
                <a:cubicBezTo>
                  <a:pt x="93625" y="0"/>
                  <a:pt x="100000" y="6375"/>
                  <a:pt x="100000" y="14235"/>
                </a:cubicBezTo>
                <a:cubicBezTo>
                  <a:pt x="100000" y="14235"/>
                  <a:pt x="100000" y="14235"/>
                  <a:pt x="100000" y="14235"/>
                </a:cubicBezTo>
                <a:lnTo>
                  <a:pt x="100000" y="14235"/>
                </a:lnTo>
                <a:cubicBezTo>
                  <a:pt x="100000" y="14235"/>
                  <a:pt x="100000" y="14235"/>
                  <a:pt x="100000" y="14235"/>
                </a:cubicBezTo>
                <a:cubicBezTo>
                  <a:pt x="100000" y="22096"/>
                  <a:pt x="93625" y="28471"/>
                  <a:pt x="85765" y="28471"/>
                </a:cubicBezTo>
                <a:cubicBezTo>
                  <a:pt x="85765" y="28471"/>
                  <a:pt x="85765" y="28471"/>
                  <a:pt x="85765" y="28471"/>
                </a:cubicBezTo>
                <a:lnTo>
                  <a:pt x="14235" y="28471"/>
                </a:lnTo>
                <a:cubicBezTo>
                  <a:pt x="14235" y="28471"/>
                  <a:pt x="14235" y="28471"/>
                  <a:pt x="14235" y="28471"/>
                </a:cubicBezTo>
                <a:cubicBezTo>
                  <a:pt x="6375" y="28471"/>
                  <a:pt x="0" y="22096"/>
                  <a:pt x="0" y="14235"/>
                </a:cubicBezTo>
                <a:cubicBezTo>
                  <a:pt x="0" y="14235"/>
                  <a:pt x="0" y="14235"/>
                  <a:pt x="0" y="14235"/>
                </a:cubicBezTo>
                <a:lnTo>
                  <a:pt x="0" y="14235"/>
                </a:lnTo>
                <a:cubicBezTo>
                  <a:pt x="0" y="14235"/>
                  <a:pt x="0" y="14235"/>
                  <a:pt x="0" y="14235"/>
                </a:cubicBezTo>
                <a:cubicBezTo>
                  <a:pt x="0" y="6375"/>
                  <a:pt x="6375" y="0"/>
                  <a:pt x="14235" y="0"/>
                </a:cubicBezTo>
                <a:cubicBezTo>
                  <a:pt x="14235" y="0"/>
                  <a:pt x="14235" y="0"/>
                  <a:pt x="14235"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73" name="Oval 173"/>
          <p:cNvSpPr/>
          <p:nvPr/>
        </p:nvSpPr>
        <p:spPr>
          <a:xfrm>
            <a:off x="5132070" y="576008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74" name="TextBox 174"/>
          <p:cNvSpPr txBox="1"/>
          <p:nvPr/>
        </p:nvSpPr>
        <p:spPr>
          <a:xfrm>
            <a:off x="5209540" y="5715000"/>
            <a:ext cx="315976" cy="133350"/>
          </a:xfrm>
          <a:prstGeom prst="rect">
            <a:avLst/>
          </a:prstGeom>
        </p:spPr>
        <p:txBody>
          <a:bodyPr wrap="square" lIns="0" tIns="0" rIns="0" bIns="0" anchor="ctr">
            <a:noAutofit/>
          </a:bodyPr>
          <a:lstStyle/>
          <a:p>
            <a:pPr>
              <a:lnSpc>
                <a:spcPct val="135000"/>
              </a:lnSpc>
            </a:pPr>
            <a:r>
              <a:rPr sz="400" b="1" spc="0">
                <a:solidFill>
                  <a:srgbClr val="99201C"/>
                </a:solidFill>
                <a:latin typeface="Telegraf"/>
              </a:rPr>
              <a:t>escalated</a:t>
            </a:r>
            <a:endParaRPr sz="400" b="1" spc="0">
              <a:solidFill>
                <a:srgbClr val="99201C"/>
              </a:solidFill>
              <a:latin typeface="Telegraf"/>
            </a:endParaRPr>
          </a:p>
        </p:txBody>
      </p:sp>
      <p:sp>
        <p:nvSpPr>
          <p:cNvPr id="2375" name="Rectangle 175"/>
          <p:cNvSpPr/>
          <p:nvPr/>
        </p:nvSpPr>
        <p:spPr>
          <a:xfrm>
            <a:off x="762000" y="5918200"/>
            <a:ext cx="5943600" cy="11430"/>
          </a:xfrm>
          <a:prstGeom prst="roundRect">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76" name="TextBox 176"/>
          <p:cNvSpPr txBox="1"/>
          <p:nvPr/>
        </p:nvSpPr>
        <p:spPr>
          <a:xfrm>
            <a:off x="762000" y="6172200"/>
            <a:ext cx="5943600" cy="127000"/>
          </a:xfrm>
          <a:prstGeom prst="rect">
            <a:avLst/>
          </a:prstGeom>
        </p:spPr>
        <p:txBody>
          <a:bodyPr wrap="square" lIns="0" tIns="0" rIns="0" bIns="0">
            <a:noAutofit/>
          </a:bodyPr>
          <a:lstStyle/>
          <a:p>
            <a:pPr>
              <a:lnSpc>
                <a:spcPct val="135000"/>
              </a:lnSpc>
            </a:pPr>
            <a:r>
              <a:rPr sz="430" spc="0">
                <a:solidFill>
                  <a:srgbClr val="A2A2A8"/>
                </a:solidFill>
                <a:latin typeface="Telegraf"/>
              </a:rPr>
              <a:t>TicketEvent is append-only; the drawer's trace reads this table.</a:t>
            </a:r>
            <a:endParaRPr sz="430" spc="0">
              <a:solidFill>
                <a:srgbClr val="A2A2A8"/>
              </a:solidFill>
              <a:latin typeface="Telegraf"/>
            </a:endParaRPr>
          </a:p>
        </p:txBody>
      </p:sp>
      <p:sp>
        <p:nvSpPr>
          <p:cNvPr id="2377" name="Oval 177"/>
          <p:cNvSpPr/>
          <p:nvPr/>
        </p:nvSpPr>
        <p:spPr>
          <a:xfrm>
            <a:off x="574040" y="11836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78" name="Oval 178"/>
          <p:cNvSpPr/>
          <p:nvPr/>
        </p:nvSpPr>
        <p:spPr>
          <a:xfrm>
            <a:off x="598170" y="12077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79" name="TextBox 179"/>
          <p:cNvSpPr txBox="1"/>
          <p:nvPr/>
        </p:nvSpPr>
        <p:spPr>
          <a:xfrm>
            <a:off x="598170" y="12077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2380" name="Oval 180"/>
          <p:cNvSpPr/>
          <p:nvPr/>
        </p:nvSpPr>
        <p:spPr>
          <a:xfrm>
            <a:off x="6771640" y="1183640"/>
            <a:ext cx="172720" cy="172720"/>
          </a:xfrm>
          <a:prstGeom prst="ellipse">
            <a:avLst/>
          </a:prstGeom>
          <a:solidFill>
            <a:srgbClr val="073B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81" name="Oval 181"/>
          <p:cNvSpPr/>
          <p:nvPr/>
        </p:nvSpPr>
        <p:spPr>
          <a:xfrm>
            <a:off x="6795770" y="1207770"/>
            <a:ext cx="124460" cy="12446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82" name="TextBox 182"/>
          <p:cNvSpPr txBox="1"/>
          <p:nvPr/>
        </p:nvSpPr>
        <p:spPr>
          <a:xfrm>
            <a:off x="6795770" y="1207770"/>
            <a:ext cx="124460" cy="124460"/>
          </a:xfrm>
          <a:prstGeom prst="rect">
            <a:avLst/>
          </a:prstGeom>
        </p:spPr>
        <p:txBody>
          <a:bodyPr wrap="square" lIns="0" tIns="0" rIns="0" bIns="0" anchor="ctr">
            <a:noAutofit/>
          </a:bodyPr>
          <a:lstStyle/>
          <a:p>
            <a:pPr algn="ctr">
              <a:lnSpc>
                <a:spcPct val="135000"/>
              </a:lnSpc>
            </a:pPr>
            <a:r>
              <a:rPr sz="440" b="1" spc="0">
                <a:solidFill>
                  <a:srgbClr val="0A0A0A"/>
                </a:solidFill>
                <a:latin typeface="Telegraf"/>
              </a:rPr>
              <a:t>2</a:t>
            </a:r>
            <a:endParaRPr sz="440" b="1" spc="0">
              <a:solidFill>
                <a:srgbClr val="0A0A0A"/>
              </a:solidFill>
              <a:latin typeface="Telegraf"/>
            </a:endParaRPr>
          </a:p>
        </p:txBody>
      </p:sp>
      <p:sp>
        <p:nvSpPr>
          <p:cNvPr id="2383" name="Oval 183"/>
          <p:cNvSpPr/>
          <p:nvPr/>
        </p:nvSpPr>
        <p:spPr>
          <a:xfrm>
            <a:off x="6771640" y="41300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84" name="Oval 184"/>
          <p:cNvSpPr/>
          <p:nvPr/>
        </p:nvSpPr>
        <p:spPr>
          <a:xfrm>
            <a:off x="6795770" y="41541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85" name="TextBox 185"/>
          <p:cNvSpPr txBox="1"/>
          <p:nvPr/>
        </p:nvSpPr>
        <p:spPr>
          <a:xfrm>
            <a:off x="6795770" y="41541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2386" name="Oval 186"/>
          <p:cNvSpPr/>
          <p:nvPr/>
        </p:nvSpPr>
        <p:spPr>
          <a:xfrm>
            <a:off x="574040" y="41554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87" name="Oval 187"/>
          <p:cNvSpPr/>
          <p:nvPr/>
        </p:nvSpPr>
        <p:spPr>
          <a:xfrm>
            <a:off x="598170" y="41795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88" name="TextBox 188"/>
          <p:cNvSpPr txBox="1"/>
          <p:nvPr/>
        </p:nvSpPr>
        <p:spPr>
          <a:xfrm>
            <a:off x="598170" y="41795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2389" name="Rectangle 189"/>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90" name="TextBox 190"/>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16  —  DASHBOARD · CHANNELS</a:t>
            </a:r>
            <a:endParaRPr sz="490" b="1" spc="120">
              <a:solidFill>
                <a:srgbClr val="8FE0CE"/>
              </a:solidFill>
              <a:latin typeface="Telegraf"/>
            </a:endParaRPr>
          </a:p>
        </p:txBody>
      </p:sp>
      <p:sp>
        <p:nvSpPr>
          <p:cNvPr id="2391" name="TextBox 191"/>
          <p:cNvSpPr txBox="1"/>
          <p:nvPr/>
        </p:nvSpPr>
        <p:spPr>
          <a:xfrm>
            <a:off x="10477500" y="355600"/>
            <a:ext cx="1574800" cy="711200"/>
          </a:xfrm>
          <a:prstGeom prst="rect">
            <a:avLst/>
          </a:prstGeom>
        </p:spPr>
        <p:txBody>
          <a:bodyPr wrap="square" lIns="0" tIns="0" rIns="0" bIns="0">
            <a:noAutofit/>
          </a:bodyPr>
          <a:lstStyle/>
          <a:p>
            <a:pPr>
              <a:lnSpc>
                <a:spcPct val="105000"/>
              </a:lnSpc>
            </a:pPr>
            <a:r>
              <a:rPr sz="1650" spc="-50">
                <a:solidFill>
                  <a:srgbClr val="FFFFFF"/>
                </a:solidFill>
                <a:latin typeface="PP Editorial New Ultralight"/>
              </a:rPr>
              <a:t>Truthful</a:t>
            </a:r>
            <a:endParaRPr sz="1650" spc="-50">
              <a:solidFill>
                <a:srgbClr val="FFFFFF"/>
              </a:solidFill>
              <a:latin typeface="PP Editorial New Ultralight"/>
            </a:endParaRPr>
          </a:p>
          <a:p>
            <a:pPr>
              <a:lnSpc>
                <a:spcPct val="105000"/>
              </a:lnSpc>
            </a:pPr>
            <a:r>
              <a:rPr sz="1650" spc="-50">
                <a:solidFill>
                  <a:srgbClr val="FFFFFF"/>
                </a:solidFill>
                <a:latin typeface="PP Editorial New Ultralight"/>
              </a:rPr>
              <a:t>connection state.</a:t>
            </a:r>
            <a:endParaRPr sz="1650" spc="-50">
              <a:solidFill>
                <a:srgbClr val="FFFFFF"/>
              </a:solidFill>
              <a:latin typeface="PP Editorial New Ultralight"/>
            </a:endParaRPr>
          </a:p>
        </p:txBody>
      </p:sp>
      <p:sp>
        <p:nvSpPr>
          <p:cNvPr id="2392" name="Rectangle 192"/>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393" name="TextBox 193"/>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2394" name="TextBox 194"/>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Status</a:t>
            </a:r>
            <a:endParaRPr sz="590" b="1" spc="0">
              <a:solidFill>
                <a:srgbClr val="FFFFFF"/>
              </a:solidFill>
              <a:latin typeface="Telegraf"/>
            </a:endParaRPr>
          </a:p>
        </p:txBody>
      </p:sp>
      <p:sp>
        <p:nvSpPr>
          <p:cNvPr id="2395" name="TextBox 195"/>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Connected is green, draft-only is amber, unavailable is grey — and derived.</a:t>
            </a:r>
            <a:endParaRPr sz="550" spc="0">
              <a:solidFill>
                <a:srgbClr val="A8A8A8"/>
              </a:solidFill>
              <a:latin typeface="Telegraf"/>
            </a:endParaRPr>
          </a:p>
        </p:txBody>
      </p:sp>
      <p:sp>
        <p:nvSpPr>
          <p:cNvPr id="2396" name="TextBox 196"/>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2397" name="TextBox 197"/>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Per-channel</a:t>
            </a:r>
            <a:endParaRPr sz="590" b="1" spc="0">
              <a:solidFill>
                <a:srgbClr val="FFFFFF"/>
              </a:solidFill>
              <a:latin typeface="Telegraf"/>
            </a:endParaRPr>
          </a:p>
        </p:txBody>
      </p:sp>
      <p:sp>
        <p:nvSpPr>
          <p:cNvPr id="2398" name="TextBox 198"/>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Auto-send is the field routing-engine reads for R5.</a:t>
            </a:r>
            <a:endParaRPr sz="550" spc="0">
              <a:solidFill>
                <a:srgbClr val="A8A8A8"/>
              </a:solidFill>
              <a:latin typeface="Telegraf"/>
            </a:endParaRPr>
          </a:p>
        </p:txBody>
      </p:sp>
      <p:sp>
        <p:nvSpPr>
          <p:cNvPr id="2399" name="TextBox 199"/>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2400" name="TextBox 200"/>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Idempotency</a:t>
            </a:r>
            <a:endParaRPr sz="590" b="1" spc="0">
              <a:solidFill>
                <a:srgbClr val="FFFFFF"/>
              </a:solidFill>
              <a:latin typeface="Telegraf"/>
            </a:endParaRPr>
          </a:p>
        </p:txBody>
      </p:sp>
      <p:sp>
        <p:nvSpPr>
          <p:cNvPr id="2401" name="TextBox 201"/>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duplicate test is on screen: same id, one ticket.</a:t>
            </a:r>
            <a:endParaRPr sz="550" spc="0">
              <a:solidFill>
                <a:srgbClr val="A8A8A8"/>
              </a:solidFill>
              <a:latin typeface="Telegraf"/>
            </a:endParaRPr>
          </a:p>
        </p:txBody>
      </p:sp>
      <p:sp>
        <p:nvSpPr>
          <p:cNvPr id="2402" name="TextBox 202"/>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2403" name="TextBox 203"/>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Event log</a:t>
            </a:r>
            <a:endParaRPr sz="590" b="1" spc="0">
              <a:solidFill>
                <a:srgbClr val="FFFFFF"/>
              </a:solidFill>
              <a:latin typeface="Telegraf"/>
            </a:endParaRPr>
          </a:p>
        </p:txBody>
      </p:sp>
      <p:sp>
        <p:nvSpPr>
          <p:cNvPr id="2404" name="TextBox 204"/>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append-only trace the drawer's rule chain is built from.</a:t>
            </a:r>
            <a:endParaRPr sz="550" spc="0">
              <a:solidFill>
                <a:srgbClr val="A8A8A8"/>
              </a:solidFill>
              <a:latin typeface="Telegraf"/>
            </a:endParaRPr>
          </a:p>
        </p:txBody>
      </p:sp>
      <p:sp>
        <p:nvSpPr>
          <p:cNvPr id="2405" name="TextBox 205"/>
          <p:cNvSpPr txBox="1"/>
          <p:nvPr/>
        </p:nvSpPr>
        <p:spPr>
          <a:xfrm>
            <a:off x="10490200" y="3632200"/>
            <a:ext cx="1397000" cy="101600"/>
          </a:xfrm>
          <a:prstGeom prst="rect">
            <a:avLst/>
          </a:prstGeom>
        </p:spPr>
        <p:txBody>
          <a:bodyPr wrap="square" lIns="0" tIns="0" rIns="0" bIns="0">
            <a:noAutofit/>
          </a:bodyPr>
          <a:lstStyle/>
          <a:p>
            <a:r>
              <a:rPr sz="450" b="1" spc="110">
                <a:solidFill>
                  <a:srgbClr val="8FE0CE"/>
                </a:solidFill>
                <a:latin typeface="Telegraf"/>
              </a:rPr>
              <a:t>STATES</a:t>
            </a:r>
            <a:endParaRPr sz="450" b="1" spc="110">
              <a:solidFill>
                <a:srgbClr val="8FE0CE"/>
              </a:solidFill>
              <a:latin typeface="Telegraf"/>
            </a:endParaRPr>
          </a:p>
        </p:txBody>
      </p:sp>
      <p:sp>
        <p:nvSpPr>
          <p:cNvPr id="2406" name="TextBox 206"/>
          <p:cNvSpPr txBox="1"/>
          <p:nvPr/>
        </p:nvSpPr>
        <p:spPr>
          <a:xfrm>
            <a:off x="10490200" y="3746500"/>
            <a:ext cx="1549400" cy="584200"/>
          </a:xfrm>
          <a:prstGeom prst="rect">
            <a:avLst/>
          </a:prstGeom>
        </p:spPr>
        <p:txBody>
          <a:bodyPr wrap="square" lIns="0" tIns="0" rIns="0" bIns="0">
            <a:noAutofit/>
          </a:bodyPr>
          <a:lstStyle/>
          <a:p>
            <a:pPr>
              <a:lnSpc>
                <a:spcPct val="140000"/>
              </a:lnSpc>
            </a:pPr>
            <a:r>
              <a:rPr sz="540" spc="0">
                <a:solidFill>
                  <a:srgbClr val="CFCFCF"/>
                </a:solidFill>
                <a:latin typeface="Telegraf"/>
              </a:rPr>
              <a:t>connected · test mode · draft only · unavailable · duplicate dropped</a:t>
            </a:r>
            <a:endParaRPr sz="540" spc="0">
              <a:solidFill>
                <a:srgbClr val="CFCFCF"/>
              </a:solidFill>
              <a:latin typeface="Telegraf"/>
            </a:endParaRPr>
          </a:p>
        </p:txBody>
      </p:sp>
      <p:sp>
        <p:nvSpPr>
          <p:cNvPr id="2407" name="TextBox 207"/>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2408" name="TextBox 208"/>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/dashboard?tab=channels</a:t>
            </a:r>
            <a:endParaRPr sz="560" spc="0">
              <a:solidFill>
                <a:srgbClr val="FFFFFF"/>
              </a:solidFill>
              <a:latin typeface="Telegraf"/>
            </a:endParaRPr>
          </a:p>
        </p:txBody>
      </p:sp>
      <p:sp>
        <p:nvSpPr>
          <p:cNvPr id="2409" name="TextBox 209"/>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2410" name="TextBox 210"/>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components/dashboard/ChannelsPanel.tsx; ChannelCard.tsx; POST /api/channels/webhook/[provider]</a:t>
            </a:r>
            <a:endParaRPr sz="530" spc="0">
              <a:solidFill>
                <a:srgbClr val="CFCFCF"/>
              </a:solidFill>
              <a:latin typeface="Telegraf"/>
            </a:endParaRPr>
          </a:p>
        </p:txBody>
      </p:sp>
      <p:sp>
        <p:nvSpPr>
          <p:cNvPr id="2411" name="Rectangle 211"/>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12" name="TextBox 212"/>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4F1"/>
        </a:solidFill>
        <a:effectLst/>
      </p:bgPr>
    </p:bg>
    <p:spTree>
      <p:nvGrpSpPr>
        <p:cNvPr id="1" name=""/>
        <p:cNvGrpSpPr/>
        <p:nvPr/>
      </p:nvGrpSpPr>
      <p:grpSpPr>
        <a:xfrm>
          <a:off x="0" y="0"/>
          <a:ext cx="0" cy="0"/>
          <a:chOff x="0" y="0"/>
          <a:chExt cx="0" cy="0"/>
        </a:xfrm>
      </p:grpSpPr>
      <p:sp>
        <p:nvSpPr>
          <p:cNvPr id="2414" name="TextBox 1"/>
          <p:cNvSpPr txBox="1"/>
          <p:nvPr/>
        </p:nvSpPr>
        <p:spPr>
          <a:xfrm>
            <a:off x="711200" y="558800"/>
            <a:ext cx="3810000" cy="127000"/>
          </a:xfrm>
          <a:prstGeom prst="rect">
            <a:avLst/>
          </a:prstGeom>
        </p:spPr>
        <p:txBody>
          <a:bodyPr wrap="square" lIns="0" tIns="0" rIns="0" bIns="0">
            <a:noAutofit/>
          </a:bodyPr>
          <a:lstStyle/>
          <a:p>
            <a:r>
              <a:rPr sz="500" b="1" spc="130">
                <a:solidFill>
                  <a:srgbClr val="A2A2A8"/>
                </a:solidFill>
                <a:latin typeface="Telegraf"/>
              </a:rPr>
              <a:t>SYSTEM  ·  STATES &amp; LAYOUT</a:t>
            </a:r>
            <a:endParaRPr sz="500" b="1" spc="130">
              <a:solidFill>
                <a:srgbClr val="A2A2A8"/>
              </a:solidFill>
              <a:latin typeface="Telegraf"/>
            </a:endParaRPr>
          </a:p>
        </p:txBody>
      </p:sp>
      <p:sp>
        <p:nvSpPr>
          <p:cNvPr id="2415" name="TextBox 2"/>
          <p:cNvSpPr txBox="1"/>
          <p:nvPr/>
        </p:nvSpPr>
        <p:spPr>
          <a:xfrm>
            <a:off x="698500" y="711200"/>
            <a:ext cx="7112000" cy="431800"/>
          </a:xfrm>
          <a:prstGeom prst="rect">
            <a:avLst/>
          </a:prstGeom>
        </p:spPr>
        <p:txBody>
          <a:bodyPr wrap="square" lIns="0" tIns="0" rIns="0" bIns="0">
            <a:noAutofit/>
          </a:bodyPr>
          <a:lstStyle/>
          <a:p>
            <a:pPr>
              <a:lnSpc>
                <a:spcPct val="102000"/>
              </a:lnSpc>
            </a:pPr>
            <a:r>
              <a:rPr sz="2700" spc="-110">
                <a:solidFill>
                  <a:srgbClr val="0A0A0A"/>
                </a:solidFill>
                <a:latin typeface="PP Editorial New Ultralight"/>
              </a:rPr>
              <a:t>Four states, or it is not built.</a:t>
            </a:r>
            <a:endParaRPr sz="2700" spc="-110">
              <a:solidFill>
                <a:srgbClr val="0A0A0A"/>
              </a:solidFill>
              <a:latin typeface="PP Editorial New Ultralight"/>
            </a:endParaRPr>
          </a:p>
        </p:txBody>
      </p:sp>
      <p:sp>
        <p:nvSpPr>
          <p:cNvPr id="2416" name="TextBox 3"/>
          <p:cNvSpPr txBox="1"/>
          <p:nvPr/>
        </p:nvSpPr>
        <p:spPr>
          <a:xfrm>
            <a:off x="723900" y="1143000"/>
            <a:ext cx="6604000" cy="203200"/>
          </a:xfrm>
          <a:prstGeom prst="rect">
            <a:avLst/>
          </a:prstGeom>
        </p:spPr>
        <p:txBody>
          <a:bodyPr wrap="square" lIns="0" tIns="0" rIns="0" bIns="0">
            <a:noAutofit/>
          </a:bodyPr>
          <a:lstStyle/>
          <a:p>
            <a:pPr>
              <a:lnSpc>
                <a:spcPct val="150000"/>
              </a:lnSpc>
            </a:pPr>
            <a:r>
              <a:rPr sz="560" spc="0">
                <a:solidFill>
                  <a:srgbClr val="67676E"/>
                </a:solidFill>
                <a:latin typeface="Telegraf"/>
              </a:rPr>
              <a:t>Every async surface has an empty, a loading, a failed and a success state. R7 is the failed one.</a:t>
            </a:r>
            <a:endParaRPr sz="560" spc="0">
              <a:solidFill>
                <a:srgbClr val="67676E"/>
              </a:solidFill>
              <a:latin typeface="Telegraf"/>
            </a:endParaRPr>
          </a:p>
        </p:txBody>
      </p:sp>
      <p:sp>
        <p:nvSpPr>
          <p:cNvPr id="2417" name="Rectangle 4"/>
          <p:cNvSpPr/>
          <p:nvPr/>
        </p:nvSpPr>
        <p:spPr>
          <a:xfrm>
            <a:off x="711200" y="1371600"/>
            <a:ext cx="3048000" cy="1905000"/>
          </a:xfrm>
          <a:custGeom>
            <a:avLst/>
            <a:gdLst/>
            <a:ahLst/>
            <a:cxnLst/>
            <a:rect l="l" t="t" r="r" b="b"/>
            <a:pathLst>
              <a:path w="100000" h="62500">
                <a:moveTo>
                  <a:pt x="90000" y="0"/>
                </a:moveTo>
                <a:cubicBezTo>
                  <a:pt x="94714" y="0"/>
                  <a:pt x="97071" y="0"/>
                  <a:pt x="98535" y="1465"/>
                </a:cubicBezTo>
                <a:cubicBezTo>
                  <a:pt x="98535" y="1465"/>
                  <a:pt x="98535" y="1465"/>
                  <a:pt x="98535" y="1465"/>
                </a:cubicBezTo>
                <a:cubicBezTo>
                  <a:pt x="100000" y="2929"/>
                  <a:pt x="100000" y="5286"/>
                  <a:pt x="100000" y="10000"/>
                </a:cubicBezTo>
                <a:lnTo>
                  <a:pt x="100000" y="52500"/>
                </a:lnTo>
                <a:cubicBezTo>
                  <a:pt x="100000" y="57214"/>
                  <a:pt x="100000" y="59571"/>
                  <a:pt x="98535" y="61035"/>
                </a:cubicBezTo>
                <a:cubicBezTo>
                  <a:pt x="98535" y="61035"/>
                  <a:pt x="98535" y="61035"/>
                  <a:pt x="98535" y="61035"/>
                </a:cubicBezTo>
                <a:cubicBezTo>
                  <a:pt x="97071" y="62500"/>
                  <a:pt x="94714" y="62500"/>
                  <a:pt x="90000" y="62500"/>
                </a:cubicBezTo>
                <a:lnTo>
                  <a:pt x="10000" y="62500"/>
                </a:lnTo>
                <a:cubicBezTo>
                  <a:pt x="5286" y="62500"/>
                  <a:pt x="2929" y="62500"/>
                  <a:pt x="1465" y="61035"/>
                </a:cubicBezTo>
                <a:cubicBezTo>
                  <a:pt x="1465" y="61035"/>
                  <a:pt x="1465" y="61035"/>
                  <a:pt x="1465" y="61035"/>
                </a:cubicBezTo>
                <a:cubicBezTo>
                  <a:pt x="0" y="59571"/>
                  <a:pt x="0" y="57214"/>
                  <a:pt x="0" y="52500"/>
                </a:cubicBezTo>
                <a:lnTo>
                  <a:pt x="0" y="10000"/>
                </a:lnTo>
                <a:cubicBezTo>
                  <a:pt x="0" y="5286"/>
                  <a:pt x="0" y="2929"/>
                  <a:pt x="1465" y="1465"/>
                </a:cubicBezTo>
                <a:cubicBezTo>
                  <a:pt x="1465" y="1465"/>
                  <a:pt x="1465" y="1465"/>
                  <a:pt x="1465" y="1465"/>
                </a:cubicBezTo>
                <a:cubicBezTo>
                  <a:pt x="2929" y="0"/>
                  <a:pt x="5286" y="0"/>
                  <a:pt x="10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18" name="TextBox 5"/>
          <p:cNvSpPr txBox="1"/>
          <p:nvPr/>
        </p:nvSpPr>
        <p:spPr>
          <a:xfrm>
            <a:off x="889000" y="1498600"/>
            <a:ext cx="2540000" cy="114300"/>
          </a:xfrm>
          <a:prstGeom prst="rect">
            <a:avLst/>
          </a:prstGeom>
        </p:spPr>
        <p:txBody>
          <a:bodyPr wrap="square" lIns="0" tIns="0" rIns="0" bIns="0">
            <a:noAutofit/>
          </a:bodyPr>
          <a:lstStyle/>
          <a:p>
            <a:r>
              <a:rPr sz="440" b="1" spc="105">
                <a:solidFill>
                  <a:srgbClr val="A2A2A8"/>
                </a:solidFill>
                <a:latin typeface="Telegraf"/>
              </a:rPr>
              <a:t>EMPTY</a:t>
            </a:r>
            <a:endParaRPr sz="440" b="1" spc="105">
              <a:solidFill>
                <a:srgbClr val="A2A2A8"/>
              </a:solidFill>
              <a:latin typeface="Telegraf"/>
            </a:endParaRPr>
          </a:p>
        </p:txBody>
      </p:sp>
      <p:sp>
        <p:nvSpPr>
          <p:cNvPr id="2419" name="Oval 6"/>
          <p:cNvSpPr/>
          <p:nvPr/>
        </p:nvSpPr>
        <p:spPr>
          <a:xfrm>
            <a:off x="965200" y="1828800"/>
            <a:ext cx="304800" cy="304800"/>
          </a:xfrm>
          <a:prstGeom prst="ellipse">
            <a:avLst/>
          </a:pr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20" name="Rectangle 7"/>
          <p:cNvSpPr/>
          <p:nvPr/>
        </p:nvSpPr>
        <p:spPr>
          <a:xfrm>
            <a:off x="1049020" y="1922780"/>
            <a:ext cx="137160" cy="24130"/>
          </a:xfrm>
          <a:custGeom>
            <a:avLst/>
            <a:gdLst/>
            <a:ahLst/>
            <a:cxnLst/>
            <a:rect l="l" t="t" r="r" b="b"/>
            <a:pathLst>
              <a:path w="100000" h="17593">
                <a:moveTo>
                  <a:pt x="91204" y="0"/>
                </a:moveTo>
                <a:cubicBezTo>
                  <a:pt x="91204" y="0"/>
                  <a:pt x="91204" y="0"/>
                  <a:pt x="91204" y="0"/>
                </a:cubicBezTo>
                <a:cubicBezTo>
                  <a:pt x="96065" y="0"/>
                  <a:pt x="100000" y="3935"/>
                  <a:pt x="100000" y="8796"/>
                </a:cubicBezTo>
                <a:cubicBezTo>
                  <a:pt x="100000" y="8796"/>
                  <a:pt x="100000" y="8796"/>
                  <a:pt x="100000" y="8796"/>
                </a:cubicBezTo>
                <a:lnTo>
                  <a:pt x="100000" y="8796"/>
                </a:lnTo>
                <a:cubicBezTo>
                  <a:pt x="100000" y="8796"/>
                  <a:pt x="100000" y="8796"/>
                  <a:pt x="100000" y="8796"/>
                </a:cubicBezTo>
                <a:cubicBezTo>
                  <a:pt x="100000" y="13657"/>
                  <a:pt x="96065" y="17593"/>
                  <a:pt x="91204" y="17593"/>
                </a:cubicBezTo>
                <a:cubicBezTo>
                  <a:pt x="91204" y="17593"/>
                  <a:pt x="91204" y="17593"/>
                  <a:pt x="91204" y="17593"/>
                </a:cubicBezTo>
                <a:lnTo>
                  <a:pt x="8796" y="17593"/>
                </a:lnTo>
                <a:cubicBezTo>
                  <a:pt x="8796" y="17593"/>
                  <a:pt x="8796" y="17593"/>
                  <a:pt x="8796" y="17593"/>
                </a:cubicBezTo>
                <a:cubicBezTo>
                  <a:pt x="3935" y="17593"/>
                  <a:pt x="0" y="13657"/>
                  <a:pt x="0" y="8796"/>
                </a:cubicBezTo>
                <a:cubicBezTo>
                  <a:pt x="0" y="8796"/>
                  <a:pt x="0" y="8796"/>
                  <a:pt x="0" y="8796"/>
                </a:cubicBezTo>
                <a:lnTo>
                  <a:pt x="0" y="8796"/>
                </a:lnTo>
                <a:cubicBezTo>
                  <a:pt x="0" y="8796"/>
                  <a:pt x="0" y="8796"/>
                  <a:pt x="0" y="8796"/>
                </a:cubicBezTo>
                <a:cubicBezTo>
                  <a:pt x="0" y="3935"/>
                  <a:pt x="3935" y="0"/>
                  <a:pt x="8796" y="0"/>
                </a:cubicBezTo>
                <a:cubicBezTo>
                  <a:pt x="8796" y="0"/>
                  <a:pt x="8796" y="0"/>
                  <a:pt x="8796"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21" name="Rectangle 8"/>
          <p:cNvSpPr/>
          <p:nvPr/>
        </p:nvSpPr>
        <p:spPr>
          <a:xfrm>
            <a:off x="1049020" y="1972310"/>
            <a:ext cx="104140" cy="24130"/>
          </a:xfrm>
          <a:custGeom>
            <a:avLst/>
            <a:gdLst/>
            <a:ahLst/>
            <a:cxnLst/>
            <a:rect l="l" t="t" r="r" b="b"/>
            <a:pathLst>
              <a:path w="100000" h="23171">
                <a:moveTo>
                  <a:pt x="88415" y="0"/>
                </a:moveTo>
                <a:cubicBezTo>
                  <a:pt x="88415" y="0"/>
                  <a:pt x="88415" y="0"/>
                  <a:pt x="88415" y="0"/>
                </a:cubicBezTo>
                <a:cubicBezTo>
                  <a:pt x="94817" y="0"/>
                  <a:pt x="100000" y="5183"/>
                  <a:pt x="100000" y="11585"/>
                </a:cubicBezTo>
                <a:cubicBezTo>
                  <a:pt x="100000" y="11585"/>
                  <a:pt x="100000" y="11585"/>
                  <a:pt x="100000" y="11585"/>
                </a:cubicBezTo>
                <a:lnTo>
                  <a:pt x="100000" y="11585"/>
                </a:lnTo>
                <a:cubicBezTo>
                  <a:pt x="100000" y="11585"/>
                  <a:pt x="100000" y="11585"/>
                  <a:pt x="100000" y="11585"/>
                </a:cubicBezTo>
                <a:cubicBezTo>
                  <a:pt x="100000" y="17988"/>
                  <a:pt x="94817" y="23171"/>
                  <a:pt x="88415" y="23171"/>
                </a:cubicBezTo>
                <a:cubicBezTo>
                  <a:pt x="88415" y="23171"/>
                  <a:pt x="88415" y="23171"/>
                  <a:pt x="88415" y="23171"/>
                </a:cubicBezTo>
                <a:lnTo>
                  <a:pt x="11585" y="23171"/>
                </a:lnTo>
                <a:cubicBezTo>
                  <a:pt x="11585" y="23171"/>
                  <a:pt x="11585" y="23171"/>
                  <a:pt x="11585" y="23171"/>
                </a:cubicBezTo>
                <a:cubicBezTo>
                  <a:pt x="5183" y="23171"/>
                  <a:pt x="0" y="17988"/>
                  <a:pt x="0" y="11585"/>
                </a:cubicBezTo>
                <a:cubicBezTo>
                  <a:pt x="0" y="11585"/>
                  <a:pt x="0" y="11585"/>
                  <a:pt x="0" y="11585"/>
                </a:cubicBezTo>
                <a:lnTo>
                  <a:pt x="0" y="11585"/>
                </a:lnTo>
                <a:cubicBezTo>
                  <a:pt x="0" y="11585"/>
                  <a:pt x="0" y="11585"/>
                  <a:pt x="0" y="11585"/>
                </a:cubicBezTo>
                <a:cubicBezTo>
                  <a:pt x="0" y="5183"/>
                  <a:pt x="5183" y="0"/>
                  <a:pt x="11585" y="0"/>
                </a:cubicBezTo>
                <a:cubicBezTo>
                  <a:pt x="11585" y="0"/>
                  <a:pt x="11585" y="0"/>
                  <a:pt x="11585"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22" name="Rectangle 9"/>
          <p:cNvSpPr/>
          <p:nvPr/>
        </p:nvSpPr>
        <p:spPr>
          <a:xfrm>
            <a:off x="1049020" y="2021840"/>
            <a:ext cx="71120" cy="24130"/>
          </a:xfrm>
          <a:custGeom>
            <a:avLst/>
            <a:gdLst/>
            <a:ahLst/>
            <a:cxnLst/>
            <a:rect l="l" t="t" r="r" b="b"/>
            <a:pathLst>
              <a:path w="100000" h="33929">
                <a:moveTo>
                  <a:pt x="83036" y="0"/>
                </a:moveTo>
                <a:cubicBezTo>
                  <a:pt x="83036" y="0"/>
                  <a:pt x="83036" y="0"/>
                  <a:pt x="83036" y="0"/>
                </a:cubicBezTo>
                <a:cubicBezTo>
                  <a:pt x="92411" y="0"/>
                  <a:pt x="100000" y="7589"/>
                  <a:pt x="100000" y="16964"/>
                </a:cubicBezTo>
                <a:cubicBezTo>
                  <a:pt x="100000" y="16964"/>
                  <a:pt x="100000" y="16964"/>
                  <a:pt x="100000" y="16964"/>
                </a:cubicBezTo>
                <a:lnTo>
                  <a:pt x="100000" y="16964"/>
                </a:lnTo>
                <a:cubicBezTo>
                  <a:pt x="100000" y="16964"/>
                  <a:pt x="100000" y="16964"/>
                  <a:pt x="100000" y="16964"/>
                </a:cubicBezTo>
                <a:cubicBezTo>
                  <a:pt x="100000" y="26339"/>
                  <a:pt x="92411" y="33929"/>
                  <a:pt x="83036" y="33929"/>
                </a:cubicBezTo>
                <a:cubicBezTo>
                  <a:pt x="83036" y="33929"/>
                  <a:pt x="83036" y="33929"/>
                  <a:pt x="83036" y="33929"/>
                </a:cubicBezTo>
                <a:lnTo>
                  <a:pt x="16964" y="33929"/>
                </a:lnTo>
                <a:cubicBezTo>
                  <a:pt x="16964" y="33929"/>
                  <a:pt x="16964" y="33929"/>
                  <a:pt x="16964" y="33929"/>
                </a:cubicBezTo>
                <a:cubicBezTo>
                  <a:pt x="7589" y="33929"/>
                  <a:pt x="0" y="26339"/>
                  <a:pt x="0" y="16964"/>
                </a:cubicBezTo>
                <a:cubicBezTo>
                  <a:pt x="0" y="16964"/>
                  <a:pt x="0" y="16964"/>
                  <a:pt x="0" y="16964"/>
                </a:cubicBezTo>
                <a:lnTo>
                  <a:pt x="0" y="16964"/>
                </a:lnTo>
                <a:cubicBezTo>
                  <a:pt x="0" y="16964"/>
                  <a:pt x="0" y="16964"/>
                  <a:pt x="0" y="16964"/>
                </a:cubicBezTo>
                <a:cubicBezTo>
                  <a:pt x="0" y="7589"/>
                  <a:pt x="7589" y="0"/>
                  <a:pt x="16964" y="0"/>
                </a:cubicBezTo>
                <a:cubicBezTo>
                  <a:pt x="16964" y="0"/>
                  <a:pt x="16964" y="0"/>
                  <a:pt x="16964" y="0"/>
                </a:cubicBezTo>
                <a:close/>
              </a:path>
            </a:pathLst>
          </a:custGeom>
          <a:solidFill>
            <a:srgbClr val="A2A2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23" name="TextBox 10"/>
          <p:cNvSpPr txBox="1"/>
          <p:nvPr/>
        </p:nvSpPr>
        <p:spPr>
          <a:xfrm>
            <a:off x="1371600" y="1828800"/>
            <a:ext cx="2032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No tickets yet</a:t>
            </a:r>
            <a:endParaRPr sz="620" b="1" spc="0">
              <a:solidFill>
                <a:srgbClr val="0A0A0A"/>
              </a:solidFill>
              <a:latin typeface="Telegraf"/>
            </a:endParaRPr>
          </a:p>
        </p:txBody>
      </p:sp>
      <p:sp>
        <p:nvSpPr>
          <p:cNvPr id="2424" name="TextBox 11"/>
          <p:cNvSpPr txBox="1"/>
          <p:nvPr/>
        </p:nvSpPr>
        <p:spPr>
          <a:xfrm>
            <a:off x="1371600" y="1981200"/>
            <a:ext cx="2032000" cy="254000"/>
          </a:xfrm>
          <a:prstGeom prst="rect">
            <a:avLst/>
          </a:prstGeom>
        </p:spPr>
        <p:txBody>
          <a:bodyPr wrap="square" lIns="0" tIns="0" rIns="0" bIns="0">
            <a:noAutofit/>
          </a:bodyPr>
          <a:lstStyle/>
          <a:p>
            <a:pPr>
              <a:lnSpc>
                <a:spcPct val="140000"/>
              </a:lnSpc>
            </a:pPr>
            <a:r>
              <a:rPr sz="450" spc="0">
                <a:solidFill>
                  <a:srgbClr val="67676E"/>
                </a:solidFill>
                <a:latin typeface="Telegraf"/>
              </a:rPr>
              <a:t>A webhook or a test run creates the first one.</a:t>
            </a:r>
            <a:endParaRPr sz="450" spc="0">
              <a:solidFill>
                <a:srgbClr val="67676E"/>
              </a:solidFill>
              <a:latin typeface="Telegraf"/>
            </a:endParaRPr>
          </a:p>
        </p:txBody>
      </p:sp>
      <p:sp>
        <p:nvSpPr>
          <p:cNvPr id="2425" name="Rectangle 12"/>
          <p:cNvSpPr/>
          <p:nvPr/>
        </p:nvSpPr>
        <p:spPr>
          <a:xfrm>
            <a:off x="1371600" y="2311400"/>
            <a:ext cx="1219200" cy="254000"/>
          </a:xfrm>
          <a:custGeom>
            <a:avLst/>
            <a:gdLst/>
            <a:ahLst/>
            <a:cxnLst/>
            <a:rect l="l" t="t" r="r" b="b"/>
            <a:pathLst>
              <a:path w="100000" h="20833">
                <a:moveTo>
                  <a:pt x="89583" y="0"/>
                </a:moveTo>
                <a:cubicBezTo>
                  <a:pt x="89583" y="0"/>
                  <a:pt x="89583" y="0"/>
                  <a:pt x="89583" y="0"/>
                </a:cubicBezTo>
                <a:cubicBezTo>
                  <a:pt x="95336" y="0"/>
                  <a:pt x="100000" y="4664"/>
                  <a:pt x="100000" y="10417"/>
                </a:cubicBezTo>
                <a:cubicBezTo>
                  <a:pt x="100000" y="10417"/>
                  <a:pt x="100000" y="10417"/>
                  <a:pt x="100000" y="10417"/>
                </a:cubicBezTo>
                <a:lnTo>
                  <a:pt x="100000" y="10417"/>
                </a:lnTo>
                <a:cubicBezTo>
                  <a:pt x="100000" y="10417"/>
                  <a:pt x="100000" y="10417"/>
                  <a:pt x="100000" y="10417"/>
                </a:cubicBezTo>
                <a:cubicBezTo>
                  <a:pt x="100000" y="16170"/>
                  <a:pt x="95336" y="20833"/>
                  <a:pt x="89583" y="20833"/>
                </a:cubicBezTo>
                <a:cubicBezTo>
                  <a:pt x="89583" y="20833"/>
                  <a:pt x="89583" y="20833"/>
                  <a:pt x="89583" y="20833"/>
                </a:cubicBezTo>
                <a:lnTo>
                  <a:pt x="10417" y="20833"/>
                </a:lnTo>
                <a:cubicBezTo>
                  <a:pt x="10417" y="20833"/>
                  <a:pt x="10417" y="20833"/>
                  <a:pt x="10417" y="20833"/>
                </a:cubicBezTo>
                <a:cubicBezTo>
                  <a:pt x="4664" y="20833"/>
                  <a:pt x="0" y="16170"/>
                  <a:pt x="0" y="10417"/>
                </a:cubicBezTo>
                <a:cubicBezTo>
                  <a:pt x="0" y="10417"/>
                  <a:pt x="0" y="10417"/>
                  <a:pt x="0" y="10417"/>
                </a:cubicBezTo>
                <a:lnTo>
                  <a:pt x="0" y="10417"/>
                </a:lnTo>
                <a:cubicBezTo>
                  <a:pt x="0" y="10417"/>
                  <a:pt x="0" y="10417"/>
                  <a:pt x="0" y="10417"/>
                </a:cubicBezTo>
                <a:cubicBezTo>
                  <a:pt x="0" y="4664"/>
                  <a:pt x="4664" y="0"/>
                  <a:pt x="10417" y="0"/>
                </a:cubicBezTo>
                <a:cubicBezTo>
                  <a:pt x="10417" y="0"/>
                  <a:pt x="10417" y="0"/>
                  <a:pt x="10417"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26" name="TextBox 13"/>
          <p:cNvSpPr txBox="1"/>
          <p:nvPr/>
        </p:nvSpPr>
        <p:spPr>
          <a:xfrm>
            <a:off x="1447800" y="2311400"/>
            <a:ext cx="1092200" cy="254000"/>
          </a:xfrm>
          <a:prstGeom prst="rect">
            <a:avLst/>
          </a:prstGeom>
        </p:spPr>
        <p:txBody>
          <a:bodyPr wrap="square" lIns="0" tIns="0" rIns="0" bIns="0" anchor="ctr">
            <a:noAutofit/>
          </a:bodyPr>
          <a:lstStyle/>
          <a:p>
            <a:pPr>
              <a:lnSpc>
                <a:spcPct val="135000"/>
              </a:lnSpc>
            </a:pPr>
            <a:r>
              <a:rPr sz="440" b="1" spc="10">
                <a:solidFill>
                  <a:srgbClr val="FFFFFF"/>
                </a:solidFill>
                <a:latin typeface="Telegraf"/>
              </a:rPr>
              <a:t>Test my AI agent</a:t>
            </a:r>
            <a:endParaRPr sz="440" b="1" spc="10">
              <a:solidFill>
                <a:srgbClr val="FFFFFF"/>
              </a:solidFill>
              <a:latin typeface="Telegraf"/>
            </a:endParaRPr>
          </a:p>
        </p:txBody>
      </p:sp>
      <p:sp>
        <p:nvSpPr>
          <p:cNvPr id="2427" name="TextBox 14"/>
          <p:cNvSpPr txBox="1"/>
          <p:nvPr/>
        </p:nvSpPr>
        <p:spPr>
          <a:xfrm>
            <a:off x="889000" y="2870200"/>
            <a:ext cx="2667000" cy="254000"/>
          </a:xfrm>
          <a:prstGeom prst="rect">
            <a:avLst/>
          </a:prstGeom>
        </p:spPr>
        <p:txBody>
          <a:bodyPr wrap="square" lIns="0" tIns="0" rIns="0" bIns="0">
            <a:noAutofit/>
          </a:bodyPr>
          <a:lstStyle/>
          <a:p>
            <a:pPr>
              <a:lnSpc>
                <a:spcPct val="135000"/>
              </a:lnSpc>
            </a:pPr>
            <a:r>
              <a:rPr sz="430" spc="0">
                <a:solidFill>
                  <a:srgbClr val="A2A2A8"/>
                </a:solidFill>
                <a:latin typeface="Telegraf"/>
              </a:rPr>
              <a:t>One line of copy, one action — never a shrug.</a:t>
            </a:r>
            <a:endParaRPr sz="430" spc="0">
              <a:solidFill>
                <a:srgbClr val="A2A2A8"/>
              </a:solidFill>
              <a:latin typeface="Telegraf"/>
            </a:endParaRPr>
          </a:p>
        </p:txBody>
      </p:sp>
      <p:sp>
        <p:nvSpPr>
          <p:cNvPr id="2428" name="Rectangle 15"/>
          <p:cNvSpPr/>
          <p:nvPr/>
        </p:nvSpPr>
        <p:spPr>
          <a:xfrm>
            <a:off x="3886200" y="1371600"/>
            <a:ext cx="3048000" cy="1905000"/>
          </a:xfrm>
          <a:custGeom>
            <a:avLst/>
            <a:gdLst/>
            <a:ahLst/>
            <a:cxnLst/>
            <a:rect l="l" t="t" r="r" b="b"/>
            <a:pathLst>
              <a:path w="100000" h="62500">
                <a:moveTo>
                  <a:pt x="90000" y="0"/>
                </a:moveTo>
                <a:cubicBezTo>
                  <a:pt x="94714" y="0"/>
                  <a:pt x="97071" y="0"/>
                  <a:pt x="98535" y="1465"/>
                </a:cubicBezTo>
                <a:cubicBezTo>
                  <a:pt x="98535" y="1465"/>
                  <a:pt x="98535" y="1465"/>
                  <a:pt x="98535" y="1465"/>
                </a:cubicBezTo>
                <a:cubicBezTo>
                  <a:pt x="100000" y="2929"/>
                  <a:pt x="100000" y="5286"/>
                  <a:pt x="100000" y="10000"/>
                </a:cubicBezTo>
                <a:lnTo>
                  <a:pt x="100000" y="52500"/>
                </a:lnTo>
                <a:cubicBezTo>
                  <a:pt x="100000" y="57214"/>
                  <a:pt x="100000" y="59571"/>
                  <a:pt x="98535" y="61035"/>
                </a:cubicBezTo>
                <a:cubicBezTo>
                  <a:pt x="98535" y="61035"/>
                  <a:pt x="98535" y="61035"/>
                  <a:pt x="98535" y="61035"/>
                </a:cubicBezTo>
                <a:cubicBezTo>
                  <a:pt x="97071" y="62500"/>
                  <a:pt x="94714" y="62500"/>
                  <a:pt x="90000" y="62500"/>
                </a:cubicBezTo>
                <a:lnTo>
                  <a:pt x="10000" y="62500"/>
                </a:lnTo>
                <a:cubicBezTo>
                  <a:pt x="5286" y="62500"/>
                  <a:pt x="2929" y="62500"/>
                  <a:pt x="1465" y="61035"/>
                </a:cubicBezTo>
                <a:cubicBezTo>
                  <a:pt x="1465" y="61035"/>
                  <a:pt x="1465" y="61035"/>
                  <a:pt x="1465" y="61035"/>
                </a:cubicBezTo>
                <a:cubicBezTo>
                  <a:pt x="0" y="59571"/>
                  <a:pt x="0" y="57214"/>
                  <a:pt x="0" y="52500"/>
                </a:cubicBezTo>
                <a:lnTo>
                  <a:pt x="0" y="10000"/>
                </a:lnTo>
                <a:cubicBezTo>
                  <a:pt x="0" y="5286"/>
                  <a:pt x="0" y="2929"/>
                  <a:pt x="1465" y="1465"/>
                </a:cubicBezTo>
                <a:cubicBezTo>
                  <a:pt x="1465" y="1465"/>
                  <a:pt x="1465" y="1465"/>
                  <a:pt x="1465" y="1465"/>
                </a:cubicBezTo>
                <a:cubicBezTo>
                  <a:pt x="2929" y="0"/>
                  <a:pt x="5286" y="0"/>
                  <a:pt x="10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29" name="TextBox 16"/>
          <p:cNvSpPr txBox="1"/>
          <p:nvPr/>
        </p:nvSpPr>
        <p:spPr>
          <a:xfrm>
            <a:off x="4064000" y="1498600"/>
            <a:ext cx="2540000" cy="114300"/>
          </a:xfrm>
          <a:prstGeom prst="rect">
            <a:avLst/>
          </a:prstGeom>
        </p:spPr>
        <p:txBody>
          <a:bodyPr wrap="square" lIns="0" tIns="0" rIns="0" bIns="0">
            <a:noAutofit/>
          </a:bodyPr>
          <a:lstStyle/>
          <a:p>
            <a:r>
              <a:rPr sz="440" b="1" spc="105">
                <a:solidFill>
                  <a:srgbClr val="A2A2A8"/>
                </a:solidFill>
                <a:latin typeface="Telegraf"/>
              </a:rPr>
              <a:t>LOADING</a:t>
            </a:r>
            <a:endParaRPr sz="440" b="1" spc="105">
              <a:solidFill>
                <a:srgbClr val="A2A2A8"/>
              </a:solidFill>
              <a:latin typeface="Telegraf"/>
            </a:endParaRPr>
          </a:p>
        </p:txBody>
      </p:sp>
      <p:sp>
        <p:nvSpPr>
          <p:cNvPr id="2430" name="TextBox 17"/>
          <p:cNvSpPr txBox="1"/>
          <p:nvPr/>
        </p:nvSpPr>
        <p:spPr>
          <a:xfrm>
            <a:off x="4064000" y="1778000"/>
            <a:ext cx="2413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Fetching the queue</a:t>
            </a:r>
            <a:endParaRPr sz="620" b="1" spc="0">
              <a:solidFill>
                <a:srgbClr val="0A0A0A"/>
              </a:solidFill>
              <a:latin typeface="Telegraf"/>
            </a:endParaRPr>
          </a:p>
        </p:txBody>
      </p:sp>
      <p:sp>
        <p:nvSpPr>
          <p:cNvPr id="2431" name="TextBox 18"/>
          <p:cNvSpPr txBox="1"/>
          <p:nvPr/>
        </p:nvSpPr>
        <p:spPr>
          <a:xfrm>
            <a:off x="4064000" y="1930400"/>
            <a:ext cx="2540000" cy="127000"/>
          </a:xfrm>
          <a:prstGeom prst="rect">
            <a:avLst/>
          </a:prstGeom>
        </p:spPr>
        <p:txBody>
          <a:bodyPr wrap="square" lIns="0" tIns="0" rIns="0" bIns="0">
            <a:noAutofit/>
          </a:bodyPr>
          <a:lstStyle/>
          <a:p>
            <a:pPr>
              <a:lnSpc>
                <a:spcPct val="135000"/>
              </a:lnSpc>
            </a:pPr>
            <a:r>
              <a:rPr sz="450" spc="0">
                <a:solidFill>
                  <a:srgbClr val="67676E"/>
                </a:solidFill>
                <a:latin typeface="Telegraf"/>
              </a:rPr>
              <a:t>Skeleton rows, same 36pt rhythm as the real list.</a:t>
            </a:r>
            <a:endParaRPr sz="450" spc="0">
              <a:solidFill>
                <a:srgbClr val="67676E"/>
              </a:solidFill>
              <a:latin typeface="Telegraf"/>
            </a:endParaRPr>
          </a:p>
        </p:txBody>
      </p:sp>
      <p:sp>
        <p:nvSpPr>
          <p:cNvPr id="2432" name="Oval 19"/>
          <p:cNvSpPr/>
          <p:nvPr/>
        </p:nvSpPr>
        <p:spPr>
          <a:xfrm>
            <a:off x="4112260" y="2194560"/>
            <a:ext cx="106680" cy="106680"/>
          </a:xfrm>
          <a:prstGeom prst="ellipse">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3" name="Rectangle 20"/>
          <p:cNvSpPr/>
          <p:nvPr/>
        </p:nvSpPr>
        <p:spPr>
          <a:xfrm>
            <a:off x="4292600" y="2184400"/>
            <a:ext cx="990600" cy="63500"/>
          </a:xfrm>
          <a:custGeom>
            <a:avLst/>
            <a:gdLst/>
            <a:ahLst/>
            <a:cxnLst/>
            <a:rect l="l" t="t" r="r" b="b"/>
            <a:pathLst>
              <a:path w="100000" h="6410">
                <a:moveTo>
                  <a:pt x="96795" y="0"/>
                </a:moveTo>
                <a:cubicBezTo>
                  <a:pt x="96795" y="0"/>
                  <a:pt x="96795" y="0"/>
                  <a:pt x="96795" y="0"/>
                </a:cubicBezTo>
                <a:cubicBezTo>
                  <a:pt x="98565" y="0"/>
                  <a:pt x="100000" y="1435"/>
                  <a:pt x="100000" y="3205"/>
                </a:cubicBezTo>
                <a:cubicBezTo>
                  <a:pt x="100000" y="3205"/>
                  <a:pt x="100000" y="3205"/>
                  <a:pt x="100000" y="3205"/>
                </a:cubicBezTo>
                <a:lnTo>
                  <a:pt x="100000" y="3205"/>
                </a:lnTo>
                <a:cubicBezTo>
                  <a:pt x="100000" y="3205"/>
                  <a:pt x="100000" y="3205"/>
                  <a:pt x="100000" y="3205"/>
                </a:cubicBezTo>
                <a:cubicBezTo>
                  <a:pt x="100000" y="4976"/>
                  <a:pt x="98565" y="6410"/>
                  <a:pt x="96795" y="6410"/>
                </a:cubicBezTo>
                <a:cubicBezTo>
                  <a:pt x="96795" y="6410"/>
                  <a:pt x="96795" y="6410"/>
                  <a:pt x="96795" y="6410"/>
                </a:cubicBezTo>
                <a:lnTo>
                  <a:pt x="3205" y="6410"/>
                </a:lnTo>
                <a:cubicBezTo>
                  <a:pt x="3205" y="6410"/>
                  <a:pt x="3205" y="6410"/>
                  <a:pt x="3205" y="6410"/>
                </a:cubicBezTo>
                <a:cubicBezTo>
                  <a:pt x="1435" y="6410"/>
                  <a:pt x="0" y="4976"/>
                  <a:pt x="0" y="3205"/>
                </a:cubicBezTo>
                <a:cubicBezTo>
                  <a:pt x="0" y="3205"/>
                  <a:pt x="0" y="3205"/>
                  <a:pt x="0" y="3205"/>
                </a:cubicBezTo>
                <a:lnTo>
                  <a:pt x="0" y="3205"/>
                </a:lnTo>
                <a:cubicBezTo>
                  <a:pt x="0" y="3205"/>
                  <a:pt x="0" y="3205"/>
                  <a:pt x="0" y="3205"/>
                </a:cubicBezTo>
                <a:cubicBezTo>
                  <a:pt x="0" y="1435"/>
                  <a:pt x="1435" y="0"/>
                  <a:pt x="3205" y="0"/>
                </a:cubicBezTo>
                <a:cubicBezTo>
                  <a:pt x="3205" y="0"/>
                  <a:pt x="3205" y="0"/>
                  <a:pt x="3205"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4" name="Rectangle 21"/>
          <p:cNvSpPr/>
          <p:nvPr/>
        </p:nvSpPr>
        <p:spPr>
          <a:xfrm>
            <a:off x="5384800" y="2184400"/>
            <a:ext cx="533400" cy="63500"/>
          </a:xfrm>
          <a:custGeom>
            <a:avLst/>
            <a:gdLst/>
            <a:ahLst/>
            <a:cxnLst/>
            <a:rect l="l" t="t" r="r" b="b"/>
            <a:pathLst>
              <a:path w="100000" h="11905">
                <a:moveTo>
                  <a:pt x="94048" y="0"/>
                </a:moveTo>
                <a:cubicBezTo>
                  <a:pt x="94048" y="0"/>
                  <a:pt x="94048" y="0"/>
                  <a:pt x="94048" y="0"/>
                </a:cubicBezTo>
                <a:cubicBezTo>
                  <a:pt x="97336" y="0"/>
                  <a:pt x="100000" y="2664"/>
                  <a:pt x="100000" y="5952"/>
                </a:cubicBezTo>
                <a:cubicBezTo>
                  <a:pt x="100000" y="5952"/>
                  <a:pt x="100000" y="5952"/>
                  <a:pt x="100000" y="5952"/>
                </a:cubicBezTo>
                <a:lnTo>
                  <a:pt x="100000" y="5952"/>
                </a:lnTo>
                <a:cubicBezTo>
                  <a:pt x="100000" y="5952"/>
                  <a:pt x="100000" y="5952"/>
                  <a:pt x="100000" y="5952"/>
                </a:cubicBezTo>
                <a:cubicBezTo>
                  <a:pt x="100000" y="9240"/>
                  <a:pt x="97336" y="11905"/>
                  <a:pt x="94048" y="11905"/>
                </a:cubicBezTo>
                <a:cubicBezTo>
                  <a:pt x="94048" y="11905"/>
                  <a:pt x="94048" y="11905"/>
                  <a:pt x="94048" y="11905"/>
                </a:cubicBezTo>
                <a:lnTo>
                  <a:pt x="5952" y="11905"/>
                </a:lnTo>
                <a:cubicBezTo>
                  <a:pt x="5952" y="11905"/>
                  <a:pt x="5952" y="11905"/>
                  <a:pt x="5952" y="11905"/>
                </a:cubicBezTo>
                <a:cubicBezTo>
                  <a:pt x="2664" y="11905"/>
                  <a:pt x="0" y="9240"/>
                  <a:pt x="0" y="5952"/>
                </a:cubicBezTo>
                <a:cubicBezTo>
                  <a:pt x="0" y="5952"/>
                  <a:pt x="0" y="5952"/>
                  <a:pt x="0" y="5952"/>
                </a:cubicBezTo>
                <a:lnTo>
                  <a:pt x="0" y="5952"/>
                </a:lnTo>
                <a:cubicBezTo>
                  <a:pt x="0" y="5952"/>
                  <a:pt x="0" y="5952"/>
                  <a:pt x="0" y="5952"/>
                </a:cubicBezTo>
                <a:cubicBezTo>
                  <a:pt x="0" y="2664"/>
                  <a:pt x="2664" y="0"/>
                  <a:pt x="5952" y="0"/>
                </a:cubicBezTo>
                <a:cubicBezTo>
                  <a:pt x="5952" y="0"/>
                  <a:pt x="5952" y="0"/>
                  <a:pt x="595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5" name="Rectangle 22"/>
          <p:cNvSpPr/>
          <p:nvPr/>
        </p:nvSpPr>
        <p:spPr>
          <a:xfrm>
            <a:off x="5994400" y="2184400"/>
            <a:ext cx="660400" cy="63500"/>
          </a:xfrm>
          <a:custGeom>
            <a:avLst/>
            <a:gdLst/>
            <a:ahLst/>
            <a:cxnLst/>
            <a:rect l="l" t="t" r="r" b="b"/>
            <a:pathLst>
              <a:path w="100000" h="9615">
                <a:moveTo>
                  <a:pt x="95192" y="0"/>
                </a:moveTo>
                <a:cubicBezTo>
                  <a:pt x="95192" y="0"/>
                  <a:pt x="95192" y="0"/>
                  <a:pt x="95192" y="0"/>
                </a:cubicBezTo>
                <a:cubicBezTo>
                  <a:pt x="97848" y="0"/>
                  <a:pt x="100000" y="2152"/>
                  <a:pt x="100000" y="4808"/>
                </a:cubicBezTo>
                <a:cubicBezTo>
                  <a:pt x="100000" y="4808"/>
                  <a:pt x="100000" y="4808"/>
                  <a:pt x="100000" y="4808"/>
                </a:cubicBezTo>
                <a:lnTo>
                  <a:pt x="100000" y="4808"/>
                </a:lnTo>
                <a:cubicBezTo>
                  <a:pt x="100000" y="4808"/>
                  <a:pt x="100000" y="4808"/>
                  <a:pt x="100000" y="4808"/>
                </a:cubicBezTo>
                <a:cubicBezTo>
                  <a:pt x="100000" y="7463"/>
                  <a:pt x="97848" y="9615"/>
                  <a:pt x="95192" y="9615"/>
                </a:cubicBezTo>
                <a:cubicBezTo>
                  <a:pt x="95192" y="9615"/>
                  <a:pt x="95192" y="9615"/>
                  <a:pt x="95192" y="9615"/>
                </a:cubicBezTo>
                <a:lnTo>
                  <a:pt x="4808" y="9615"/>
                </a:lnTo>
                <a:cubicBezTo>
                  <a:pt x="4808" y="9615"/>
                  <a:pt x="4808" y="9615"/>
                  <a:pt x="4808" y="9615"/>
                </a:cubicBezTo>
                <a:cubicBezTo>
                  <a:pt x="2152" y="9615"/>
                  <a:pt x="0" y="7463"/>
                  <a:pt x="0" y="4808"/>
                </a:cubicBezTo>
                <a:cubicBezTo>
                  <a:pt x="0" y="4808"/>
                  <a:pt x="0" y="4808"/>
                  <a:pt x="0" y="4808"/>
                </a:cubicBezTo>
                <a:lnTo>
                  <a:pt x="0" y="4808"/>
                </a:lnTo>
                <a:cubicBezTo>
                  <a:pt x="0" y="4808"/>
                  <a:pt x="0" y="4808"/>
                  <a:pt x="0" y="4808"/>
                </a:cubicBezTo>
                <a:cubicBezTo>
                  <a:pt x="0" y="2152"/>
                  <a:pt x="2152" y="0"/>
                  <a:pt x="4808" y="0"/>
                </a:cubicBezTo>
                <a:cubicBezTo>
                  <a:pt x="4808" y="0"/>
                  <a:pt x="4808" y="0"/>
                  <a:pt x="4808"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6" name="Oval 23"/>
          <p:cNvSpPr/>
          <p:nvPr/>
        </p:nvSpPr>
        <p:spPr>
          <a:xfrm>
            <a:off x="4112260" y="2423160"/>
            <a:ext cx="106680" cy="106680"/>
          </a:xfrm>
          <a:prstGeom prst="ellipse">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7" name="Rectangle 24"/>
          <p:cNvSpPr/>
          <p:nvPr/>
        </p:nvSpPr>
        <p:spPr>
          <a:xfrm>
            <a:off x="4292600" y="2413000"/>
            <a:ext cx="990600" cy="63500"/>
          </a:xfrm>
          <a:custGeom>
            <a:avLst/>
            <a:gdLst/>
            <a:ahLst/>
            <a:cxnLst/>
            <a:rect l="l" t="t" r="r" b="b"/>
            <a:pathLst>
              <a:path w="100000" h="6410">
                <a:moveTo>
                  <a:pt x="96795" y="0"/>
                </a:moveTo>
                <a:cubicBezTo>
                  <a:pt x="96795" y="0"/>
                  <a:pt x="96795" y="0"/>
                  <a:pt x="96795" y="0"/>
                </a:cubicBezTo>
                <a:cubicBezTo>
                  <a:pt x="98565" y="0"/>
                  <a:pt x="100000" y="1435"/>
                  <a:pt x="100000" y="3205"/>
                </a:cubicBezTo>
                <a:cubicBezTo>
                  <a:pt x="100000" y="3205"/>
                  <a:pt x="100000" y="3205"/>
                  <a:pt x="100000" y="3205"/>
                </a:cubicBezTo>
                <a:lnTo>
                  <a:pt x="100000" y="3205"/>
                </a:lnTo>
                <a:cubicBezTo>
                  <a:pt x="100000" y="3205"/>
                  <a:pt x="100000" y="3205"/>
                  <a:pt x="100000" y="3205"/>
                </a:cubicBezTo>
                <a:cubicBezTo>
                  <a:pt x="100000" y="4976"/>
                  <a:pt x="98565" y="6410"/>
                  <a:pt x="96795" y="6410"/>
                </a:cubicBezTo>
                <a:cubicBezTo>
                  <a:pt x="96795" y="6410"/>
                  <a:pt x="96795" y="6410"/>
                  <a:pt x="96795" y="6410"/>
                </a:cubicBezTo>
                <a:lnTo>
                  <a:pt x="3205" y="6410"/>
                </a:lnTo>
                <a:cubicBezTo>
                  <a:pt x="3205" y="6410"/>
                  <a:pt x="3205" y="6410"/>
                  <a:pt x="3205" y="6410"/>
                </a:cubicBezTo>
                <a:cubicBezTo>
                  <a:pt x="1435" y="6410"/>
                  <a:pt x="0" y="4976"/>
                  <a:pt x="0" y="3205"/>
                </a:cubicBezTo>
                <a:cubicBezTo>
                  <a:pt x="0" y="3205"/>
                  <a:pt x="0" y="3205"/>
                  <a:pt x="0" y="3205"/>
                </a:cubicBezTo>
                <a:lnTo>
                  <a:pt x="0" y="3205"/>
                </a:lnTo>
                <a:cubicBezTo>
                  <a:pt x="0" y="3205"/>
                  <a:pt x="0" y="3205"/>
                  <a:pt x="0" y="3205"/>
                </a:cubicBezTo>
                <a:cubicBezTo>
                  <a:pt x="0" y="1435"/>
                  <a:pt x="1435" y="0"/>
                  <a:pt x="3205" y="0"/>
                </a:cubicBezTo>
                <a:cubicBezTo>
                  <a:pt x="3205" y="0"/>
                  <a:pt x="3205" y="0"/>
                  <a:pt x="3205"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8" name="Rectangle 25"/>
          <p:cNvSpPr/>
          <p:nvPr/>
        </p:nvSpPr>
        <p:spPr>
          <a:xfrm>
            <a:off x="5384800" y="2413000"/>
            <a:ext cx="533400" cy="63500"/>
          </a:xfrm>
          <a:custGeom>
            <a:avLst/>
            <a:gdLst/>
            <a:ahLst/>
            <a:cxnLst/>
            <a:rect l="l" t="t" r="r" b="b"/>
            <a:pathLst>
              <a:path w="100000" h="11905">
                <a:moveTo>
                  <a:pt x="94048" y="0"/>
                </a:moveTo>
                <a:cubicBezTo>
                  <a:pt x="94048" y="0"/>
                  <a:pt x="94048" y="0"/>
                  <a:pt x="94048" y="0"/>
                </a:cubicBezTo>
                <a:cubicBezTo>
                  <a:pt x="97336" y="0"/>
                  <a:pt x="100000" y="2664"/>
                  <a:pt x="100000" y="5952"/>
                </a:cubicBezTo>
                <a:cubicBezTo>
                  <a:pt x="100000" y="5952"/>
                  <a:pt x="100000" y="5952"/>
                  <a:pt x="100000" y="5952"/>
                </a:cubicBezTo>
                <a:lnTo>
                  <a:pt x="100000" y="5952"/>
                </a:lnTo>
                <a:cubicBezTo>
                  <a:pt x="100000" y="5952"/>
                  <a:pt x="100000" y="5952"/>
                  <a:pt x="100000" y="5952"/>
                </a:cubicBezTo>
                <a:cubicBezTo>
                  <a:pt x="100000" y="9240"/>
                  <a:pt x="97336" y="11905"/>
                  <a:pt x="94048" y="11905"/>
                </a:cubicBezTo>
                <a:cubicBezTo>
                  <a:pt x="94048" y="11905"/>
                  <a:pt x="94048" y="11905"/>
                  <a:pt x="94048" y="11905"/>
                </a:cubicBezTo>
                <a:lnTo>
                  <a:pt x="5952" y="11905"/>
                </a:lnTo>
                <a:cubicBezTo>
                  <a:pt x="5952" y="11905"/>
                  <a:pt x="5952" y="11905"/>
                  <a:pt x="5952" y="11905"/>
                </a:cubicBezTo>
                <a:cubicBezTo>
                  <a:pt x="2664" y="11905"/>
                  <a:pt x="0" y="9240"/>
                  <a:pt x="0" y="5952"/>
                </a:cubicBezTo>
                <a:cubicBezTo>
                  <a:pt x="0" y="5952"/>
                  <a:pt x="0" y="5952"/>
                  <a:pt x="0" y="5952"/>
                </a:cubicBezTo>
                <a:lnTo>
                  <a:pt x="0" y="5952"/>
                </a:lnTo>
                <a:cubicBezTo>
                  <a:pt x="0" y="5952"/>
                  <a:pt x="0" y="5952"/>
                  <a:pt x="0" y="5952"/>
                </a:cubicBezTo>
                <a:cubicBezTo>
                  <a:pt x="0" y="2664"/>
                  <a:pt x="2664" y="0"/>
                  <a:pt x="5952" y="0"/>
                </a:cubicBezTo>
                <a:cubicBezTo>
                  <a:pt x="5952" y="0"/>
                  <a:pt x="5952" y="0"/>
                  <a:pt x="595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39" name="Rectangle 26"/>
          <p:cNvSpPr/>
          <p:nvPr/>
        </p:nvSpPr>
        <p:spPr>
          <a:xfrm>
            <a:off x="5994400" y="2413000"/>
            <a:ext cx="660400" cy="63500"/>
          </a:xfrm>
          <a:custGeom>
            <a:avLst/>
            <a:gdLst/>
            <a:ahLst/>
            <a:cxnLst/>
            <a:rect l="l" t="t" r="r" b="b"/>
            <a:pathLst>
              <a:path w="100000" h="9615">
                <a:moveTo>
                  <a:pt x="95192" y="0"/>
                </a:moveTo>
                <a:cubicBezTo>
                  <a:pt x="95192" y="0"/>
                  <a:pt x="95192" y="0"/>
                  <a:pt x="95192" y="0"/>
                </a:cubicBezTo>
                <a:cubicBezTo>
                  <a:pt x="97848" y="0"/>
                  <a:pt x="100000" y="2152"/>
                  <a:pt x="100000" y="4808"/>
                </a:cubicBezTo>
                <a:cubicBezTo>
                  <a:pt x="100000" y="4808"/>
                  <a:pt x="100000" y="4808"/>
                  <a:pt x="100000" y="4808"/>
                </a:cubicBezTo>
                <a:lnTo>
                  <a:pt x="100000" y="4808"/>
                </a:lnTo>
                <a:cubicBezTo>
                  <a:pt x="100000" y="4808"/>
                  <a:pt x="100000" y="4808"/>
                  <a:pt x="100000" y="4808"/>
                </a:cubicBezTo>
                <a:cubicBezTo>
                  <a:pt x="100000" y="7463"/>
                  <a:pt x="97848" y="9615"/>
                  <a:pt x="95192" y="9615"/>
                </a:cubicBezTo>
                <a:cubicBezTo>
                  <a:pt x="95192" y="9615"/>
                  <a:pt x="95192" y="9615"/>
                  <a:pt x="95192" y="9615"/>
                </a:cubicBezTo>
                <a:lnTo>
                  <a:pt x="4808" y="9615"/>
                </a:lnTo>
                <a:cubicBezTo>
                  <a:pt x="4808" y="9615"/>
                  <a:pt x="4808" y="9615"/>
                  <a:pt x="4808" y="9615"/>
                </a:cubicBezTo>
                <a:cubicBezTo>
                  <a:pt x="2152" y="9615"/>
                  <a:pt x="0" y="7463"/>
                  <a:pt x="0" y="4808"/>
                </a:cubicBezTo>
                <a:cubicBezTo>
                  <a:pt x="0" y="4808"/>
                  <a:pt x="0" y="4808"/>
                  <a:pt x="0" y="4808"/>
                </a:cubicBezTo>
                <a:lnTo>
                  <a:pt x="0" y="4808"/>
                </a:lnTo>
                <a:cubicBezTo>
                  <a:pt x="0" y="4808"/>
                  <a:pt x="0" y="4808"/>
                  <a:pt x="0" y="4808"/>
                </a:cubicBezTo>
                <a:cubicBezTo>
                  <a:pt x="0" y="2152"/>
                  <a:pt x="2152" y="0"/>
                  <a:pt x="4808" y="0"/>
                </a:cubicBezTo>
                <a:cubicBezTo>
                  <a:pt x="4808" y="0"/>
                  <a:pt x="4808" y="0"/>
                  <a:pt x="4808"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0" name="Oval 27"/>
          <p:cNvSpPr/>
          <p:nvPr/>
        </p:nvSpPr>
        <p:spPr>
          <a:xfrm>
            <a:off x="4112260" y="2651760"/>
            <a:ext cx="106680" cy="106680"/>
          </a:xfrm>
          <a:prstGeom prst="ellipse">
            <a:avLst/>
          </a:pr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1" name="Rectangle 28"/>
          <p:cNvSpPr/>
          <p:nvPr/>
        </p:nvSpPr>
        <p:spPr>
          <a:xfrm>
            <a:off x="4292600" y="2641600"/>
            <a:ext cx="990600" cy="63500"/>
          </a:xfrm>
          <a:custGeom>
            <a:avLst/>
            <a:gdLst/>
            <a:ahLst/>
            <a:cxnLst/>
            <a:rect l="l" t="t" r="r" b="b"/>
            <a:pathLst>
              <a:path w="100000" h="6410">
                <a:moveTo>
                  <a:pt x="96795" y="0"/>
                </a:moveTo>
                <a:cubicBezTo>
                  <a:pt x="96795" y="0"/>
                  <a:pt x="96795" y="0"/>
                  <a:pt x="96795" y="0"/>
                </a:cubicBezTo>
                <a:cubicBezTo>
                  <a:pt x="98565" y="0"/>
                  <a:pt x="100000" y="1435"/>
                  <a:pt x="100000" y="3205"/>
                </a:cubicBezTo>
                <a:cubicBezTo>
                  <a:pt x="100000" y="3205"/>
                  <a:pt x="100000" y="3205"/>
                  <a:pt x="100000" y="3205"/>
                </a:cubicBezTo>
                <a:lnTo>
                  <a:pt x="100000" y="3205"/>
                </a:lnTo>
                <a:cubicBezTo>
                  <a:pt x="100000" y="3205"/>
                  <a:pt x="100000" y="3205"/>
                  <a:pt x="100000" y="3205"/>
                </a:cubicBezTo>
                <a:cubicBezTo>
                  <a:pt x="100000" y="4976"/>
                  <a:pt x="98565" y="6410"/>
                  <a:pt x="96795" y="6410"/>
                </a:cubicBezTo>
                <a:cubicBezTo>
                  <a:pt x="96795" y="6410"/>
                  <a:pt x="96795" y="6410"/>
                  <a:pt x="96795" y="6410"/>
                </a:cubicBezTo>
                <a:lnTo>
                  <a:pt x="3205" y="6410"/>
                </a:lnTo>
                <a:cubicBezTo>
                  <a:pt x="3205" y="6410"/>
                  <a:pt x="3205" y="6410"/>
                  <a:pt x="3205" y="6410"/>
                </a:cubicBezTo>
                <a:cubicBezTo>
                  <a:pt x="1435" y="6410"/>
                  <a:pt x="0" y="4976"/>
                  <a:pt x="0" y="3205"/>
                </a:cubicBezTo>
                <a:cubicBezTo>
                  <a:pt x="0" y="3205"/>
                  <a:pt x="0" y="3205"/>
                  <a:pt x="0" y="3205"/>
                </a:cubicBezTo>
                <a:lnTo>
                  <a:pt x="0" y="3205"/>
                </a:lnTo>
                <a:cubicBezTo>
                  <a:pt x="0" y="3205"/>
                  <a:pt x="0" y="3205"/>
                  <a:pt x="0" y="3205"/>
                </a:cubicBezTo>
                <a:cubicBezTo>
                  <a:pt x="0" y="1435"/>
                  <a:pt x="1435" y="0"/>
                  <a:pt x="3205" y="0"/>
                </a:cubicBezTo>
                <a:cubicBezTo>
                  <a:pt x="3205" y="0"/>
                  <a:pt x="3205" y="0"/>
                  <a:pt x="3205"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2" name="Rectangle 29"/>
          <p:cNvSpPr/>
          <p:nvPr/>
        </p:nvSpPr>
        <p:spPr>
          <a:xfrm>
            <a:off x="5384800" y="2641600"/>
            <a:ext cx="533400" cy="63500"/>
          </a:xfrm>
          <a:custGeom>
            <a:avLst/>
            <a:gdLst/>
            <a:ahLst/>
            <a:cxnLst/>
            <a:rect l="l" t="t" r="r" b="b"/>
            <a:pathLst>
              <a:path w="100000" h="11905">
                <a:moveTo>
                  <a:pt x="94048" y="0"/>
                </a:moveTo>
                <a:cubicBezTo>
                  <a:pt x="94048" y="0"/>
                  <a:pt x="94048" y="0"/>
                  <a:pt x="94048" y="0"/>
                </a:cubicBezTo>
                <a:cubicBezTo>
                  <a:pt x="97336" y="0"/>
                  <a:pt x="100000" y="2664"/>
                  <a:pt x="100000" y="5952"/>
                </a:cubicBezTo>
                <a:cubicBezTo>
                  <a:pt x="100000" y="5952"/>
                  <a:pt x="100000" y="5952"/>
                  <a:pt x="100000" y="5952"/>
                </a:cubicBezTo>
                <a:lnTo>
                  <a:pt x="100000" y="5952"/>
                </a:lnTo>
                <a:cubicBezTo>
                  <a:pt x="100000" y="5952"/>
                  <a:pt x="100000" y="5952"/>
                  <a:pt x="100000" y="5952"/>
                </a:cubicBezTo>
                <a:cubicBezTo>
                  <a:pt x="100000" y="9240"/>
                  <a:pt x="97336" y="11905"/>
                  <a:pt x="94048" y="11905"/>
                </a:cubicBezTo>
                <a:cubicBezTo>
                  <a:pt x="94048" y="11905"/>
                  <a:pt x="94048" y="11905"/>
                  <a:pt x="94048" y="11905"/>
                </a:cubicBezTo>
                <a:lnTo>
                  <a:pt x="5952" y="11905"/>
                </a:lnTo>
                <a:cubicBezTo>
                  <a:pt x="5952" y="11905"/>
                  <a:pt x="5952" y="11905"/>
                  <a:pt x="5952" y="11905"/>
                </a:cubicBezTo>
                <a:cubicBezTo>
                  <a:pt x="2664" y="11905"/>
                  <a:pt x="0" y="9240"/>
                  <a:pt x="0" y="5952"/>
                </a:cubicBezTo>
                <a:cubicBezTo>
                  <a:pt x="0" y="5952"/>
                  <a:pt x="0" y="5952"/>
                  <a:pt x="0" y="5952"/>
                </a:cubicBezTo>
                <a:lnTo>
                  <a:pt x="0" y="5952"/>
                </a:lnTo>
                <a:cubicBezTo>
                  <a:pt x="0" y="5952"/>
                  <a:pt x="0" y="5952"/>
                  <a:pt x="0" y="5952"/>
                </a:cubicBezTo>
                <a:cubicBezTo>
                  <a:pt x="0" y="2664"/>
                  <a:pt x="2664" y="0"/>
                  <a:pt x="5952" y="0"/>
                </a:cubicBezTo>
                <a:cubicBezTo>
                  <a:pt x="5952" y="0"/>
                  <a:pt x="5952" y="0"/>
                  <a:pt x="5952"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3" name="Rectangle 30"/>
          <p:cNvSpPr/>
          <p:nvPr/>
        </p:nvSpPr>
        <p:spPr>
          <a:xfrm>
            <a:off x="5994400" y="2641600"/>
            <a:ext cx="660400" cy="63500"/>
          </a:xfrm>
          <a:custGeom>
            <a:avLst/>
            <a:gdLst/>
            <a:ahLst/>
            <a:cxnLst/>
            <a:rect l="l" t="t" r="r" b="b"/>
            <a:pathLst>
              <a:path w="100000" h="9615">
                <a:moveTo>
                  <a:pt x="95192" y="0"/>
                </a:moveTo>
                <a:cubicBezTo>
                  <a:pt x="95192" y="0"/>
                  <a:pt x="95192" y="0"/>
                  <a:pt x="95192" y="0"/>
                </a:cubicBezTo>
                <a:cubicBezTo>
                  <a:pt x="97848" y="0"/>
                  <a:pt x="100000" y="2152"/>
                  <a:pt x="100000" y="4808"/>
                </a:cubicBezTo>
                <a:cubicBezTo>
                  <a:pt x="100000" y="4808"/>
                  <a:pt x="100000" y="4808"/>
                  <a:pt x="100000" y="4808"/>
                </a:cubicBezTo>
                <a:lnTo>
                  <a:pt x="100000" y="4808"/>
                </a:lnTo>
                <a:cubicBezTo>
                  <a:pt x="100000" y="4808"/>
                  <a:pt x="100000" y="4808"/>
                  <a:pt x="100000" y="4808"/>
                </a:cubicBezTo>
                <a:cubicBezTo>
                  <a:pt x="100000" y="7463"/>
                  <a:pt x="97848" y="9615"/>
                  <a:pt x="95192" y="9615"/>
                </a:cubicBezTo>
                <a:cubicBezTo>
                  <a:pt x="95192" y="9615"/>
                  <a:pt x="95192" y="9615"/>
                  <a:pt x="95192" y="9615"/>
                </a:cubicBezTo>
                <a:lnTo>
                  <a:pt x="4808" y="9615"/>
                </a:lnTo>
                <a:cubicBezTo>
                  <a:pt x="4808" y="9615"/>
                  <a:pt x="4808" y="9615"/>
                  <a:pt x="4808" y="9615"/>
                </a:cubicBezTo>
                <a:cubicBezTo>
                  <a:pt x="2152" y="9615"/>
                  <a:pt x="0" y="7463"/>
                  <a:pt x="0" y="4808"/>
                </a:cubicBezTo>
                <a:cubicBezTo>
                  <a:pt x="0" y="4808"/>
                  <a:pt x="0" y="4808"/>
                  <a:pt x="0" y="4808"/>
                </a:cubicBezTo>
                <a:lnTo>
                  <a:pt x="0" y="4808"/>
                </a:lnTo>
                <a:cubicBezTo>
                  <a:pt x="0" y="4808"/>
                  <a:pt x="0" y="4808"/>
                  <a:pt x="0" y="4808"/>
                </a:cubicBezTo>
                <a:cubicBezTo>
                  <a:pt x="0" y="2152"/>
                  <a:pt x="2152" y="0"/>
                  <a:pt x="4808" y="0"/>
                </a:cubicBezTo>
                <a:cubicBezTo>
                  <a:pt x="4808" y="0"/>
                  <a:pt x="4808" y="0"/>
                  <a:pt x="4808" y="0"/>
                </a:cubicBezTo>
                <a:close/>
              </a:path>
            </a:pathLst>
          </a:custGeom>
          <a:solidFill>
            <a:srgbClr val="EFEFE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4" name="TextBox 31"/>
          <p:cNvSpPr txBox="1"/>
          <p:nvPr/>
        </p:nvSpPr>
        <p:spPr>
          <a:xfrm>
            <a:off x="4064000" y="2946400"/>
            <a:ext cx="2667000" cy="127000"/>
          </a:xfrm>
          <a:prstGeom prst="rect">
            <a:avLst/>
          </a:prstGeom>
        </p:spPr>
        <p:txBody>
          <a:bodyPr wrap="square" lIns="0" tIns="0" rIns="0" bIns="0">
            <a:noAutofit/>
          </a:bodyPr>
          <a:lstStyle/>
          <a:p>
            <a:pPr>
              <a:lnSpc>
                <a:spcPct val="135000"/>
              </a:lnSpc>
            </a:pPr>
            <a:r>
              <a:rPr sz="430" spc="0">
                <a:solidFill>
                  <a:srgbClr val="A2A2A8"/>
                </a:solidFill>
                <a:latin typeface="Telegraf"/>
              </a:rPr>
              <a:t>No spinner over content that already exists.</a:t>
            </a:r>
            <a:endParaRPr sz="430" spc="0">
              <a:solidFill>
                <a:srgbClr val="A2A2A8"/>
              </a:solidFill>
              <a:latin typeface="Telegraf"/>
            </a:endParaRPr>
          </a:p>
        </p:txBody>
      </p:sp>
      <p:sp>
        <p:nvSpPr>
          <p:cNvPr id="2445" name="Rectangle 32"/>
          <p:cNvSpPr/>
          <p:nvPr/>
        </p:nvSpPr>
        <p:spPr>
          <a:xfrm>
            <a:off x="7061200" y="1371600"/>
            <a:ext cx="3048000" cy="1905000"/>
          </a:xfrm>
          <a:custGeom>
            <a:avLst/>
            <a:gdLst/>
            <a:ahLst/>
            <a:cxnLst/>
            <a:rect l="l" t="t" r="r" b="b"/>
            <a:pathLst>
              <a:path w="100000" h="62500">
                <a:moveTo>
                  <a:pt x="90000" y="0"/>
                </a:moveTo>
                <a:cubicBezTo>
                  <a:pt x="94714" y="0"/>
                  <a:pt x="97071" y="0"/>
                  <a:pt x="98535" y="1465"/>
                </a:cubicBezTo>
                <a:cubicBezTo>
                  <a:pt x="98535" y="1465"/>
                  <a:pt x="98535" y="1465"/>
                  <a:pt x="98535" y="1465"/>
                </a:cubicBezTo>
                <a:cubicBezTo>
                  <a:pt x="100000" y="2929"/>
                  <a:pt x="100000" y="5286"/>
                  <a:pt x="100000" y="10000"/>
                </a:cubicBezTo>
                <a:lnTo>
                  <a:pt x="100000" y="52500"/>
                </a:lnTo>
                <a:cubicBezTo>
                  <a:pt x="100000" y="57214"/>
                  <a:pt x="100000" y="59571"/>
                  <a:pt x="98535" y="61035"/>
                </a:cubicBezTo>
                <a:cubicBezTo>
                  <a:pt x="98535" y="61035"/>
                  <a:pt x="98535" y="61035"/>
                  <a:pt x="98535" y="61035"/>
                </a:cubicBezTo>
                <a:cubicBezTo>
                  <a:pt x="97071" y="62500"/>
                  <a:pt x="94714" y="62500"/>
                  <a:pt x="90000" y="62500"/>
                </a:cubicBezTo>
                <a:lnTo>
                  <a:pt x="10000" y="62500"/>
                </a:lnTo>
                <a:cubicBezTo>
                  <a:pt x="5286" y="62500"/>
                  <a:pt x="2929" y="62500"/>
                  <a:pt x="1465" y="61035"/>
                </a:cubicBezTo>
                <a:cubicBezTo>
                  <a:pt x="1465" y="61035"/>
                  <a:pt x="1465" y="61035"/>
                  <a:pt x="1465" y="61035"/>
                </a:cubicBezTo>
                <a:cubicBezTo>
                  <a:pt x="0" y="59571"/>
                  <a:pt x="0" y="57214"/>
                  <a:pt x="0" y="52500"/>
                </a:cubicBezTo>
                <a:lnTo>
                  <a:pt x="0" y="10000"/>
                </a:lnTo>
                <a:cubicBezTo>
                  <a:pt x="0" y="5286"/>
                  <a:pt x="0" y="2929"/>
                  <a:pt x="1465" y="1465"/>
                </a:cubicBezTo>
                <a:cubicBezTo>
                  <a:pt x="1465" y="1465"/>
                  <a:pt x="1465" y="1465"/>
                  <a:pt x="1465" y="1465"/>
                </a:cubicBezTo>
                <a:cubicBezTo>
                  <a:pt x="2929" y="0"/>
                  <a:pt x="5286" y="0"/>
                  <a:pt x="10000"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6" name="TextBox 33"/>
          <p:cNvSpPr txBox="1"/>
          <p:nvPr/>
        </p:nvSpPr>
        <p:spPr>
          <a:xfrm>
            <a:off x="7239000" y="1498600"/>
            <a:ext cx="2540000" cy="114300"/>
          </a:xfrm>
          <a:prstGeom prst="rect">
            <a:avLst/>
          </a:prstGeom>
        </p:spPr>
        <p:txBody>
          <a:bodyPr wrap="square" lIns="0" tIns="0" rIns="0" bIns="0">
            <a:noAutofit/>
          </a:bodyPr>
          <a:lstStyle/>
          <a:p>
            <a:r>
              <a:rPr sz="440" b="1" spc="105">
                <a:solidFill>
                  <a:srgbClr val="99201C"/>
                </a:solidFill>
                <a:latin typeface="Telegraf"/>
              </a:rPr>
              <a:t>FAILED  ·  R7</a:t>
            </a:r>
            <a:endParaRPr sz="440" b="1" spc="105">
              <a:solidFill>
                <a:srgbClr val="99201C"/>
              </a:solidFill>
              <a:latin typeface="Telegraf"/>
            </a:endParaRPr>
          </a:p>
        </p:txBody>
      </p:sp>
      <p:sp>
        <p:nvSpPr>
          <p:cNvPr id="2447" name="Rectangle 34"/>
          <p:cNvSpPr/>
          <p:nvPr/>
        </p:nvSpPr>
        <p:spPr>
          <a:xfrm>
            <a:off x="7239000" y="1752600"/>
            <a:ext cx="397637" cy="146050"/>
          </a:xfrm>
          <a:custGeom>
            <a:avLst/>
            <a:gdLst/>
            <a:ahLst/>
            <a:cxnLst/>
            <a:rect l="l" t="t" r="r" b="b"/>
            <a:pathLst>
              <a:path w="100000" h="36729">
                <a:moveTo>
                  <a:pt x="81635" y="0"/>
                </a:moveTo>
                <a:cubicBezTo>
                  <a:pt x="81635" y="0"/>
                  <a:pt x="81635" y="0"/>
                  <a:pt x="81635" y="0"/>
                </a:cubicBezTo>
                <a:cubicBezTo>
                  <a:pt x="91779" y="0"/>
                  <a:pt x="100000" y="8221"/>
                  <a:pt x="100000" y="18365"/>
                </a:cubicBezTo>
                <a:cubicBezTo>
                  <a:pt x="100000" y="18365"/>
                  <a:pt x="100000" y="18365"/>
                  <a:pt x="100000" y="18365"/>
                </a:cubicBezTo>
                <a:lnTo>
                  <a:pt x="100000" y="18365"/>
                </a:lnTo>
                <a:cubicBezTo>
                  <a:pt x="100000" y="18365"/>
                  <a:pt x="100000" y="18365"/>
                  <a:pt x="100000" y="18365"/>
                </a:cubicBezTo>
                <a:cubicBezTo>
                  <a:pt x="100000" y="28508"/>
                  <a:pt x="91779" y="36729"/>
                  <a:pt x="81635" y="36729"/>
                </a:cubicBezTo>
                <a:cubicBezTo>
                  <a:pt x="81635" y="36729"/>
                  <a:pt x="81635" y="36729"/>
                  <a:pt x="81635" y="36729"/>
                </a:cubicBezTo>
                <a:lnTo>
                  <a:pt x="18365" y="36729"/>
                </a:lnTo>
                <a:cubicBezTo>
                  <a:pt x="18365" y="36729"/>
                  <a:pt x="18365" y="36729"/>
                  <a:pt x="18365" y="36729"/>
                </a:cubicBezTo>
                <a:cubicBezTo>
                  <a:pt x="8221" y="36729"/>
                  <a:pt x="0" y="28508"/>
                  <a:pt x="0" y="18365"/>
                </a:cubicBezTo>
                <a:cubicBezTo>
                  <a:pt x="0" y="18365"/>
                  <a:pt x="0" y="18365"/>
                  <a:pt x="0" y="18365"/>
                </a:cubicBezTo>
                <a:lnTo>
                  <a:pt x="0" y="18365"/>
                </a:lnTo>
                <a:cubicBezTo>
                  <a:pt x="0" y="18365"/>
                  <a:pt x="0" y="18365"/>
                  <a:pt x="0" y="18365"/>
                </a:cubicBezTo>
                <a:cubicBezTo>
                  <a:pt x="0" y="8221"/>
                  <a:pt x="8221" y="0"/>
                  <a:pt x="18365" y="0"/>
                </a:cubicBezTo>
                <a:cubicBezTo>
                  <a:pt x="18365" y="0"/>
                  <a:pt x="18365" y="0"/>
                  <a:pt x="18365"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8" name="Oval 35"/>
          <p:cNvSpPr/>
          <p:nvPr/>
        </p:nvSpPr>
        <p:spPr>
          <a:xfrm>
            <a:off x="7291070" y="180403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49" name="TextBox 36"/>
          <p:cNvSpPr txBox="1"/>
          <p:nvPr/>
        </p:nvSpPr>
        <p:spPr>
          <a:xfrm>
            <a:off x="7368540" y="1752600"/>
            <a:ext cx="245237" cy="146050"/>
          </a:xfrm>
          <a:prstGeom prst="rect">
            <a:avLst/>
          </a:prstGeom>
        </p:spPr>
        <p:txBody>
          <a:bodyPr wrap="square" lIns="0" tIns="0" rIns="0" bIns="0" anchor="ctr">
            <a:noAutofit/>
          </a:bodyPr>
          <a:lstStyle/>
          <a:p>
            <a:pPr>
              <a:lnSpc>
                <a:spcPct val="135000"/>
              </a:lnSpc>
            </a:pPr>
            <a:r>
              <a:rPr sz="440" b="1" spc="0">
                <a:solidFill>
                  <a:srgbClr val="99201C"/>
                </a:solidFill>
                <a:latin typeface="Telegraf"/>
              </a:rPr>
              <a:t>failed</a:t>
            </a:r>
            <a:endParaRPr sz="440" b="1" spc="0">
              <a:solidFill>
                <a:srgbClr val="99201C"/>
              </a:solidFill>
              <a:latin typeface="Telegraf"/>
            </a:endParaRPr>
          </a:p>
        </p:txBody>
      </p:sp>
      <p:sp>
        <p:nvSpPr>
          <p:cNvPr id="2450" name="TextBox 37"/>
          <p:cNvSpPr txBox="1"/>
          <p:nvPr/>
        </p:nvSpPr>
        <p:spPr>
          <a:xfrm>
            <a:off x="7239000" y="1981200"/>
            <a:ext cx="2413000" cy="152400"/>
          </a:xfrm>
          <a:prstGeom prst="rect">
            <a:avLst/>
          </a:prstGeom>
        </p:spPr>
        <p:txBody>
          <a:bodyPr wrap="square" lIns="0" tIns="0" rIns="0" bIns="0">
            <a:noAutofit/>
          </a:bodyPr>
          <a:lstStyle/>
          <a:p>
            <a:pPr>
              <a:lnSpc>
                <a:spcPct val="135000"/>
              </a:lnSpc>
            </a:pPr>
            <a:r>
              <a:rPr sz="620" b="1" spc="0">
                <a:solidFill>
                  <a:srgbClr val="0A0A0A"/>
                </a:solidFill>
                <a:latin typeface="Telegraf"/>
              </a:rPr>
              <a:t>Classifier unavailable</a:t>
            </a:r>
            <a:endParaRPr sz="620" b="1" spc="0">
              <a:solidFill>
                <a:srgbClr val="0A0A0A"/>
              </a:solidFill>
              <a:latin typeface="Telegraf"/>
            </a:endParaRPr>
          </a:p>
        </p:txBody>
      </p:sp>
      <p:sp>
        <p:nvSpPr>
          <p:cNvPr id="2451" name="TextBox 38"/>
          <p:cNvSpPr txBox="1"/>
          <p:nvPr/>
        </p:nvSpPr>
        <p:spPr>
          <a:xfrm>
            <a:off x="7239000" y="2133600"/>
            <a:ext cx="2540000" cy="330200"/>
          </a:xfrm>
          <a:prstGeom prst="rect">
            <a:avLst/>
          </a:prstGeom>
        </p:spPr>
        <p:txBody>
          <a:bodyPr wrap="square" lIns="0" tIns="0" rIns="0" bIns="0">
            <a:noAutofit/>
          </a:bodyPr>
          <a:lstStyle/>
          <a:p>
            <a:pPr>
              <a:lnSpc>
                <a:spcPct val="140000"/>
              </a:lnSpc>
            </a:pPr>
            <a:r>
              <a:rPr sz="450" spc="0">
                <a:solidFill>
                  <a:srgbClr val="67676E"/>
                </a:solidFill>
                <a:latin typeface="Telegraf"/>
              </a:rPr>
              <a:t>Nothing was sent. The ticket is failed.</a:t>
            </a:r>
            <a:endParaRPr sz="450" spc="0">
              <a:solidFill>
                <a:srgbClr val="67676E"/>
              </a:solidFill>
              <a:latin typeface="Telegraf"/>
            </a:endParaRPr>
          </a:p>
        </p:txBody>
      </p:sp>
      <p:sp>
        <p:nvSpPr>
          <p:cNvPr id="2452" name="Rectangle 39"/>
          <p:cNvSpPr/>
          <p:nvPr/>
        </p:nvSpPr>
        <p:spPr>
          <a:xfrm>
            <a:off x="7239000" y="2489200"/>
            <a:ext cx="2692400" cy="330200"/>
          </a:xfrm>
          <a:custGeom>
            <a:avLst/>
            <a:gdLst/>
            <a:ahLst/>
            <a:cxnLst/>
            <a:rect l="l" t="t" r="r" b="b"/>
            <a:pathLst>
              <a:path w="100000" h="12264">
                <a:moveTo>
                  <a:pt x="93868" y="0"/>
                </a:moveTo>
                <a:cubicBezTo>
                  <a:pt x="96070" y="0"/>
                  <a:pt x="97172" y="0"/>
                  <a:pt x="98005" y="446"/>
                </a:cubicBezTo>
                <a:cubicBezTo>
                  <a:pt x="98664" y="797"/>
                  <a:pt x="99203" y="1336"/>
                  <a:pt x="99554" y="1995"/>
                </a:cubicBezTo>
                <a:cubicBezTo>
                  <a:pt x="100000" y="2828"/>
                  <a:pt x="100000" y="3930"/>
                  <a:pt x="100000" y="6132"/>
                </a:cubicBezTo>
                <a:lnTo>
                  <a:pt x="100000" y="6132"/>
                </a:lnTo>
                <a:cubicBezTo>
                  <a:pt x="100000" y="8334"/>
                  <a:pt x="100000" y="9436"/>
                  <a:pt x="99554" y="10269"/>
                </a:cubicBezTo>
                <a:cubicBezTo>
                  <a:pt x="99203" y="10928"/>
                  <a:pt x="98664" y="11467"/>
                  <a:pt x="98005" y="11818"/>
                </a:cubicBezTo>
                <a:cubicBezTo>
                  <a:pt x="97172" y="12264"/>
                  <a:pt x="96070" y="12264"/>
                  <a:pt x="93868" y="12264"/>
                </a:cubicBezTo>
                <a:lnTo>
                  <a:pt x="6132" y="12264"/>
                </a:lnTo>
                <a:cubicBezTo>
                  <a:pt x="3930" y="12264"/>
                  <a:pt x="2828" y="12264"/>
                  <a:pt x="1995" y="11818"/>
                </a:cubicBezTo>
                <a:cubicBezTo>
                  <a:pt x="1336" y="11467"/>
                  <a:pt x="797" y="10928"/>
                  <a:pt x="446" y="10269"/>
                </a:cubicBezTo>
                <a:cubicBezTo>
                  <a:pt x="0" y="9436"/>
                  <a:pt x="0" y="8334"/>
                  <a:pt x="0" y="6132"/>
                </a:cubicBezTo>
                <a:lnTo>
                  <a:pt x="0" y="6132"/>
                </a:lnTo>
                <a:cubicBezTo>
                  <a:pt x="0" y="3930"/>
                  <a:pt x="0" y="2828"/>
                  <a:pt x="446" y="1995"/>
                </a:cubicBezTo>
                <a:cubicBezTo>
                  <a:pt x="797" y="1336"/>
                  <a:pt x="1336" y="797"/>
                  <a:pt x="1995" y="446"/>
                </a:cubicBezTo>
                <a:cubicBezTo>
                  <a:pt x="2828" y="0"/>
                  <a:pt x="3930" y="0"/>
                  <a:pt x="6132"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53" name="TextBox 40"/>
          <p:cNvSpPr txBox="1"/>
          <p:nvPr/>
        </p:nvSpPr>
        <p:spPr>
          <a:xfrm>
            <a:off x="7366000" y="2489200"/>
            <a:ext cx="2438400" cy="330200"/>
          </a:xfrm>
          <a:prstGeom prst="rect">
            <a:avLst/>
          </a:prstGeom>
        </p:spPr>
        <p:txBody>
          <a:bodyPr wrap="square" lIns="0" tIns="0" rIns="0" bIns="0" anchor="ctr">
            <a:noAutofit/>
          </a:bodyPr>
          <a:lstStyle/>
          <a:p>
            <a:pPr>
              <a:lnSpc>
                <a:spcPct val="135000"/>
              </a:lnSpc>
            </a:pPr>
            <a:r>
              <a:rPr sz="420" spc="0">
                <a:solidFill>
                  <a:srgbClr val="99201C"/>
                </a:solidFill>
                <a:latin typeface="Telegraf"/>
              </a:rPr>
              <a:t>ruleHit R7  ·  shouldAutoSend false</a:t>
            </a:r>
            <a:endParaRPr sz="420" spc="0">
              <a:solidFill>
                <a:srgbClr val="99201C"/>
              </a:solidFill>
              <a:latin typeface="Telegraf"/>
            </a:endParaRPr>
          </a:p>
        </p:txBody>
      </p:sp>
      <p:sp>
        <p:nvSpPr>
          <p:cNvPr id="2454" name="Rectangle 41"/>
          <p:cNvSpPr/>
          <p:nvPr/>
        </p:nvSpPr>
        <p:spPr>
          <a:xfrm>
            <a:off x="7239000" y="2895600"/>
            <a:ext cx="787400" cy="228600"/>
          </a:xfrm>
          <a:custGeom>
            <a:avLst/>
            <a:gdLst/>
            <a:ahLst/>
            <a:cxnLst/>
            <a:rect l="l" t="t" r="r" b="b"/>
            <a:pathLst>
              <a:path w="100000" h="29032">
                <a:moveTo>
                  <a:pt x="85484" y="0"/>
                </a:moveTo>
                <a:cubicBezTo>
                  <a:pt x="85484" y="0"/>
                  <a:pt x="85484" y="0"/>
                  <a:pt x="85484" y="0"/>
                </a:cubicBezTo>
                <a:cubicBezTo>
                  <a:pt x="93502" y="0"/>
                  <a:pt x="100000" y="6498"/>
                  <a:pt x="100000" y="14516"/>
                </a:cubicBezTo>
                <a:cubicBezTo>
                  <a:pt x="100000" y="14516"/>
                  <a:pt x="100000" y="14516"/>
                  <a:pt x="100000" y="14516"/>
                </a:cubicBezTo>
                <a:lnTo>
                  <a:pt x="100000" y="14516"/>
                </a:lnTo>
                <a:cubicBezTo>
                  <a:pt x="100000" y="14516"/>
                  <a:pt x="100000" y="14516"/>
                  <a:pt x="100000" y="14516"/>
                </a:cubicBezTo>
                <a:cubicBezTo>
                  <a:pt x="100000" y="22534"/>
                  <a:pt x="93502" y="29032"/>
                  <a:pt x="85484" y="29032"/>
                </a:cubicBezTo>
                <a:cubicBezTo>
                  <a:pt x="85484" y="29032"/>
                  <a:pt x="85484" y="29032"/>
                  <a:pt x="85484" y="29032"/>
                </a:cubicBezTo>
                <a:lnTo>
                  <a:pt x="14516" y="29032"/>
                </a:lnTo>
                <a:cubicBezTo>
                  <a:pt x="14516" y="29032"/>
                  <a:pt x="14516" y="29032"/>
                  <a:pt x="14516" y="29032"/>
                </a:cubicBezTo>
                <a:cubicBezTo>
                  <a:pt x="6498" y="29032"/>
                  <a:pt x="0" y="22534"/>
                  <a:pt x="0" y="14516"/>
                </a:cubicBezTo>
                <a:cubicBezTo>
                  <a:pt x="0" y="14516"/>
                  <a:pt x="0" y="14516"/>
                  <a:pt x="0" y="14516"/>
                </a:cubicBezTo>
                <a:lnTo>
                  <a:pt x="0" y="14516"/>
                </a:lnTo>
                <a:cubicBezTo>
                  <a:pt x="0" y="14516"/>
                  <a:pt x="0" y="14516"/>
                  <a:pt x="0" y="14516"/>
                </a:cubicBezTo>
                <a:cubicBezTo>
                  <a:pt x="0" y="6498"/>
                  <a:pt x="6498" y="0"/>
                  <a:pt x="14516" y="0"/>
                </a:cubicBezTo>
                <a:cubicBezTo>
                  <a:pt x="14516" y="0"/>
                  <a:pt x="14516" y="0"/>
                  <a:pt x="14516" y="0"/>
                </a:cubicBezTo>
                <a:close/>
              </a:path>
            </a:pathLst>
          </a:custGeom>
          <a:solidFill>
            <a:srgbClr val="FFFFFF"/>
          </a:solidFill>
          <a:ln w="11430">
            <a:solidFill>
              <a:srgbClr val="FBEAE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55" name="TextBox 42"/>
          <p:cNvSpPr txBox="1"/>
          <p:nvPr/>
        </p:nvSpPr>
        <p:spPr>
          <a:xfrm>
            <a:off x="7315200" y="2895600"/>
            <a:ext cx="660400" cy="228600"/>
          </a:xfrm>
          <a:prstGeom prst="rect">
            <a:avLst/>
          </a:prstGeom>
        </p:spPr>
        <p:txBody>
          <a:bodyPr wrap="square" lIns="0" tIns="0" rIns="0" bIns="0" anchor="ctr">
            <a:noAutofit/>
          </a:bodyPr>
          <a:lstStyle/>
          <a:p>
            <a:pPr>
              <a:lnSpc>
                <a:spcPct val="135000"/>
              </a:lnSpc>
            </a:pPr>
            <a:r>
              <a:rPr sz="440" b="1" spc="10">
                <a:solidFill>
                  <a:srgbClr val="99201C"/>
                </a:solidFill>
                <a:latin typeface="Telegraf"/>
              </a:rPr>
              <a:t>Retry</a:t>
            </a:r>
            <a:endParaRPr sz="440" b="1" spc="10">
              <a:solidFill>
                <a:srgbClr val="99201C"/>
              </a:solidFill>
              <a:latin typeface="Telegraf"/>
            </a:endParaRPr>
          </a:p>
        </p:txBody>
      </p:sp>
      <p:sp>
        <p:nvSpPr>
          <p:cNvPr id="2456" name="Rectangle 43"/>
          <p:cNvSpPr/>
          <p:nvPr/>
        </p:nvSpPr>
        <p:spPr>
          <a:xfrm>
            <a:off x="711200" y="3479800"/>
            <a:ext cx="4318000" cy="1930400"/>
          </a:xfrm>
          <a:custGeom>
            <a:avLst/>
            <a:gdLst/>
            <a:ahLst/>
            <a:cxnLst/>
            <a:rect l="l" t="t" r="r" b="b"/>
            <a:pathLst>
              <a:path w="100000" h="44706">
                <a:moveTo>
                  <a:pt x="92941" y="0"/>
                </a:moveTo>
                <a:cubicBezTo>
                  <a:pt x="96269" y="0"/>
                  <a:pt x="97933" y="0"/>
                  <a:pt x="98966" y="1034"/>
                </a:cubicBezTo>
                <a:cubicBezTo>
                  <a:pt x="98966" y="1034"/>
                  <a:pt x="98966" y="1034"/>
                  <a:pt x="98966" y="1034"/>
                </a:cubicBezTo>
                <a:cubicBezTo>
                  <a:pt x="100000" y="2067"/>
                  <a:pt x="100000" y="3731"/>
                  <a:pt x="100000" y="7059"/>
                </a:cubicBezTo>
                <a:lnTo>
                  <a:pt x="100000" y="37647"/>
                </a:lnTo>
                <a:cubicBezTo>
                  <a:pt x="100000" y="40975"/>
                  <a:pt x="100000" y="42639"/>
                  <a:pt x="98966" y="43672"/>
                </a:cubicBezTo>
                <a:cubicBezTo>
                  <a:pt x="98966" y="43672"/>
                  <a:pt x="98966" y="43672"/>
                  <a:pt x="98966" y="43672"/>
                </a:cubicBezTo>
                <a:cubicBezTo>
                  <a:pt x="97933" y="44706"/>
                  <a:pt x="96269" y="44706"/>
                  <a:pt x="92941" y="44706"/>
                </a:cubicBezTo>
                <a:lnTo>
                  <a:pt x="7059" y="44706"/>
                </a:lnTo>
                <a:cubicBezTo>
                  <a:pt x="3731" y="44706"/>
                  <a:pt x="2067" y="44706"/>
                  <a:pt x="1034" y="43672"/>
                </a:cubicBezTo>
                <a:cubicBezTo>
                  <a:pt x="1034" y="43672"/>
                  <a:pt x="1034" y="43672"/>
                  <a:pt x="1034" y="43672"/>
                </a:cubicBezTo>
                <a:cubicBezTo>
                  <a:pt x="0" y="42639"/>
                  <a:pt x="0" y="40975"/>
                  <a:pt x="0" y="37647"/>
                </a:cubicBezTo>
                <a:lnTo>
                  <a:pt x="0" y="7059"/>
                </a:lnTo>
                <a:cubicBezTo>
                  <a:pt x="0" y="3731"/>
                  <a:pt x="0" y="2067"/>
                  <a:pt x="1034" y="1034"/>
                </a:cubicBezTo>
                <a:cubicBezTo>
                  <a:pt x="1034" y="1034"/>
                  <a:pt x="1034" y="1034"/>
                  <a:pt x="1034" y="1034"/>
                </a:cubicBezTo>
                <a:cubicBezTo>
                  <a:pt x="2067" y="0"/>
                  <a:pt x="3731" y="0"/>
                  <a:pt x="7059"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57" name="TextBox 44"/>
          <p:cNvSpPr txBox="1"/>
          <p:nvPr/>
        </p:nvSpPr>
        <p:spPr>
          <a:xfrm>
            <a:off x="914400" y="3606800"/>
            <a:ext cx="2540000" cy="114300"/>
          </a:xfrm>
          <a:prstGeom prst="rect">
            <a:avLst/>
          </a:prstGeom>
        </p:spPr>
        <p:txBody>
          <a:bodyPr wrap="square" lIns="0" tIns="0" rIns="0" bIns="0">
            <a:noAutofit/>
          </a:bodyPr>
          <a:lstStyle/>
          <a:p>
            <a:r>
              <a:rPr sz="440" b="1" spc="105">
                <a:solidFill>
                  <a:srgbClr val="A2A2A8"/>
                </a:solidFill>
                <a:latin typeface="Telegraf"/>
              </a:rPr>
              <a:t>CONTROLS</a:t>
            </a:r>
            <a:endParaRPr sz="440" b="1" spc="105">
              <a:solidFill>
                <a:srgbClr val="A2A2A8"/>
              </a:solidFill>
              <a:latin typeface="Telegraf"/>
            </a:endParaRPr>
          </a:p>
        </p:txBody>
      </p:sp>
      <p:sp>
        <p:nvSpPr>
          <p:cNvPr id="2458" name="TextBox 45"/>
          <p:cNvSpPr txBox="1"/>
          <p:nvPr/>
        </p:nvSpPr>
        <p:spPr>
          <a:xfrm>
            <a:off x="914400" y="3771900"/>
            <a:ext cx="1524000" cy="101600"/>
          </a:xfrm>
          <a:prstGeom prst="rect">
            <a:avLst/>
          </a:prstGeom>
        </p:spPr>
        <p:txBody>
          <a:bodyPr wrap="square" lIns="0" tIns="0" rIns="0" bIns="0">
            <a:noAutofit/>
          </a:bodyPr>
          <a:lstStyle/>
          <a:p>
            <a:r>
              <a:rPr sz="490" b="1" spc="100">
                <a:solidFill>
                  <a:srgbClr val="A2A2A8"/>
                </a:solidFill>
                <a:latin typeface="Telegraf"/>
              </a:rPr>
              <a:t>REST</a:t>
            </a:r>
            <a:endParaRPr sz="490" b="1" spc="100">
              <a:solidFill>
                <a:srgbClr val="A2A2A8"/>
              </a:solidFill>
              <a:latin typeface="Telegraf"/>
            </a:endParaRPr>
          </a:p>
        </p:txBody>
      </p:sp>
      <p:sp>
        <p:nvSpPr>
          <p:cNvPr id="2459" name="Rectangle 46"/>
          <p:cNvSpPr/>
          <p:nvPr/>
        </p:nvSpPr>
        <p:spPr>
          <a:xfrm>
            <a:off x="914400" y="3886200"/>
            <a:ext cx="1524000" cy="279400"/>
          </a:xfrm>
          <a:custGeom>
            <a:avLst/>
            <a:gdLst/>
            <a:ahLst/>
            <a:cxnLst/>
            <a:rect l="l" t="t" r="r" b="b"/>
            <a:pathLst>
              <a:path w="100000" h="18333">
                <a:moveTo>
                  <a:pt x="90833" y="0"/>
                </a:moveTo>
                <a:cubicBezTo>
                  <a:pt x="93943" y="0"/>
                  <a:pt x="95498" y="0"/>
                  <a:pt x="96698" y="578"/>
                </a:cubicBezTo>
                <a:cubicBezTo>
                  <a:pt x="97888" y="1151"/>
                  <a:pt x="98849" y="2112"/>
                  <a:pt x="99423" y="3303"/>
                </a:cubicBezTo>
                <a:cubicBezTo>
                  <a:pt x="100000" y="4502"/>
                  <a:pt x="100000" y="6057"/>
                  <a:pt x="100000" y="9167"/>
                </a:cubicBezTo>
                <a:lnTo>
                  <a:pt x="100000" y="9167"/>
                </a:lnTo>
                <a:cubicBezTo>
                  <a:pt x="100000" y="12277"/>
                  <a:pt x="100000" y="13832"/>
                  <a:pt x="99423" y="15031"/>
                </a:cubicBezTo>
                <a:cubicBezTo>
                  <a:pt x="98849" y="16222"/>
                  <a:pt x="97888" y="17183"/>
                  <a:pt x="96698" y="17756"/>
                </a:cubicBezTo>
                <a:cubicBezTo>
                  <a:pt x="95498" y="18333"/>
                  <a:pt x="93943" y="18333"/>
                  <a:pt x="90833" y="18333"/>
                </a:cubicBezTo>
                <a:lnTo>
                  <a:pt x="9167" y="18333"/>
                </a:lnTo>
                <a:cubicBezTo>
                  <a:pt x="6057" y="18333"/>
                  <a:pt x="4502" y="18333"/>
                  <a:pt x="3303" y="17756"/>
                </a:cubicBezTo>
                <a:cubicBezTo>
                  <a:pt x="2112" y="17183"/>
                  <a:pt x="1151" y="16222"/>
                  <a:pt x="578" y="15031"/>
                </a:cubicBezTo>
                <a:cubicBezTo>
                  <a:pt x="0" y="13832"/>
                  <a:pt x="0" y="12277"/>
                  <a:pt x="0" y="9167"/>
                </a:cubicBezTo>
                <a:lnTo>
                  <a:pt x="0" y="9167"/>
                </a:lnTo>
                <a:cubicBezTo>
                  <a:pt x="0" y="6057"/>
                  <a:pt x="0" y="4502"/>
                  <a:pt x="578" y="3303"/>
                </a:cubicBezTo>
                <a:cubicBezTo>
                  <a:pt x="1151" y="2112"/>
                  <a:pt x="2112" y="1151"/>
                  <a:pt x="3303" y="578"/>
                </a:cubicBezTo>
                <a:cubicBezTo>
                  <a:pt x="4502" y="0"/>
                  <a:pt x="6057" y="0"/>
                  <a:pt x="9167"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60" name="TextBox 47"/>
          <p:cNvSpPr txBox="1"/>
          <p:nvPr/>
        </p:nvSpPr>
        <p:spPr>
          <a:xfrm>
            <a:off x="1016000" y="3886200"/>
            <a:ext cx="1346200" cy="279400"/>
          </a:xfrm>
          <a:prstGeom prst="rect">
            <a:avLst/>
          </a:prstGeom>
        </p:spPr>
        <p:txBody>
          <a:bodyPr wrap="square" lIns="0" tIns="0" rIns="0" bIns="0" anchor="ctr">
            <a:noAutofit/>
          </a:bodyPr>
          <a:lstStyle/>
          <a:p>
            <a:pPr>
              <a:lnSpc>
                <a:spcPct val="140000"/>
              </a:lnSpc>
            </a:pPr>
            <a:r>
              <a:rPr sz="500" spc="0">
                <a:solidFill>
                  <a:srgbClr val="0A0A0A"/>
                </a:solidFill>
                <a:latin typeface="Telegraf"/>
              </a:rPr>
              <a:t>CloudPulse CRM</a:t>
            </a:r>
            <a:endParaRPr sz="500" spc="0">
              <a:solidFill>
                <a:srgbClr val="0A0A0A"/>
              </a:solidFill>
              <a:latin typeface="Telegraf"/>
            </a:endParaRPr>
          </a:p>
        </p:txBody>
      </p:sp>
      <p:sp>
        <p:nvSpPr>
          <p:cNvPr id="2461" name="TextBox 48"/>
          <p:cNvSpPr txBox="1"/>
          <p:nvPr/>
        </p:nvSpPr>
        <p:spPr>
          <a:xfrm>
            <a:off x="2590800" y="3771900"/>
            <a:ext cx="1524000" cy="101600"/>
          </a:xfrm>
          <a:prstGeom prst="rect">
            <a:avLst/>
          </a:prstGeom>
        </p:spPr>
        <p:txBody>
          <a:bodyPr wrap="square" lIns="0" tIns="0" rIns="0" bIns="0">
            <a:noAutofit/>
          </a:bodyPr>
          <a:lstStyle/>
          <a:p>
            <a:r>
              <a:rPr sz="490" b="1" spc="100">
                <a:solidFill>
                  <a:srgbClr val="A2A2A8"/>
                </a:solidFill>
                <a:latin typeface="Telegraf"/>
              </a:rPr>
              <a:t>FOCUS</a:t>
            </a:r>
            <a:endParaRPr sz="490" b="1" spc="100">
              <a:solidFill>
                <a:srgbClr val="A2A2A8"/>
              </a:solidFill>
              <a:latin typeface="Telegraf"/>
            </a:endParaRPr>
          </a:p>
        </p:txBody>
      </p:sp>
      <p:sp>
        <p:nvSpPr>
          <p:cNvPr id="2462" name="Rectangle 49"/>
          <p:cNvSpPr/>
          <p:nvPr/>
        </p:nvSpPr>
        <p:spPr>
          <a:xfrm>
            <a:off x="2590800" y="3886200"/>
            <a:ext cx="1524000" cy="279400"/>
          </a:xfrm>
          <a:custGeom>
            <a:avLst/>
            <a:gdLst/>
            <a:ahLst/>
            <a:cxnLst/>
            <a:rect l="l" t="t" r="r" b="b"/>
            <a:pathLst>
              <a:path w="100000" h="18333">
                <a:moveTo>
                  <a:pt x="90833" y="0"/>
                </a:moveTo>
                <a:cubicBezTo>
                  <a:pt x="93943" y="0"/>
                  <a:pt x="95498" y="0"/>
                  <a:pt x="96698" y="578"/>
                </a:cubicBezTo>
                <a:cubicBezTo>
                  <a:pt x="97888" y="1151"/>
                  <a:pt x="98849" y="2112"/>
                  <a:pt x="99423" y="3303"/>
                </a:cubicBezTo>
                <a:cubicBezTo>
                  <a:pt x="100000" y="4502"/>
                  <a:pt x="100000" y="6057"/>
                  <a:pt x="100000" y="9167"/>
                </a:cubicBezTo>
                <a:lnTo>
                  <a:pt x="100000" y="9167"/>
                </a:lnTo>
                <a:cubicBezTo>
                  <a:pt x="100000" y="12277"/>
                  <a:pt x="100000" y="13832"/>
                  <a:pt x="99423" y="15031"/>
                </a:cubicBezTo>
                <a:cubicBezTo>
                  <a:pt x="98849" y="16222"/>
                  <a:pt x="97888" y="17183"/>
                  <a:pt x="96698" y="17756"/>
                </a:cubicBezTo>
                <a:cubicBezTo>
                  <a:pt x="95498" y="18333"/>
                  <a:pt x="93943" y="18333"/>
                  <a:pt x="90833" y="18333"/>
                </a:cubicBezTo>
                <a:lnTo>
                  <a:pt x="9167" y="18333"/>
                </a:lnTo>
                <a:cubicBezTo>
                  <a:pt x="6057" y="18333"/>
                  <a:pt x="4502" y="18333"/>
                  <a:pt x="3303" y="17756"/>
                </a:cubicBezTo>
                <a:cubicBezTo>
                  <a:pt x="2112" y="17183"/>
                  <a:pt x="1151" y="16222"/>
                  <a:pt x="578" y="15031"/>
                </a:cubicBezTo>
                <a:cubicBezTo>
                  <a:pt x="0" y="13832"/>
                  <a:pt x="0" y="12277"/>
                  <a:pt x="0" y="9167"/>
                </a:cubicBezTo>
                <a:lnTo>
                  <a:pt x="0" y="9167"/>
                </a:lnTo>
                <a:cubicBezTo>
                  <a:pt x="0" y="6057"/>
                  <a:pt x="0" y="4502"/>
                  <a:pt x="578" y="3303"/>
                </a:cubicBezTo>
                <a:cubicBezTo>
                  <a:pt x="1151" y="2112"/>
                  <a:pt x="2112" y="1151"/>
                  <a:pt x="3303" y="578"/>
                </a:cubicBezTo>
                <a:cubicBezTo>
                  <a:pt x="4502" y="0"/>
                  <a:pt x="6057" y="0"/>
                  <a:pt x="9167" y="0"/>
                </a:cubicBezTo>
                <a:close/>
              </a:path>
            </a:pathLst>
          </a:custGeom>
          <a:solidFill>
            <a:srgbClr val="FFFFFF"/>
          </a:solidFill>
          <a:ln w="13970">
            <a:solidFill>
              <a:srgbClr val="0E6B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63" name="Rectangle 50"/>
          <p:cNvSpPr/>
          <p:nvPr/>
        </p:nvSpPr>
        <p:spPr>
          <a:xfrm>
            <a:off x="2590800" y="3886200"/>
            <a:ext cx="22860" cy="279400"/>
          </a:xfrm>
          <a:custGeom>
            <a:avLst/>
            <a:gdLst/>
            <a:ahLst/>
            <a:cxnLst/>
            <a:rect l="l" t="t" r="r" b="b"/>
            <a:pathLst>
              <a:path w="8182" h="100000">
                <a:moveTo>
                  <a:pt x="4091" y="0"/>
                </a:moveTo>
                <a:cubicBezTo>
                  <a:pt x="4091" y="0"/>
                  <a:pt x="4091" y="0"/>
                  <a:pt x="4091" y="0"/>
                </a:cubicBezTo>
                <a:cubicBezTo>
                  <a:pt x="6350" y="0"/>
                  <a:pt x="8182" y="1832"/>
                  <a:pt x="8182" y="4091"/>
                </a:cubicBezTo>
                <a:cubicBezTo>
                  <a:pt x="8182" y="4091"/>
                  <a:pt x="8182" y="4091"/>
                  <a:pt x="8182" y="4091"/>
                </a:cubicBezTo>
                <a:lnTo>
                  <a:pt x="8182" y="95909"/>
                </a:lnTo>
                <a:cubicBezTo>
                  <a:pt x="8182" y="95909"/>
                  <a:pt x="8182" y="95909"/>
                  <a:pt x="8182" y="95909"/>
                </a:cubicBezTo>
                <a:cubicBezTo>
                  <a:pt x="8182" y="98168"/>
                  <a:pt x="6350" y="100000"/>
                  <a:pt x="4091" y="100000"/>
                </a:cubicBezTo>
                <a:cubicBezTo>
                  <a:pt x="4091" y="100000"/>
                  <a:pt x="4091" y="100000"/>
                  <a:pt x="4091" y="100000"/>
                </a:cubicBezTo>
                <a:lnTo>
                  <a:pt x="4091" y="100000"/>
                </a:lnTo>
                <a:cubicBezTo>
                  <a:pt x="4091" y="100000"/>
                  <a:pt x="4091" y="100000"/>
                  <a:pt x="4091" y="100000"/>
                </a:cubicBezTo>
                <a:cubicBezTo>
                  <a:pt x="1832" y="100000"/>
                  <a:pt x="0" y="98168"/>
                  <a:pt x="0" y="95909"/>
                </a:cubicBezTo>
                <a:cubicBezTo>
                  <a:pt x="0" y="95909"/>
                  <a:pt x="0" y="95909"/>
                  <a:pt x="0" y="95909"/>
                </a:cubicBezTo>
                <a:lnTo>
                  <a:pt x="0" y="4091"/>
                </a:lnTo>
                <a:cubicBezTo>
                  <a:pt x="0" y="4091"/>
                  <a:pt x="0" y="4091"/>
                  <a:pt x="0" y="4091"/>
                </a:cubicBezTo>
                <a:cubicBezTo>
                  <a:pt x="0" y="1832"/>
                  <a:pt x="1832" y="0"/>
                  <a:pt x="4091" y="0"/>
                </a:cubicBezTo>
                <a:cubicBezTo>
                  <a:pt x="4091" y="0"/>
                  <a:pt x="4091" y="0"/>
                  <a:pt x="4091" y="0"/>
                </a:cubicBezTo>
                <a:close/>
              </a:path>
            </a:pathLst>
          </a:custGeom>
          <a:solidFill>
            <a:srgbClr val="12A5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64" name="TextBox 51"/>
          <p:cNvSpPr txBox="1"/>
          <p:nvPr/>
        </p:nvSpPr>
        <p:spPr>
          <a:xfrm>
            <a:off x="2692400" y="3886200"/>
            <a:ext cx="1346200" cy="279400"/>
          </a:xfrm>
          <a:prstGeom prst="rect">
            <a:avLst/>
          </a:prstGeom>
        </p:spPr>
        <p:txBody>
          <a:bodyPr wrap="square" lIns="0" tIns="0" rIns="0" bIns="0" anchor="ctr">
            <a:noAutofit/>
          </a:bodyPr>
          <a:lstStyle/>
          <a:p>
            <a:pPr>
              <a:lnSpc>
                <a:spcPct val="140000"/>
              </a:lnSpc>
            </a:pPr>
            <a:r>
              <a:rPr sz="500" spc="0">
                <a:solidFill>
                  <a:srgbClr val="0A0A0A"/>
                </a:solidFill>
                <a:latin typeface="Telegraf"/>
              </a:rPr>
              <a:t>₹1,499 / mo</a:t>
            </a:r>
            <a:endParaRPr sz="500" spc="0">
              <a:solidFill>
                <a:srgbClr val="0A0A0A"/>
              </a:solidFill>
              <a:latin typeface="Telegraf"/>
            </a:endParaRPr>
          </a:p>
        </p:txBody>
      </p:sp>
      <p:sp>
        <p:nvSpPr>
          <p:cNvPr id="2465" name="TextBox 52"/>
          <p:cNvSpPr txBox="1"/>
          <p:nvPr/>
        </p:nvSpPr>
        <p:spPr>
          <a:xfrm>
            <a:off x="914400" y="4254500"/>
            <a:ext cx="1524000" cy="101600"/>
          </a:xfrm>
          <a:prstGeom prst="rect">
            <a:avLst/>
          </a:prstGeom>
        </p:spPr>
        <p:txBody>
          <a:bodyPr wrap="square" lIns="0" tIns="0" rIns="0" bIns="0">
            <a:noAutofit/>
          </a:bodyPr>
          <a:lstStyle/>
          <a:p>
            <a:r>
              <a:rPr sz="490" b="1" spc="100">
                <a:solidFill>
                  <a:srgbClr val="A2A2A8"/>
                </a:solidFill>
                <a:latin typeface="Telegraf"/>
              </a:rPr>
              <a:t>ERROR</a:t>
            </a:r>
            <a:endParaRPr sz="490" b="1" spc="100">
              <a:solidFill>
                <a:srgbClr val="A2A2A8"/>
              </a:solidFill>
              <a:latin typeface="Telegraf"/>
            </a:endParaRPr>
          </a:p>
        </p:txBody>
      </p:sp>
      <p:sp>
        <p:nvSpPr>
          <p:cNvPr id="2466" name="Rectangle 53"/>
          <p:cNvSpPr/>
          <p:nvPr/>
        </p:nvSpPr>
        <p:spPr>
          <a:xfrm>
            <a:off x="914400" y="4368800"/>
            <a:ext cx="1524000" cy="279400"/>
          </a:xfrm>
          <a:custGeom>
            <a:avLst/>
            <a:gdLst/>
            <a:ahLst/>
            <a:cxnLst/>
            <a:rect l="l" t="t" r="r" b="b"/>
            <a:pathLst>
              <a:path w="100000" h="18333">
                <a:moveTo>
                  <a:pt x="90833" y="0"/>
                </a:moveTo>
                <a:cubicBezTo>
                  <a:pt x="93943" y="0"/>
                  <a:pt x="95498" y="0"/>
                  <a:pt x="96698" y="578"/>
                </a:cubicBezTo>
                <a:cubicBezTo>
                  <a:pt x="97888" y="1151"/>
                  <a:pt x="98849" y="2112"/>
                  <a:pt x="99423" y="3303"/>
                </a:cubicBezTo>
                <a:cubicBezTo>
                  <a:pt x="100000" y="4502"/>
                  <a:pt x="100000" y="6057"/>
                  <a:pt x="100000" y="9167"/>
                </a:cubicBezTo>
                <a:lnTo>
                  <a:pt x="100000" y="9167"/>
                </a:lnTo>
                <a:cubicBezTo>
                  <a:pt x="100000" y="12277"/>
                  <a:pt x="100000" y="13832"/>
                  <a:pt x="99423" y="15031"/>
                </a:cubicBezTo>
                <a:cubicBezTo>
                  <a:pt x="98849" y="16222"/>
                  <a:pt x="97888" y="17183"/>
                  <a:pt x="96698" y="17756"/>
                </a:cubicBezTo>
                <a:cubicBezTo>
                  <a:pt x="95498" y="18333"/>
                  <a:pt x="93943" y="18333"/>
                  <a:pt x="90833" y="18333"/>
                </a:cubicBezTo>
                <a:lnTo>
                  <a:pt x="9167" y="18333"/>
                </a:lnTo>
                <a:cubicBezTo>
                  <a:pt x="6057" y="18333"/>
                  <a:pt x="4502" y="18333"/>
                  <a:pt x="3303" y="17756"/>
                </a:cubicBezTo>
                <a:cubicBezTo>
                  <a:pt x="2112" y="17183"/>
                  <a:pt x="1151" y="16222"/>
                  <a:pt x="578" y="15031"/>
                </a:cubicBezTo>
                <a:cubicBezTo>
                  <a:pt x="0" y="13832"/>
                  <a:pt x="0" y="12277"/>
                  <a:pt x="0" y="9167"/>
                </a:cubicBezTo>
                <a:lnTo>
                  <a:pt x="0" y="9167"/>
                </a:lnTo>
                <a:cubicBezTo>
                  <a:pt x="0" y="6057"/>
                  <a:pt x="0" y="4502"/>
                  <a:pt x="578" y="3303"/>
                </a:cubicBezTo>
                <a:cubicBezTo>
                  <a:pt x="1151" y="2112"/>
                  <a:pt x="2112" y="1151"/>
                  <a:pt x="3303" y="578"/>
                </a:cubicBezTo>
                <a:cubicBezTo>
                  <a:pt x="4502" y="0"/>
                  <a:pt x="6057" y="0"/>
                  <a:pt x="9167"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67" name="TextBox 54"/>
          <p:cNvSpPr txBox="1"/>
          <p:nvPr/>
        </p:nvSpPr>
        <p:spPr>
          <a:xfrm>
            <a:off x="1016000" y="4368800"/>
            <a:ext cx="1346200" cy="279400"/>
          </a:xfrm>
          <a:prstGeom prst="rect">
            <a:avLst/>
          </a:prstGeom>
        </p:spPr>
        <p:txBody>
          <a:bodyPr wrap="square" lIns="0" tIns="0" rIns="0" bIns="0" anchor="ctr">
            <a:noAutofit/>
          </a:bodyPr>
          <a:lstStyle/>
          <a:p>
            <a:pPr>
              <a:lnSpc>
                <a:spcPct val="140000"/>
              </a:lnSpc>
            </a:pPr>
            <a:r>
              <a:rPr sz="500" spc="0">
                <a:solidFill>
                  <a:srgbClr val="0A0A0A"/>
                </a:solidFill>
                <a:latin typeface="Telegraf"/>
              </a:rPr>
              <a:t>not-an-email</a:t>
            </a:r>
            <a:endParaRPr sz="500" spc="0">
              <a:solidFill>
                <a:srgbClr val="0A0A0A"/>
              </a:solidFill>
              <a:latin typeface="Telegraf"/>
            </a:endParaRPr>
          </a:p>
        </p:txBody>
      </p:sp>
      <p:sp>
        <p:nvSpPr>
          <p:cNvPr id="2468" name="Rectangle 55"/>
          <p:cNvSpPr/>
          <p:nvPr/>
        </p:nvSpPr>
        <p:spPr>
          <a:xfrm>
            <a:off x="914400" y="4368800"/>
            <a:ext cx="13970" cy="279400"/>
          </a:xfrm>
          <a:prstGeom prst="roundRect">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69" name="TextBox 56"/>
          <p:cNvSpPr txBox="1"/>
          <p:nvPr/>
        </p:nvSpPr>
        <p:spPr>
          <a:xfrm>
            <a:off x="2590800" y="4419600"/>
            <a:ext cx="1524000" cy="203200"/>
          </a:xfrm>
          <a:prstGeom prst="rect">
            <a:avLst/>
          </a:prstGeom>
        </p:spPr>
        <p:txBody>
          <a:bodyPr wrap="square" lIns="0" tIns="0" rIns="0" bIns="0">
            <a:noAutofit/>
          </a:bodyPr>
          <a:lstStyle/>
          <a:p>
            <a:pPr>
              <a:lnSpc>
                <a:spcPct val="135000"/>
              </a:lnSpc>
            </a:pPr>
            <a:r>
              <a:rPr sz="430" spc="0">
                <a:solidFill>
                  <a:srgbClr val="99201C"/>
                </a:solidFill>
                <a:latin typeface="Telegraf"/>
              </a:rPr>
              <a:t>Enter a valid email</a:t>
            </a:r>
            <a:endParaRPr sz="430" spc="0">
              <a:solidFill>
                <a:srgbClr val="99201C"/>
              </a:solidFill>
              <a:latin typeface="Telegraf"/>
            </a:endParaRPr>
          </a:p>
        </p:txBody>
      </p:sp>
      <p:sp>
        <p:nvSpPr>
          <p:cNvPr id="2470" name="TextBox 57"/>
          <p:cNvSpPr txBox="1"/>
          <p:nvPr/>
        </p:nvSpPr>
        <p:spPr>
          <a:xfrm>
            <a:off x="914400" y="4737100"/>
            <a:ext cx="1524000" cy="101600"/>
          </a:xfrm>
          <a:prstGeom prst="rect">
            <a:avLst/>
          </a:prstGeom>
        </p:spPr>
        <p:txBody>
          <a:bodyPr wrap="square" lIns="0" tIns="0" rIns="0" bIns="0">
            <a:noAutofit/>
          </a:bodyPr>
          <a:lstStyle/>
          <a:p>
            <a:r>
              <a:rPr sz="490" b="1" spc="100">
                <a:solidFill>
                  <a:srgbClr val="A2A2A8"/>
                </a:solidFill>
                <a:latin typeface="Telegraf"/>
              </a:rPr>
              <a:t>DISABLED</a:t>
            </a:r>
            <a:endParaRPr sz="490" b="1" spc="100">
              <a:solidFill>
                <a:srgbClr val="A2A2A8"/>
              </a:solidFill>
              <a:latin typeface="Telegraf"/>
            </a:endParaRPr>
          </a:p>
        </p:txBody>
      </p:sp>
      <p:sp>
        <p:nvSpPr>
          <p:cNvPr id="2471" name="Rectangle 58"/>
          <p:cNvSpPr/>
          <p:nvPr/>
        </p:nvSpPr>
        <p:spPr>
          <a:xfrm>
            <a:off x="914400" y="4851400"/>
            <a:ext cx="1524000" cy="279400"/>
          </a:xfrm>
          <a:custGeom>
            <a:avLst/>
            <a:gdLst/>
            <a:ahLst/>
            <a:cxnLst/>
            <a:rect l="l" t="t" r="r" b="b"/>
            <a:pathLst>
              <a:path w="100000" h="18333">
                <a:moveTo>
                  <a:pt x="90833" y="0"/>
                </a:moveTo>
                <a:cubicBezTo>
                  <a:pt x="93943" y="0"/>
                  <a:pt x="95498" y="0"/>
                  <a:pt x="96698" y="578"/>
                </a:cubicBezTo>
                <a:cubicBezTo>
                  <a:pt x="97888" y="1151"/>
                  <a:pt x="98849" y="2112"/>
                  <a:pt x="99423" y="3303"/>
                </a:cubicBezTo>
                <a:cubicBezTo>
                  <a:pt x="100000" y="4502"/>
                  <a:pt x="100000" y="6057"/>
                  <a:pt x="100000" y="9167"/>
                </a:cubicBezTo>
                <a:lnTo>
                  <a:pt x="100000" y="9167"/>
                </a:lnTo>
                <a:cubicBezTo>
                  <a:pt x="100000" y="12277"/>
                  <a:pt x="100000" y="13832"/>
                  <a:pt x="99423" y="15031"/>
                </a:cubicBezTo>
                <a:cubicBezTo>
                  <a:pt x="98849" y="16222"/>
                  <a:pt x="97888" y="17183"/>
                  <a:pt x="96698" y="17756"/>
                </a:cubicBezTo>
                <a:cubicBezTo>
                  <a:pt x="95498" y="18333"/>
                  <a:pt x="93943" y="18333"/>
                  <a:pt x="90833" y="18333"/>
                </a:cubicBezTo>
                <a:lnTo>
                  <a:pt x="9167" y="18333"/>
                </a:lnTo>
                <a:cubicBezTo>
                  <a:pt x="6057" y="18333"/>
                  <a:pt x="4502" y="18333"/>
                  <a:pt x="3303" y="17756"/>
                </a:cubicBezTo>
                <a:cubicBezTo>
                  <a:pt x="2112" y="17183"/>
                  <a:pt x="1151" y="16222"/>
                  <a:pt x="578" y="15031"/>
                </a:cubicBezTo>
                <a:cubicBezTo>
                  <a:pt x="0" y="13832"/>
                  <a:pt x="0" y="12277"/>
                  <a:pt x="0" y="9167"/>
                </a:cubicBezTo>
                <a:lnTo>
                  <a:pt x="0" y="9167"/>
                </a:lnTo>
                <a:cubicBezTo>
                  <a:pt x="0" y="6057"/>
                  <a:pt x="0" y="4502"/>
                  <a:pt x="578" y="3303"/>
                </a:cubicBezTo>
                <a:cubicBezTo>
                  <a:pt x="1151" y="2112"/>
                  <a:pt x="2112" y="1151"/>
                  <a:pt x="3303" y="578"/>
                </a:cubicBezTo>
                <a:cubicBezTo>
                  <a:pt x="4502" y="0"/>
                  <a:pt x="6057" y="0"/>
                  <a:pt x="9167" y="0"/>
                </a:cubicBezTo>
                <a:close/>
              </a:path>
            </a:pathLst>
          </a:custGeom>
          <a:solidFill>
            <a:srgbClr val="FFFFFF"/>
          </a:solidFill>
          <a:ln w="1016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72" name="TextBox 59"/>
          <p:cNvSpPr txBox="1"/>
          <p:nvPr/>
        </p:nvSpPr>
        <p:spPr>
          <a:xfrm>
            <a:off x="1016000" y="4851400"/>
            <a:ext cx="1346200" cy="279400"/>
          </a:xfrm>
          <a:prstGeom prst="rect">
            <a:avLst/>
          </a:prstGeom>
        </p:spPr>
        <p:txBody>
          <a:bodyPr wrap="square" lIns="0" tIns="0" rIns="0" bIns="0" anchor="ctr">
            <a:noAutofit/>
          </a:bodyPr>
          <a:lstStyle/>
          <a:p>
            <a:pPr>
              <a:lnSpc>
                <a:spcPct val="140000"/>
              </a:lnSpc>
            </a:pPr>
            <a:r>
              <a:rPr sz="500" spc="0">
                <a:solidFill>
                  <a:srgbClr val="0A0A0A"/>
                </a:solidFill>
                <a:latin typeface="Telegraf"/>
              </a:rPr>
              <a:t>read only</a:t>
            </a:r>
            <a:endParaRPr sz="500" spc="0">
              <a:solidFill>
                <a:srgbClr val="0A0A0A"/>
              </a:solidFill>
              <a:latin typeface="Telegraf"/>
            </a:endParaRPr>
          </a:p>
        </p:txBody>
      </p:sp>
      <p:sp>
        <p:nvSpPr>
          <p:cNvPr id="2473" name="Rectangle 60"/>
          <p:cNvSpPr/>
          <p:nvPr/>
        </p:nvSpPr>
        <p:spPr>
          <a:xfrm>
            <a:off x="2590800" y="4851400"/>
            <a:ext cx="1524000" cy="279400"/>
          </a:xfrm>
          <a:custGeom>
            <a:avLst/>
            <a:gdLst/>
            <a:ahLst/>
            <a:cxnLst/>
            <a:rect l="l" t="t" r="r" b="b"/>
            <a:pathLst>
              <a:path w="100000" h="18333">
                <a:moveTo>
                  <a:pt x="90833" y="0"/>
                </a:moveTo>
                <a:cubicBezTo>
                  <a:pt x="93943" y="0"/>
                  <a:pt x="95498" y="0"/>
                  <a:pt x="96698" y="578"/>
                </a:cubicBezTo>
                <a:cubicBezTo>
                  <a:pt x="97888" y="1151"/>
                  <a:pt x="98849" y="2112"/>
                  <a:pt x="99423" y="3303"/>
                </a:cubicBezTo>
                <a:cubicBezTo>
                  <a:pt x="100000" y="4502"/>
                  <a:pt x="100000" y="6057"/>
                  <a:pt x="100000" y="9167"/>
                </a:cubicBezTo>
                <a:lnTo>
                  <a:pt x="100000" y="9167"/>
                </a:lnTo>
                <a:cubicBezTo>
                  <a:pt x="100000" y="12277"/>
                  <a:pt x="100000" y="13832"/>
                  <a:pt x="99423" y="15031"/>
                </a:cubicBezTo>
                <a:cubicBezTo>
                  <a:pt x="98849" y="16222"/>
                  <a:pt x="97888" y="17183"/>
                  <a:pt x="96698" y="17756"/>
                </a:cubicBezTo>
                <a:cubicBezTo>
                  <a:pt x="95498" y="18333"/>
                  <a:pt x="93943" y="18333"/>
                  <a:pt x="90833" y="18333"/>
                </a:cubicBezTo>
                <a:lnTo>
                  <a:pt x="9167" y="18333"/>
                </a:lnTo>
                <a:cubicBezTo>
                  <a:pt x="6057" y="18333"/>
                  <a:pt x="4502" y="18333"/>
                  <a:pt x="3303" y="17756"/>
                </a:cubicBezTo>
                <a:cubicBezTo>
                  <a:pt x="2112" y="17183"/>
                  <a:pt x="1151" y="16222"/>
                  <a:pt x="578" y="15031"/>
                </a:cubicBezTo>
                <a:cubicBezTo>
                  <a:pt x="0" y="13832"/>
                  <a:pt x="0" y="12277"/>
                  <a:pt x="0" y="9167"/>
                </a:cubicBezTo>
                <a:lnTo>
                  <a:pt x="0" y="9167"/>
                </a:lnTo>
                <a:cubicBezTo>
                  <a:pt x="0" y="6057"/>
                  <a:pt x="0" y="4502"/>
                  <a:pt x="578" y="3303"/>
                </a:cubicBezTo>
                <a:cubicBezTo>
                  <a:pt x="1151" y="2112"/>
                  <a:pt x="2112" y="1151"/>
                  <a:pt x="3303" y="578"/>
                </a:cubicBezTo>
                <a:cubicBezTo>
                  <a:pt x="4502" y="0"/>
                  <a:pt x="6057" y="0"/>
                  <a:pt x="9167" y="0"/>
                </a:cubicBezTo>
                <a:close/>
              </a:path>
            </a:pathLst>
          </a:custGeom>
          <a:solidFill>
            <a:srgbClr val="F4F4F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74" name="TextBox 61"/>
          <p:cNvSpPr txBox="1"/>
          <p:nvPr/>
        </p:nvSpPr>
        <p:spPr>
          <a:xfrm>
            <a:off x="2692400" y="4851400"/>
            <a:ext cx="1320800" cy="279400"/>
          </a:xfrm>
          <a:prstGeom prst="rect">
            <a:avLst/>
          </a:prstGeom>
        </p:spPr>
        <p:txBody>
          <a:bodyPr wrap="square" lIns="0" tIns="0" rIns="0" bIns="0" anchor="ctr">
            <a:noAutofit/>
          </a:bodyPr>
          <a:lstStyle/>
          <a:p>
            <a:pPr>
              <a:lnSpc>
                <a:spcPct val="135000"/>
              </a:lnSpc>
            </a:pPr>
            <a:r>
              <a:rPr sz="500" spc="0">
                <a:solidFill>
                  <a:srgbClr val="A2A2A8"/>
                </a:solidFill>
                <a:latin typeface="Telegraf"/>
              </a:rPr>
              <a:t>Disabled</a:t>
            </a:r>
            <a:endParaRPr sz="500" spc="0">
              <a:solidFill>
                <a:srgbClr val="A2A2A8"/>
              </a:solidFill>
              <a:latin typeface="Telegraf"/>
            </a:endParaRPr>
          </a:p>
        </p:txBody>
      </p:sp>
      <p:sp>
        <p:nvSpPr>
          <p:cNvPr id="2475" name="TextBox 62"/>
          <p:cNvSpPr txBox="1"/>
          <p:nvPr/>
        </p:nvSpPr>
        <p:spPr>
          <a:xfrm>
            <a:off x="914400" y="5207000"/>
            <a:ext cx="3937000" cy="127000"/>
          </a:xfrm>
          <a:prstGeom prst="rect">
            <a:avLst/>
          </a:prstGeom>
        </p:spPr>
        <p:txBody>
          <a:bodyPr wrap="square" lIns="0" tIns="0" rIns="0" bIns="0">
            <a:noAutofit/>
          </a:bodyPr>
          <a:lstStyle/>
          <a:p>
            <a:pPr>
              <a:lnSpc>
                <a:spcPct val="135000"/>
              </a:lnSpc>
            </a:pPr>
            <a:r>
              <a:rPr sz="410" spc="0">
                <a:solidFill>
                  <a:srgbClr val="A2A2A8"/>
                </a:solidFill>
                <a:latin typeface="Telegraf"/>
              </a:rPr>
              <a:t>Focus = teal hairline + 1.8pt bar. Error = crimson hairline + helper. Disabled = wash.</a:t>
            </a:r>
            <a:endParaRPr sz="410" spc="0">
              <a:solidFill>
                <a:srgbClr val="A2A2A8"/>
              </a:solidFill>
              <a:latin typeface="Telegraf"/>
            </a:endParaRPr>
          </a:p>
        </p:txBody>
      </p:sp>
      <p:sp>
        <p:nvSpPr>
          <p:cNvPr id="2476" name="Rectangle 63"/>
          <p:cNvSpPr/>
          <p:nvPr/>
        </p:nvSpPr>
        <p:spPr>
          <a:xfrm>
            <a:off x="5181600" y="3479800"/>
            <a:ext cx="2413000" cy="1930400"/>
          </a:xfrm>
          <a:custGeom>
            <a:avLst/>
            <a:gdLst/>
            <a:ahLst/>
            <a:cxnLst/>
            <a:rect l="l" t="t" r="r" b="b"/>
            <a:pathLst>
              <a:path w="100000" h="80000">
                <a:moveTo>
                  <a:pt x="87368" y="0"/>
                </a:moveTo>
                <a:cubicBezTo>
                  <a:pt x="93323" y="0"/>
                  <a:pt x="96301" y="0"/>
                  <a:pt x="98150" y="1850"/>
                </a:cubicBezTo>
                <a:cubicBezTo>
                  <a:pt x="98150" y="1850"/>
                  <a:pt x="98150" y="1850"/>
                  <a:pt x="98150" y="1850"/>
                </a:cubicBezTo>
                <a:cubicBezTo>
                  <a:pt x="100000" y="3699"/>
                  <a:pt x="100000" y="6677"/>
                  <a:pt x="100000" y="12632"/>
                </a:cubicBezTo>
                <a:lnTo>
                  <a:pt x="100000" y="67368"/>
                </a:lnTo>
                <a:cubicBezTo>
                  <a:pt x="100000" y="73323"/>
                  <a:pt x="100000" y="76301"/>
                  <a:pt x="98150" y="78150"/>
                </a:cubicBezTo>
                <a:cubicBezTo>
                  <a:pt x="98150" y="78150"/>
                  <a:pt x="98150" y="78150"/>
                  <a:pt x="98150" y="78150"/>
                </a:cubicBezTo>
                <a:cubicBezTo>
                  <a:pt x="96301" y="80000"/>
                  <a:pt x="93323" y="80000"/>
                  <a:pt x="87368" y="80000"/>
                </a:cubicBezTo>
                <a:lnTo>
                  <a:pt x="12632" y="80000"/>
                </a:lnTo>
                <a:cubicBezTo>
                  <a:pt x="6677" y="80000"/>
                  <a:pt x="3699" y="80000"/>
                  <a:pt x="1850" y="78150"/>
                </a:cubicBezTo>
                <a:cubicBezTo>
                  <a:pt x="1850" y="78150"/>
                  <a:pt x="1850" y="78150"/>
                  <a:pt x="1850" y="78150"/>
                </a:cubicBezTo>
                <a:cubicBezTo>
                  <a:pt x="0" y="76301"/>
                  <a:pt x="0" y="73323"/>
                  <a:pt x="0" y="67368"/>
                </a:cubicBezTo>
                <a:lnTo>
                  <a:pt x="0" y="12632"/>
                </a:lnTo>
                <a:cubicBezTo>
                  <a:pt x="0" y="6677"/>
                  <a:pt x="0" y="3699"/>
                  <a:pt x="1850" y="1850"/>
                </a:cubicBezTo>
                <a:cubicBezTo>
                  <a:pt x="1850" y="1850"/>
                  <a:pt x="1850" y="1850"/>
                  <a:pt x="1850" y="1850"/>
                </a:cubicBezTo>
                <a:cubicBezTo>
                  <a:pt x="3699" y="0"/>
                  <a:pt x="6677" y="0"/>
                  <a:pt x="12632"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77" name="TextBox 64"/>
          <p:cNvSpPr txBox="1"/>
          <p:nvPr/>
        </p:nvSpPr>
        <p:spPr>
          <a:xfrm>
            <a:off x="5359400" y="3606800"/>
            <a:ext cx="2286000" cy="114300"/>
          </a:xfrm>
          <a:prstGeom prst="rect">
            <a:avLst/>
          </a:prstGeom>
        </p:spPr>
        <p:txBody>
          <a:bodyPr wrap="square" lIns="0" tIns="0" rIns="0" bIns="0">
            <a:noAutofit/>
          </a:bodyPr>
          <a:lstStyle/>
          <a:p>
            <a:r>
              <a:rPr sz="440" b="1" spc="105">
                <a:solidFill>
                  <a:srgbClr val="A2A2A8"/>
                </a:solidFill>
                <a:latin typeface="Telegraf"/>
              </a:rPr>
              <a:t>BADGES</a:t>
            </a:r>
            <a:endParaRPr sz="440" b="1" spc="105">
              <a:solidFill>
                <a:srgbClr val="A2A2A8"/>
              </a:solidFill>
              <a:latin typeface="Telegraf"/>
            </a:endParaRPr>
          </a:p>
        </p:txBody>
      </p:sp>
      <p:sp>
        <p:nvSpPr>
          <p:cNvPr id="2478" name="Rectangle 65"/>
          <p:cNvSpPr/>
          <p:nvPr/>
        </p:nvSpPr>
        <p:spPr>
          <a:xfrm>
            <a:off x="5359400" y="3810000"/>
            <a:ext cx="462534" cy="146050"/>
          </a:xfrm>
          <a:custGeom>
            <a:avLst/>
            <a:gdLst/>
            <a:ahLst/>
            <a:cxnLst/>
            <a:rect l="l" t="t" r="r" b="b"/>
            <a:pathLst>
              <a:path w="100000" h="31576">
                <a:moveTo>
                  <a:pt x="84212" y="0"/>
                </a:moveTo>
                <a:cubicBezTo>
                  <a:pt x="84212" y="0"/>
                  <a:pt x="84212" y="0"/>
                  <a:pt x="84212" y="0"/>
                </a:cubicBezTo>
                <a:cubicBezTo>
                  <a:pt x="92932" y="0"/>
                  <a:pt x="100000" y="7068"/>
                  <a:pt x="100000" y="15788"/>
                </a:cubicBezTo>
                <a:cubicBezTo>
                  <a:pt x="100000" y="15788"/>
                  <a:pt x="100000" y="15788"/>
                  <a:pt x="100000" y="15788"/>
                </a:cubicBezTo>
                <a:lnTo>
                  <a:pt x="100000" y="15788"/>
                </a:lnTo>
                <a:cubicBezTo>
                  <a:pt x="100000" y="15788"/>
                  <a:pt x="100000" y="15788"/>
                  <a:pt x="100000" y="15788"/>
                </a:cubicBezTo>
                <a:cubicBezTo>
                  <a:pt x="100000" y="24509"/>
                  <a:pt x="92932" y="31576"/>
                  <a:pt x="84212" y="31576"/>
                </a:cubicBezTo>
                <a:cubicBezTo>
                  <a:pt x="84212" y="31576"/>
                  <a:pt x="84212" y="31576"/>
                  <a:pt x="84212" y="31576"/>
                </a:cubicBezTo>
                <a:lnTo>
                  <a:pt x="15788" y="31576"/>
                </a:lnTo>
                <a:cubicBezTo>
                  <a:pt x="15788" y="31576"/>
                  <a:pt x="15788" y="31576"/>
                  <a:pt x="15788" y="31576"/>
                </a:cubicBezTo>
                <a:cubicBezTo>
                  <a:pt x="7068" y="31576"/>
                  <a:pt x="0" y="24509"/>
                  <a:pt x="0" y="15788"/>
                </a:cubicBezTo>
                <a:cubicBezTo>
                  <a:pt x="0" y="15788"/>
                  <a:pt x="0" y="15788"/>
                  <a:pt x="0" y="15788"/>
                </a:cubicBezTo>
                <a:lnTo>
                  <a:pt x="0" y="15788"/>
                </a:lnTo>
                <a:cubicBezTo>
                  <a:pt x="0" y="15788"/>
                  <a:pt x="0" y="15788"/>
                  <a:pt x="0" y="15788"/>
                </a:cubicBezTo>
                <a:cubicBezTo>
                  <a:pt x="0" y="7068"/>
                  <a:pt x="7068" y="0"/>
                  <a:pt x="15788" y="0"/>
                </a:cubicBezTo>
                <a:cubicBezTo>
                  <a:pt x="15788" y="0"/>
                  <a:pt x="15788" y="0"/>
                  <a:pt x="15788"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79" name="Oval 66"/>
          <p:cNvSpPr/>
          <p:nvPr/>
        </p:nvSpPr>
        <p:spPr>
          <a:xfrm>
            <a:off x="5411470" y="3861435"/>
            <a:ext cx="43180" cy="4318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0" name="TextBox 67"/>
          <p:cNvSpPr txBox="1"/>
          <p:nvPr/>
        </p:nvSpPr>
        <p:spPr>
          <a:xfrm>
            <a:off x="5488940" y="3810000"/>
            <a:ext cx="310134" cy="146050"/>
          </a:xfrm>
          <a:prstGeom prst="rect">
            <a:avLst/>
          </a:prstGeom>
        </p:spPr>
        <p:txBody>
          <a:bodyPr wrap="square" lIns="0" tIns="0" rIns="0" bIns="0" anchor="ctr">
            <a:noAutofit/>
          </a:bodyPr>
          <a:lstStyle/>
          <a:p>
            <a:pPr>
              <a:lnSpc>
                <a:spcPct val="135000"/>
              </a:lnSpc>
            </a:pPr>
            <a:r>
              <a:rPr sz="440" b="1" spc="0">
                <a:solidFill>
                  <a:srgbClr val="0B5C44"/>
                </a:solidFill>
                <a:latin typeface="Telegraf"/>
              </a:rPr>
              <a:t>answered</a:t>
            </a:r>
            <a:endParaRPr sz="440" b="1" spc="0">
              <a:solidFill>
                <a:srgbClr val="0B5C44"/>
              </a:solidFill>
              <a:latin typeface="Telegraf"/>
            </a:endParaRPr>
          </a:p>
        </p:txBody>
      </p:sp>
      <p:sp>
        <p:nvSpPr>
          <p:cNvPr id="2481" name="Rectangle 68"/>
          <p:cNvSpPr/>
          <p:nvPr/>
        </p:nvSpPr>
        <p:spPr>
          <a:xfrm>
            <a:off x="5359400" y="4038600"/>
            <a:ext cx="365252" cy="146050"/>
          </a:xfrm>
          <a:custGeom>
            <a:avLst/>
            <a:gdLst/>
            <a:ahLst/>
            <a:cxnLst/>
            <a:rect l="l" t="t" r="r" b="b"/>
            <a:pathLst>
              <a:path w="100000" h="39986">
                <a:moveTo>
                  <a:pt x="80007" y="0"/>
                </a:moveTo>
                <a:cubicBezTo>
                  <a:pt x="80007" y="0"/>
                  <a:pt x="80007" y="0"/>
                  <a:pt x="80007" y="0"/>
                </a:cubicBezTo>
                <a:cubicBezTo>
                  <a:pt x="91050" y="0"/>
                  <a:pt x="100000" y="8950"/>
                  <a:pt x="100000" y="19993"/>
                </a:cubicBezTo>
                <a:cubicBezTo>
                  <a:pt x="100000" y="19993"/>
                  <a:pt x="100000" y="19993"/>
                  <a:pt x="100000" y="19993"/>
                </a:cubicBezTo>
                <a:lnTo>
                  <a:pt x="100000" y="19993"/>
                </a:lnTo>
                <a:cubicBezTo>
                  <a:pt x="100000" y="19993"/>
                  <a:pt x="100000" y="19993"/>
                  <a:pt x="100000" y="19993"/>
                </a:cubicBezTo>
                <a:cubicBezTo>
                  <a:pt x="100000" y="31036"/>
                  <a:pt x="91050" y="39986"/>
                  <a:pt x="80007" y="39986"/>
                </a:cubicBezTo>
                <a:cubicBezTo>
                  <a:pt x="80007" y="39986"/>
                  <a:pt x="80007" y="39986"/>
                  <a:pt x="80007" y="39986"/>
                </a:cubicBezTo>
                <a:lnTo>
                  <a:pt x="19993" y="39986"/>
                </a:lnTo>
                <a:cubicBezTo>
                  <a:pt x="19993" y="39986"/>
                  <a:pt x="19993" y="39986"/>
                  <a:pt x="19993" y="39986"/>
                </a:cubicBezTo>
                <a:cubicBezTo>
                  <a:pt x="8950" y="39986"/>
                  <a:pt x="0" y="31036"/>
                  <a:pt x="0" y="19993"/>
                </a:cubicBezTo>
                <a:cubicBezTo>
                  <a:pt x="0" y="19993"/>
                  <a:pt x="0" y="19993"/>
                  <a:pt x="0" y="19993"/>
                </a:cubicBezTo>
                <a:lnTo>
                  <a:pt x="0" y="19993"/>
                </a:lnTo>
                <a:cubicBezTo>
                  <a:pt x="0" y="19993"/>
                  <a:pt x="0" y="19993"/>
                  <a:pt x="0" y="19993"/>
                </a:cubicBezTo>
                <a:cubicBezTo>
                  <a:pt x="0" y="8950"/>
                  <a:pt x="8950" y="0"/>
                  <a:pt x="19993" y="0"/>
                </a:cubicBezTo>
                <a:cubicBezTo>
                  <a:pt x="19993" y="0"/>
                  <a:pt x="19993" y="0"/>
                  <a:pt x="19993"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2" name="Oval 69"/>
          <p:cNvSpPr/>
          <p:nvPr/>
        </p:nvSpPr>
        <p:spPr>
          <a:xfrm>
            <a:off x="5411470" y="4090035"/>
            <a:ext cx="43180" cy="4318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3" name="TextBox 70"/>
          <p:cNvSpPr txBox="1"/>
          <p:nvPr/>
        </p:nvSpPr>
        <p:spPr>
          <a:xfrm>
            <a:off x="5488940" y="4038600"/>
            <a:ext cx="212852" cy="146050"/>
          </a:xfrm>
          <a:prstGeom prst="rect">
            <a:avLst/>
          </a:prstGeom>
        </p:spPr>
        <p:txBody>
          <a:bodyPr wrap="square" lIns="0" tIns="0" rIns="0" bIns="0" anchor="ctr">
            <a:noAutofit/>
          </a:bodyPr>
          <a:lstStyle/>
          <a:p>
            <a:pPr>
              <a:lnSpc>
                <a:spcPct val="135000"/>
              </a:lnSpc>
            </a:pPr>
            <a:r>
              <a:rPr sz="440" b="1" spc="0">
                <a:solidFill>
                  <a:srgbClr val="8A4B08"/>
                </a:solidFill>
                <a:latin typeface="Telegraf"/>
              </a:rPr>
              <a:t>draft</a:t>
            </a:r>
            <a:endParaRPr sz="440" b="1" spc="0">
              <a:solidFill>
                <a:srgbClr val="8A4B08"/>
              </a:solidFill>
              <a:latin typeface="Telegraf"/>
            </a:endParaRPr>
          </a:p>
        </p:txBody>
      </p:sp>
      <p:sp>
        <p:nvSpPr>
          <p:cNvPr id="2484" name="Rectangle 71"/>
          <p:cNvSpPr/>
          <p:nvPr/>
        </p:nvSpPr>
        <p:spPr>
          <a:xfrm>
            <a:off x="5359400" y="4267200"/>
            <a:ext cx="494919" cy="146050"/>
          </a:xfrm>
          <a:custGeom>
            <a:avLst/>
            <a:gdLst/>
            <a:ahLst/>
            <a:cxnLst/>
            <a:rect l="l" t="t" r="r" b="b"/>
            <a:pathLst>
              <a:path w="100000" h="29510">
                <a:moveTo>
                  <a:pt x="85245" y="0"/>
                </a:moveTo>
                <a:cubicBezTo>
                  <a:pt x="85245" y="0"/>
                  <a:pt x="85245" y="0"/>
                  <a:pt x="85245" y="0"/>
                </a:cubicBezTo>
                <a:cubicBezTo>
                  <a:pt x="93395" y="0"/>
                  <a:pt x="100000" y="6605"/>
                  <a:pt x="100000" y="14755"/>
                </a:cubicBezTo>
                <a:cubicBezTo>
                  <a:pt x="100000" y="14755"/>
                  <a:pt x="100000" y="14755"/>
                  <a:pt x="100000" y="14755"/>
                </a:cubicBezTo>
                <a:lnTo>
                  <a:pt x="100000" y="14755"/>
                </a:lnTo>
                <a:cubicBezTo>
                  <a:pt x="100000" y="14755"/>
                  <a:pt x="100000" y="14755"/>
                  <a:pt x="100000" y="14755"/>
                </a:cubicBezTo>
                <a:cubicBezTo>
                  <a:pt x="100000" y="22905"/>
                  <a:pt x="93395" y="29510"/>
                  <a:pt x="85245" y="29510"/>
                </a:cubicBezTo>
                <a:cubicBezTo>
                  <a:pt x="85245" y="29510"/>
                  <a:pt x="85245" y="29510"/>
                  <a:pt x="85245" y="29510"/>
                </a:cubicBezTo>
                <a:lnTo>
                  <a:pt x="14755" y="29510"/>
                </a:lnTo>
                <a:cubicBezTo>
                  <a:pt x="14755" y="29510"/>
                  <a:pt x="14755" y="29510"/>
                  <a:pt x="14755" y="29510"/>
                </a:cubicBezTo>
                <a:cubicBezTo>
                  <a:pt x="6605" y="29510"/>
                  <a:pt x="0" y="22905"/>
                  <a:pt x="0" y="14755"/>
                </a:cubicBezTo>
                <a:cubicBezTo>
                  <a:pt x="0" y="14755"/>
                  <a:pt x="0" y="14755"/>
                  <a:pt x="0" y="14755"/>
                </a:cubicBezTo>
                <a:lnTo>
                  <a:pt x="0" y="14755"/>
                </a:lnTo>
                <a:cubicBezTo>
                  <a:pt x="0" y="14755"/>
                  <a:pt x="0" y="14755"/>
                  <a:pt x="0" y="14755"/>
                </a:cubicBezTo>
                <a:cubicBezTo>
                  <a:pt x="0" y="6605"/>
                  <a:pt x="6605" y="0"/>
                  <a:pt x="14755" y="0"/>
                </a:cubicBezTo>
                <a:cubicBezTo>
                  <a:pt x="14755" y="0"/>
                  <a:pt x="14755" y="0"/>
                  <a:pt x="14755"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5" name="Oval 72"/>
          <p:cNvSpPr/>
          <p:nvPr/>
        </p:nvSpPr>
        <p:spPr>
          <a:xfrm>
            <a:off x="5411470" y="431863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6" name="TextBox 73"/>
          <p:cNvSpPr txBox="1"/>
          <p:nvPr/>
        </p:nvSpPr>
        <p:spPr>
          <a:xfrm>
            <a:off x="5488940" y="4267200"/>
            <a:ext cx="342519" cy="146050"/>
          </a:xfrm>
          <a:prstGeom prst="rect">
            <a:avLst/>
          </a:prstGeom>
        </p:spPr>
        <p:txBody>
          <a:bodyPr wrap="square" lIns="0" tIns="0" rIns="0" bIns="0" anchor="ctr">
            <a:noAutofit/>
          </a:bodyPr>
          <a:lstStyle/>
          <a:p>
            <a:pPr>
              <a:lnSpc>
                <a:spcPct val="135000"/>
              </a:lnSpc>
            </a:pPr>
            <a:r>
              <a:rPr sz="440" b="1" spc="0">
                <a:solidFill>
                  <a:srgbClr val="99201C"/>
                </a:solidFill>
                <a:latin typeface="Telegraf"/>
              </a:rPr>
              <a:t>escalated</a:t>
            </a:r>
            <a:endParaRPr sz="440" b="1" spc="0">
              <a:solidFill>
                <a:srgbClr val="99201C"/>
              </a:solidFill>
              <a:latin typeface="Telegraf"/>
            </a:endParaRPr>
          </a:p>
        </p:txBody>
      </p:sp>
      <p:sp>
        <p:nvSpPr>
          <p:cNvPr id="2487" name="Rectangle 74"/>
          <p:cNvSpPr/>
          <p:nvPr/>
        </p:nvSpPr>
        <p:spPr>
          <a:xfrm>
            <a:off x="5359400" y="4495800"/>
            <a:ext cx="397637" cy="146050"/>
          </a:xfrm>
          <a:custGeom>
            <a:avLst/>
            <a:gdLst/>
            <a:ahLst/>
            <a:cxnLst/>
            <a:rect l="l" t="t" r="r" b="b"/>
            <a:pathLst>
              <a:path w="100000" h="36729">
                <a:moveTo>
                  <a:pt x="81635" y="0"/>
                </a:moveTo>
                <a:cubicBezTo>
                  <a:pt x="81635" y="0"/>
                  <a:pt x="81635" y="0"/>
                  <a:pt x="81635" y="0"/>
                </a:cubicBezTo>
                <a:cubicBezTo>
                  <a:pt x="91779" y="0"/>
                  <a:pt x="100000" y="8221"/>
                  <a:pt x="100000" y="18365"/>
                </a:cubicBezTo>
                <a:cubicBezTo>
                  <a:pt x="100000" y="18365"/>
                  <a:pt x="100000" y="18365"/>
                  <a:pt x="100000" y="18365"/>
                </a:cubicBezTo>
                <a:lnTo>
                  <a:pt x="100000" y="18365"/>
                </a:lnTo>
                <a:cubicBezTo>
                  <a:pt x="100000" y="18365"/>
                  <a:pt x="100000" y="18365"/>
                  <a:pt x="100000" y="18365"/>
                </a:cubicBezTo>
                <a:cubicBezTo>
                  <a:pt x="100000" y="28508"/>
                  <a:pt x="91779" y="36729"/>
                  <a:pt x="81635" y="36729"/>
                </a:cubicBezTo>
                <a:cubicBezTo>
                  <a:pt x="81635" y="36729"/>
                  <a:pt x="81635" y="36729"/>
                  <a:pt x="81635" y="36729"/>
                </a:cubicBezTo>
                <a:lnTo>
                  <a:pt x="18365" y="36729"/>
                </a:lnTo>
                <a:cubicBezTo>
                  <a:pt x="18365" y="36729"/>
                  <a:pt x="18365" y="36729"/>
                  <a:pt x="18365" y="36729"/>
                </a:cubicBezTo>
                <a:cubicBezTo>
                  <a:pt x="8221" y="36729"/>
                  <a:pt x="0" y="28508"/>
                  <a:pt x="0" y="18365"/>
                </a:cubicBezTo>
                <a:cubicBezTo>
                  <a:pt x="0" y="18365"/>
                  <a:pt x="0" y="18365"/>
                  <a:pt x="0" y="18365"/>
                </a:cubicBezTo>
                <a:lnTo>
                  <a:pt x="0" y="18365"/>
                </a:lnTo>
                <a:cubicBezTo>
                  <a:pt x="0" y="18365"/>
                  <a:pt x="0" y="18365"/>
                  <a:pt x="0" y="18365"/>
                </a:cubicBezTo>
                <a:cubicBezTo>
                  <a:pt x="0" y="8221"/>
                  <a:pt x="8221" y="0"/>
                  <a:pt x="18365" y="0"/>
                </a:cubicBezTo>
                <a:cubicBezTo>
                  <a:pt x="18365" y="0"/>
                  <a:pt x="18365" y="0"/>
                  <a:pt x="18365"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8" name="Oval 75"/>
          <p:cNvSpPr/>
          <p:nvPr/>
        </p:nvSpPr>
        <p:spPr>
          <a:xfrm>
            <a:off x="5411470" y="4547235"/>
            <a:ext cx="43180" cy="4318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89" name="TextBox 76"/>
          <p:cNvSpPr txBox="1"/>
          <p:nvPr/>
        </p:nvSpPr>
        <p:spPr>
          <a:xfrm>
            <a:off x="5488940" y="4495800"/>
            <a:ext cx="245237" cy="146050"/>
          </a:xfrm>
          <a:prstGeom prst="rect">
            <a:avLst/>
          </a:prstGeom>
        </p:spPr>
        <p:txBody>
          <a:bodyPr wrap="square" lIns="0" tIns="0" rIns="0" bIns="0" anchor="ctr">
            <a:noAutofit/>
          </a:bodyPr>
          <a:lstStyle/>
          <a:p>
            <a:pPr>
              <a:lnSpc>
                <a:spcPct val="135000"/>
              </a:lnSpc>
            </a:pPr>
            <a:r>
              <a:rPr sz="440" b="1" spc="0">
                <a:solidFill>
                  <a:srgbClr val="99201C"/>
                </a:solidFill>
                <a:latin typeface="Telegraf"/>
              </a:rPr>
              <a:t>failed</a:t>
            </a:r>
            <a:endParaRPr sz="440" b="1" spc="0">
              <a:solidFill>
                <a:srgbClr val="99201C"/>
              </a:solidFill>
              <a:latin typeface="Telegraf"/>
            </a:endParaRPr>
          </a:p>
        </p:txBody>
      </p:sp>
      <p:sp>
        <p:nvSpPr>
          <p:cNvPr id="2490" name="Rectangle 77"/>
          <p:cNvSpPr/>
          <p:nvPr/>
        </p:nvSpPr>
        <p:spPr>
          <a:xfrm>
            <a:off x="5359400" y="4724400"/>
            <a:ext cx="300482" cy="146050"/>
          </a:xfrm>
          <a:custGeom>
            <a:avLst/>
            <a:gdLst/>
            <a:ahLst/>
            <a:cxnLst/>
            <a:rect l="l" t="t" r="r" b="b"/>
            <a:pathLst>
              <a:path w="100000" h="48605">
                <a:moveTo>
                  <a:pt x="75697" y="0"/>
                </a:moveTo>
                <a:cubicBezTo>
                  <a:pt x="75697" y="0"/>
                  <a:pt x="75697" y="0"/>
                  <a:pt x="75697" y="0"/>
                </a:cubicBezTo>
                <a:cubicBezTo>
                  <a:pt x="89121" y="0"/>
                  <a:pt x="100000" y="10879"/>
                  <a:pt x="100000" y="24303"/>
                </a:cubicBezTo>
                <a:cubicBezTo>
                  <a:pt x="100000" y="24303"/>
                  <a:pt x="100000" y="24303"/>
                  <a:pt x="100000" y="24303"/>
                </a:cubicBezTo>
                <a:lnTo>
                  <a:pt x="100000" y="24303"/>
                </a:lnTo>
                <a:cubicBezTo>
                  <a:pt x="100000" y="24303"/>
                  <a:pt x="100000" y="24303"/>
                  <a:pt x="100000" y="24303"/>
                </a:cubicBezTo>
                <a:cubicBezTo>
                  <a:pt x="100000" y="37726"/>
                  <a:pt x="89121" y="48605"/>
                  <a:pt x="75697" y="48605"/>
                </a:cubicBezTo>
                <a:cubicBezTo>
                  <a:pt x="75697" y="48605"/>
                  <a:pt x="75697" y="48605"/>
                  <a:pt x="75697" y="48605"/>
                </a:cubicBezTo>
                <a:lnTo>
                  <a:pt x="24303" y="48605"/>
                </a:lnTo>
                <a:cubicBezTo>
                  <a:pt x="24303" y="48605"/>
                  <a:pt x="24303" y="48605"/>
                  <a:pt x="24303" y="48605"/>
                </a:cubicBezTo>
                <a:cubicBezTo>
                  <a:pt x="10879" y="48605"/>
                  <a:pt x="0" y="37726"/>
                  <a:pt x="0" y="24303"/>
                </a:cubicBezTo>
                <a:cubicBezTo>
                  <a:pt x="0" y="24303"/>
                  <a:pt x="0" y="24303"/>
                  <a:pt x="0" y="24303"/>
                </a:cubicBezTo>
                <a:lnTo>
                  <a:pt x="0" y="24303"/>
                </a:lnTo>
                <a:cubicBezTo>
                  <a:pt x="0" y="24303"/>
                  <a:pt x="0" y="24303"/>
                  <a:pt x="0" y="24303"/>
                </a:cubicBezTo>
                <a:cubicBezTo>
                  <a:pt x="0" y="10879"/>
                  <a:pt x="10879" y="0"/>
                  <a:pt x="24303" y="0"/>
                </a:cubicBezTo>
                <a:cubicBezTo>
                  <a:pt x="24303" y="0"/>
                  <a:pt x="24303" y="0"/>
                  <a:pt x="24303" y="0"/>
                </a:cubicBezTo>
                <a:close/>
              </a:path>
            </a:pathLst>
          </a:custGeom>
          <a:solidFill>
            <a:srgbClr val="EAF0F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1" name="Oval 78"/>
          <p:cNvSpPr/>
          <p:nvPr/>
        </p:nvSpPr>
        <p:spPr>
          <a:xfrm>
            <a:off x="5411470" y="4775835"/>
            <a:ext cx="43180" cy="43180"/>
          </a:xfrm>
          <a:prstGeom prst="ellipse">
            <a:avLst/>
          </a:prstGeom>
          <a:solidFill>
            <a:srgbClr val="1E63D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2" name="TextBox 79"/>
          <p:cNvSpPr txBox="1"/>
          <p:nvPr/>
        </p:nvSpPr>
        <p:spPr>
          <a:xfrm>
            <a:off x="5488940" y="4724400"/>
            <a:ext cx="148082" cy="146050"/>
          </a:xfrm>
          <a:prstGeom prst="rect">
            <a:avLst/>
          </a:prstGeom>
        </p:spPr>
        <p:txBody>
          <a:bodyPr wrap="square" lIns="0" tIns="0" rIns="0" bIns="0" anchor="ctr">
            <a:noAutofit/>
          </a:bodyPr>
          <a:lstStyle/>
          <a:p>
            <a:pPr>
              <a:lnSpc>
                <a:spcPct val="135000"/>
              </a:lnSpc>
            </a:pPr>
            <a:r>
              <a:rPr sz="440" b="1" spc="0">
                <a:solidFill>
                  <a:srgbClr val="1B3F9E"/>
                </a:solidFill>
                <a:latin typeface="Telegraf"/>
              </a:rPr>
              <a:t>new</a:t>
            </a:r>
            <a:endParaRPr sz="440" b="1" spc="0">
              <a:solidFill>
                <a:srgbClr val="1B3F9E"/>
              </a:solidFill>
              <a:latin typeface="Telegraf"/>
            </a:endParaRPr>
          </a:p>
        </p:txBody>
      </p:sp>
      <p:sp>
        <p:nvSpPr>
          <p:cNvPr id="2493" name="Rectangle 80"/>
          <p:cNvSpPr/>
          <p:nvPr/>
        </p:nvSpPr>
        <p:spPr>
          <a:xfrm>
            <a:off x="5359400" y="4953000"/>
            <a:ext cx="397637" cy="146050"/>
          </a:xfrm>
          <a:custGeom>
            <a:avLst/>
            <a:gdLst/>
            <a:ahLst/>
            <a:cxnLst/>
            <a:rect l="l" t="t" r="r" b="b"/>
            <a:pathLst>
              <a:path w="100000" h="36729">
                <a:moveTo>
                  <a:pt x="81635" y="0"/>
                </a:moveTo>
                <a:cubicBezTo>
                  <a:pt x="81635" y="0"/>
                  <a:pt x="81635" y="0"/>
                  <a:pt x="81635" y="0"/>
                </a:cubicBezTo>
                <a:cubicBezTo>
                  <a:pt x="91779" y="0"/>
                  <a:pt x="100000" y="8221"/>
                  <a:pt x="100000" y="18365"/>
                </a:cubicBezTo>
                <a:cubicBezTo>
                  <a:pt x="100000" y="18365"/>
                  <a:pt x="100000" y="18365"/>
                  <a:pt x="100000" y="18365"/>
                </a:cubicBezTo>
                <a:lnTo>
                  <a:pt x="100000" y="18365"/>
                </a:lnTo>
                <a:cubicBezTo>
                  <a:pt x="100000" y="18365"/>
                  <a:pt x="100000" y="18365"/>
                  <a:pt x="100000" y="18365"/>
                </a:cubicBezTo>
                <a:cubicBezTo>
                  <a:pt x="100000" y="28508"/>
                  <a:pt x="91779" y="36729"/>
                  <a:pt x="81635" y="36729"/>
                </a:cubicBezTo>
                <a:cubicBezTo>
                  <a:pt x="81635" y="36729"/>
                  <a:pt x="81635" y="36729"/>
                  <a:pt x="81635" y="36729"/>
                </a:cubicBezTo>
                <a:lnTo>
                  <a:pt x="18365" y="36729"/>
                </a:lnTo>
                <a:cubicBezTo>
                  <a:pt x="18365" y="36729"/>
                  <a:pt x="18365" y="36729"/>
                  <a:pt x="18365" y="36729"/>
                </a:cubicBezTo>
                <a:cubicBezTo>
                  <a:pt x="8221" y="36729"/>
                  <a:pt x="0" y="28508"/>
                  <a:pt x="0" y="18365"/>
                </a:cubicBezTo>
                <a:cubicBezTo>
                  <a:pt x="0" y="18365"/>
                  <a:pt x="0" y="18365"/>
                  <a:pt x="0" y="18365"/>
                </a:cubicBezTo>
                <a:lnTo>
                  <a:pt x="0" y="18365"/>
                </a:lnTo>
                <a:cubicBezTo>
                  <a:pt x="0" y="18365"/>
                  <a:pt x="0" y="18365"/>
                  <a:pt x="0" y="18365"/>
                </a:cubicBezTo>
                <a:cubicBezTo>
                  <a:pt x="0" y="8221"/>
                  <a:pt x="8221" y="0"/>
                  <a:pt x="18365" y="0"/>
                </a:cubicBezTo>
                <a:cubicBezTo>
                  <a:pt x="18365" y="0"/>
                  <a:pt x="18365" y="0"/>
                  <a:pt x="18365" y="0"/>
                </a:cubicBezTo>
                <a:close/>
              </a:path>
            </a:pathLst>
          </a:custGeom>
          <a:solidFill>
            <a:srgbClr val="F1F1E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4" name="Oval 81"/>
          <p:cNvSpPr/>
          <p:nvPr/>
        </p:nvSpPr>
        <p:spPr>
          <a:xfrm>
            <a:off x="5411470" y="5004435"/>
            <a:ext cx="43180" cy="43180"/>
          </a:xfrm>
          <a:prstGeom prst="ellipse">
            <a:avLst/>
          </a:prstGeom>
          <a:solidFill>
            <a:srgbClr val="8A8A9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5" name="TextBox 82"/>
          <p:cNvSpPr txBox="1"/>
          <p:nvPr/>
        </p:nvSpPr>
        <p:spPr>
          <a:xfrm>
            <a:off x="5488940" y="4953000"/>
            <a:ext cx="245237" cy="146050"/>
          </a:xfrm>
          <a:prstGeom prst="rect">
            <a:avLst/>
          </a:prstGeom>
        </p:spPr>
        <p:txBody>
          <a:bodyPr wrap="square" lIns="0" tIns="0" rIns="0" bIns="0" anchor="ctr">
            <a:noAutofit/>
          </a:bodyPr>
          <a:lstStyle/>
          <a:p>
            <a:pPr>
              <a:lnSpc>
                <a:spcPct val="135000"/>
              </a:lnSpc>
            </a:pPr>
            <a:r>
              <a:rPr sz="440" b="1" spc="0">
                <a:solidFill>
                  <a:srgbClr val="50505A"/>
                </a:solidFill>
                <a:latin typeface="Telegraf"/>
              </a:rPr>
              <a:t>closed</a:t>
            </a:r>
            <a:endParaRPr sz="440" b="1" spc="0">
              <a:solidFill>
                <a:srgbClr val="50505A"/>
              </a:solidFill>
              <a:latin typeface="Telegraf"/>
            </a:endParaRPr>
          </a:p>
        </p:txBody>
      </p:sp>
      <p:sp>
        <p:nvSpPr>
          <p:cNvPr id="2496" name="Rectangle 83"/>
          <p:cNvSpPr/>
          <p:nvPr/>
        </p:nvSpPr>
        <p:spPr>
          <a:xfrm>
            <a:off x="6604000" y="3835400"/>
            <a:ext cx="279400" cy="139700"/>
          </a:xfrm>
          <a:custGeom>
            <a:avLst/>
            <a:gdLst/>
            <a:ahLst/>
            <a:cxnLst/>
            <a:rect l="l" t="t" r="r" b="b"/>
            <a:pathLst>
              <a:path w="100000" h="50000">
                <a:moveTo>
                  <a:pt x="75000" y="0"/>
                </a:moveTo>
                <a:cubicBezTo>
                  <a:pt x="75000" y="0"/>
                  <a:pt x="75000" y="0"/>
                  <a:pt x="75000" y="0"/>
                </a:cubicBezTo>
                <a:cubicBezTo>
                  <a:pt x="88809" y="0"/>
                  <a:pt x="100000" y="11191"/>
                  <a:pt x="100000" y="25000"/>
                </a:cubicBezTo>
                <a:cubicBezTo>
                  <a:pt x="100000" y="25000"/>
                  <a:pt x="100000" y="25000"/>
                  <a:pt x="100000" y="25000"/>
                </a:cubicBezTo>
                <a:lnTo>
                  <a:pt x="100000" y="25000"/>
                </a:lnTo>
                <a:cubicBezTo>
                  <a:pt x="100000" y="25000"/>
                  <a:pt x="100000" y="25000"/>
                  <a:pt x="100000" y="25000"/>
                </a:cubicBezTo>
                <a:cubicBezTo>
                  <a:pt x="100000" y="38809"/>
                  <a:pt x="88809" y="50000"/>
                  <a:pt x="75000" y="50000"/>
                </a:cubicBezTo>
                <a:cubicBezTo>
                  <a:pt x="75000" y="50000"/>
                  <a:pt x="75000" y="50000"/>
                  <a:pt x="75000" y="50000"/>
                </a:cubicBezTo>
                <a:lnTo>
                  <a:pt x="25000" y="50000"/>
                </a:lnTo>
                <a:cubicBezTo>
                  <a:pt x="25000" y="50000"/>
                  <a:pt x="25000" y="50000"/>
                  <a:pt x="25000" y="50000"/>
                </a:cubicBezTo>
                <a:cubicBezTo>
                  <a:pt x="11191" y="50000"/>
                  <a:pt x="0" y="38809"/>
                  <a:pt x="0" y="25000"/>
                </a:cubicBezTo>
                <a:cubicBezTo>
                  <a:pt x="0" y="25000"/>
                  <a:pt x="0" y="25000"/>
                  <a:pt x="0" y="25000"/>
                </a:cubicBezTo>
                <a:lnTo>
                  <a:pt x="0" y="25000"/>
                </a:lnTo>
                <a:cubicBezTo>
                  <a:pt x="0" y="25000"/>
                  <a:pt x="0" y="25000"/>
                  <a:pt x="0" y="25000"/>
                </a:cubicBezTo>
                <a:cubicBezTo>
                  <a:pt x="0" y="11191"/>
                  <a:pt x="11191" y="0"/>
                  <a:pt x="25000" y="0"/>
                </a:cubicBezTo>
                <a:cubicBezTo>
                  <a:pt x="25000" y="0"/>
                  <a:pt x="25000" y="0"/>
                  <a:pt x="25000"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7" name="Oval 84"/>
          <p:cNvSpPr/>
          <p:nvPr/>
        </p:nvSpPr>
        <p:spPr>
          <a:xfrm>
            <a:off x="6762750" y="3854450"/>
            <a:ext cx="101600" cy="10160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8" name="Rectangle 85"/>
          <p:cNvSpPr/>
          <p:nvPr/>
        </p:nvSpPr>
        <p:spPr>
          <a:xfrm>
            <a:off x="6604000" y="4089400"/>
            <a:ext cx="279400" cy="139700"/>
          </a:xfrm>
          <a:custGeom>
            <a:avLst/>
            <a:gdLst/>
            <a:ahLst/>
            <a:cxnLst/>
            <a:rect l="l" t="t" r="r" b="b"/>
            <a:pathLst>
              <a:path w="100000" h="50000">
                <a:moveTo>
                  <a:pt x="75000" y="0"/>
                </a:moveTo>
                <a:cubicBezTo>
                  <a:pt x="75000" y="0"/>
                  <a:pt x="75000" y="0"/>
                  <a:pt x="75000" y="0"/>
                </a:cubicBezTo>
                <a:cubicBezTo>
                  <a:pt x="88809" y="0"/>
                  <a:pt x="100000" y="11191"/>
                  <a:pt x="100000" y="25000"/>
                </a:cubicBezTo>
                <a:cubicBezTo>
                  <a:pt x="100000" y="25000"/>
                  <a:pt x="100000" y="25000"/>
                  <a:pt x="100000" y="25000"/>
                </a:cubicBezTo>
                <a:lnTo>
                  <a:pt x="100000" y="25000"/>
                </a:lnTo>
                <a:cubicBezTo>
                  <a:pt x="100000" y="25000"/>
                  <a:pt x="100000" y="25000"/>
                  <a:pt x="100000" y="25000"/>
                </a:cubicBezTo>
                <a:cubicBezTo>
                  <a:pt x="100000" y="38809"/>
                  <a:pt x="88809" y="50000"/>
                  <a:pt x="75000" y="50000"/>
                </a:cubicBezTo>
                <a:cubicBezTo>
                  <a:pt x="75000" y="50000"/>
                  <a:pt x="75000" y="50000"/>
                  <a:pt x="75000" y="50000"/>
                </a:cubicBezTo>
                <a:lnTo>
                  <a:pt x="25000" y="50000"/>
                </a:lnTo>
                <a:cubicBezTo>
                  <a:pt x="25000" y="50000"/>
                  <a:pt x="25000" y="50000"/>
                  <a:pt x="25000" y="50000"/>
                </a:cubicBezTo>
                <a:cubicBezTo>
                  <a:pt x="11191" y="50000"/>
                  <a:pt x="0" y="38809"/>
                  <a:pt x="0" y="25000"/>
                </a:cubicBezTo>
                <a:cubicBezTo>
                  <a:pt x="0" y="25000"/>
                  <a:pt x="0" y="25000"/>
                  <a:pt x="0" y="25000"/>
                </a:cubicBezTo>
                <a:lnTo>
                  <a:pt x="0" y="25000"/>
                </a:lnTo>
                <a:cubicBezTo>
                  <a:pt x="0" y="25000"/>
                  <a:pt x="0" y="25000"/>
                  <a:pt x="0" y="25000"/>
                </a:cubicBezTo>
                <a:cubicBezTo>
                  <a:pt x="0" y="11191"/>
                  <a:pt x="11191" y="0"/>
                  <a:pt x="25000" y="0"/>
                </a:cubicBezTo>
                <a:cubicBezTo>
                  <a:pt x="25000" y="0"/>
                  <a:pt x="25000" y="0"/>
                  <a:pt x="25000" y="0"/>
                </a:cubicBezTo>
                <a:close/>
              </a:path>
            </a:pathLst>
          </a:custGeom>
          <a:solidFill>
            <a:srgbClr val="DCDCD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499" name="Oval 86"/>
          <p:cNvSpPr/>
          <p:nvPr/>
        </p:nvSpPr>
        <p:spPr>
          <a:xfrm>
            <a:off x="6623050" y="4108450"/>
            <a:ext cx="101600" cy="10160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00" name="Rectangle 87"/>
          <p:cNvSpPr/>
          <p:nvPr/>
        </p:nvSpPr>
        <p:spPr>
          <a:xfrm>
            <a:off x="6604000" y="4394200"/>
            <a:ext cx="584200" cy="203200"/>
          </a:xfrm>
          <a:custGeom>
            <a:avLst/>
            <a:gdLst/>
            <a:ahLst/>
            <a:cxnLst/>
            <a:rect l="l" t="t" r="r" b="b"/>
            <a:pathLst>
              <a:path w="100000" h="34783">
                <a:moveTo>
                  <a:pt x="82609" y="0"/>
                </a:moveTo>
                <a:cubicBezTo>
                  <a:pt x="82609" y="0"/>
                  <a:pt x="82609" y="0"/>
                  <a:pt x="82609" y="0"/>
                </a:cubicBezTo>
                <a:cubicBezTo>
                  <a:pt x="92213" y="0"/>
                  <a:pt x="100000" y="7787"/>
                  <a:pt x="100000" y="17391"/>
                </a:cubicBezTo>
                <a:cubicBezTo>
                  <a:pt x="100000" y="17391"/>
                  <a:pt x="100000" y="17391"/>
                  <a:pt x="100000" y="17391"/>
                </a:cubicBezTo>
                <a:lnTo>
                  <a:pt x="100000" y="17391"/>
                </a:lnTo>
                <a:cubicBezTo>
                  <a:pt x="100000" y="17391"/>
                  <a:pt x="100000" y="17391"/>
                  <a:pt x="100000" y="17391"/>
                </a:cubicBezTo>
                <a:cubicBezTo>
                  <a:pt x="100000" y="26996"/>
                  <a:pt x="92213" y="34783"/>
                  <a:pt x="82609" y="34783"/>
                </a:cubicBezTo>
                <a:cubicBezTo>
                  <a:pt x="82609" y="34783"/>
                  <a:pt x="82609" y="34783"/>
                  <a:pt x="82609" y="34783"/>
                </a:cubicBezTo>
                <a:lnTo>
                  <a:pt x="17391" y="34783"/>
                </a:lnTo>
                <a:cubicBezTo>
                  <a:pt x="17391" y="34783"/>
                  <a:pt x="17391" y="34783"/>
                  <a:pt x="17391" y="34783"/>
                </a:cubicBezTo>
                <a:cubicBezTo>
                  <a:pt x="7787" y="34783"/>
                  <a:pt x="0" y="26996"/>
                  <a:pt x="0" y="17391"/>
                </a:cubicBezTo>
                <a:cubicBezTo>
                  <a:pt x="0" y="17391"/>
                  <a:pt x="0" y="17391"/>
                  <a:pt x="0" y="17391"/>
                </a:cubicBezTo>
                <a:lnTo>
                  <a:pt x="0" y="17391"/>
                </a:lnTo>
                <a:cubicBezTo>
                  <a:pt x="0" y="17391"/>
                  <a:pt x="0" y="17391"/>
                  <a:pt x="0" y="17391"/>
                </a:cubicBezTo>
                <a:cubicBezTo>
                  <a:pt x="0" y="7787"/>
                  <a:pt x="7787" y="0"/>
                  <a:pt x="17391" y="0"/>
                </a:cubicBezTo>
                <a:cubicBezTo>
                  <a:pt x="17391" y="0"/>
                  <a:pt x="17391" y="0"/>
                  <a:pt x="17391" y="0"/>
                </a:cubicBezTo>
                <a:close/>
              </a:path>
            </a:pathLst>
          </a:cu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01" name="TextBox 88"/>
          <p:cNvSpPr txBox="1"/>
          <p:nvPr/>
        </p:nvSpPr>
        <p:spPr>
          <a:xfrm>
            <a:off x="6692900" y="4394200"/>
            <a:ext cx="431800" cy="203200"/>
          </a:xfrm>
          <a:prstGeom prst="rect">
            <a:avLst/>
          </a:prstGeom>
        </p:spPr>
        <p:txBody>
          <a:bodyPr wrap="square" lIns="0" tIns="0" rIns="0" bIns="0" anchor="ctr">
            <a:noAutofit/>
          </a:bodyPr>
          <a:lstStyle/>
          <a:p>
            <a:pPr>
              <a:lnSpc>
                <a:spcPct val="135000"/>
              </a:lnSpc>
            </a:pPr>
            <a:r>
              <a:rPr sz="400" b="1" spc="0">
                <a:solidFill>
                  <a:srgbClr val="FFFFFF"/>
                </a:solidFill>
                <a:latin typeface="Telegraf"/>
              </a:rPr>
              <a:t>On</a:t>
            </a:r>
            <a:endParaRPr sz="400" b="1" spc="0">
              <a:solidFill>
                <a:srgbClr val="FFFFFF"/>
              </a:solidFill>
              <a:latin typeface="Telegraf"/>
            </a:endParaRPr>
          </a:p>
        </p:txBody>
      </p:sp>
      <p:sp>
        <p:nvSpPr>
          <p:cNvPr id="2502" name="Rectangle 89"/>
          <p:cNvSpPr/>
          <p:nvPr/>
        </p:nvSpPr>
        <p:spPr>
          <a:xfrm>
            <a:off x="6604000" y="4673600"/>
            <a:ext cx="584200" cy="203200"/>
          </a:xfrm>
          <a:custGeom>
            <a:avLst/>
            <a:gdLst/>
            <a:ahLst/>
            <a:cxnLst/>
            <a:rect l="l" t="t" r="r" b="b"/>
            <a:pathLst>
              <a:path w="100000" h="34783">
                <a:moveTo>
                  <a:pt x="82609" y="0"/>
                </a:moveTo>
                <a:cubicBezTo>
                  <a:pt x="82609" y="0"/>
                  <a:pt x="82609" y="0"/>
                  <a:pt x="82609" y="0"/>
                </a:cubicBezTo>
                <a:cubicBezTo>
                  <a:pt x="92213" y="0"/>
                  <a:pt x="100000" y="7787"/>
                  <a:pt x="100000" y="17391"/>
                </a:cubicBezTo>
                <a:cubicBezTo>
                  <a:pt x="100000" y="17391"/>
                  <a:pt x="100000" y="17391"/>
                  <a:pt x="100000" y="17391"/>
                </a:cubicBezTo>
                <a:lnTo>
                  <a:pt x="100000" y="17391"/>
                </a:lnTo>
                <a:cubicBezTo>
                  <a:pt x="100000" y="17391"/>
                  <a:pt x="100000" y="17391"/>
                  <a:pt x="100000" y="17391"/>
                </a:cubicBezTo>
                <a:cubicBezTo>
                  <a:pt x="100000" y="26996"/>
                  <a:pt x="92213" y="34783"/>
                  <a:pt x="82609" y="34783"/>
                </a:cubicBezTo>
                <a:cubicBezTo>
                  <a:pt x="82609" y="34783"/>
                  <a:pt x="82609" y="34783"/>
                  <a:pt x="82609" y="34783"/>
                </a:cubicBezTo>
                <a:lnTo>
                  <a:pt x="17391" y="34783"/>
                </a:lnTo>
                <a:cubicBezTo>
                  <a:pt x="17391" y="34783"/>
                  <a:pt x="17391" y="34783"/>
                  <a:pt x="17391" y="34783"/>
                </a:cubicBezTo>
                <a:cubicBezTo>
                  <a:pt x="7787" y="34783"/>
                  <a:pt x="0" y="26996"/>
                  <a:pt x="0" y="17391"/>
                </a:cubicBezTo>
                <a:cubicBezTo>
                  <a:pt x="0" y="17391"/>
                  <a:pt x="0" y="17391"/>
                  <a:pt x="0" y="17391"/>
                </a:cubicBezTo>
                <a:lnTo>
                  <a:pt x="0" y="17391"/>
                </a:lnTo>
                <a:cubicBezTo>
                  <a:pt x="0" y="17391"/>
                  <a:pt x="0" y="17391"/>
                  <a:pt x="0" y="17391"/>
                </a:cubicBezTo>
                <a:cubicBezTo>
                  <a:pt x="0" y="7787"/>
                  <a:pt x="7787" y="0"/>
                  <a:pt x="17391" y="0"/>
                </a:cubicBezTo>
                <a:cubicBezTo>
                  <a:pt x="17391" y="0"/>
                  <a:pt x="17391" y="0"/>
                  <a:pt x="17391"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03" name="TextBox 90"/>
          <p:cNvSpPr txBox="1"/>
          <p:nvPr/>
        </p:nvSpPr>
        <p:spPr>
          <a:xfrm>
            <a:off x="6692900" y="4673600"/>
            <a:ext cx="431800" cy="203200"/>
          </a:xfrm>
          <a:prstGeom prst="rect">
            <a:avLst/>
          </a:prstGeom>
        </p:spPr>
        <p:txBody>
          <a:bodyPr wrap="square" lIns="0" tIns="0" rIns="0" bIns="0" anchor="ctr">
            <a:noAutofit/>
          </a:bodyPr>
          <a:lstStyle/>
          <a:p>
            <a:pPr>
              <a:lnSpc>
                <a:spcPct val="135000"/>
              </a:lnSpc>
            </a:pPr>
            <a:r>
              <a:rPr sz="400" spc="0">
                <a:solidFill>
                  <a:srgbClr val="67676E"/>
                </a:solidFill>
                <a:latin typeface="Telegraf"/>
              </a:rPr>
              <a:t>Off</a:t>
            </a:r>
            <a:endParaRPr sz="400" spc="0">
              <a:solidFill>
                <a:srgbClr val="67676E"/>
              </a:solidFill>
              <a:latin typeface="Telegraf"/>
            </a:endParaRPr>
          </a:p>
        </p:txBody>
      </p:sp>
      <p:sp>
        <p:nvSpPr>
          <p:cNvPr id="2504" name="TextBox 91"/>
          <p:cNvSpPr txBox="1"/>
          <p:nvPr/>
        </p:nvSpPr>
        <p:spPr>
          <a:xfrm>
            <a:off x="5359400" y="5130800"/>
            <a:ext cx="2032000" cy="127000"/>
          </a:xfrm>
          <a:prstGeom prst="rect">
            <a:avLst/>
          </a:prstGeom>
        </p:spPr>
        <p:txBody>
          <a:bodyPr wrap="square" lIns="0" tIns="0" rIns="0" bIns="0">
            <a:noAutofit/>
          </a:bodyPr>
          <a:lstStyle/>
          <a:p>
            <a:pPr>
              <a:lnSpc>
                <a:spcPct val="135000"/>
              </a:lnSpc>
            </a:pPr>
            <a:r>
              <a:rPr sz="420" spc="0">
                <a:solidFill>
                  <a:srgbClr val="A2A2A8"/>
                </a:solidFill>
                <a:latin typeface="Telegraf"/>
              </a:rPr>
              <a:t>One family, six states.</a:t>
            </a:r>
            <a:endParaRPr sz="420" spc="0">
              <a:solidFill>
                <a:srgbClr val="A2A2A8"/>
              </a:solidFill>
              <a:latin typeface="Telegraf"/>
            </a:endParaRPr>
          </a:p>
        </p:txBody>
      </p:sp>
      <p:sp>
        <p:nvSpPr>
          <p:cNvPr id="2505" name="Rectangle 92"/>
          <p:cNvSpPr/>
          <p:nvPr/>
        </p:nvSpPr>
        <p:spPr>
          <a:xfrm>
            <a:off x="7747000" y="3479800"/>
            <a:ext cx="2362200" cy="1930400"/>
          </a:xfrm>
          <a:custGeom>
            <a:avLst/>
            <a:gdLst/>
            <a:ahLst/>
            <a:cxnLst/>
            <a:rect l="l" t="t" r="r" b="b"/>
            <a:pathLst>
              <a:path w="100000" h="81720">
                <a:moveTo>
                  <a:pt x="87097" y="0"/>
                </a:moveTo>
                <a:cubicBezTo>
                  <a:pt x="93180" y="0"/>
                  <a:pt x="96221" y="0"/>
                  <a:pt x="98110" y="1890"/>
                </a:cubicBezTo>
                <a:cubicBezTo>
                  <a:pt x="98110" y="1890"/>
                  <a:pt x="98110" y="1890"/>
                  <a:pt x="98110" y="1890"/>
                </a:cubicBezTo>
                <a:cubicBezTo>
                  <a:pt x="100000" y="3779"/>
                  <a:pt x="100000" y="6820"/>
                  <a:pt x="100000" y="12903"/>
                </a:cubicBezTo>
                <a:lnTo>
                  <a:pt x="100000" y="68817"/>
                </a:lnTo>
                <a:cubicBezTo>
                  <a:pt x="100000" y="74900"/>
                  <a:pt x="100000" y="77941"/>
                  <a:pt x="98110" y="79831"/>
                </a:cubicBezTo>
                <a:cubicBezTo>
                  <a:pt x="98110" y="79831"/>
                  <a:pt x="98110" y="79831"/>
                  <a:pt x="98110" y="79831"/>
                </a:cubicBezTo>
                <a:cubicBezTo>
                  <a:pt x="96221" y="81720"/>
                  <a:pt x="93180" y="81720"/>
                  <a:pt x="87097" y="81720"/>
                </a:cubicBezTo>
                <a:lnTo>
                  <a:pt x="12903" y="81720"/>
                </a:lnTo>
                <a:cubicBezTo>
                  <a:pt x="6820" y="81720"/>
                  <a:pt x="3779" y="81720"/>
                  <a:pt x="1890" y="79831"/>
                </a:cubicBezTo>
                <a:cubicBezTo>
                  <a:pt x="1890" y="79831"/>
                  <a:pt x="1890" y="79831"/>
                  <a:pt x="1890" y="79831"/>
                </a:cubicBezTo>
                <a:cubicBezTo>
                  <a:pt x="0" y="77941"/>
                  <a:pt x="0" y="74900"/>
                  <a:pt x="0" y="68817"/>
                </a:cubicBezTo>
                <a:lnTo>
                  <a:pt x="0" y="12903"/>
                </a:lnTo>
                <a:cubicBezTo>
                  <a:pt x="0" y="6820"/>
                  <a:pt x="0" y="3779"/>
                  <a:pt x="1890" y="1890"/>
                </a:cubicBezTo>
                <a:cubicBezTo>
                  <a:pt x="1890" y="1890"/>
                  <a:pt x="1890" y="1890"/>
                  <a:pt x="1890" y="1890"/>
                </a:cubicBezTo>
                <a:cubicBezTo>
                  <a:pt x="3779" y="0"/>
                  <a:pt x="6820" y="0"/>
                  <a:pt x="12903"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06" name="TextBox 93"/>
          <p:cNvSpPr txBox="1"/>
          <p:nvPr/>
        </p:nvSpPr>
        <p:spPr>
          <a:xfrm>
            <a:off x="7924800" y="3606800"/>
            <a:ext cx="2032000" cy="114300"/>
          </a:xfrm>
          <a:prstGeom prst="rect">
            <a:avLst/>
          </a:prstGeom>
        </p:spPr>
        <p:txBody>
          <a:bodyPr wrap="square" lIns="0" tIns="0" rIns="0" bIns="0">
            <a:noAutofit/>
          </a:bodyPr>
          <a:lstStyle/>
          <a:p>
            <a:r>
              <a:rPr sz="440" b="1" spc="105">
                <a:solidFill>
                  <a:srgbClr val="A2A2A8"/>
                </a:solidFill>
                <a:latin typeface="Telegraf"/>
              </a:rPr>
              <a:t>TOASTS</a:t>
            </a:r>
            <a:endParaRPr sz="440" b="1" spc="105">
              <a:solidFill>
                <a:srgbClr val="A2A2A8"/>
              </a:solidFill>
              <a:latin typeface="Telegraf"/>
            </a:endParaRPr>
          </a:p>
        </p:txBody>
      </p:sp>
      <p:sp>
        <p:nvSpPr>
          <p:cNvPr id="2507" name="Rectangle 94"/>
          <p:cNvSpPr/>
          <p:nvPr/>
        </p:nvSpPr>
        <p:spPr>
          <a:xfrm>
            <a:off x="7924800" y="3810000"/>
            <a:ext cx="2006600" cy="330200"/>
          </a:xfrm>
          <a:custGeom>
            <a:avLst/>
            <a:gdLst/>
            <a:ahLst/>
            <a:cxnLst/>
            <a:rect l="l" t="t" r="r" b="b"/>
            <a:pathLst>
              <a:path w="100000" h="16456">
                <a:moveTo>
                  <a:pt x="91772" y="0"/>
                </a:moveTo>
                <a:cubicBezTo>
                  <a:pt x="94727" y="0"/>
                  <a:pt x="96205" y="0"/>
                  <a:pt x="97323" y="598"/>
                </a:cubicBezTo>
                <a:cubicBezTo>
                  <a:pt x="98207" y="1070"/>
                  <a:pt x="98930" y="1793"/>
                  <a:pt x="99402" y="2677"/>
                </a:cubicBezTo>
                <a:cubicBezTo>
                  <a:pt x="100000" y="3795"/>
                  <a:pt x="100000" y="5273"/>
                  <a:pt x="100000" y="8228"/>
                </a:cubicBezTo>
                <a:lnTo>
                  <a:pt x="100000" y="8228"/>
                </a:lnTo>
                <a:cubicBezTo>
                  <a:pt x="100000" y="11183"/>
                  <a:pt x="100000" y="12661"/>
                  <a:pt x="99402" y="13779"/>
                </a:cubicBezTo>
                <a:cubicBezTo>
                  <a:pt x="98930" y="14663"/>
                  <a:pt x="98207" y="15386"/>
                  <a:pt x="97323" y="15858"/>
                </a:cubicBezTo>
                <a:cubicBezTo>
                  <a:pt x="96205" y="16456"/>
                  <a:pt x="94727" y="16456"/>
                  <a:pt x="91772" y="16456"/>
                </a:cubicBezTo>
                <a:lnTo>
                  <a:pt x="8228" y="16456"/>
                </a:lnTo>
                <a:cubicBezTo>
                  <a:pt x="5273" y="16456"/>
                  <a:pt x="3795" y="16456"/>
                  <a:pt x="2677" y="15858"/>
                </a:cubicBezTo>
                <a:cubicBezTo>
                  <a:pt x="1793" y="15386"/>
                  <a:pt x="1070" y="14663"/>
                  <a:pt x="598" y="13779"/>
                </a:cubicBezTo>
                <a:cubicBezTo>
                  <a:pt x="0" y="12661"/>
                  <a:pt x="0" y="11183"/>
                  <a:pt x="0" y="8228"/>
                </a:cubicBezTo>
                <a:lnTo>
                  <a:pt x="0" y="8228"/>
                </a:lnTo>
                <a:cubicBezTo>
                  <a:pt x="0" y="5273"/>
                  <a:pt x="0" y="3795"/>
                  <a:pt x="598" y="2677"/>
                </a:cubicBezTo>
                <a:cubicBezTo>
                  <a:pt x="1070" y="1793"/>
                  <a:pt x="1793" y="1070"/>
                  <a:pt x="2677" y="598"/>
                </a:cubicBezTo>
                <a:cubicBezTo>
                  <a:pt x="3795" y="0"/>
                  <a:pt x="5273" y="0"/>
                  <a:pt x="8228" y="0"/>
                </a:cubicBezTo>
                <a:close/>
              </a:path>
            </a:pathLst>
          </a:custGeom>
          <a:solidFill>
            <a:srgbClr val="E7F6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08" name="Oval 95"/>
          <p:cNvSpPr/>
          <p:nvPr/>
        </p:nvSpPr>
        <p:spPr>
          <a:xfrm>
            <a:off x="8026400" y="3949700"/>
            <a:ext cx="50800" cy="50800"/>
          </a:xfrm>
          <a:prstGeom prst="ellipse">
            <a:avLst/>
          </a:prstGeom>
          <a:solidFill>
            <a:srgbClr val="10B98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09" name="TextBox 96"/>
          <p:cNvSpPr txBox="1"/>
          <p:nvPr/>
        </p:nvSpPr>
        <p:spPr>
          <a:xfrm>
            <a:off x="8128000" y="3810000"/>
            <a:ext cx="1701800" cy="330200"/>
          </a:xfrm>
          <a:prstGeom prst="rect">
            <a:avLst/>
          </a:prstGeom>
        </p:spPr>
        <p:txBody>
          <a:bodyPr wrap="square" lIns="0" tIns="0" rIns="0" bIns="0" anchor="ctr">
            <a:noAutofit/>
          </a:bodyPr>
          <a:lstStyle/>
          <a:p>
            <a:pPr>
              <a:lnSpc>
                <a:spcPct val="135000"/>
              </a:lnSpc>
            </a:pPr>
            <a:r>
              <a:rPr sz="450" spc="0">
                <a:solidFill>
                  <a:srgbClr val="0B5C44"/>
                </a:solidFill>
                <a:latin typeface="Telegraf"/>
              </a:rPr>
              <a:t>Answer sent  ·  R6</a:t>
            </a:r>
            <a:endParaRPr sz="450" spc="0">
              <a:solidFill>
                <a:srgbClr val="0B5C44"/>
              </a:solidFill>
              <a:latin typeface="Telegraf"/>
            </a:endParaRPr>
          </a:p>
        </p:txBody>
      </p:sp>
      <p:sp>
        <p:nvSpPr>
          <p:cNvPr id="2510" name="Rectangle 97"/>
          <p:cNvSpPr/>
          <p:nvPr/>
        </p:nvSpPr>
        <p:spPr>
          <a:xfrm>
            <a:off x="7924800" y="4241800"/>
            <a:ext cx="2006600" cy="330200"/>
          </a:xfrm>
          <a:custGeom>
            <a:avLst/>
            <a:gdLst/>
            <a:ahLst/>
            <a:cxnLst/>
            <a:rect l="l" t="t" r="r" b="b"/>
            <a:pathLst>
              <a:path w="100000" h="16456">
                <a:moveTo>
                  <a:pt x="91772" y="0"/>
                </a:moveTo>
                <a:cubicBezTo>
                  <a:pt x="94727" y="0"/>
                  <a:pt x="96205" y="0"/>
                  <a:pt x="97323" y="598"/>
                </a:cubicBezTo>
                <a:cubicBezTo>
                  <a:pt x="98207" y="1070"/>
                  <a:pt x="98930" y="1793"/>
                  <a:pt x="99402" y="2677"/>
                </a:cubicBezTo>
                <a:cubicBezTo>
                  <a:pt x="100000" y="3795"/>
                  <a:pt x="100000" y="5273"/>
                  <a:pt x="100000" y="8228"/>
                </a:cubicBezTo>
                <a:lnTo>
                  <a:pt x="100000" y="8228"/>
                </a:lnTo>
                <a:cubicBezTo>
                  <a:pt x="100000" y="11183"/>
                  <a:pt x="100000" y="12661"/>
                  <a:pt x="99402" y="13779"/>
                </a:cubicBezTo>
                <a:cubicBezTo>
                  <a:pt x="98930" y="14663"/>
                  <a:pt x="98207" y="15386"/>
                  <a:pt x="97323" y="15858"/>
                </a:cubicBezTo>
                <a:cubicBezTo>
                  <a:pt x="96205" y="16456"/>
                  <a:pt x="94727" y="16456"/>
                  <a:pt x="91772" y="16456"/>
                </a:cubicBezTo>
                <a:lnTo>
                  <a:pt x="8228" y="16456"/>
                </a:lnTo>
                <a:cubicBezTo>
                  <a:pt x="5273" y="16456"/>
                  <a:pt x="3795" y="16456"/>
                  <a:pt x="2677" y="15858"/>
                </a:cubicBezTo>
                <a:cubicBezTo>
                  <a:pt x="1793" y="15386"/>
                  <a:pt x="1070" y="14663"/>
                  <a:pt x="598" y="13779"/>
                </a:cubicBezTo>
                <a:cubicBezTo>
                  <a:pt x="0" y="12661"/>
                  <a:pt x="0" y="11183"/>
                  <a:pt x="0" y="8228"/>
                </a:cubicBezTo>
                <a:lnTo>
                  <a:pt x="0" y="8228"/>
                </a:lnTo>
                <a:cubicBezTo>
                  <a:pt x="0" y="5273"/>
                  <a:pt x="0" y="3795"/>
                  <a:pt x="598" y="2677"/>
                </a:cubicBezTo>
                <a:cubicBezTo>
                  <a:pt x="1070" y="1793"/>
                  <a:pt x="1793" y="1070"/>
                  <a:pt x="2677" y="598"/>
                </a:cubicBezTo>
                <a:cubicBezTo>
                  <a:pt x="3795" y="0"/>
                  <a:pt x="5273" y="0"/>
                  <a:pt x="8228" y="0"/>
                </a:cubicBezTo>
                <a:close/>
              </a:path>
            </a:pathLst>
          </a:custGeom>
          <a:solidFill>
            <a:srgbClr val="FBEAE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11" name="Oval 98"/>
          <p:cNvSpPr/>
          <p:nvPr/>
        </p:nvSpPr>
        <p:spPr>
          <a:xfrm>
            <a:off x="8026400" y="4381500"/>
            <a:ext cx="50800" cy="50800"/>
          </a:xfrm>
          <a:prstGeom prst="ellipse">
            <a:avLst/>
          </a:prstGeom>
          <a:solidFill>
            <a:srgbClr val="EF444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12" name="TextBox 99"/>
          <p:cNvSpPr txBox="1"/>
          <p:nvPr/>
        </p:nvSpPr>
        <p:spPr>
          <a:xfrm>
            <a:off x="8128000" y="4241800"/>
            <a:ext cx="1701800" cy="330200"/>
          </a:xfrm>
          <a:prstGeom prst="rect">
            <a:avLst/>
          </a:prstGeom>
        </p:spPr>
        <p:txBody>
          <a:bodyPr wrap="square" lIns="0" tIns="0" rIns="0" bIns="0" anchor="ctr">
            <a:noAutofit/>
          </a:bodyPr>
          <a:lstStyle/>
          <a:p>
            <a:pPr>
              <a:lnSpc>
                <a:spcPct val="135000"/>
              </a:lnSpc>
            </a:pPr>
            <a:r>
              <a:rPr sz="450" spc="0">
                <a:solidFill>
                  <a:srgbClr val="99201C"/>
                </a:solidFill>
                <a:latin typeface="Telegraf"/>
              </a:rPr>
              <a:t>Send failed  ·  R7</a:t>
            </a:r>
            <a:endParaRPr sz="450" spc="0">
              <a:solidFill>
                <a:srgbClr val="99201C"/>
              </a:solidFill>
              <a:latin typeface="Telegraf"/>
            </a:endParaRPr>
          </a:p>
        </p:txBody>
      </p:sp>
      <p:sp>
        <p:nvSpPr>
          <p:cNvPr id="2513" name="Rectangle 100"/>
          <p:cNvSpPr/>
          <p:nvPr/>
        </p:nvSpPr>
        <p:spPr>
          <a:xfrm>
            <a:off x="7924800" y="4673600"/>
            <a:ext cx="2006600" cy="330200"/>
          </a:xfrm>
          <a:custGeom>
            <a:avLst/>
            <a:gdLst/>
            <a:ahLst/>
            <a:cxnLst/>
            <a:rect l="l" t="t" r="r" b="b"/>
            <a:pathLst>
              <a:path w="100000" h="16456">
                <a:moveTo>
                  <a:pt x="91772" y="0"/>
                </a:moveTo>
                <a:cubicBezTo>
                  <a:pt x="94727" y="0"/>
                  <a:pt x="96205" y="0"/>
                  <a:pt x="97323" y="598"/>
                </a:cubicBezTo>
                <a:cubicBezTo>
                  <a:pt x="98207" y="1070"/>
                  <a:pt x="98930" y="1793"/>
                  <a:pt x="99402" y="2677"/>
                </a:cubicBezTo>
                <a:cubicBezTo>
                  <a:pt x="100000" y="3795"/>
                  <a:pt x="100000" y="5273"/>
                  <a:pt x="100000" y="8228"/>
                </a:cubicBezTo>
                <a:lnTo>
                  <a:pt x="100000" y="8228"/>
                </a:lnTo>
                <a:cubicBezTo>
                  <a:pt x="100000" y="11183"/>
                  <a:pt x="100000" y="12661"/>
                  <a:pt x="99402" y="13779"/>
                </a:cubicBezTo>
                <a:cubicBezTo>
                  <a:pt x="98930" y="14663"/>
                  <a:pt x="98207" y="15386"/>
                  <a:pt x="97323" y="15858"/>
                </a:cubicBezTo>
                <a:cubicBezTo>
                  <a:pt x="96205" y="16456"/>
                  <a:pt x="94727" y="16456"/>
                  <a:pt x="91772" y="16456"/>
                </a:cubicBezTo>
                <a:lnTo>
                  <a:pt x="8228" y="16456"/>
                </a:lnTo>
                <a:cubicBezTo>
                  <a:pt x="5273" y="16456"/>
                  <a:pt x="3795" y="16456"/>
                  <a:pt x="2677" y="15858"/>
                </a:cubicBezTo>
                <a:cubicBezTo>
                  <a:pt x="1793" y="15386"/>
                  <a:pt x="1070" y="14663"/>
                  <a:pt x="598" y="13779"/>
                </a:cubicBezTo>
                <a:cubicBezTo>
                  <a:pt x="0" y="12661"/>
                  <a:pt x="0" y="11183"/>
                  <a:pt x="0" y="8228"/>
                </a:cubicBezTo>
                <a:lnTo>
                  <a:pt x="0" y="8228"/>
                </a:lnTo>
                <a:cubicBezTo>
                  <a:pt x="0" y="5273"/>
                  <a:pt x="0" y="3795"/>
                  <a:pt x="598" y="2677"/>
                </a:cubicBezTo>
                <a:cubicBezTo>
                  <a:pt x="1070" y="1793"/>
                  <a:pt x="1793" y="1070"/>
                  <a:pt x="2677" y="598"/>
                </a:cubicBezTo>
                <a:cubicBezTo>
                  <a:pt x="3795" y="0"/>
                  <a:pt x="5273" y="0"/>
                  <a:pt x="8228" y="0"/>
                </a:cubicBezTo>
                <a:close/>
              </a:path>
            </a:pathLst>
          </a:custGeom>
          <a:solidFill>
            <a:srgbClr val="FDF3E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14" name="Oval 101"/>
          <p:cNvSpPr/>
          <p:nvPr/>
        </p:nvSpPr>
        <p:spPr>
          <a:xfrm>
            <a:off x="8026400" y="4813300"/>
            <a:ext cx="50800" cy="50800"/>
          </a:xfrm>
          <a:prstGeom prst="ellipse">
            <a:avLst/>
          </a:prstGeom>
          <a:solidFill>
            <a:srgbClr val="F59E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15" name="TextBox 102"/>
          <p:cNvSpPr txBox="1"/>
          <p:nvPr/>
        </p:nvSpPr>
        <p:spPr>
          <a:xfrm>
            <a:off x="8128000" y="4673600"/>
            <a:ext cx="1701800" cy="330200"/>
          </a:xfrm>
          <a:prstGeom prst="rect">
            <a:avLst/>
          </a:prstGeom>
        </p:spPr>
        <p:txBody>
          <a:bodyPr wrap="square" lIns="0" tIns="0" rIns="0" bIns="0" anchor="ctr">
            <a:noAutofit/>
          </a:bodyPr>
          <a:lstStyle/>
          <a:p>
            <a:pPr>
              <a:lnSpc>
                <a:spcPct val="135000"/>
              </a:lnSpc>
            </a:pPr>
            <a:r>
              <a:rPr sz="450" spc="0">
                <a:solidFill>
                  <a:srgbClr val="8A4B08"/>
                </a:solidFill>
                <a:latin typeface="Telegraf"/>
              </a:rPr>
              <a:t>Saved as draft  ·  R5</a:t>
            </a:r>
            <a:endParaRPr sz="450" spc="0">
              <a:solidFill>
                <a:srgbClr val="8A4B08"/>
              </a:solidFill>
              <a:latin typeface="Telegraf"/>
            </a:endParaRPr>
          </a:p>
        </p:txBody>
      </p:sp>
      <p:sp>
        <p:nvSpPr>
          <p:cNvPr id="2516" name="TextBox 103"/>
          <p:cNvSpPr txBox="1"/>
          <p:nvPr/>
        </p:nvSpPr>
        <p:spPr>
          <a:xfrm>
            <a:off x="7924800" y="5156200"/>
            <a:ext cx="2032000" cy="127000"/>
          </a:xfrm>
          <a:prstGeom prst="rect">
            <a:avLst/>
          </a:prstGeom>
        </p:spPr>
        <p:txBody>
          <a:bodyPr wrap="square" lIns="0" tIns="0" rIns="0" bIns="0">
            <a:noAutofit/>
          </a:bodyPr>
          <a:lstStyle/>
          <a:p>
            <a:pPr>
              <a:lnSpc>
                <a:spcPct val="135000"/>
              </a:lnSpc>
            </a:pPr>
            <a:r>
              <a:rPr sz="420" spc="0">
                <a:solidFill>
                  <a:srgbClr val="A2A2A8"/>
                </a:solidFill>
                <a:latin typeface="Telegraf"/>
              </a:rPr>
              <a:t>4s, dismissible, never modal.</a:t>
            </a:r>
            <a:endParaRPr sz="420" spc="0">
              <a:solidFill>
                <a:srgbClr val="A2A2A8"/>
              </a:solidFill>
              <a:latin typeface="Telegraf"/>
            </a:endParaRPr>
          </a:p>
        </p:txBody>
      </p:sp>
      <p:sp>
        <p:nvSpPr>
          <p:cNvPr id="2517" name="Rectangle 104"/>
          <p:cNvSpPr/>
          <p:nvPr/>
        </p:nvSpPr>
        <p:spPr>
          <a:xfrm>
            <a:off x="711200" y="5537200"/>
            <a:ext cx="9398000" cy="990600"/>
          </a:xfrm>
          <a:custGeom>
            <a:avLst/>
            <a:gdLst/>
            <a:ahLst/>
            <a:cxnLst/>
            <a:rect l="l" t="t" r="r" b="b"/>
            <a:pathLst>
              <a:path w="100000" h="10541">
                <a:moveTo>
                  <a:pt x="96757" y="0"/>
                </a:moveTo>
                <a:cubicBezTo>
                  <a:pt x="98286" y="0"/>
                  <a:pt x="99050" y="0"/>
                  <a:pt x="99525" y="475"/>
                </a:cubicBezTo>
                <a:cubicBezTo>
                  <a:pt x="99525" y="475"/>
                  <a:pt x="99525" y="475"/>
                  <a:pt x="99525" y="475"/>
                </a:cubicBezTo>
                <a:cubicBezTo>
                  <a:pt x="100000" y="950"/>
                  <a:pt x="100000" y="1714"/>
                  <a:pt x="100000" y="3243"/>
                </a:cubicBezTo>
                <a:lnTo>
                  <a:pt x="100000" y="7297"/>
                </a:lnTo>
                <a:cubicBezTo>
                  <a:pt x="100000" y="8826"/>
                  <a:pt x="100000" y="9591"/>
                  <a:pt x="99525" y="10066"/>
                </a:cubicBezTo>
                <a:cubicBezTo>
                  <a:pt x="99525" y="10066"/>
                  <a:pt x="99525" y="10066"/>
                  <a:pt x="99525" y="10066"/>
                </a:cubicBezTo>
                <a:cubicBezTo>
                  <a:pt x="99050" y="10541"/>
                  <a:pt x="98286" y="10541"/>
                  <a:pt x="96757" y="10541"/>
                </a:cubicBezTo>
                <a:lnTo>
                  <a:pt x="3243" y="10541"/>
                </a:lnTo>
                <a:cubicBezTo>
                  <a:pt x="1714" y="10541"/>
                  <a:pt x="950" y="10541"/>
                  <a:pt x="475" y="10066"/>
                </a:cubicBezTo>
                <a:cubicBezTo>
                  <a:pt x="475" y="10066"/>
                  <a:pt x="475" y="10066"/>
                  <a:pt x="475" y="10066"/>
                </a:cubicBezTo>
                <a:cubicBezTo>
                  <a:pt x="0" y="9591"/>
                  <a:pt x="0" y="8826"/>
                  <a:pt x="0" y="7297"/>
                </a:cubicBezTo>
                <a:lnTo>
                  <a:pt x="0" y="3243"/>
                </a:lnTo>
                <a:cubicBezTo>
                  <a:pt x="0" y="1714"/>
                  <a:pt x="0" y="950"/>
                  <a:pt x="475" y="475"/>
                </a:cubicBezTo>
                <a:cubicBezTo>
                  <a:pt x="475" y="475"/>
                  <a:pt x="475" y="475"/>
                  <a:pt x="475" y="475"/>
                </a:cubicBezTo>
                <a:cubicBezTo>
                  <a:pt x="950" y="0"/>
                  <a:pt x="1714" y="0"/>
                  <a:pt x="3243" y="0"/>
                </a:cubicBezTo>
                <a:close/>
              </a:path>
            </a:pathLst>
          </a:custGeom>
          <a:solidFill>
            <a:srgbClr val="FFFFFF"/>
          </a:solidFill>
          <a:ln w="11430">
            <a:solidFill>
              <a:srgbClr val="E4E4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18" name="TextBox 105"/>
          <p:cNvSpPr txBox="1"/>
          <p:nvPr/>
        </p:nvSpPr>
        <p:spPr>
          <a:xfrm>
            <a:off x="914400" y="5664200"/>
            <a:ext cx="2794000" cy="114300"/>
          </a:xfrm>
          <a:prstGeom prst="rect">
            <a:avLst/>
          </a:prstGeom>
        </p:spPr>
        <p:txBody>
          <a:bodyPr wrap="square" lIns="0" tIns="0" rIns="0" bIns="0">
            <a:noAutofit/>
          </a:bodyPr>
          <a:lstStyle/>
          <a:p>
            <a:r>
              <a:rPr sz="440" b="1" spc="105">
                <a:solidFill>
                  <a:srgbClr val="A2A2A8"/>
                </a:solidFill>
                <a:latin typeface="Telegraf"/>
              </a:rPr>
              <a:t>LAYOUT  ·  ONE SHELL, FOUR WIDTHS</a:t>
            </a:r>
            <a:endParaRPr sz="440" b="1" spc="105">
              <a:solidFill>
                <a:srgbClr val="A2A2A8"/>
              </a:solidFill>
              <a:latin typeface="Telegraf"/>
            </a:endParaRPr>
          </a:p>
        </p:txBody>
      </p:sp>
      <p:sp>
        <p:nvSpPr>
          <p:cNvPr id="2519" name="TextBox 106"/>
          <p:cNvSpPr txBox="1"/>
          <p:nvPr/>
        </p:nvSpPr>
        <p:spPr>
          <a:xfrm>
            <a:off x="914400" y="5867400"/>
            <a:ext cx="762000" cy="127000"/>
          </a:xfrm>
          <a:prstGeom prst="rect">
            <a:avLst/>
          </a:prstGeom>
        </p:spPr>
        <p:txBody>
          <a:bodyPr wrap="square" lIns="0" tIns="0" rIns="0" bIns="0">
            <a:noAutofit/>
          </a:bodyPr>
          <a:lstStyle/>
          <a:p>
            <a:pPr>
              <a:lnSpc>
                <a:spcPct val="135000"/>
              </a:lnSpc>
            </a:pPr>
            <a:r>
              <a:rPr sz="520" b="1" spc="0">
                <a:solidFill>
                  <a:srgbClr val="0E6B5F"/>
                </a:solidFill>
                <a:latin typeface="Telegraf"/>
              </a:rPr>
              <a:t>1440+</a:t>
            </a:r>
            <a:endParaRPr sz="520" b="1" spc="0">
              <a:solidFill>
                <a:srgbClr val="0E6B5F"/>
              </a:solidFill>
              <a:latin typeface="Telegraf"/>
            </a:endParaRPr>
          </a:p>
        </p:txBody>
      </p:sp>
      <p:sp>
        <p:nvSpPr>
          <p:cNvPr id="2520" name="TextBox 107"/>
          <p:cNvSpPr txBox="1"/>
          <p:nvPr/>
        </p:nvSpPr>
        <p:spPr>
          <a:xfrm>
            <a:off x="914400" y="6032500"/>
            <a:ext cx="2159000" cy="127000"/>
          </a:xfrm>
          <a:prstGeom prst="rect">
            <a:avLst/>
          </a:prstGeom>
        </p:spPr>
        <p:txBody>
          <a:bodyPr wrap="square" lIns="0" tIns="0" rIns="0" bIns="0">
            <a:noAutofit/>
          </a:bodyPr>
          <a:lstStyle/>
          <a:p>
            <a:pPr>
              <a:lnSpc>
                <a:spcPct val="135000"/>
              </a:lnSpc>
            </a:pPr>
            <a:r>
              <a:rPr sz="490" spc="0">
                <a:solidFill>
                  <a:srgbClr val="0A0A0A"/>
                </a:solidFill>
                <a:latin typeface="Telegraf"/>
              </a:rPr>
              <a:t>Rail + 4 KPIs</a:t>
            </a:r>
            <a:endParaRPr sz="490" spc="0">
              <a:solidFill>
                <a:srgbClr val="0A0A0A"/>
              </a:solidFill>
              <a:latin typeface="Telegraf"/>
            </a:endParaRPr>
          </a:p>
        </p:txBody>
      </p:sp>
      <p:sp>
        <p:nvSpPr>
          <p:cNvPr id="2521" name="TextBox 108"/>
          <p:cNvSpPr txBox="1"/>
          <p:nvPr/>
        </p:nvSpPr>
        <p:spPr>
          <a:xfrm>
            <a:off x="914400" y="6172200"/>
            <a:ext cx="2133600" cy="279400"/>
          </a:xfrm>
          <a:prstGeom prst="rect">
            <a:avLst/>
          </a:prstGeom>
        </p:spPr>
        <p:txBody>
          <a:bodyPr wrap="square" lIns="0" tIns="0" rIns="0" bIns="0">
            <a:noAutofit/>
          </a:bodyPr>
          <a:lstStyle/>
          <a:p>
            <a:pPr>
              <a:lnSpc>
                <a:spcPct val="135000"/>
              </a:lnSpc>
            </a:pPr>
            <a:r>
              <a:rPr sz="420" spc="0">
                <a:solidFill>
                  <a:srgbClr val="A2A2A8"/>
                </a:solidFill>
                <a:latin typeface="Telegraf"/>
              </a:rPr>
              <a:t>Right column keeps the three small multiples</a:t>
            </a:r>
            <a:endParaRPr sz="420" spc="0">
              <a:solidFill>
                <a:srgbClr val="A2A2A8"/>
              </a:solidFill>
              <a:latin typeface="Telegraf"/>
            </a:endParaRPr>
          </a:p>
        </p:txBody>
      </p:sp>
      <p:sp>
        <p:nvSpPr>
          <p:cNvPr id="2522" name="TextBox 109"/>
          <p:cNvSpPr txBox="1"/>
          <p:nvPr/>
        </p:nvSpPr>
        <p:spPr>
          <a:xfrm>
            <a:off x="3200400" y="5867400"/>
            <a:ext cx="762000" cy="127000"/>
          </a:xfrm>
          <a:prstGeom prst="rect">
            <a:avLst/>
          </a:prstGeom>
        </p:spPr>
        <p:txBody>
          <a:bodyPr wrap="square" lIns="0" tIns="0" rIns="0" bIns="0">
            <a:noAutofit/>
          </a:bodyPr>
          <a:lstStyle/>
          <a:p>
            <a:pPr>
              <a:lnSpc>
                <a:spcPct val="135000"/>
              </a:lnSpc>
            </a:pPr>
            <a:r>
              <a:rPr sz="520" b="1" spc="0">
                <a:solidFill>
                  <a:srgbClr val="0E6B5F"/>
                </a:solidFill>
                <a:latin typeface="Telegraf"/>
              </a:rPr>
              <a:t>1024–1439</a:t>
            </a:r>
            <a:endParaRPr sz="520" b="1" spc="0">
              <a:solidFill>
                <a:srgbClr val="0E6B5F"/>
              </a:solidFill>
              <a:latin typeface="Telegraf"/>
            </a:endParaRPr>
          </a:p>
        </p:txBody>
      </p:sp>
      <p:sp>
        <p:nvSpPr>
          <p:cNvPr id="2523" name="TextBox 110"/>
          <p:cNvSpPr txBox="1"/>
          <p:nvPr/>
        </p:nvSpPr>
        <p:spPr>
          <a:xfrm>
            <a:off x="3200400" y="6032500"/>
            <a:ext cx="2159000" cy="127000"/>
          </a:xfrm>
          <a:prstGeom prst="rect">
            <a:avLst/>
          </a:prstGeom>
        </p:spPr>
        <p:txBody>
          <a:bodyPr wrap="square" lIns="0" tIns="0" rIns="0" bIns="0">
            <a:noAutofit/>
          </a:bodyPr>
          <a:lstStyle/>
          <a:p>
            <a:pPr>
              <a:lnSpc>
                <a:spcPct val="135000"/>
              </a:lnSpc>
            </a:pPr>
            <a:r>
              <a:rPr sz="490" spc="0">
                <a:solidFill>
                  <a:srgbClr val="0A0A0A"/>
                </a:solidFill>
                <a:latin typeface="Telegraf"/>
              </a:rPr>
              <a:t>Rail collapses to icons</a:t>
            </a:r>
            <a:endParaRPr sz="490" spc="0">
              <a:solidFill>
                <a:srgbClr val="0A0A0A"/>
              </a:solidFill>
              <a:latin typeface="Telegraf"/>
            </a:endParaRPr>
          </a:p>
        </p:txBody>
      </p:sp>
      <p:sp>
        <p:nvSpPr>
          <p:cNvPr id="2524" name="TextBox 111"/>
          <p:cNvSpPr txBox="1"/>
          <p:nvPr/>
        </p:nvSpPr>
        <p:spPr>
          <a:xfrm>
            <a:off x="3200400" y="6172200"/>
            <a:ext cx="2133600" cy="279400"/>
          </a:xfrm>
          <a:prstGeom prst="rect">
            <a:avLst/>
          </a:prstGeom>
        </p:spPr>
        <p:txBody>
          <a:bodyPr wrap="square" lIns="0" tIns="0" rIns="0" bIns="0">
            <a:noAutofit/>
          </a:bodyPr>
          <a:lstStyle/>
          <a:p>
            <a:pPr>
              <a:lnSpc>
                <a:spcPct val="135000"/>
              </a:lnSpc>
            </a:pPr>
            <a:r>
              <a:rPr sz="420" spc="0">
                <a:solidFill>
                  <a:srgbClr val="A2A2A8"/>
                </a:solidFill>
                <a:latin typeface="Telegraf"/>
              </a:rPr>
              <a:t>KPIs 2×2, right column drops under</a:t>
            </a:r>
            <a:endParaRPr sz="420" spc="0">
              <a:solidFill>
                <a:srgbClr val="A2A2A8"/>
              </a:solidFill>
              <a:latin typeface="Telegraf"/>
            </a:endParaRPr>
          </a:p>
        </p:txBody>
      </p:sp>
      <p:sp>
        <p:nvSpPr>
          <p:cNvPr id="2525" name="TextBox 112"/>
          <p:cNvSpPr txBox="1"/>
          <p:nvPr/>
        </p:nvSpPr>
        <p:spPr>
          <a:xfrm>
            <a:off x="5486400" y="5867400"/>
            <a:ext cx="762000" cy="127000"/>
          </a:xfrm>
          <a:prstGeom prst="rect">
            <a:avLst/>
          </a:prstGeom>
        </p:spPr>
        <p:txBody>
          <a:bodyPr wrap="square" lIns="0" tIns="0" rIns="0" bIns="0">
            <a:noAutofit/>
          </a:bodyPr>
          <a:lstStyle/>
          <a:p>
            <a:pPr>
              <a:lnSpc>
                <a:spcPct val="135000"/>
              </a:lnSpc>
            </a:pPr>
            <a:r>
              <a:rPr sz="520" b="1" spc="0">
                <a:solidFill>
                  <a:srgbClr val="0E6B5F"/>
                </a:solidFill>
                <a:latin typeface="Telegraf"/>
              </a:rPr>
              <a:t>768–1023</a:t>
            </a:r>
            <a:endParaRPr sz="520" b="1" spc="0">
              <a:solidFill>
                <a:srgbClr val="0E6B5F"/>
              </a:solidFill>
              <a:latin typeface="Telegraf"/>
            </a:endParaRPr>
          </a:p>
        </p:txBody>
      </p:sp>
      <p:sp>
        <p:nvSpPr>
          <p:cNvPr id="2526" name="TextBox 113"/>
          <p:cNvSpPr txBox="1"/>
          <p:nvPr/>
        </p:nvSpPr>
        <p:spPr>
          <a:xfrm>
            <a:off x="5486400" y="6032500"/>
            <a:ext cx="2159000" cy="127000"/>
          </a:xfrm>
          <a:prstGeom prst="rect">
            <a:avLst/>
          </a:prstGeom>
        </p:spPr>
        <p:txBody>
          <a:bodyPr wrap="square" lIns="0" tIns="0" rIns="0" bIns="0">
            <a:noAutofit/>
          </a:bodyPr>
          <a:lstStyle/>
          <a:p>
            <a:pPr>
              <a:lnSpc>
                <a:spcPct val="135000"/>
              </a:lnSpc>
            </a:pPr>
            <a:r>
              <a:rPr sz="490" spc="0">
                <a:solidFill>
                  <a:srgbClr val="0A0A0A"/>
                </a:solidFill>
                <a:latin typeface="Telegraf"/>
              </a:rPr>
              <a:t>Rail becomes a top bar</a:t>
            </a:r>
            <a:endParaRPr sz="490" spc="0">
              <a:solidFill>
                <a:srgbClr val="0A0A0A"/>
              </a:solidFill>
              <a:latin typeface="Telegraf"/>
            </a:endParaRPr>
          </a:p>
        </p:txBody>
      </p:sp>
      <p:sp>
        <p:nvSpPr>
          <p:cNvPr id="2527" name="TextBox 114"/>
          <p:cNvSpPr txBox="1"/>
          <p:nvPr/>
        </p:nvSpPr>
        <p:spPr>
          <a:xfrm>
            <a:off x="5486400" y="6172200"/>
            <a:ext cx="2133600" cy="279400"/>
          </a:xfrm>
          <a:prstGeom prst="rect">
            <a:avLst/>
          </a:prstGeom>
        </p:spPr>
        <p:txBody>
          <a:bodyPr wrap="square" lIns="0" tIns="0" rIns="0" bIns="0">
            <a:noAutofit/>
          </a:bodyPr>
          <a:lstStyle/>
          <a:p>
            <a:pPr>
              <a:lnSpc>
                <a:spcPct val="135000"/>
              </a:lnSpc>
            </a:pPr>
            <a:r>
              <a:rPr sz="420" spc="0">
                <a:solidFill>
                  <a:srgbClr val="A2A2A8"/>
                </a:solidFill>
                <a:latin typeface="Telegraf"/>
              </a:rPr>
              <a:t>List full width; drawer becomes a sheet</a:t>
            </a:r>
            <a:endParaRPr sz="420" spc="0">
              <a:solidFill>
                <a:srgbClr val="A2A2A8"/>
              </a:solidFill>
              <a:latin typeface="Telegraf"/>
            </a:endParaRPr>
          </a:p>
        </p:txBody>
      </p:sp>
      <p:sp>
        <p:nvSpPr>
          <p:cNvPr id="2528" name="TextBox 115"/>
          <p:cNvSpPr txBox="1"/>
          <p:nvPr/>
        </p:nvSpPr>
        <p:spPr>
          <a:xfrm>
            <a:off x="7772400" y="5867400"/>
            <a:ext cx="762000" cy="127000"/>
          </a:xfrm>
          <a:prstGeom prst="rect">
            <a:avLst/>
          </a:prstGeom>
        </p:spPr>
        <p:txBody>
          <a:bodyPr wrap="square" lIns="0" tIns="0" rIns="0" bIns="0">
            <a:noAutofit/>
          </a:bodyPr>
          <a:lstStyle/>
          <a:p>
            <a:pPr>
              <a:lnSpc>
                <a:spcPct val="135000"/>
              </a:lnSpc>
            </a:pPr>
            <a:r>
              <a:rPr sz="520" b="1" spc="0">
                <a:solidFill>
                  <a:srgbClr val="0E6B5F"/>
                </a:solidFill>
                <a:latin typeface="Telegraf"/>
              </a:rPr>
              <a:t>&lt;768</a:t>
            </a:r>
            <a:endParaRPr sz="520" b="1" spc="0">
              <a:solidFill>
                <a:srgbClr val="0E6B5F"/>
              </a:solidFill>
              <a:latin typeface="Telegraf"/>
            </a:endParaRPr>
          </a:p>
        </p:txBody>
      </p:sp>
      <p:sp>
        <p:nvSpPr>
          <p:cNvPr id="2529" name="TextBox 116"/>
          <p:cNvSpPr txBox="1"/>
          <p:nvPr/>
        </p:nvSpPr>
        <p:spPr>
          <a:xfrm>
            <a:off x="7772400" y="6032500"/>
            <a:ext cx="2159000" cy="127000"/>
          </a:xfrm>
          <a:prstGeom prst="rect">
            <a:avLst/>
          </a:prstGeom>
        </p:spPr>
        <p:txBody>
          <a:bodyPr wrap="square" lIns="0" tIns="0" rIns="0" bIns="0">
            <a:noAutofit/>
          </a:bodyPr>
          <a:lstStyle/>
          <a:p>
            <a:pPr>
              <a:lnSpc>
                <a:spcPct val="135000"/>
              </a:lnSpc>
            </a:pPr>
            <a:r>
              <a:rPr sz="490" spc="0">
                <a:solidFill>
                  <a:srgbClr val="0A0A0A"/>
                </a:solidFill>
                <a:latin typeface="Telegraf"/>
              </a:rPr>
              <a:t>Single column</a:t>
            </a:r>
            <a:endParaRPr sz="490" spc="0">
              <a:solidFill>
                <a:srgbClr val="0A0A0A"/>
              </a:solidFill>
              <a:latin typeface="Telegraf"/>
            </a:endParaRPr>
          </a:p>
        </p:txBody>
      </p:sp>
      <p:sp>
        <p:nvSpPr>
          <p:cNvPr id="2530" name="TextBox 117"/>
          <p:cNvSpPr txBox="1"/>
          <p:nvPr/>
        </p:nvSpPr>
        <p:spPr>
          <a:xfrm>
            <a:off x="7772400" y="6172200"/>
            <a:ext cx="2133600" cy="279400"/>
          </a:xfrm>
          <a:prstGeom prst="rect">
            <a:avLst/>
          </a:prstGeom>
        </p:spPr>
        <p:txBody>
          <a:bodyPr wrap="square" lIns="0" tIns="0" rIns="0" bIns="0">
            <a:noAutofit/>
          </a:bodyPr>
          <a:lstStyle/>
          <a:p>
            <a:pPr>
              <a:lnSpc>
                <a:spcPct val="135000"/>
              </a:lnSpc>
            </a:pPr>
            <a:r>
              <a:rPr sz="420" spc="0">
                <a:solidFill>
                  <a:srgbClr val="A2A2A8"/>
                </a:solidFill>
                <a:latin typeface="Telegraf"/>
              </a:rPr>
              <a:t>Pin above transcript; badges stay inline</a:t>
            </a:r>
            <a:endParaRPr sz="420" spc="0">
              <a:solidFill>
                <a:srgbClr val="A2A2A8"/>
              </a:solidFill>
              <a:latin typeface="Telegraf"/>
            </a:endParaRPr>
          </a:p>
        </p:txBody>
      </p:sp>
      <p:sp>
        <p:nvSpPr>
          <p:cNvPr id="2531" name="Oval 118"/>
          <p:cNvSpPr/>
          <p:nvPr/>
        </p:nvSpPr>
        <p:spPr>
          <a:xfrm>
            <a:off x="523240" y="1285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32" name="Oval 119"/>
          <p:cNvSpPr/>
          <p:nvPr/>
        </p:nvSpPr>
        <p:spPr>
          <a:xfrm>
            <a:off x="547370" y="1309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33" name="TextBox 120"/>
          <p:cNvSpPr txBox="1"/>
          <p:nvPr/>
        </p:nvSpPr>
        <p:spPr>
          <a:xfrm>
            <a:off x="547370" y="1309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1</a:t>
            </a:r>
            <a:endParaRPr sz="440" b="1" spc="0">
              <a:solidFill>
                <a:srgbClr val="FFFFFF"/>
              </a:solidFill>
              <a:latin typeface="Telegraf"/>
            </a:endParaRPr>
          </a:p>
        </p:txBody>
      </p:sp>
      <p:sp>
        <p:nvSpPr>
          <p:cNvPr id="2534" name="Oval 121"/>
          <p:cNvSpPr/>
          <p:nvPr/>
        </p:nvSpPr>
        <p:spPr>
          <a:xfrm>
            <a:off x="3698240" y="12852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35" name="Oval 122"/>
          <p:cNvSpPr/>
          <p:nvPr/>
        </p:nvSpPr>
        <p:spPr>
          <a:xfrm>
            <a:off x="3722370" y="13093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36" name="TextBox 123"/>
          <p:cNvSpPr txBox="1"/>
          <p:nvPr/>
        </p:nvSpPr>
        <p:spPr>
          <a:xfrm>
            <a:off x="3722370" y="13093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2</a:t>
            </a:r>
            <a:endParaRPr sz="440" b="1" spc="0">
              <a:solidFill>
                <a:srgbClr val="FFFFFF"/>
              </a:solidFill>
              <a:latin typeface="Telegraf"/>
            </a:endParaRPr>
          </a:p>
        </p:txBody>
      </p:sp>
      <p:sp>
        <p:nvSpPr>
          <p:cNvPr id="2537" name="Oval 124"/>
          <p:cNvSpPr/>
          <p:nvPr/>
        </p:nvSpPr>
        <p:spPr>
          <a:xfrm>
            <a:off x="523240" y="33934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38" name="Oval 125"/>
          <p:cNvSpPr/>
          <p:nvPr/>
        </p:nvSpPr>
        <p:spPr>
          <a:xfrm>
            <a:off x="547370" y="34175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39" name="TextBox 126"/>
          <p:cNvSpPr txBox="1"/>
          <p:nvPr/>
        </p:nvSpPr>
        <p:spPr>
          <a:xfrm>
            <a:off x="547370" y="34175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3</a:t>
            </a:r>
            <a:endParaRPr sz="440" b="1" spc="0">
              <a:solidFill>
                <a:srgbClr val="FFFFFF"/>
              </a:solidFill>
              <a:latin typeface="Telegraf"/>
            </a:endParaRPr>
          </a:p>
        </p:txBody>
      </p:sp>
      <p:sp>
        <p:nvSpPr>
          <p:cNvPr id="2540" name="Oval 127"/>
          <p:cNvSpPr/>
          <p:nvPr/>
        </p:nvSpPr>
        <p:spPr>
          <a:xfrm>
            <a:off x="523240" y="5450840"/>
            <a:ext cx="172720" cy="172720"/>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41" name="Oval 128"/>
          <p:cNvSpPr/>
          <p:nvPr/>
        </p:nvSpPr>
        <p:spPr>
          <a:xfrm>
            <a:off x="547370" y="5474970"/>
            <a:ext cx="124460" cy="124460"/>
          </a:xfrm>
          <a:prstGeom prst="ellipse">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42" name="TextBox 129"/>
          <p:cNvSpPr txBox="1"/>
          <p:nvPr/>
        </p:nvSpPr>
        <p:spPr>
          <a:xfrm>
            <a:off x="547370" y="5474970"/>
            <a:ext cx="124460" cy="124460"/>
          </a:xfrm>
          <a:prstGeom prst="rect">
            <a:avLst/>
          </a:prstGeom>
        </p:spPr>
        <p:txBody>
          <a:bodyPr wrap="square" lIns="0" tIns="0" rIns="0" bIns="0" anchor="ctr">
            <a:noAutofit/>
          </a:bodyPr>
          <a:lstStyle/>
          <a:p>
            <a:pPr algn="ctr">
              <a:lnSpc>
                <a:spcPct val="135000"/>
              </a:lnSpc>
            </a:pPr>
            <a:r>
              <a:rPr sz="440" b="1" spc="0">
                <a:solidFill>
                  <a:srgbClr val="FFFFFF"/>
                </a:solidFill>
                <a:latin typeface="Telegraf"/>
              </a:rPr>
              <a:t>4</a:t>
            </a:r>
            <a:endParaRPr sz="440" b="1" spc="0">
              <a:solidFill>
                <a:srgbClr val="FFFFFF"/>
              </a:solidFill>
              <a:latin typeface="Telegraf"/>
            </a:endParaRPr>
          </a:p>
        </p:txBody>
      </p:sp>
      <p:sp>
        <p:nvSpPr>
          <p:cNvPr id="2543" name="Rectangle 130"/>
          <p:cNvSpPr/>
          <p:nvPr/>
        </p:nvSpPr>
        <p:spPr>
          <a:xfrm>
            <a:off x="10312400" y="0"/>
            <a:ext cx="1879600" cy="6858000"/>
          </a:xfrm>
          <a:prstGeom prst="roundRect">
            <a:avLst/>
          </a:prstGeom>
          <a:solidFill>
            <a:srgbClr val="0A0A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44" name="TextBox 131"/>
          <p:cNvSpPr txBox="1"/>
          <p:nvPr/>
        </p:nvSpPr>
        <p:spPr>
          <a:xfrm>
            <a:off x="10490200" y="228600"/>
            <a:ext cx="1524000" cy="101600"/>
          </a:xfrm>
          <a:prstGeom prst="rect">
            <a:avLst/>
          </a:prstGeom>
        </p:spPr>
        <p:txBody>
          <a:bodyPr wrap="square" lIns="0" tIns="0" rIns="0" bIns="0">
            <a:noAutofit/>
          </a:bodyPr>
          <a:lstStyle/>
          <a:p>
            <a:r>
              <a:rPr sz="490" b="1" spc="120">
                <a:solidFill>
                  <a:srgbClr val="8FE0CE"/>
                </a:solidFill>
                <a:latin typeface="Telegraf"/>
              </a:rPr>
              <a:t>17  —  SYSTEM · STATES</a:t>
            </a:r>
            <a:endParaRPr sz="490" b="1" spc="120">
              <a:solidFill>
                <a:srgbClr val="8FE0CE"/>
              </a:solidFill>
              <a:latin typeface="Telegraf"/>
            </a:endParaRPr>
          </a:p>
        </p:txBody>
      </p:sp>
      <p:sp>
        <p:nvSpPr>
          <p:cNvPr id="2545" name="TextBox 132"/>
          <p:cNvSpPr txBox="1"/>
          <p:nvPr/>
        </p:nvSpPr>
        <p:spPr>
          <a:xfrm>
            <a:off x="10477500" y="355600"/>
            <a:ext cx="1574800" cy="711200"/>
          </a:xfrm>
          <a:prstGeom prst="rect">
            <a:avLst/>
          </a:prstGeom>
        </p:spPr>
        <p:txBody>
          <a:bodyPr wrap="square" lIns="0" tIns="0" rIns="0" bIns="0">
            <a:noAutofit/>
          </a:bodyPr>
          <a:lstStyle/>
          <a:p>
            <a:pPr>
              <a:lnSpc>
                <a:spcPct val="105000"/>
              </a:lnSpc>
            </a:pPr>
            <a:r>
              <a:rPr sz="1550" spc="-50">
                <a:solidFill>
                  <a:srgbClr val="FFFFFF"/>
                </a:solidFill>
                <a:latin typeface="PP Editorial New Ultralight"/>
              </a:rPr>
              <a:t>Nothing ships</a:t>
            </a:r>
            <a:endParaRPr sz="1550" spc="-50">
              <a:solidFill>
                <a:srgbClr val="FFFFFF"/>
              </a:solidFill>
              <a:latin typeface="PP Editorial New Ultralight"/>
            </a:endParaRPr>
          </a:p>
          <a:p>
            <a:pPr>
              <a:lnSpc>
                <a:spcPct val="105000"/>
              </a:lnSpc>
            </a:pPr>
            <a:r>
              <a:rPr sz="1550" spc="-50">
                <a:solidFill>
                  <a:srgbClr val="FFFFFF"/>
                </a:solidFill>
                <a:latin typeface="PP Editorial New Ultralight"/>
              </a:rPr>
              <a:t>without its</a:t>
            </a:r>
            <a:endParaRPr sz="1550" spc="-50">
              <a:solidFill>
                <a:srgbClr val="FFFFFF"/>
              </a:solidFill>
              <a:latin typeface="PP Editorial New Ultralight"/>
            </a:endParaRPr>
          </a:p>
          <a:p>
            <a:pPr>
              <a:lnSpc>
                <a:spcPct val="105000"/>
              </a:lnSpc>
            </a:pPr>
            <a:r>
              <a:rPr sz="1550" spc="-50">
                <a:solidFill>
                  <a:srgbClr val="FFFFFF"/>
                </a:solidFill>
                <a:latin typeface="PP Editorial New Ultralight"/>
              </a:rPr>
              <a:t>fourth state.</a:t>
            </a:r>
            <a:endParaRPr sz="1550" spc="-50">
              <a:solidFill>
                <a:srgbClr val="FFFFFF"/>
              </a:solidFill>
              <a:latin typeface="PP Editorial New Ultralight"/>
            </a:endParaRPr>
          </a:p>
        </p:txBody>
      </p:sp>
      <p:sp>
        <p:nvSpPr>
          <p:cNvPr id="2546" name="Rectangle 133"/>
          <p:cNvSpPr/>
          <p:nvPr/>
        </p:nvSpPr>
        <p:spPr>
          <a:xfrm>
            <a:off x="10490200" y="11684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47" name="TextBox 134"/>
          <p:cNvSpPr txBox="1"/>
          <p:nvPr/>
        </p:nvSpPr>
        <p:spPr>
          <a:xfrm>
            <a:off x="10490200" y="12954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1</a:t>
            </a:r>
            <a:endParaRPr sz="560" b="1" spc="0">
              <a:solidFill>
                <a:srgbClr val="8FE0CE"/>
              </a:solidFill>
              <a:latin typeface="Telegraf"/>
            </a:endParaRPr>
          </a:p>
        </p:txBody>
      </p:sp>
      <p:sp>
        <p:nvSpPr>
          <p:cNvPr id="2548" name="TextBox 135"/>
          <p:cNvSpPr txBox="1"/>
          <p:nvPr/>
        </p:nvSpPr>
        <p:spPr>
          <a:xfrm>
            <a:off x="10629900" y="12877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Async trio</a:t>
            </a:r>
            <a:endParaRPr sz="590" b="1" spc="0">
              <a:solidFill>
                <a:srgbClr val="FFFFFF"/>
              </a:solidFill>
              <a:latin typeface="Telegraf"/>
            </a:endParaRPr>
          </a:p>
        </p:txBody>
      </p:sp>
      <p:sp>
        <p:nvSpPr>
          <p:cNvPr id="2549" name="TextBox 136"/>
          <p:cNvSpPr txBox="1"/>
          <p:nvPr/>
        </p:nvSpPr>
        <p:spPr>
          <a:xfrm>
            <a:off x="10629900" y="14173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Empty, loading, failed sit side by side, drawn at the real size.</a:t>
            </a:r>
            <a:endParaRPr sz="550" spc="0">
              <a:solidFill>
                <a:srgbClr val="A8A8A8"/>
              </a:solidFill>
              <a:latin typeface="Telegraf"/>
            </a:endParaRPr>
          </a:p>
        </p:txBody>
      </p:sp>
      <p:sp>
        <p:nvSpPr>
          <p:cNvPr id="2550" name="TextBox 137"/>
          <p:cNvSpPr txBox="1"/>
          <p:nvPr/>
        </p:nvSpPr>
        <p:spPr>
          <a:xfrm>
            <a:off x="10490200" y="18796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2</a:t>
            </a:r>
            <a:endParaRPr sz="560" b="1" spc="0">
              <a:solidFill>
                <a:srgbClr val="8FE0CE"/>
              </a:solidFill>
              <a:latin typeface="Telegraf"/>
            </a:endParaRPr>
          </a:p>
        </p:txBody>
      </p:sp>
      <p:sp>
        <p:nvSpPr>
          <p:cNvPr id="2551" name="TextBox 138"/>
          <p:cNvSpPr txBox="1"/>
          <p:nvPr/>
        </p:nvSpPr>
        <p:spPr>
          <a:xfrm>
            <a:off x="10629900" y="18719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R7</a:t>
            </a:r>
            <a:endParaRPr sz="590" b="1" spc="0">
              <a:solidFill>
                <a:srgbClr val="FFFFFF"/>
              </a:solidFill>
              <a:latin typeface="Telegraf"/>
            </a:endParaRPr>
          </a:p>
        </p:txBody>
      </p:sp>
      <p:sp>
        <p:nvSpPr>
          <p:cNvPr id="2552" name="TextBox 139"/>
          <p:cNvSpPr txBox="1"/>
          <p:nvPr/>
        </p:nvSpPr>
        <p:spPr>
          <a:xfrm>
            <a:off x="10629900" y="20015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failed state names the rule, not a generic error — it is a contract.</a:t>
            </a:r>
            <a:endParaRPr sz="550" spc="0">
              <a:solidFill>
                <a:srgbClr val="A8A8A8"/>
              </a:solidFill>
              <a:latin typeface="Telegraf"/>
            </a:endParaRPr>
          </a:p>
        </p:txBody>
      </p:sp>
      <p:sp>
        <p:nvSpPr>
          <p:cNvPr id="2553" name="TextBox 140"/>
          <p:cNvSpPr txBox="1"/>
          <p:nvPr/>
        </p:nvSpPr>
        <p:spPr>
          <a:xfrm>
            <a:off x="10490200" y="24638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3</a:t>
            </a:r>
            <a:endParaRPr sz="560" b="1" spc="0">
              <a:solidFill>
                <a:srgbClr val="8FE0CE"/>
              </a:solidFill>
              <a:latin typeface="Telegraf"/>
            </a:endParaRPr>
          </a:p>
        </p:txBody>
      </p:sp>
      <p:sp>
        <p:nvSpPr>
          <p:cNvPr id="2554" name="TextBox 141"/>
          <p:cNvSpPr txBox="1"/>
          <p:nvPr/>
        </p:nvSpPr>
        <p:spPr>
          <a:xfrm>
            <a:off x="10629900" y="24561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Controls</a:t>
            </a:r>
            <a:endParaRPr sz="590" b="1" spc="0">
              <a:solidFill>
                <a:srgbClr val="FFFFFF"/>
              </a:solidFill>
              <a:latin typeface="Telegraf"/>
            </a:endParaRPr>
          </a:p>
        </p:txBody>
      </p:sp>
      <p:sp>
        <p:nvSpPr>
          <p:cNvPr id="2555" name="TextBox 142"/>
          <p:cNvSpPr txBox="1"/>
          <p:nvPr/>
        </p:nvSpPr>
        <p:spPr>
          <a:xfrm>
            <a:off x="10629900" y="25857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The three field states and the disabled treatment, on one line.</a:t>
            </a:r>
            <a:endParaRPr sz="550" spc="0">
              <a:solidFill>
                <a:srgbClr val="A8A8A8"/>
              </a:solidFill>
              <a:latin typeface="Telegraf"/>
            </a:endParaRPr>
          </a:p>
        </p:txBody>
      </p:sp>
      <p:sp>
        <p:nvSpPr>
          <p:cNvPr id="2556" name="TextBox 143"/>
          <p:cNvSpPr txBox="1"/>
          <p:nvPr/>
        </p:nvSpPr>
        <p:spPr>
          <a:xfrm>
            <a:off x="10490200" y="3048000"/>
            <a:ext cx="152400" cy="114300"/>
          </a:xfrm>
          <a:prstGeom prst="rect">
            <a:avLst/>
          </a:prstGeom>
        </p:spPr>
        <p:txBody>
          <a:bodyPr wrap="square" lIns="0" tIns="0" rIns="0" bIns="0">
            <a:noAutofit/>
          </a:bodyPr>
          <a:lstStyle/>
          <a:p>
            <a:pPr>
              <a:lnSpc>
                <a:spcPct val="135000"/>
              </a:lnSpc>
            </a:pPr>
            <a:r>
              <a:rPr sz="560" b="1" spc="0">
                <a:solidFill>
                  <a:srgbClr val="8FE0CE"/>
                </a:solidFill>
                <a:latin typeface="Telegraf"/>
              </a:rPr>
              <a:t>4</a:t>
            </a:r>
            <a:endParaRPr sz="560" b="1" spc="0">
              <a:solidFill>
                <a:srgbClr val="8FE0CE"/>
              </a:solidFill>
              <a:latin typeface="Telegraf"/>
            </a:endParaRPr>
          </a:p>
        </p:txBody>
      </p:sp>
      <p:sp>
        <p:nvSpPr>
          <p:cNvPr id="2557" name="TextBox 144"/>
          <p:cNvSpPr txBox="1"/>
          <p:nvPr/>
        </p:nvSpPr>
        <p:spPr>
          <a:xfrm>
            <a:off x="10629900" y="3040380"/>
            <a:ext cx="1397000" cy="127000"/>
          </a:xfrm>
          <a:prstGeom prst="rect">
            <a:avLst/>
          </a:prstGeom>
        </p:spPr>
        <p:txBody>
          <a:bodyPr wrap="square" lIns="0" tIns="0" rIns="0" bIns="0">
            <a:noAutofit/>
          </a:bodyPr>
          <a:lstStyle/>
          <a:p>
            <a:pPr>
              <a:lnSpc>
                <a:spcPct val="135000"/>
              </a:lnSpc>
            </a:pPr>
            <a:r>
              <a:rPr sz="590" b="1" spc="0">
                <a:solidFill>
                  <a:srgbClr val="FFFFFF"/>
                </a:solidFill>
                <a:latin typeface="Telegraf"/>
              </a:rPr>
              <a:t>Widths</a:t>
            </a:r>
            <a:endParaRPr sz="590" b="1" spc="0">
              <a:solidFill>
                <a:srgbClr val="FFFFFF"/>
              </a:solidFill>
              <a:latin typeface="Telegraf"/>
            </a:endParaRPr>
          </a:p>
        </p:txBody>
      </p:sp>
      <p:sp>
        <p:nvSpPr>
          <p:cNvPr id="2558" name="TextBox 145"/>
          <p:cNvSpPr txBox="1"/>
          <p:nvPr/>
        </p:nvSpPr>
        <p:spPr>
          <a:xfrm>
            <a:off x="10629900" y="3169920"/>
            <a:ext cx="1397000" cy="381000"/>
          </a:xfrm>
          <a:prstGeom prst="rect">
            <a:avLst/>
          </a:prstGeom>
        </p:spPr>
        <p:txBody>
          <a:bodyPr wrap="square" lIns="0" tIns="0" rIns="0" bIns="0">
            <a:noAutofit/>
          </a:bodyPr>
          <a:lstStyle/>
          <a:p>
            <a:pPr>
              <a:lnSpc>
                <a:spcPct val="136000"/>
              </a:lnSpc>
            </a:pPr>
            <a:r>
              <a:rPr sz="550" spc="0">
                <a:solidFill>
                  <a:srgbClr val="A8A8A8"/>
                </a:solidFill>
                <a:latin typeface="Telegraf"/>
              </a:rPr>
              <a:t>Four breakpoints with what changes, so the CSS is not improvised.</a:t>
            </a:r>
            <a:endParaRPr sz="550" spc="0">
              <a:solidFill>
                <a:srgbClr val="A8A8A8"/>
              </a:solidFill>
              <a:latin typeface="Telegraf"/>
            </a:endParaRPr>
          </a:p>
        </p:txBody>
      </p:sp>
      <p:sp>
        <p:nvSpPr>
          <p:cNvPr id="2559" name="TextBox 146"/>
          <p:cNvSpPr txBox="1"/>
          <p:nvPr/>
        </p:nvSpPr>
        <p:spPr>
          <a:xfrm>
            <a:off x="10490200" y="3632200"/>
            <a:ext cx="1397000" cy="101600"/>
          </a:xfrm>
          <a:prstGeom prst="rect">
            <a:avLst/>
          </a:prstGeom>
        </p:spPr>
        <p:txBody>
          <a:bodyPr wrap="square" lIns="0" tIns="0" rIns="0" bIns="0">
            <a:noAutofit/>
          </a:bodyPr>
          <a:lstStyle/>
          <a:p>
            <a:r>
              <a:rPr sz="450" b="1" spc="110">
                <a:solidFill>
                  <a:srgbClr val="8FE0CE"/>
                </a:solidFill>
                <a:latin typeface="Telegraf"/>
              </a:rPr>
              <a:t>STATES</a:t>
            </a:r>
            <a:endParaRPr sz="450" b="1" spc="110">
              <a:solidFill>
                <a:srgbClr val="8FE0CE"/>
              </a:solidFill>
              <a:latin typeface="Telegraf"/>
            </a:endParaRPr>
          </a:p>
        </p:txBody>
      </p:sp>
      <p:sp>
        <p:nvSpPr>
          <p:cNvPr id="2560" name="TextBox 147"/>
          <p:cNvSpPr txBox="1"/>
          <p:nvPr/>
        </p:nvSpPr>
        <p:spPr>
          <a:xfrm>
            <a:off x="10490200" y="3746500"/>
            <a:ext cx="1549400" cy="584200"/>
          </a:xfrm>
          <a:prstGeom prst="rect">
            <a:avLst/>
          </a:prstGeom>
        </p:spPr>
        <p:txBody>
          <a:bodyPr wrap="square" lIns="0" tIns="0" rIns="0" bIns="0">
            <a:noAutofit/>
          </a:bodyPr>
          <a:lstStyle/>
          <a:p>
            <a:pPr>
              <a:lnSpc>
                <a:spcPct val="140000"/>
              </a:lnSpc>
            </a:pPr>
            <a:r>
              <a:rPr sz="540" spc="0">
                <a:solidFill>
                  <a:srgbClr val="CFCFCF"/>
                </a:solidFill>
                <a:latin typeface="Telegraf"/>
              </a:rPr>
              <a:t>default · hover · focus · active · disabled · empty · loading · failed</a:t>
            </a:r>
            <a:endParaRPr sz="540" spc="0">
              <a:solidFill>
                <a:srgbClr val="CFCFCF"/>
              </a:solidFill>
              <a:latin typeface="Telegraf"/>
            </a:endParaRPr>
          </a:p>
        </p:txBody>
      </p:sp>
      <p:sp>
        <p:nvSpPr>
          <p:cNvPr id="2561" name="TextBox 148"/>
          <p:cNvSpPr txBox="1"/>
          <p:nvPr/>
        </p:nvSpPr>
        <p:spPr>
          <a:xfrm>
            <a:off x="10490200" y="4597400"/>
            <a:ext cx="1397000" cy="101600"/>
          </a:xfrm>
          <a:prstGeom prst="rect">
            <a:avLst/>
          </a:prstGeom>
        </p:spPr>
        <p:txBody>
          <a:bodyPr wrap="square" lIns="0" tIns="0" rIns="0" bIns="0">
            <a:noAutofit/>
          </a:bodyPr>
          <a:lstStyle/>
          <a:p>
            <a:r>
              <a:rPr sz="450" b="1" spc="110">
                <a:solidFill>
                  <a:srgbClr val="8FE0CE"/>
                </a:solidFill>
                <a:latin typeface="Telegraf"/>
              </a:rPr>
              <a:t>ROUTE</a:t>
            </a:r>
            <a:endParaRPr sz="450" b="1" spc="110">
              <a:solidFill>
                <a:srgbClr val="8FE0CE"/>
              </a:solidFill>
              <a:latin typeface="Telegraf"/>
            </a:endParaRPr>
          </a:p>
        </p:txBody>
      </p:sp>
      <p:sp>
        <p:nvSpPr>
          <p:cNvPr id="2562" name="TextBox 149"/>
          <p:cNvSpPr txBox="1"/>
          <p:nvPr/>
        </p:nvSpPr>
        <p:spPr>
          <a:xfrm>
            <a:off x="10490200" y="4711700"/>
            <a:ext cx="1549400" cy="304800"/>
          </a:xfrm>
          <a:prstGeom prst="rect">
            <a:avLst/>
          </a:prstGeom>
        </p:spPr>
        <p:txBody>
          <a:bodyPr wrap="square" lIns="0" tIns="0" rIns="0" bIns="0">
            <a:noAutofit/>
          </a:bodyPr>
          <a:lstStyle/>
          <a:p>
            <a:pPr>
              <a:lnSpc>
                <a:spcPct val="135000"/>
              </a:lnSpc>
            </a:pPr>
            <a:r>
              <a:rPr sz="560" spc="0">
                <a:solidFill>
                  <a:srgbClr val="FFFFFF"/>
                </a:solidFill>
                <a:latin typeface="Telegraf"/>
              </a:rPr>
              <a:t>/dashboard  ·  every panel</a:t>
            </a:r>
            <a:endParaRPr sz="560" spc="0">
              <a:solidFill>
                <a:srgbClr val="FFFFFF"/>
              </a:solidFill>
              <a:latin typeface="Telegraf"/>
            </a:endParaRPr>
          </a:p>
        </p:txBody>
      </p:sp>
      <p:sp>
        <p:nvSpPr>
          <p:cNvPr id="2563" name="TextBox 150"/>
          <p:cNvSpPr txBox="1"/>
          <p:nvPr/>
        </p:nvSpPr>
        <p:spPr>
          <a:xfrm>
            <a:off x="10490200" y="5130800"/>
            <a:ext cx="1397000" cy="101600"/>
          </a:xfrm>
          <a:prstGeom prst="rect">
            <a:avLst/>
          </a:prstGeom>
        </p:spPr>
        <p:txBody>
          <a:bodyPr wrap="square" lIns="0" tIns="0" rIns="0" bIns="0">
            <a:noAutofit/>
          </a:bodyPr>
          <a:lstStyle/>
          <a:p>
            <a:r>
              <a:rPr sz="450" b="1" spc="110">
                <a:solidFill>
                  <a:srgbClr val="8FE0CE"/>
                </a:solidFill>
                <a:latin typeface="Telegraf"/>
              </a:rPr>
              <a:t>COMPONENTS</a:t>
            </a:r>
            <a:endParaRPr sz="450" b="1" spc="110">
              <a:solidFill>
                <a:srgbClr val="8FE0CE"/>
              </a:solidFill>
              <a:latin typeface="Telegraf"/>
            </a:endParaRPr>
          </a:p>
        </p:txBody>
      </p:sp>
      <p:sp>
        <p:nvSpPr>
          <p:cNvPr id="2564" name="TextBox 151"/>
          <p:cNvSpPr txBox="1"/>
          <p:nvPr/>
        </p:nvSpPr>
        <p:spPr>
          <a:xfrm>
            <a:off x="10490200" y="5245100"/>
            <a:ext cx="1549400" cy="1066800"/>
          </a:xfrm>
          <a:prstGeom prst="rect">
            <a:avLst/>
          </a:prstGeom>
        </p:spPr>
        <p:txBody>
          <a:bodyPr wrap="square" lIns="0" tIns="0" rIns="0" bIns="0">
            <a:noAutofit/>
          </a:bodyPr>
          <a:lstStyle/>
          <a:p>
            <a:pPr>
              <a:lnSpc>
                <a:spcPct val="140000"/>
              </a:lnSpc>
            </a:pPr>
            <a:r>
              <a:rPr sz="530" spc="0">
                <a:solidFill>
                  <a:srgbClr val="CFCFCF"/>
                </a:solidFill>
                <a:latin typeface="Telegraf"/>
              </a:rPr>
              <a:t>components/ui/ states; EmptyState.tsx; Skeleton.tsx; ErrorState.tsx · R7</a:t>
            </a:r>
            <a:endParaRPr sz="530" spc="0">
              <a:solidFill>
                <a:srgbClr val="CFCFCF"/>
              </a:solidFill>
              <a:latin typeface="Telegraf"/>
            </a:endParaRPr>
          </a:p>
        </p:txBody>
      </p:sp>
      <p:sp>
        <p:nvSpPr>
          <p:cNvPr id="2565" name="Rectangle 152"/>
          <p:cNvSpPr/>
          <p:nvPr/>
        </p:nvSpPr>
        <p:spPr>
          <a:xfrm>
            <a:off x="10490200" y="6451600"/>
            <a:ext cx="1524000" cy="11430"/>
          </a:xfrm>
          <a:prstGeom prst="roundRec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66" name="TextBox 153"/>
          <p:cNvSpPr txBox="1"/>
          <p:nvPr/>
        </p:nvSpPr>
        <p:spPr>
          <a:xfrm>
            <a:off x="10490200" y="6527800"/>
            <a:ext cx="1574800" cy="101600"/>
          </a:xfrm>
          <a:prstGeom prst="rect">
            <a:avLst/>
          </a:prstGeom>
        </p:spPr>
        <p:txBody>
          <a:bodyPr wrap="square" lIns="0" tIns="0" rIns="0" bIns="0">
            <a:noAutofit/>
          </a:bodyPr>
          <a:lstStyle/>
          <a:p>
            <a:pPr>
              <a:lnSpc>
                <a:spcPct val="135000"/>
              </a:lnSpc>
            </a:pPr>
            <a:r>
              <a:rPr sz="450" spc="20">
                <a:solidFill>
                  <a:srgbClr val="7C7C7C"/>
                </a:solidFill>
                <a:latin typeface="Telegraf"/>
              </a:rPr>
              <a:t>AfterSales AI  ·  screens</a:t>
            </a:r>
            <a:endParaRPr sz="450" spc="20">
              <a:solidFill>
                <a:srgbClr val="7C7C7C"/>
              </a:solidFill>
              <a:latin typeface="Telegraf"/>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3B37"/>
        </a:solidFill>
        <a:effectLst/>
      </p:bgPr>
    </p:bg>
    <p:spTree>
      <p:nvGrpSpPr>
        <p:cNvPr id="1" name=""/>
        <p:cNvGrpSpPr/>
        <p:nvPr/>
      </p:nvGrpSpPr>
      <p:grpSpPr>
        <a:xfrm>
          <a:off x="0" y="0"/>
          <a:ext cx="0" cy="0"/>
          <a:chOff x="0" y="0"/>
          <a:chExt cx="0" cy="0"/>
        </a:xfrm>
      </p:grpSpPr>
      <p:sp>
        <p:nvSpPr>
          <p:cNvPr id="2568" name="Freeform 2568"/>
          <p:cNvSpPr/>
          <p:nvPr/>
        </p:nvSpPr>
        <p:spPr>
          <a:xfrm>
            <a:off x="8563864" y="3835781"/>
            <a:ext cx="5652516" cy="3051048"/>
          </a:xfrm>
          <a:custGeom>
            <a:avLst/>
            <a:gdLst/>
            <a:ahLst/>
            <a:cxnLst/>
            <a:rect l="l" t="t" r="r" b="b"/>
            <a:pathLst>
              <a:path w="100000" h="53977">
                <a:moveTo>
                  <a:pt x="0" y="51748"/>
                </a:moveTo>
                <a:lnTo>
                  <a:pt x="647" y="49616"/>
                </a:lnTo>
                <a:lnTo>
                  <a:pt x="1359" y="47508"/>
                </a:lnTo>
                <a:lnTo>
                  <a:pt x="2139" y="45421"/>
                </a:lnTo>
                <a:lnTo>
                  <a:pt x="2981" y="43361"/>
                </a:lnTo>
                <a:lnTo>
                  <a:pt x="3889" y="41327"/>
                </a:lnTo>
                <a:lnTo>
                  <a:pt x="4858" y="39323"/>
                </a:lnTo>
                <a:lnTo>
                  <a:pt x="5891" y="37348"/>
                </a:lnTo>
                <a:lnTo>
                  <a:pt x="6983" y="35409"/>
                </a:lnTo>
                <a:lnTo>
                  <a:pt x="8136" y="33504"/>
                </a:lnTo>
                <a:lnTo>
                  <a:pt x="9347" y="31635"/>
                </a:lnTo>
                <a:lnTo>
                  <a:pt x="10616" y="29806"/>
                </a:lnTo>
                <a:lnTo>
                  <a:pt x="11942" y="28017"/>
                </a:lnTo>
                <a:lnTo>
                  <a:pt x="13323" y="26269"/>
                </a:lnTo>
                <a:lnTo>
                  <a:pt x="14757" y="24566"/>
                </a:lnTo>
                <a:lnTo>
                  <a:pt x="16244" y="22910"/>
                </a:lnTo>
                <a:lnTo>
                  <a:pt x="17781" y="21300"/>
                </a:lnTo>
                <a:lnTo>
                  <a:pt x="19370" y="19738"/>
                </a:lnTo>
                <a:lnTo>
                  <a:pt x="21005" y="18226"/>
                </a:lnTo>
                <a:lnTo>
                  <a:pt x="22686" y="16766"/>
                </a:lnTo>
                <a:lnTo>
                  <a:pt x="24411" y="15359"/>
                </a:lnTo>
                <a:lnTo>
                  <a:pt x="26182" y="14006"/>
                </a:lnTo>
                <a:lnTo>
                  <a:pt x="27990" y="12710"/>
                </a:lnTo>
                <a:lnTo>
                  <a:pt x="29842" y="11472"/>
                </a:lnTo>
                <a:lnTo>
                  <a:pt x="31729" y="10290"/>
                </a:lnTo>
                <a:lnTo>
                  <a:pt x="33652" y="9169"/>
                </a:lnTo>
                <a:lnTo>
                  <a:pt x="35609" y="8106"/>
                </a:lnTo>
                <a:lnTo>
                  <a:pt x="37600" y="7107"/>
                </a:lnTo>
                <a:lnTo>
                  <a:pt x="39620" y="6170"/>
                </a:lnTo>
                <a:lnTo>
                  <a:pt x="41667" y="5296"/>
                </a:lnTo>
                <a:lnTo>
                  <a:pt x="43743" y="4487"/>
                </a:lnTo>
                <a:lnTo>
                  <a:pt x="45841" y="3743"/>
                </a:lnTo>
                <a:lnTo>
                  <a:pt x="47960" y="3062"/>
                </a:lnTo>
                <a:lnTo>
                  <a:pt x="50101" y="2451"/>
                </a:lnTo>
                <a:lnTo>
                  <a:pt x="52260" y="1905"/>
                </a:lnTo>
                <a:lnTo>
                  <a:pt x="54435" y="1427"/>
                </a:lnTo>
                <a:lnTo>
                  <a:pt x="56624" y="1018"/>
                </a:lnTo>
                <a:lnTo>
                  <a:pt x="58825" y="676"/>
                </a:lnTo>
                <a:lnTo>
                  <a:pt x="61034" y="404"/>
                </a:lnTo>
                <a:lnTo>
                  <a:pt x="63252" y="200"/>
                </a:lnTo>
                <a:lnTo>
                  <a:pt x="65474" y="65"/>
                </a:lnTo>
                <a:lnTo>
                  <a:pt x="67700" y="0"/>
                </a:lnTo>
                <a:lnTo>
                  <a:pt x="69927" y="4"/>
                </a:lnTo>
                <a:lnTo>
                  <a:pt x="72153" y="79"/>
                </a:lnTo>
                <a:lnTo>
                  <a:pt x="74375" y="220"/>
                </a:lnTo>
                <a:lnTo>
                  <a:pt x="76591" y="434"/>
                </a:lnTo>
                <a:lnTo>
                  <a:pt x="78799" y="714"/>
                </a:lnTo>
                <a:lnTo>
                  <a:pt x="80999" y="1063"/>
                </a:lnTo>
                <a:lnTo>
                  <a:pt x="83185" y="1481"/>
                </a:lnTo>
                <a:lnTo>
                  <a:pt x="85360" y="1968"/>
                </a:lnTo>
                <a:lnTo>
                  <a:pt x="87517" y="2521"/>
                </a:lnTo>
                <a:lnTo>
                  <a:pt x="89654" y="3141"/>
                </a:lnTo>
                <a:lnTo>
                  <a:pt x="91772" y="3829"/>
                </a:lnTo>
                <a:lnTo>
                  <a:pt x="93869" y="4581"/>
                </a:lnTo>
                <a:lnTo>
                  <a:pt x="95940" y="5397"/>
                </a:lnTo>
                <a:lnTo>
                  <a:pt x="97985" y="6280"/>
                </a:lnTo>
                <a:lnTo>
                  <a:pt x="100000" y="7223"/>
                </a:lnTo>
                <a:lnTo>
                  <a:pt x="96455" y="14494"/>
                </a:lnTo>
                <a:lnTo>
                  <a:pt x="94666" y="13656"/>
                </a:lnTo>
                <a:lnTo>
                  <a:pt x="92853" y="12874"/>
                </a:lnTo>
                <a:lnTo>
                  <a:pt x="91017" y="12151"/>
                </a:lnTo>
                <a:lnTo>
                  <a:pt x="89159" y="11483"/>
                </a:lnTo>
                <a:lnTo>
                  <a:pt x="87279" y="10874"/>
                </a:lnTo>
                <a:lnTo>
                  <a:pt x="85382" y="10324"/>
                </a:lnTo>
                <a:lnTo>
                  <a:pt x="83470" y="9832"/>
                </a:lnTo>
                <a:lnTo>
                  <a:pt x="81543" y="9401"/>
                </a:lnTo>
                <a:lnTo>
                  <a:pt x="79604" y="9030"/>
                </a:lnTo>
                <a:lnTo>
                  <a:pt x="77653" y="8720"/>
                </a:lnTo>
                <a:lnTo>
                  <a:pt x="75694" y="8470"/>
                </a:lnTo>
                <a:lnTo>
                  <a:pt x="73731" y="8284"/>
                </a:lnTo>
                <a:lnTo>
                  <a:pt x="71760" y="8156"/>
                </a:lnTo>
                <a:lnTo>
                  <a:pt x="69785" y="8091"/>
                </a:lnTo>
                <a:lnTo>
                  <a:pt x="67810" y="8088"/>
                </a:lnTo>
                <a:lnTo>
                  <a:pt x="65838" y="8145"/>
                </a:lnTo>
                <a:lnTo>
                  <a:pt x="63867" y="8266"/>
                </a:lnTo>
                <a:lnTo>
                  <a:pt x="61899" y="8446"/>
                </a:lnTo>
                <a:lnTo>
                  <a:pt x="59940" y="8688"/>
                </a:lnTo>
                <a:lnTo>
                  <a:pt x="57990" y="8989"/>
                </a:lnTo>
                <a:lnTo>
                  <a:pt x="56048" y="9353"/>
                </a:lnTo>
                <a:lnTo>
                  <a:pt x="54118" y="9778"/>
                </a:lnTo>
                <a:lnTo>
                  <a:pt x="52204" y="10261"/>
                </a:lnTo>
                <a:lnTo>
                  <a:pt x="50306" y="10805"/>
                </a:lnTo>
                <a:lnTo>
                  <a:pt x="48425" y="11407"/>
                </a:lnTo>
                <a:lnTo>
                  <a:pt x="46565" y="12067"/>
                </a:lnTo>
                <a:lnTo>
                  <a:pt x="44725" y="12784"/>
                </a:lnTo>
                <a:lnTo>
                  <a:pt x="42909" y="13559"/>
                </a:lnTo>
                <a:lnTo>
                  <a:pt x="41118" y="14391"/>
                </a:lnTo>
                <a:lnTo>
                  <a:pt x="39355" y="15278"/>
                </a:lnTo>
                <a:lnTo>
                  <a:pt x="37618" y="16217"/>
                </a:lnTo>
                <a:lnTo>
                  <a:pt x="35913" y="17213"/>
                </a:lnTo>
                <a:lnTo>
                  <a:pt x="34239" y="18260"/>
                </a:lnTo>
                <a:lnTo>
                  <a:pt x="32599" y="19361"/>
                </a:lnTo>
                <a:lnTo>
                  <a:pt x="30992" y="20509"/>
                </a:lnTo>
                <a:lnTo>
                  <a:pt x="29424" y="21708"/>
                </a:lnTo>
                <a:lnTo>
                  <a:pt x="27892" y="22955"/>
                </a:lnTo>
                <a:lnTo>
                  <a:pt x="26402" y="24250"/>
                </a:lnTo>
                <a:lnTo>
                  <a:pt x="24951" y="25591"/>
                </a:lnTo>
                <a:lnTo>
                  <a:pt x="23544" y="26975"/>
                </a:lnTo>
                <a:lnTo>
                  <a:pt x="22180" y="28404"/>
                </a:lnTo>
                <a:lnTo>
                  <a:pt x="20861" y="29873"/>
                </a:lnTo>
                <a:lnTo>
                  <a:pt x="19590" y="31383"/>
                </a:lnTo>
                <a:lnTo>
                  <a:pt x="18365" y="32933"/>
                </a:lnTo>
                <a:lnTo>
                  <a:pt x="17190" y="34520"/>
                </a:lnTo>
                <a:lnTo>
                  <a:pt x="16065" y="36142"/>
                </a:lnTo>
                <a:lnTo>
                  <a:pt x="14991" y="37798"/>
                </a:lnTo>
                <a:lnTo>
                  <a:pt x="13968" y="39487"/>
                </a:lnTo>
                <a:lnTo>
                  <a:pt x="12998" y="41208"/>
                </a:lnTo>
                <a:lnTo>
                  <a:pt x="12083" y="42959"/>
                </a:lnTo>
                <a:lnTo>
                  <a:pt x="11223" y="44736"/>
                </a:lnTo>
                <a:lnTo>
                  <a:pt x="10418" y="46540"/>
                </a:lnTo>
                <a:lnTo>
                  <a:pt x="9672" y="48367"/>
                </a:lnTo>
                <a:lnTo>
                  <a:pt x="8980" y="50218"/>
                </a:lnTo>
                <a:lnTo>
                  <a:pt x="8349" y="52087"/>
                </a:lnTo>
                <a:lnTo>
                  <a:pt x="7774" y="53977"/>
                </a:lnTo>
                <a:close/>
              </a:path>
            </a:pathLst>
          </a:custGeom>
          <a:solidFill>
            <a:srgbClr val="0B4B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69" name="Freeform 2569"/>
          <p:cNvSpPr/>
          <p:nvPr/>
        </p:nvSpPr>
        <p:spPr>
          <a:xfrm>
            <a:off x="7751064" y="3035681"/>
            <a:ext cx="6507607" cy="3759962"/>
          </a:xfrm>
          <a:custGeom>
            <a:avLst/>
            <a:gdLst/>
            <a:ahLst/>
            <a:cxnLst/>
            <a:rect l="l" t="t" r="r" b="b"/>
            <a:pathLst>
              <a:path w="100000" h="57778">
                <a:moveTo>
                  <a:pt x="0" y="56361"/>
                </a:moveTo>
                <a:lnTo>
                  <a:pt x="582" y="54166"/>
                </a:lnTo>
                <a:lnTo>
                  <a:pt x="1231" y="51990"/>
                </a:lnTo>
                <a:lnTo>
                  <a:pt x="1948" y="49835"/>
                </a:lnTo>
                <a:lnTo>
                  <a:pt x="2730" y="47702"/>
                </a:lnTo>
                <a:lnTo>
                  <a:pt x="3575" y="45594"/>
                </a:lnTo>
                <a:lnTo>
                  <a:pt x="4485" y="43514"/>
                </a:lnTo>
                <a:lnTo>
                  <a:pt x="5459" y="41463"/>
                </a:lnTo>
                <a:lnTo>
                  <a:pt x="6495" y="39441"/>
                </a:lnTo>
                <a:lnTo>
                  <a:pt x="7592" y="37452"/>
                </a:lnTo>
                <a:lnTo>
                  <a:pt x="8747" y="35499"/>
                </a:lnTo>
                <a:lnTo>
                  <a:pt x="9963" y="33581"/>
                </a:lnTo>
                <a:lnTo>
                  <a:pt x="11237" y="31701"/>
                </a:lnTo>
                <a:lnTo>
                  <a:pt x="12568" y="29861"/>
                </a:lnTo>
                <a:lnTo>
                  <a:pt x="13956" y="28062"/>
                </a:lnTo>
                <a:lnTo>
                  <a:pt x="15396" y="26307"/>
                </a:lnTo>
                <a:lnTo>
                  <a:pt x="16889" y="24596"/>
                </a:lnTo>
                <a:lnTo>
                  <a:pt x="18434" y="22931"/>
                </a:lnTo>
                <a:lnTo>
                  <a:pt x="20029" y="21315"/>
                </a:lnTo>
                <a:lnTo>
                  <a:pt x="21674" y="19748"/>
                </a:lnTo>
                <a:lnTo>
                  <a:pt x="23364" y="18233"/>
                </a:lnTo>
                <a:lnTo>
                  <a:pt x="25101" y="16770"/>
                </a:lnTo>
                <a:lnTo>
                  <a:pt x="26881" y="15359"/>
                </a:lnTo>
                <a:lnTo>
                  <a:pt x="28704" y="14004"/>
                </a:lnTo>
                <a:lnTo>
                  <a:pt x="30567" y="12707"/>
                </a:lnTo>
                <a:lnTo>
                  <a:pt x="32468" y="11465"/>
                </a:lnTo>
                <a:lnTo>
                  <a:pt x="34408" y="10283"/>
                </a:lnTo>
                <a:lnTo>
                  <a:pt x="36381" y="9161"/>
                </a:lnTo>
                <a:lnTo>
                  <a:pt x="38389" y="8099"/>
                </a:lnTo>
                <a:lnTo>
                  <a:pt x="40429" y="7098"/>
                </a:lnTo>
                <a:lnTo>
                  <a:pt x="42497" y="6161"/>
                </a:lnTo>
                <a:lnTo>
                  <a:pt x="44593" y="5287"/>
                </a:lnTo>
                <a:lnTo>
                  <a:pt x="46715" y="4479"/>
                </a:lnTo>
                <a:lnTo>
                  <a:pt x="48859" y="3733"/>
                </a:lnTo>
                <a:lnTo>
                  <a:pt x="51027" y="3056"/>
                </a:lnTo>
                <a:lnTo>
                  <a:pt x="53215" y="2445"/>
                </a:lnTo>
                <a:lnTo>
                  <a:pt x="55419" y="1901"/>
                </a:lnTo>
                <a:lnTo>
                  <a:pt x="57639" y="1423"/>
                </a:lnTo>
                <a:lnTo>
                  <a:pt x="59874" y="1015"/>
                </a:lnTo>
                <a:lnTo>
                  <a:pt x="62118" y="673"/>
                </a:lnTo>
                <a:lnTo>
                  <a:pt x="64372" y="402"/>
                </a:lnTo>
                <a:lnTo>
                  <a:pt x="66634" y="199"/>
                </a:lnTo>
                <a:lnTo>
                  <a:pt x="68902" y="64"/>
                </a:lnTo>
                <a:lnTo>
                  <a:pt x="71172" y="0"/>
                </a:lnTo>
                <a:lnTo>
                  <a:pt x="73443" y="6"/>
                </a:lnTo>
                <a:lnTo>
                  <a:pt x="75713" y="80"/>
                </a:lnTo>
                <a:lnTo>
                  <a:pt x="77979" y="222"/>
                </a:lnTo>
                <a:lnTo>
                  <a:pt x="80240" y="435"/>
                </a:lnTo>
                <a:lnTo>
                  <a:pt x="82493" y="718"/>
                </a:lnTo>
                <a:lnTo>
                  <a:pt x="84737" y="1068"/>
                </a:lnTo>
                <a:lnTo>
                  <a:pt x="86969" y="1487"/>
                </a:lnTo>
                <a:lnTo>
                  <a:pt x="89188" y="1973"/>
                </a:lnTo>
                <a:lnTo>
                  <a:pt x="91390" y="2527"/>
                </a:lnTo>
                <a:lnTo>
                  <a:pt x="93574" y="3150"/>
                </a:lnTo>
                <a:lnTo>
                  <a:pt x="95738" y="3837"/>
                </a:lnTo>
                <a:lnTo>
                  <a:pt x="97881" y="4590"/>
                </a:lnTo>
                <a:lnTo>
                  <a:pt x="100000" y="5408"/>
                </a:lnTo>
                <a:lnTo>
                  <a:pt x="97806" y="10837"/>
                </a:lnTo>
                <a:lnTo>
                  <a:pt x="95855" y="10082"/>
                </a:lnTo>
                <a:lnTo>
                  <a:pt x="93880" y="9389"/>
                </a:lnTo>
                <a:lnTo>
                  <a:pt x="91887" y="8755"/>
                </a:lnTo>
                <a:lnTo>
                  <a:pt x="89875" y="8183"/>
                </a:lnTo>
                <a:lnTo>
                  <a:pt x="87846" y="7672"/>
                </a:lnTo>
                <a:lnTo>
                  <a:pt x="85802" y="7225"/>
                </a:lnTo>
                <a:lnTo>
                  <a:pt x="83745" y="6838"/>
                </a:lnTo>
                <a:lnTo>
                  <a:pt x="81679" y="6516"/>
                </a:lnTo>
                <a:lnTo>
                  <a:pt x="79602" y="6257"/>
                </a:lnTo>
                <a:lnTo>
                  <a:pt x="77520" y="6060"/>
                </a:lnTo>
                <a:lnTo>
                  <a:pt x="75432" y="5927"/>
                </a:lnTo>
                <a:lnTo>
                  <a:pt x="73342" y="5859"/>
                </a:lnTo>
                <a:lnTo>
                  <a:pt x="71250" y="5855"/>
                </a:lnTo>
                <a:lnTo>
                  <a:pt x="69158" y="5913"/>
                </a:lnTo>
                <a:lnTo>
                  <a:pt x="67069" y="6038"/>
                </a:lnTo>
                <a:lnTo>
                  <a:pt x="64985" y="6224"/>
                </a:lnTo>
                <a:lnTo>
                  <a:pt x="62909" y="6475"/>
                </a:lnTo>
                <a:lnTo>
                  <a:pt x="60840" y="6788"/>
                </a:lnTo>
                <a:lnTo>
                  <a:pt x="58781" y="7164"/>
                </a:lnTo>
                <a:lnTo>
                  <a:pt x="56736" y="7605"/>
                </a:lnTo>
                <a:lnTo>
                  <a:pt x="54704" y="8107"/>
                </a:lnTo>
                <a:lnTo>
                  <a:pt x="52690" y="8669"/>
                </a:lnTo>
                <a:lnTo>
                  <a:pt x="50694" y="9295"/>
                </a:lnTo>
                <a:lnTo>
                  <a:pt x="48717" y="9980"/>
                </a:lnTo>
                <a:lnTo>
                  <a:pt x="46761" y="10726"/>
                </a:lnTo>
                <a:lnTo>
                  <a:pt x="44831" y="11530"/>
                </a:lnTo>
                <a:lnTo>
                  <a:pt x="42925" y="12394"/>
                </a:lnTo>
                <a:lnTo>
                  <a:pt x="41047" y="13316"/>
                </a:lnTo>
                <a:lnTo>
                  <a:pt x="39197" y="14293"/>
                </a:lnTo>
                <a:lnTo>
                  <a:pt x="37378" y="15328"/>
                </a:lnTo>
                <a:lnTo>
                  <a:pt x="35593" y="16417"/>
                </a:lnTo>
                <a:lnTo>
                  <a:pt x="33840" y="17560"/>
                </a:lnTo>
                <a:lnTo>
                  <a:pt x="32125" y="18756"/>
                </a:lnTo>
                <a:lnTo>
                  <a:pt x="30444" y="20004"/>
                </a:lnTo>
                <a:lnTo>
                  <a:pt x="28805" y="21303"/>
                </a:lnTo>
                <a:lnTo>
                  <a:pt x="27205" y="22652"/>
                </a:lnTo>
                <a:lnTo>
                  <a:pt x="25647" y="24047"/>
                </a:lnTo>
                <a:lnTo>
                  <a:pt x="24133" y="25491"/>
                </a:lnTo>
                <a:lnTo>
                  <a:pt x="22663" y="26980"/>
                </a:lnTo>
                <a:lnTo>
                  <a:pt x="21241" y="28514"/>
                </a:lnTo>
                <a:lnTo>
                  <a:pt x="19865" y="30089"/>
                </a:lnTo>
                <a:lnTo>
                  <a:pt x="18536" y="31707"/>
                </a:lnTo>
                <a:lnTo>
                  <a:pt x="17260" y="33364"/>
                </a:lnTo>
                <a:lnTo>
                  <a:pt x="16034" y="35058"/>
                </a:lnTo>
                <a:lnTo>
                  <a:pt x="14859" y="36791"/>
                </a:lnTo>
                <a:lnTo>
                  <a:pt x="13739" y="38557"/>
                </a:lnTo>
                <a:lnTo>
                  <a:pt x="12673" y="40358"/>
                </a:lnTo>
                <a:lnTo>
                  <a:pt x="11664" y="42191"/>
                </a:lnTo>
                <a:lnTo>
                  <a:pt x="10710" y="44053"/>
                </a:lnTo>
                <a:lnTo>
                  <a:pt x="9812" y="45942"/>
                </a:lnTo>
                <a:lnTo>
                  <a:pt x="8975" y="47858"/>
                </a:lnTo>
                <a:lnTo>
                  <a:pt x="8195" y="49800"/>
                </a:lnTo>
                <a:lnTo>
                  <a:pt x="7474" y="51765"/>
                </a:lnTo>
                <a:lnTo>
                  <a:pt x="6817" y="53750"/>
                </a:lnTo>
                <a:lnTo>
                  <a:pt x="6218" y="55754"/>
                </a:lnTo>
                <a:lnTo>
                  <a:pt x="5681" y="57778"/>
                </a:lnTo>
                <a:close/>
              </a:path>
            </a:pathLst>
          </a:custGeom>
          <a:solidFill>
            <a:srgbClr val="0B4B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70" name="TextBox 3"/>
          <p:cNvSpPr txBox="1"/>
          <p:nvPr/>
        </p:nvSpPr>
        <p:spPr>
          <a:xfrm>
            <a:off x="711200" y="685800"/>
            <a:ext cx="3810000" cy="127000"/>
          </a:xfrm>
          <a:prstGeom prst="rect">
            <a:avLst/>
          </a:prstGeom>
        </p:spPr>
        <p:txBody>
          <a:bodyPr wrap="square" lIns="0" tIns="0" rIns="0" bIns="0">
            <a:noAutofit/>
          </a:bodyPr>
          <a:lstStyle/>
          <a:p>
            <a:r>
              <a:rPr sz="520" b="1" spc="140">
                <a:solidFill>
                  <a:srgbClr val="8FE0CE"/>
                </a:solidFill>
                <a:latin typeface="Telegraf"/>
              </a:rPr>
              <a:t>HOW TO BUILD IT</a:t>
            </a:r>
            <a:endParaRPr sz="520" b="1" spc="140">
              <a:solidFill>
                <a:srgbClr val="8FE0CE"/>
              </a:solidFill>
              <a:latin typeface="Telegraf"/>
            </a:endParaRPr>
          </a:p>
        </p:txBody>
      </p:sp>
      <p:sp>
        <p:nvSpPr>
          <p:cNvPr id="2571" name="TextBox 4"/>
          <p:cNvSpPr txBox="1"/>
          <p:nvPr/>
        </p:nvSpPr>
        <p:spPr>
          <a:xfrm>
            <a:off x="660400" y="914400"/>
            <a:ext cx="4318000" cy="1905000"/>
          </a:xfrm>
          <a:prstGeom prst="rect">
            <a:avLst/>
          </a:prstGeom>
        </p:spPr>
        <p:txBody>
          <a:bodyPr wrap="square" lIns="0" tIns="0" rIns="0" bIns="0">
            <a:noAutofit/>
          </a:bodyPr>
          <a:lstStyle/>
          <a:p>
            <a:pPr>
              <a:lnSpc>
                <a:spcPct val="102000"/>
              </a:lnSpc>
            </a:pPr>
            <a:r>
              <a:rPr sz="3600" spc="-150">
                <a:solidFill>
                  <a:srgbClr val="FFFFFF"/>
                </a:solidFill>
                <a:latin typeface="PP Editorial New Ultralight"/>
              </a:rPr>
              <a:t>Six files,</a:t>
            </a:r>
            <a:endParaRPr sz="3600" spc="-150">
              <a:solidFill>
                <a:srgbClr val="FFFFFF"/>
              </a:solidFill>
              <a:latin typeface="PP Editorial New Ultralight"/>
            </a:endParaRPr>
          </a:p>
          <a:p>
            <a:pPr>
              <a:lnSpc>
                <a:spcPct val="102000"/>
              </a:lnSpc>
            </a:pPr>
            <a:r>
              <a:rPr sz="3600" spc="-150">
                <a:solidFill>
                  <a:srgbClr val="FFFFFF"/>
                </a:solidFill>
                <a:latin typeface="PP Editorial New Ultralight"/>
              </a:rPr>
              <a:t>in the order</a:t>
            </a:r>
            <a:endParaRPr sz="3600" spc="-150">
              <a:solidFill>
                <a:srgbClr val="FFFFFF"/>
              </a:solidFill>
              <a:latin typeface="PP Editorial New Ultralight"/>
            </a:endParaRPr>
          </a:p>
          <a:p>
            <a:pPr>
              <a:lnSpc>
                <a:spcPct val="102000"/>
              </a:lnSpc>
            </a:pPr>
            <a:r>
              <a:rPr sz="3600" spc="-150">
                <a:solidFill>
                  <a:srgbClr val="FFFFFF"/>
                </a:solidFill>
                <a:latin typeface="PP Editorial New Ultralight"/>
              </a:rPr>
              <a:t>that works.</a:t>
            </a:r>
            <a:endParaRPr sz="3600" spc="-150">
              <a:solidFill>
                <a:srgbClr val="FFFFFF"/>
              </a:solidFill>
              <a:latin typeface="PP Editorial New Ultralight"/>
            </a:endParaRPr>
          </a:p>
        </p:txBody>
      </p:sp>
      <p:sp>
        <p:nvSpPr>
          <p:cNvPr id="2572" name="TextBox 5"/>
          <p:cNvSpPr txBox="1"/>
          <p:nvPr/>
        </p:nvSpPr>
        <p:spPr>
          <a:xfrm>
            <a:off x="711200" y="2946400"/>
            <a:ext cx="4013200" cy="889000"/>
          </a:xfrm>
          <a:prstGeom prst="rect">
            <a:avLst/>
          </a:prstGeom>
        </p:spPr>
        <p:txBody>
          <a:bodyPr wrap="square" lIns="0" tIns="0" rIns="0" bIns="0">
            <a:noAutofit/>
          </a:bodyPr>
          <a:lstStyle/>
          <a:p>
            <a:pPr>
              <a:lnSpc>
                <a:spcPct val="160000"/>
              </a:lnSpc>
            </a:pPr>
            <a:r>
              <a:rPr sz="700" spc="0">
                <a:solidFill>
                  <a:srgbClr val="BBD3CE"/>
                </a:solidFill>
                <a:latin typeface="Telegraf"/>
              </a:rPr>
              <a:t>Each step stands on the one above it. Do not start the drawer before the row exists — the drawer is the row, opened.</a:t>
            </a:r>
            <a:endParaRPr sz="700" spc="0">
              <a:solidFill>
                <a:srgbClr val="BBD3CE"/>
              </a:solidFill>
              <a:latin typeface="Telegraf"/>
            </a:endParaRPr>
          </a:p>
        </p:txBody>
      </p:sp>
      <p:sp>
        <p:nvSpPr>
          <p:cNvPr id="2573" name="Rectangle 6"/>
          <p:cNvSpPr/>
          <p:nvPr/>
        </p:nvSpPr>
        <p:spPr>
          <a:xfrm>
            <a:off x="711200" y="5969000"/>
            <a:ext cx="1498600" cy="330200"/>
          </a:xfrm>
          <a:custGeom>
            <a:avLst/>
            <a:gdLst/>
            <a:ahLst/>
            <a:cxnLst/>
            <a:rect l="l" t="t" r="r" b="b"/>
            <a:pathLst>
              <a:path w="100000" h="22034">
                <a:moveTo>
                  <a:pt x="88983" y="0"/>
                </a:moveTo>
                <a:cubicBezTo>
                  <a:pt x="88983" y="0"/>
                  <a:pt x="88983" y="0"/>
                  <a:pt x="88983" y="0"/>
                </a:cubicBezTo>
                <a:cubicBezTo>
                  <a:pt x="95068" y="0"/>
                  <a:pt x="100000" y="4932"/>
                  <a:pt x="100000" y="11017"/>
                </a:cubicBezTo>
                <a:cubicBezTo>
                  <a:pt x="100000" y="11017"/>
                  <a:pt x="100000" y="11017"/>
                  <a:pt x="100000" y="11017"/>
                </a:cubicBezTo>
                <a:lnTo>
                  <a:pt x="100000" y="11017"/>
                </a:lnTo>
                <a:cubicBezTo>
                  <a:pt x="100000" y="11017"/>
                  <a:pt x="100000" y="11017"/>
                  <a:pt x="100000" y="11017"/>
                </a:cubicBezTo>
                <a:cubicBezTo>
                  <a:pt x="100000" y="17102"/>
                  <a:pt x="95068" y="22034"/>
                  <a:pt x="88983" y="22034"/>
                </a:cubicBezTo>
                <a:cubicBezTo>
                  <a:pt x="88983" y="22034"/>
                  <a:pt x="88983" y="22034"/>
                  <a:pt x="88983" y="22034"/>
                </a:cubicBezTo>
                <a:lnTo>
                  <a:pt x="11017" y="22034"/>
                </a:lnTo>
                <a:cubicBezTo>
                  <a:pt x="11017" y="22034"/>
                  <a:pt x="11017" y="22034"/>
                  <a:pt x="11017" y="22034"/>
                </a:cubicBezTo>
                <a:cubicBezTo>
                  <a:pt x="4932" y="22034"/>
                  <a:pt x="0" y="17102"/>
                  <a:pt x="0" y="11017"/>
                </a:cubicBezTo>
                <a:cubicBezTo>
                  <a:pt x="0" y="11017"/>
                  <a:pt x="0" y="11017"/>
                  <a:pt x="0" y="11017"/>
                </a:cubicBezTo>
                <a:lnTo>
                  <a:pt x="0" y="11017"/>
                </a:lnTo>
                <a:cubicBezTo>
                  <a:pt x="0" y="11017"/>
                  <a:pt x="0" y="11017"/>
                  <a:pt x="0" y="11017"/>
                </a:cubicBezTo>
                <a:cubicBezTo>
                  <a:pt x="0" y="4932"/>
                  <a:pt x="4932" y="0"/>
                  <a:pt x="11017" y="0"/>
                </a:cubicBezTo>
                <a:cubicBezTo>
                  <a:pt x="11017" y="0"/>
                  <a:pt x="11017" y="0"/>
                  <a:pt x="11017" y="0"/>
                </a:cubicBezTo>
                <a:close/>
              </a:path>
            </a:pathLst>
          </a:custGeom>
          <a:solidFill>
            <a:srgbClr val="8FE0C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74" name="TextBox 7"/>
          <p:cNvSpPr txBox="1"/>
          <p:nvPr/>
        </p:nvSpPr>
        <p:spPr>
          <a:xfrm>
            <a:off x="787400" y="5969000"/>
            <a:ext cx="1371600" cy="330200"/>
          </a:xfrm>
          <a:prstGeom prst="rect">
            <a:avLst/>
          </a:prstGeom>
        </p:spPr>
        <p:txBody>
          <a:bodyPr wrap="square" lIns="0" tIns="0" rIns="0" bIns="0" anchor="ctr">
            <a:noAutofit/>
          </a:bodyPr>
          <a:lstStyle/>
          <a:p>
            <a:pPr>
              <a:lnSpc>
                <a:spcPct val="135000"/>
              </a:lnSpc>
            </a:pPr>
            <a:r>
              <a:rPr sz="560" b="1" spc="10">
                <a:solidFill>
                  <a:srgbClr val="073B37"/>
                </a:solidFill>
                <a:latin typeface="Telegraf"/>
              </a:rPr>
              <a:t>npm run dev</a:t>
            </a:r>
            <a:endParaRPr sz="560" b="1" spc="10">
              <a:solidFill>
                <a:srgbClr val="073B37"/>
              </a:solidFill>
              <a:latin typeface="Telegraf"/>
            </a:endParaRPr>
          </a:p>
        </p:txBody>
      </p:sp>
      <p:sp>
        <p:nvSpPr>
          <p:cNvPr id="2575" name="TextBox 8"/>
          <p:cNvSpPr txBox="1"/>
          <p:nvPr/>
        </p:nvSpPr>
        <p:spPr>
          <a:xfrm>
            <a:off x="711200" y="6375400"/>
            <a:ext cx="4318000" cy="127000"/>
          </a:xfrm>
          <a:prstGeom prst="rect">
            <a:avLst/>
          </a:prstGeom>
        </p:spPr>
        <p:txBody>
          <a:bodyPr wrap="square" lIns="0" tIns="0" rIns="0" bIns="0">
            <a:noAutofit/>
          </a:bodyPr>
          <a:lstStyle/>
          <a:p>
            <a:pPr>
              <a:lnSpc>
                <a:spcPct val="135000"/>
              </a:lnSpc>
            </a:pPr>
            <a:r>
              <a:rPr sz="520" spc="0">
                <a:solidFill>
                  <a:srgbClr val="9FBFBA"/>
                </a:solidFill>
                <a:latin typeface="Telegraf"/>
              </a:rPr>
              <a:t>localhost:3000  ·  1-click judge demo login</a:t>
            </a:r>
            <a:endParaRPr sz="520" spc="0">
              <a:solidFill>
                <a:srgbClr val="9FBFBA"/>
              </a:solidFill>
              <a:latin typeface="Telegraf"/>
            </a:endParaRPr>
          </a:p>
        </p:txBody>
      </p:sp>
      <p:sp>
        <p:nvSpPr>
          <p:cNvPr id="2576" name="Rectangle 9"/>
          <p:cNvSpPr/>
          <p:nvPr/>
        </p:nvSpPr>
        <p:spPr>
          <a:xfrm>
            <a:off x="5334000" y="863600"/>
            <a:ext cx="6146800" cy="11430"/>
          </a:xfrm>
          <a:prstGeom prst="roundRect">
            <a:avLst/>
          </a:prstGeom>
          <a:solidFill>
            <a:srgbClr val="1F565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77" name="TextBox 10"/>
          <p:cNvSpPr txBox="1"/>
          <p:nvPr/>
        </p:nvSpPr>
        <p:spPr>
          <a:xfrm>
            <a:off x="5334000" y="10160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01</a:t>
            </a:r>
            <a:endParaRPr sz="480" spc="0">
              <a:solidFill>
                <a:srgbClr val="8FE0CE"/>
              </a:solidFill>
              <a:latin typeface="Telegraf"/>
            </a:endParaRPr>
          </a:p>
        </p:txBody>
      </p:sp>
      <p:sp>
        <p:nvSpPr>
          <p:cNvPr id="2578" name="TextBox 11"/>
          <p:cNvSpPr txBox="1"/>
          <p:nvPr/>
        </p:nvSpPr>
        <p:spPr>
          <a:xfrm>
            <a:off x="5715000" y="9906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Tokens &amp; primitives</a:t>
            </a:r>
            <a:endParaRPr sz="580" b="1" spc="0">
              <a:solidFill>
                <a:srgbClr val="FFFFFF"/>
              </a:solidFill>
              <a:latin typeface="Telegraf"/>
            </a:endParaRPr>
          </a:p>
        </p:txBody>
      </p:sp>
      <p:sp>
        <p:nvSpPr>
          <p:cNvPr id="2579" name="TextBox 12"/>
          <p:cNvSpPr txBox="1"/>
          <p:nvPr/>
        </p:nvSpPr>
        <p:spPr>
          <a:xfrm>
            <a:off x="5715000" y="11430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tokens.css · ui/Button, Badge, Meter</a:t>
            </a:r>
            <a:endParaRPr sz="460" spc="0">
              <a:solidFill>
                <a:srgbClr val="9FBFBA"/>
              </a:solidFill>
              <a:latin typeface="Telegraf"/>
            </a:endParaRPr>
          </a:p>
        </p:txBody>
      </p:sp>
      <p:sp>
        <p:nvSpPr>
          <p:cNvPr id="2580" name="TextBox 13"/>
          <p:cNvSpPr txBox="1"/>
          <p:nvPr/>
        </p:nvSpPr>
        <p:spPr>
          <a:xfrm>
            <a:off x="9906000" y="10160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no route</a:t>
            </a:r>
            <a:endParaRPr sz="460" spc="0">
              <a:solidFill>
                <a:srgbClr val="D7E5E2"/>
              </a:solidFill>
              <a:latin typeface="Telegraf"/>
            </a:endParaRPr>
          </a:p>
        </p:txBody>
      </p:sp>
      <p:sp>
        <p:nvSpPr>
          <p:cNvPr id="2581" name="Rectangle 14"/>
          <p:cNvSpPr/>
          <p:nvPr/>
        </p:nvSpPr>
        <p:spPr>
          <a:xfrm>
            <a:off x="5334000" y="13970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82" name="TextBox 15"/>
          <p:cNvSpPr txBox="1"/>
          <p:nvPr/>
        </p:nvSpPr>
        <p:spPr>
          <a:xfrm>
            <a:off x="5334000" y="16002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02</a:t>
            </a:r>
            <a:endParaRPr sz="480" spc="0">
              <a:solidFill>
                <a:srgbClr val="8FE0CE"/>
              </a:solidFill>
              <a:latin typeface="Telegraf"/>
            </a:endParaRPr>
          </a:p>
        </p:txBody>
      </p:sp>
      <p:sp>
        <p:nvSpPr>
          <p:cNvPr id="2583" name="TextBox 16"/>
          <p:cNvSpPr txBox="1"/>
          <p:nvPr/>
        </p:nvSpPr>
        <p:spPr>
          <a:xfrm>
            <a:off x="5715000" y="15748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Dashboard shell</a:t>
            </a:r>
            <a:endParaRPr sz="580" b="1" spc="0">
              <a:solidFill>
                <a:srgbClr val="FFFFFF"/>
              </a:solidFill>
              <a:latin typeface="Telegraf"/>
            </a:endParaRPr>
          </a:p>
        </p:txBody>
      </p:sp>
      <p:sp>
        <p:nvSpPr>
          <p:cNvPr id="2584" name="TextBox 17"/>
          <p:cNvSpPr txBox="1"/>
          <p:nvPr/>
        </p:nvSpPr>
        <p:spPr>
          <a:xfrm>
            <a:off x="5715000" y="17272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nav rail, top bar, business switcher</a:t>
            </a:r>
            <a:endParaRPr sz="460" spc="0">
              <a:solidFill>
                <a:srgbClr val="9FBFBA"/>
              </a:solidFill>
              <a:latin typeface="Telegraf"/>
            </a:endParaRPr>
          </a:p>
        </p:txBody>
      </p:sp>
      <p:sp>
        <p:nvSpPr>
          <p:cNvPr id="2585" name="TextBox 18"/>
          <p:cNvSpPr txBox="1"/>
          <p:nvPr/>
        </p:nvSpPr>
        <p:spPr>
          <a:xfrm>
            <a:off x="9906000" y="16002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/dashboard</a:t>
            </a:r>
            <a:endParaRPr sz="460" spc="0">
              <a:solidFill>
                <a:srgbClr val="D7E5E2"/>
              </a:solidFill>
              <a:latin typeface="Telegraf"/>
            </a:endParaRPr>
          </a:p>
        </p:txBody>
      </p:sp>
      <p:sp>
        <p:nvSpPr>
          <p:cNvPr id="2586" name="Rectangle 19"/>
          <p:cNvSpPr/>
          <p:nvPr/>
        </p:nvSpPr>
        <p:spPr>
          <a:xfrm>
            <a:off x="5334000" y="19812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87" name="TextBox 20"/>
          <p:cNvSpPr txBox="1"/>
          <p:nvPr/>
        </p:nvSpPr>
        <p:spPr>
          <a:xfrm>
            <a:off x="5334000" y="21844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03</a:t>
            </a:r>
            <a:endParaRPr sz="480" spc="0">
              <a:solidFill>
                <a:srgbClr val="8FE0CE"/>
              </a:solidFill>
              <a:latin typeface="Telegraf"/>
            </a:endParaRPr>
          </a:p>
        </p:txBody>
      </p:sp>
      <p:sp>
        <p:nvSpPr>
          <p:cNvPr id="2588" name="TextBox 21"/>
          <p:cNvSpPr txBox="1"/>
          <p:nvPr/>
        </p:nvSpPr>
        <p:spPr>
          <a:xfrm>
            <a:off x="5715000" y="21590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Queue</a:t>
            </a:r>
            <a:endParaRPr sz="580" b="1" spc="0">
              <a:solidFill>
                <a:srgbClr val="FFFFFF"/>
              </a:solidFill>
              <a:latin typeface="Telegraf"/>
            </a:endParaRPr>
          </a:p>
        </p:txBody>
      </p:sp>
      <p:sp>
        <p:nvSpPr>
          <p:cNvPr id="2589" name="TextBox 22"/>
          <p:cNvSpPr txBox="1"/>
          <p:nvPr/>
        </p:nvSpPr>
        <p:spPr>
          <a:xfrm>
            <a:off x="5715000" y="23114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LiveQueuePanel, TicketRow</a:t>
            </a:r>
            <a:endParaRPr sz="460" spc="0">
              <a:solidFill>
                <a:srgbClr val="9FBFBA"/>
              </a:solidFill>
              <a:latin typeface="Telegraf"/>
            </a:endParaRPr>
          </a:p>
        </p:txBody>
      </p:sp>
      <p:sp>
        <p:nvSpPr>
          <p:cNvPr id="2590" name="TextBox 23"/>
          <p:cNvSpPr txBox="1"/>
          <p:nvPr/>
        </p:nvSpPr>
        <p:spPr>
          <a:xfrm>
            <a:off x="9906000" y="21844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?tab=queue</a:t>
            </a:r>
            <a:endParaRPr sz="460" spc="0">
              <a:solidFill>
                <a:srgbClr val="D7E5E2"/>
              </a:solidFill>
              <a:latin typeface="Telegraf"/>
            </a:endParaRPr>
          </a:p>
        </p:txBody>
      </p:sp>
      <p:sp>
        <p:nvSpPr>
          <p:cNvPr id="2591" name="Rectangle 24"/>
          <p:cNvSpPr/>
          <p:nvPr/>
        </p:nvSpPr>
        <p:spPr>
          <a:xfrm>
            <a:off x="5334000" y="25654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92" name="TextBox 25"/>
          <p:cNvSpPr txBox="1"/>
          <p:nvPr/>
        </p:nvSpPr>
        <p:spPr>
          <a:xfrm>
            <a:off x="5334000" y="27686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04</a:t>
            </a:r>
            <a:endParaRPr sz="480" spc="0">
              <a:solidFill>
                <a:srgbClr val="8FE0CE"/>
              </a:solidFill>
              <a:latin typeface="Telegraf"/>
            </a:endParaRPr>
          </a:p>
        </p:txBody>
      </p:sp>
      <p:sp>
        <p:nvSpPr>
          <p:cNvPr id="2593" name="TextBox 26"/>
          <p:cNvSpPr txBox="1"/>
          <p:nvPr/>
        </p:nvSpPr>
        <p:spPr>
          <a:xfrm>
            <a:off x="5715000" y="27432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Ticket drawer</a:t>
            </a:r>
            <a:endParaRPr sz="580" b="1" spc="0">
              <a:solidFill>
                <a:srgbClr val="FFFFFF"/>
              </a:solidFill>
              <a:latin typeface="Telegraf"/>
            </a:endParaRPr>
          </a:p>
        </p:txBody>
      </p:sp>
      <p:sp>
        <p:nvSpPr>
          <p:cNvPr id="2594" name="TextBox 27"/>
          <p:cNvSpPr txBox="1"/>
          <p:nvPr/>
        </p:nvSpPr>
        <p:spPr>
          <a:xfrm>
            <a:off x="5715000" y="28956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TicketDetailDrawer, RuleChain</a:t>
            </a:r>
            <a:endParaRPr sz="460" spc="0">
              <a:solidFill>
                <a:srgbClr val="9FBFBA"/>
              </a:solidFill>
              <a:latin typeface="Telegraf"/>
            </a:endParaRPr>
          </a:p>
        </p:txBody>
      </p:sp>
      <p:sp>
        <p:nvSpPr>
          <p:cNvPr id="2595" name="TextBox 28"/>
          <p:cNvSpPr txBox="1"/>
          <p:nvPr/>
        </p:nvSpPr>
        <p:spPr>
          <a:xfrm>
            <a:off x="9906000" y="27686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?ticket=</a:t>
            </a:r>
            <a:endParaRPr sz="460" spc="0">
              <a:solidFill>
                <a:srgbClr val="D7E5E2"/>
              </a:solidFill>
              <a:latin typeface="Telegraf"/>
            </a:endParaRPr>
          </a:p>
        </p:txBody>
      </p:sp>
      <p:sp>
        <p:nvSpPr>
          <p:cNvPr id="2596" name="Rectangle 29"/>
          <p:cNvSpPr/>
          <p:nvPr/>
        </p:nvSpPr>
        <p:spPr>
          <a:xfrm>
            <a:off x="5334000" y="31496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597" name="TextBox 30"/>
          <p:cNvSpPr txBox="1"/>
          <p:nvPr/>
        </p:nvSpPr>
        <p:spPr>
          <a:xfrm>
            <a:off x="5334000" y="33528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05</a:t>
            </a:r>
            <a:endParaRPr sz="480" spc="0">
              <a:solidFill>
                <a:srgbClr val="8FE0CE"/>
              </a:solidFill>
              <a:latin typeface="Telegraf"/>
            </a:endParaRPr>
          </a:p>
        </p:txBody>
      </p:sp>
      <p:sp>
        <p:nvSpPr>
          <p:cNvPr id="2598" name="TextBox 31"/>
          <p:cNvSpPr txBox="1"/>
          <p:nvPr/>
        </p:nvSpPr>
        <p:spPr>
          <a:xfrm>
            <a:off x="5715000" y="33274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Text modal</a:t>
            </a:r>
            <a:endParaRPr sz="580" b="1" spc="0">
              <a:solidFill>
                <a:srgbClr val="FFFFFF"/>
              </a:solidFill>
              <a:latin typeface="Telegraf"/>
            </a:endParaRPr>
          </a:p>
        </p:txBody>
      </p:sp>
      <p:sp>
        <p:nvSpPr>
          <p:cNvPr id="2599" name="TextBox 32"/>
          <p:cNvSpPr txBox="1"/>
          <p:nvPr/>
        </p:nvSpPr>
        <p:spPr>
          <a:xfrm>
            <a:off x="5715000" y="34798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AiTextModal, VerdictChips</a:t>
            </a:r>
            <a:endParaRPr sz="460" spc="0">
              <a:solidFill>
                <a:srgbClr val="9FBFBA"/>
              </a:solidFill>
              <a:latin typeface="Telegraf"/>
            </a:endParaRPr>
          </a:p>
        </p:txBody>
      </p:sp>
      <p:sp>
        <p:nvSpPr>
          <p:cNvPr id="2600" name="TextBox 33"/>
          <p:cNvSpPr txBox="1"/>
          <p:nvPr/>
        </p:nvSpPr>
        <p:spPr>
          <a:xfrm>
            <a:off x="9906000" y="33528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POST /ai/text-query</a:t>
            </a:r>
            <a:endParaRPr sz="460" spc="0">
              <a:solidFill>
                <a:srgbClr val="D7E5E2"/>
              </a:solidFill>
              <a:latin typeface="Telegraf"/>
            </a:endParaRPr>
          </a:p>
        </p:txBody>
      </p:sp>
      <p:sp>
        <p:nvSpPr>
          <p:cNvPr id="2601" name="Rectangle 34"/>
          <p:cNvSpPr/>
          <p:nvPr/>
        </p:nvSpPr>
        <p:spPr>
          <a:xfrm>
            <a:off x="5334000" y="37338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02" name="TextBox 35"/>
          <p:cNvSpPr txBox="1"/>
          <p:nvPr/>
        </p:nvSpPr>
        <p:spPr>
          <a:xfrm>
            <a:off x="5334000" y="39370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06</a:t>
            </a:r>
            <a:endParaRPr sz="480" spc="0">
              <a:solidFill>
                <a:srgbClr val="8FE0CE"/>
              </a:solidFill>
              <a:latin typeface="Telegraf"/>
            </a:endParaRPr>
          </a:p>
        </p:txBody>
      </p:sp>
      <p:sp>
        <p:nvSpPr>
          <p:cNvPr id="2603" name="TextBox 36"/>
          <p:cNvSpPr txBox="1"/>
          <p:nvPr/>
        </p:nvSpPr>
        <p:spPr>
          <a:xfrm>
            <a:off x="5715000" y="39116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Voice</a:t>
            </a:r>
            <a:endParaRPr sz="580" b="1" spc="0">
              <a:solidFill>
                <a:srgbClr val="FFFFFF"/>
              </a:solidFill>
              <a:latin typeface="Telegraf"/>
            </a:endParaRPr>
          </a:p>
        </p:txBody>
      </p:sp>
      <p:sp>
        <p:nvSpPr>
          <p:cNvPr id="2604" name="TextBox 37"/>
          <p:cNvSpPr txBox="1"/>
          <p:nvPr/>
        </p:nvSpPr>
        <p:spPr>
          <a:xfrm>
            <a:off x="5715000" y="40640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VoiceTestPanel, CallStepper</a:t>
            </a:r>
            <a:endParaRPr sz="460" spc="0">
              <a:solidFill>
                <a:srgbClr val="9FBFBA"/>
              </a:solidFill>
              <a:latin typeface="Telegraf"/>
            </a:endParaRPr>
          </a:p>
        </p:txBody>
      </p:sp>
      <p:sp>
        <p:nvSpPr>
          <p:cNvPr id="2605" name="TextBox 38"/>
          <p:cNvSpPr txBox="1"/>
          <p:nvPr/>
        </p:nvSpPr>
        <p:spPr>
          <a:xfrm>
            <a:off x="9906000" y="39370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?tab=voice</a:t>
            </a:r>
            <a:endParaRPr sz="460" spc="0">
              <a:solidFill>
                <a:srgbClr val="D7E5E2"/>
              </a:solidFill>
              <a:latin typeface="Telegraf"/>
            </a:endParaRPr>
          </a:p>
        </p:txBody>
      </p:sp>
      <p:sp>
        <p:nvSpPr>
          <p:cNvPr id="2606" name="Rectangle 39"/>
          <p:cNvSpPr/>
          <p:nvPr/>
        </p:nvSpPr>
        <p:spPr>
          <a:xfrm>
            <a:off x="5334000" y="43180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07" name="TextBox 40"/>
          <p:cNvSpPr txBox="1"/>
          <p:nvPr/>
        </p:nvSpPr>
        <p:spPr>
          <a:xfrm>
            <a:off x="5334000" y="4521200"/>
            <a:ext cx="304800" cy="127000"/>
          </a:xfrm>
          <a:prstGeom prst="rect">
            <a:avLst/>
          </a:prstGeom>
        </p:spPr>
        <p:txBody>
          <a:bodyPr wrap="square" lIns="0" tIns="0" rIns="0" bIns="0">
            <a:noAutofit/>
          </a:bodyPr>
          <a:lstStyle/>
          <a:p>
            <a:pPr>
              <a:lnSpc>
                <a:spcPct val="135000"/>
              </a:lnSpc>
            </a:pPr>
            <a:r>
              <a:rPr sz="480" spc="0">
                <a:solidFill>
                  <a:srgbClr val="8FE0CE"/>
                </a:solidFill>
                <a:latin typeface="Telegraf"/>
              </a:rPr>
              <a:t>07</a:t>
            </a:r>
            <a:endParaRPr sz="480" spc="0">
              <a:solidFill>
                <a:srgbClr val="8FE0CE"/>
              </a:solidFill>
              <a:latin typeface="Telegraf"/>
            </a:endParaRPr>
          </a:p>
        </p:txBody>
      </p:sp>
      <p:sp>
        <p:nvSpPr>
          <p:cNvPr id="2608" name="TextBox 41"/>
          <p:cNvSpPr txBox="1"/>
          <p:nvPr/>
        </p:nvSpPr>
        <p:spPr>
          <a:xfrm>
            <a:off x="5715000" y="4495800"/>
            <a:ext cx="2133600" cy="127000"/>
          </a:xfrm>
          <a:prstGeom prst="rect">
            <a:avLst/>
          </a:prstGeom>
        </p:spPr>
        <p:txBody>
          <a:bodyPr wrap="square" lIns="0" tIns="0" rIns="0" bIns="0">
            <a:noAutofit/>
          </a:bodyPr>
          <a:lstStyle/>
          <a:p>
            <a:pPr>
              <a:lnSpc>
                <a:spcPct val="135000"/>
              </a:lnSpc>
            </a:pPr>
            <a:r>
              <a:rPr sz="580" b="1" spc="0">
                <a:solidFill>
                  <a:srgbClr val="FFFFFF"/>
                </a:solidFill>
                <a:latin typeface="Telegraf"/>
              </a:rPr>
              <a:t>Brain + channels</a:t>
            </a:r>
            <a:endParaRPr sz="580" b="1" spc="0">
              <a:solidFill>
                <a:srgbClr val="FFFFFF"/>
              </a:solidFill>
              <a:latin typeface="Telegraf"/>
            </a:endParaRPr>
          </a:p>
        </p:txBody>
      </p:sp>
      <p:sp>
        <p:nvSpPr>
          <p:cNvPr id="2609" name="TextBox 42"/>
          <p:cNvSpPr txBox="1"/>
          <p:nvPr/>
        </p:nvSpPr>
        <p:spPr>
          <a:xfrm>
            <a:off x="5715000" y="4648200"/>
            <a:ext cx="3810000" cy="127000"/>
          </a:xfrm>
          <a:prstGeom prst="rect">
            <a:avLst/>
          </a:prstGeom>
        </p:spPr>
        <p:txBody>
          <a:bodyPr wrap="square" lIns="0" tIns="0" rIns="0" bIns="0">
            <a:noAutofit/>
          </a:bodyPr>
          <a:lstStyle/>
          <a:p>
            <a:pPr>
              <a:lnSpc>
                <a:spcPct val="135000"/>
              </a:lnSpc>
            </a:pPr>
            <a:r>
              <a:rPr sz="460" spc="0">
                <a:solidFill>
                  <a:srgbClr val="9FBFBA"/>
                </a:solidFill>
                <a:latin typeface="Telegraf"/>
              </a:rPr>
              <a:t>BrainInsightsPanel, ChannelsPanel</a:t>
            </a:r>
            <a:endParaRPr sz="460" spc="0">
              <a:solidFill>
                <a:srgbClr val="9FBFBA"/>
              </a:solidFill>
              <a:latin typeface="Telegraf"/>
            </a:endParaRPr>
          </a:p>
        </p:txBody>
      </p:sp>
      <p:sp>
        <p:nvSpPr>
          <p:cNvPr id="2610" name="TextBox 43"/>
          <p:cNvSpPr txBox="1"/>
          <p:nvPr/>
        </p:nvSpPr>
        <p:spPr>
          <a:xfrm>
            <a:off x="9906000" y="4521200"/>
            <a:ext cx="1574800" cy="127000"/>
          </a:xfrm>
          <a:prstGeom prst="rect">
            <a:avLst/>
          </a:prstGeom>
        </p:spPr>
        <p:txBody>
          <a:bodyPr wrap="square" lIns="0" tIns="0" rIns="0" bIns="0">
            <a:noAutofit/>
          </a:bodyPr>
          <a:lstStyle/>
          <a:p>
            <a:pPr algn="r">
              <a:lnSpc>
                <a:spcPct val="135000"/>
              </a:lnSpc>
            </a:pPr>
            <a:r>
              <a:rPr sz="460" spc="0">
                <a:solidFill>
                  <a:srgbClr val="D7E5E2"/>
                </a:solidFill>
                <a:latin typeface="Telegraf"/>
              </a:rPr>
              <a:t>?tab=brain</a:t>
            </a:r>
            <a:endParaRPr sz="460" spc="0">
              <a:solidFill>
                <a:srgbClr val="D7E5E2"/>
              </a:solidFill>
              <a:latin typeface="Telegraf"/>
            </a:endParaRPr>
          </a:p>
        </p:txBody>
      </p:sp>
      <p:sp>
        <p:nvSpPr>
          <p:cNvPr id="2611" name="Rectangle 44"/>
          <p:cNvSpPr/>
          <p:nvPr/>
        </p:nvSpPr>
        <p:spPr>
          <a:xfrm>
            <a:off x="5334000" y="4902200"/>
            <a:ext cx="6146800" cy="11430"/>
          </a:xfrm>
          <a:prstGeom prst="roundRect">
            <a:avLst/>
          </a:prstGeom>
          <a:solidFill>
            <a:srgbClr val="1645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p:txBody>
      </p:sp>
      <p:sp>
        <p:nvSpPr>
          <p:cNvPr id="2612" name="TextBox 45"/>
          <p:cNvSpPr txBox="1"/>
          <p:nvPr/>
        </p:nvSpPr>
        <p:spPr>
          <a:xfrm>
            <a:off x="5334000" y="5181600"/>
            <a:ext cx="3810000" cy="127000"/>
          </a:xfrm>
          <a:prstGeom prst="rect">
            <a:avLst/>
          </a:prstGeom>
        </p:spPr>
        <p:txBody>
          <a:bodyPr wrap="square" lIns="0" tIns="0" rIns="0" bIns="0">
            <a:noAutofit/>
          </a:bodyPr>
          <a:lstStyle/>
          <a:p>
            <a:pPr>
              <a:lnSpc>
                <a:spcPct val="135000"/>
              </a:lnSpc>
            </a:pPr>
            <a:r>
              <a:rPr sz="460" spc="0">
                <a:solidFill>
                  <a:srgbClr val="7FA5A0"/>
                </a:solidFill>
                <a:latin typeface="Telegraf"/>
              </a:rPr>
              <a:t>Every step is independently reviewable.</a:t>
            </a:r>
            <a:endParaRPr sz="460" spc="0">
              <a:solidFill>
                <a:srgbClr val="7FA5A0"/>
              </a:solidFill>
              <a:latin typeface="Telegraf"/>
            </a:endParaRPr>
          </a:p>
        </p:txBody>
      </p:sp>
      <p:sp>
        <p:nvSpPr>
          <p:cNvPr id="2613" name="TextBox 46"/>
          <p:cNvSpPr txBox="1"/>
          <p:nvPr/>
        </p:nvSpPr>
        <p:spPr>
          <a:xfrm>
            <a:off x="5334000" y="6172200"/>
            <a:ext cx="6146800" cy="127000"/>
          </a:xfrm>
          <a:prstGeom prst="rect">
            <a:avLst/>
          </a:prstGeom>
        </p:spPr>
        <p:txBody>
          <a:bodyPr wrap="square" lIns="0" tIns="0" rIns="0" bIns="0">
            <a:noAutofit/>
          </a:bodyPr>
          <a:lstStyle/>
          <a:p>
            <a:pPr algn="r">
              <a:lnSpc>
                <a:spcPct val="135000"/>
              </a:lnSpc>
            </a:pPr>
            <a:r>
              <a:rPr sz="480" spc="0">
                <a:solidFill>
                  <a:srgbClr val="7FA5A0"/>
                </a:solidFill>
                <a:latin typeface="Telegraf"/>
              </a:rPr>
              <a:t>Deck v1  ·  18 screens  ·  Team 41  ·  SPHINX ’26</a:t>
            </a:r>
            <a:endParaRPr sz="480" spc="0">
              <a:solidFill>
                <a:srgbClr val="7FA5A0"/>
              </a:solidFill>
              <a:latin typeface="Telegraf"/>
            </a:endParaRPr>
          </a:p>
        </p:txBody>
      </p:sp>
    </p:spTree>
  </p:cSld>
  <p:clrMapOvr>
    <a:masterClrMapping/>
  </p:clrMapOvr>
</p:sld>
</file>

<file path=ppt/theme/theme1.xml><?xml version="1.0" encoding="utf-8"?>
<a:theme xmlns:a="http://schemas.openxmlformats.org/drawingml/2006/main" xmlns:r="http://schemas.openxmlformats.org/officeDocument/2006/relationships" name="DeckCraft">
  <a:themeElements>
    <a:clrScheme name="DeckCraft">
      <a:dk1>
        <a:srgbClr val="000000"/>
      </a:dk1>
      <a:lt1>
        <a:srgbClr val="FFFFFF"/>
      </a:lt1>
      <a:dk2>
        <a:srgbClr val="1E2B3C"/>
      </a:dk2>
      <a:lt2>
        <a:srgbClr val="EDEBE7"/>
      </a:lt2>
      <a:accent1>
        <a:srgbClr val="2E6FD8"/>
      </a:accent1>
      <a:accent2>
        <a:srgbClr val="F26B1D"/>
      </a:accent2>
      <a:accent3>
        <a:srgbClr val="2EA36F"/>
      </a:accent3>
      <a:accent4>
        <a:srgbClr val="8A5CD8"/>
      </a:accent4>
      <a:accent5>
        <a:srgbClr val="D83F6B"/>
      </a:accent5>
      <a:accent6>
        <a:srgbClr val="E3B21C"/>
      </a:accent6>
      <a:hlink>
        <a:srgbClr val="2E6FD8"/>
      </a:hlink>
      <a:folHlink>
        <a:srgbClr val="7A5BA6"/>
      </a:folHlink>
    </a:clrScheme>
    <a:fontScheme name="DeckCraft">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ppt/theme/theme2.xml><?xml version="1.0" encoding="utf-8"?>
<a:theme xmlns:a="http://schemas.openxmlformats.org/drawingml/2006/main" xmlns:r="http://schemas.openxmlformats.org/officeDocument/2006/relationships" name="DeckCraft">
  <a:themeElements>
    <a:clrScheme name="DeckCraft">
      <a:dk1>
        <a:srgbClr val="000000"/>
      </a:dk1>
      <a:lt1>
        <a:srgbClr val="FFFFFF"/>
      </a:lt1>
      <a:dk2>
        <a:srgbClr val="1E2B3C"/>
      </a:dk2>
      <a:lt2>
        <a:srgbClr val="EDEBE7"/>
      </a:lt2>
      <a:accent1>
        <a:srgbClr val="2E6FD8"/>
      </a:accent1>
      <a:accent2>
        <a:srgbClr val="F26B1D"/>
      </a:accent2>
      <a:accent3>
        <a:srgbClr val="2EA36F"/>
      </a:accent3>
      <a:accent4>
        <a:srgbClr val="8A5CD8"/>
      </a:accent4>
      <a:accent5>
        <a:srgbClr val="D83F6B"/>
      </a:accent5>
      <a:accent6>
        <a:srgbClr val="E3B21C"/>
      </a:accent6>
      <a:hlink>
        <a:srgbClr val="2E6FD8"/>
      </a:hlink>
      <a:folHlink>
        <a:srgbClr val="7A5BA6"/>
      </a:folHlink>
    </a:clrScheme>
    <a:fontScheme name="DeckCraft">
      <a:majorFont>
        <a:latin typeface="Inter"/>
        <a:ea typeface=""/>
        <a:cs typeface=""/>
      </a:majorFont>
      <a:minorFont>
        <a:latin typeface="Inter"/>
        <a:ea typeface=""/>
        <a:cs typeface=""/>
      </a:minorFont>
    </a:fontScheme>
    <a:fmtScheme name="DeckCraft">
      <a:fillStyleLst>
        <a:solidFill>
          <a:schemeClr val="phClr"/>
        </a:solidFill>
        <a:gradFill rotWithShape="1">
          <a:gsLst>
            <a:gs pos="0">
              <a:schemeClr val="phClr">
                <a:lumMod val="110000"/>
                <a:satMod val="103000"/>
              </a:schemeClr>
            </a:gs>
            <a:gs pos="100000">
              <a:schemeClr val="phClr">
                <a:lumMod val="92000"/>
              </a:schemeClr>
            </a:gs>
          </a:gsLst>
          <a:lin ang="5400000" scaled="0"/>
        </a:gradFill>
        <a:gradFill rotWithShape="1">
          <a:gsLst>
            <a:gs pos="0">
              <a:schemeClr val="phClr">
                <a:lumMod val="105000"/>
                <a:satMod val="103000"/>
              </a:schemeClr>
            </a:gs>
            <a:gs pos="100000">
              <a:schemeClr val="phClr">
                <a:lumMod val="80000"/>
              </a:schemeClr>
            </a:gs>
          </a:gsLst>
          <a:lin ang="5400000" scaled="0"/>
        </a:gradFill>
      </a:fillStyleLst>
      <a:lnStyleLst>
        <a:ln w="9525">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outerShdw blurRad="76200" dist="38100" dir="5400000" algn="t" rotWithShape="0">
              <a:srgbClr val="000000">
                <a:alpha val="40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03000"/>
              </a:schemeClr>
            </a:gs>
            <a:gs pos="100000">
              <a:schemeClr val="phClr">
                <a:lumMod val="85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18</Slides>
  <Notes>18</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AfterSales AI — product screens</dc:title>
  <dc:creator>Team 41</dc:creator>
</cp:coreProperties>
</file>